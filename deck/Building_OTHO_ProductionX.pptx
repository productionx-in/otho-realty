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This is a strategy deck, not a campaign plan. Say: I looked at where OTHO stands online today, what every competitor gets wrong, and what we build in that gap. We start with Neopolis and the same system carries to every project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about 30 seconds. The point is to signal this is structured and finite, not a wandering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strongest opening. Hand them a phone and let them search. The domain and the social accounts are claimed, which is the right groundwork - but nothing has been published, so to a buyer searching today OTHO still does not exist. Do not apologise for this slide, it sets up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groundwork - the domain and handles are the right first step. Then make the argument: an empty account is still invisible, and starting clean is cheaper than starting from a bad reputation. This is why month one is foundation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Rupee figures throughout. The proptech market converts from roughly 30 billion dollars at 2026 rates. Pause on the 6,300 versus 11,000 gap - that is the commercial argument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The gap is structural, not an oversight. Say the line about the door locked from the inside - it is what makes the opportunity defensible rather than just an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slowly. It reframes the entire category from a scale competition to a trust competition - which is the only competition OTHO can win from a standing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last row deliberately - it is highlighted for a reason. Square Yards built 1,410 crore of revenue and kept 46 crore. Use it to say what OTHO will refuse to do: never compete on listing count or transaction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Founders with big ambitions usually want volume. This slide argues for margin instead, backed by a real company's filings. Expect a question here - the answer is that OTHO earns from mandates and data, not from GMV.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the weaknesses. Presenting them honestly to people with twenty years of experience buys more credibility than any strength on the left. The data engineering point is the real risk - flag that we will need a technical hire or partner by month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threats column is where you show you have thought past the pitch. The defamation point matters - honest negatives must be built on cited facts, never opinion. Offer to bring in media counsel before the first negative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strategic conclusion. If they remember one thing from the middle of the deck, it should be that features get copied and the archive of honest reviews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 company they already know does more work than any abstract explanation. Everyone in an Indian boardroom knows CarWale. The point: it won the category without ever winning on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card is deliberately dark - it is the side OTHO sits on. Land the closing line: every competitor is fighting over half the market and ignoring the other half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positioning line. Say it, then stop talking for a beat. If they repeat it back later in the meeting, the deck has done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demo moment. Walk down the column slowly. Project A looks cheaper on the advertised rate and is actually more expensive per usable foot with less land. No portal in India shows this - it is the whole product in one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one. Two things nobody else does: the price is on the page without a form, and the calculator shows the real rate on carpet. Point at the last row - advertised 9,400 becomes 13,460 once loading is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moat in one screen. Every project page carries a What We Would Flag column, on a project OTHO earns money from. No portal in India publishes this. Expect the founders to react here - that reaction is the conversation worth having.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three. The confidence column is the point - Metro Phase 2 marked unfunded on a page about a locality that sells partly on Metro. That single label is what makes buyers trust the other three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names where it is borrowed from. That is deliberate - it tells them we are not inventing risk, we are importing proven ideas into a category that lacks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private number promise is the one to emphasise. It costs OTHO nothing and no incumbent can match it without breaking their own revenue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is the strategy. Slower for six months, much harder to copy afterwards. If they push to start selling immediately, this is the slide to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what content we actually make. The closing line is your commercial advantage - production in-house is why the budget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channels, each with a job. If asked what we would cut first at a lower budget: cold paid reach goes, organic stays. The response time line at the bottom costs nothing and protects everything spent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Level 2 as the recommendation but make clear Level 1 is a real option, not a token. Say plainly: Level 3 is gated - we do not scale spend until we know what a booking actually costs. That restraint is what makes the whole budget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caveat at the bottom is deliberate. Do not let them think the full automated platform is included for three lakh. Version one is manual data on a small set of projects, which is the right way to test whether anyone values it before building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question they are really asking - how do I know this is working. These KPIs are a decision function, not a report card. Response time is the one to watch weekly because it is free to fix and it protects everything spent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amber rows before anyone challenges them. Then land the point: Foundation pays for itself at one booking every four months. That is a much easier yes than a forecast they would want to argue with. If they give you the real numbers in the room, redo the arithmetic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Everything before this was strategy; everything after is execution with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one is unglamorous on purpose. Spending before tracking works is how developer marketing budgets disappear without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month they see something real. The website and the first films are the visible proof that the plan is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three is where we stop guessing. Say clearly: we will not forecast cost per booking today because we have no baseline. At day 90 you get the real number and we set targets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Months four to twelve. The key transition is that enquiries start arriving free from search and AI - that is when the economics change and paid media becomes optional rather than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NRI line is worth pausing on. The natural first step abroad is not a new market, it is this market from the other side - buyers who cannot inspect anything themselves and need an honest proxy more than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the honest negatives point yourself rather than letting it surface in month three. If they will not commit to it, the moat disappears and this becomes another portal. Better to know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and stop. Do not add a summary slide - this line is the summary. Then hand over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713232"/>
            <a:ext cx="5486400" cy="274320"/>
          </a:xfrm>
          <a:prstGeom prst="rect">
            <a:avLst/>
          </a:prstGeom>
          <a:noFill/>
          <a:ln/>
        </p:spPr>
        <p:txBody>
          <a:bodyPr wrap="square" lIns="0" tIns="0" rIns="0" bIns="0" rtlCol="0" anchor="ctr"/>
          <a:lstStyle/>
          <a:p>
            <a:pPr indent="0" marL="0">
              <a:buNone/>
            </a:pPr>
            <a:r>
              <a:rPr lang="en-US" sz="1150" b="1" spc="340" kern="0" dirty="0">
                <a:solidFill>
                  <a:srgbClr val="D9B061"/>
                </a:solidFill>
                <a:latin typeface="Calibri" pitchFamily="34" charset="0"/>
                <a:ea typeface="Calibri" pitchFamily="34" charset="-122"/>
                <a:cs typeface="Calibri" pitchFamily="34" charset="-120"/>
              </a:rPr>
              <a:t>PRODUCTION X</a:t>
            </a:r>
            <a:endParaRPr lang="en-US" sz="1150" dirty="0"/>
          </a:p>
        </p:txBody>
      </p:sp>
      <p:sp>
        <p:nvSpPr>
          <p:cNvPr id="3" name="Text 1"/>
          <p:cNvSpPr/>
          <p:nvPr/>
        </p:nvSpPr>
        <p:spPr>
          <a:xfrm>
            <a:off x="777240" y="1847088"/>
            <a:ext cx="10241280" cy="1417320"/>
          </a:xfrm>
          <a:prstGeom prst="rect">
            <a:avLst/>
          </a:prstGeom>
          <a:noFill/>
          <a:ln/>
        </p:spPr>
        <p:txBody>
          <a:bodyPr wrap="square" lIns="0" tIns="0" rIns="0" bIns="0" rtlCol="0" anchor="ctr"/>
          <a:lstStyle/>
          <a:p>
            <a:pPr indent="0" marL="0">
              <a:buNone/>
            </a:pPr>
            <a:r>
              <a:rPr lang="en-US" sz="6800" b="1" spc="-140" kern="0" dirty="0">
                <a:solidFill>
                  <a:srgbClr val="FFFFFF"/>
                </a:solidFill>
                <a:latin typeface="Cambria" pitchFamily="34" charset="0"/>
                <a:ea typeface="Cambria" pitchFamily="34" charset="-122"/>
                <a:cs typeface="Cambria" pitchFamily="34" charset="-120"/>
              </a:rPr>
              <a:t>Building OTHO</a:t>
            </a:r>
            <a:endParaRPr lang="en-US" sz="6800" dirty="0"/>
          </a:p>
        </p:txBody>
      </p:sp>
      <p:sp>
        <p:nvSpPr>
          <p:cNvPr id="4" name="Text 2"/>
          <p:cNvSpPr/>
          <p:nvPr/>
        </p:nvSpPr>
        <p:spPr>
          <a:xfrm>
            <a:off x="777240" y="3401568"/>
            <a:ext cx="7315200" cy="914400"/>
          </a:xfrm>
          <a:prstGeom prst="rect">
            <a:avLst/>
          </a:prstGeom>
          <a:noFill/>
          <a:ln/>
        </p:spPr>
        <p:txBody>
          <a:bodyPr wrap="square" lIns="0" tIns="0" rIns="0" bIns="0" rtlCol="0" anchor="ctr"/>
          <a:lstStyle/>
          <a:p>
            <a:pPr indent="0" marL="0">
              <a:lnSpc>
                <a:spcPts val="2700"/>
              </a:lnSpc>
              <a:buNone/>
            </a:pPr>
            <a:r>
              <a:rPr lang="en-US" sz="1750" dirty="0">
                <a:solidFill>
                  <a:srgbClr val="B6BEC7"/>
                </a:solidFill>
                <a:latin typeface="Calibri" pitchFamily="34" charset="0"/>
                <a:ea typeface="Calibri" pitchFamily="34" charset="-122"/>
                <a:cs typeface="Calibri" pitchFamily="34" charset="-120"/>
              </a:rPr>
              <a:t>Where you stand today, what's broken in Indian property platforms, the product we build in that gap, and the first 90 days.</a:t>
            </a:r>
            <a:endParaRPr lang="en-US" sz="1750" dirty="0"/>
          </a:p>
        </p:txBody>
      </p:sp>
      <p:sp>
        <p:nvSpPr>
          <p:cNvPr id="5" name="Text 3"/>
          <p:cNvSpPr/>
          <p:nvPr/>
        </p:nvSpPr>
        <p:spPr>
          <a:xfrm>
            <a:off x="777240" y="4956048"/>
            <a:ext cx="2453564" cy="237744"/>
          </a:xfrm>
          <a:prstGeom prst="rect">
            <a:avLst/>
          </a:prstGeom>
          <a:noFill/>
          <a:ln/>
        </p:spPr>
        <p:txBody>
          <a:bodyPr wrap="square" lIns="0" tIns="0" rIns="0" bIns="0" rtlCol="0" anchor="ctr"/>
          <a:lstStyle/>
          <a:p>
            <a:pPr indent="0" marL="0">
              <a:buNone/>
            </a:pPr>
            <a:r>
              <a:rPr lang="en-US" sz="950" spc="180" kern="0" dirty="0">
                <a:solidFill>
                  <a:srgbClr val="79818A"/>
                </a:solidFill>
                <a:latin typeface="Calibri" pitchFamily="34" charset="0"/>
                <a:ea typeface="Calibri" pitchFamily="34" charset="-122"/>
                <a:cs typeface="Calibri" pitchFamily="34" charset="-120"/>
              </a:rPr>
              <a:t>STARTING</a:t>
            </a:r>
            <a:endParaRPr lang="en-US" sz="950" dirty="0"/>
          </a:p>
        </p:txBody>
      </p:sp>
      <p:sp>
        <p:nvSpPr>
          <p:cNvPr id="6" name="Text 4"/>
          <p:cNvSpPr/>
          <p:nvPr/>
        </p:nvSpPr>
        <p:spPr>
          <a:xfrm>
            <a:off x="777240" y="5230368"/>
            <a:ext cx="2453564"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Neopolis, Kokapet</a:t>
            </a:r>
            <a:endParaRPr lang="en-US" sz="1500" dirty="0"/>
          </a:p>
        </p:txBody>
      </p:sp>
      <p:sp>
        <p:nvSpPr>
          <p:cNvPr id="7" name="Text 5"/>
          <p:cNvSpPr/>
          <p:nvPr/>
        </p:nvSpPr>
        <p:spPr>
          <a:xfrm>
            <a:off x="3505124" y="4956048"/>
            <a:ext cx="2453564" cy="237744"/>
          </a:xfrm>
          <a:prstGeom prst="rect">
            <a:avLst/>
          </a:prstGeom>
          <a:noFill/>
          <a:ln/>
        </p:spPr>
        <p:txBody>
          <a:bodyPr wrap="square" lIns="0" tIns="0" rIns="0" bIns="0" rtlCol="0" anchor="ctr"/>
          <a:lstStyle/>
          <a:p>
            <a:pPr indent="0" marL="0">
              <a:buNone/>
            </a:pPr>
            <a:r>
              <a:rPr lang="en-US" sz="950" spc="180" kern="0" dirty="0">
                <a:solidFill>
                  <a:srgbClr val="79818A"/>
                </a:solidFill>
                <a:latin typeface="Calibri" pitchFamily="34" charset="0"/>
                <a:ea typeface="Calibri" pitchFamily="34" charset="-122"/>
                <a:cs typeface="Calibri" pitchFamily="34" charset="-120"/>
              </a:rPr>
              <a:t>FIRST MILESTONE</a:t>
            </a:r>
            <a:endParaRPr lang="en-US" sz="950" dirty="0"/>
          </a:p>
        </p:txBody>
      </p:sp>
      <p:sp>
        <p:nvSpPr>
          <p:cNvPr id="8" name="Text 6"/>
          <p:cNvSpPr/>
          <p:nvPr/>
        </p:nvSpPr>
        <p:spPr>
          <a:xfrm>
            <a:off x="3505124" y="5230368"/>
            <a:ext cx="2453564"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90 days</a:t>
            </a:r>
            <a:endParaRPr lang="en-US" sz="1500" dirty="0"/>
          </a:p>
        </p:txBody>
      </p:sp>
      <p:sp>
        <p:nvSpPr>
          <p:cNvPr id="9" name="Text 7"/>
          <p:cNvSpPr/>
          <p:nvPr/>
        </p:nvSpPr>
        <p:spPr>
          <a:xfrm>
            <a:off x="6233008" y="4956048"/>
            <a:ext cx="2453564" cy="237744"/>
          </a:xfrm>
          <a:prstGeom prst="rect">
            <a:avLst/>
          </a:prstGeom>
          <a:noFill/>
          <a:ln/>
        </p:spPr>
        <p:txBody>
          <a:bodyPr wrap="square" lIns="0" tIns="0" rIns="0" bIns="0" rtlCol="0" anchor="ctr"/>
          <a:lstStyle/>
          <a:p>
            <a:pPr indent="0" marL="0">
              <a:buNone/>
            </a:pPr>
            <a:r>
              <a:rPr lang="en-US" sz="950" spc="180" kern="0" dirty="0">
                <a:solidFill>
                  <a:srgbClr val="79818A"/>
                </a:solidFill>
                <a:latin typeface="Calibri" pitchFamily="34" charset="0"/>
                <a:ea typeface="Calibri" pitchFamily="34" charset="-122"/>
                <a:cs typeface="Calibri" pitchFamily="34" charset="-120"/>
              </a:rPr>
              <a:t>THE MODEL</a:t>
            </a:r>
            <a:endParaRPr lang="en-US" sz="950" dirty="0"/>
          </a:p>
        </p:txBody>
      </p:sp>
      <p:sp>
        <p:nvSpPr>
          <p:cNvPr id="10" name="Text 8"/>
          <p:cNvSpPr/>
          <p:nvPr/>
        </p:nvSpPr>
        <p:spPr>
          <a:xfrm>
            <a:off x="6233008" y="5230368"/>
            <a:ext cx="2453564"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CarWale, for property</a:t>
            </a:r>
            <a:endParaRPr lang="en-US" sz="1500" dirty="0"/>
          </a:p>
        </p:txBody>
      </p:sp>
      <p:sp>
        <p:nvSpPr>
          <p:cNvPr id="11" name="Text 9"/>
          <p:cNvSpPr/>
          <p:nvPr/>
        </p:nvSpPr>
        <p:spPr>
          <a:xfrm>
            <a:off x="8960891" y="4956048"/>
            <a:ext cx="2453564" cy="237744"/>
          </a:xfrm>
          <a:prstGeom prst="rect">
            <a:avLst/>
          </a:prstGeom>
          <a:noFill/>
          <a:ln/>
        </p:spPr>
        <p:txBody>
          <a:bodyPr wrap="square" lIns="0" tIns="0" rIns="0" bIns="0" rtlCol="0" anchor="ctr"/>
          <a:lstStyle/>
          <a:p>
            <a:pPr indent="0" marL="0">
              <a:buNone/>
            </a:pPr>
            <a:r>
              <a:rPr lang="en-US" sz="950" spc="180" kern="0" dirty="0">
                <a:solidFill>
                  <a:srgbClr val="79818A"/>
                </a:solidFill>
                <a:latin typeface="Calibri" pitchFamily="34" charset="0"/>
                <a:ea typeface="Calibri" pitchFamily="34" charset="-122"/>
                <a:cs typeface="Calibri" pitchFamily="34" charset="-120"/>
              </a:rPr>
              <a:t>HORIZON</a:t>
            </a:r>
            <a:endParaRPr lang="en-US" sz="950" dirty="0"/>
          </a:p>
        </p:txBody>
      </p:sp>
      <p:sp>
        <p:nvSpPr>
          <p:cNvPr id="12" name="Text 10"/>
          <p:cNvSpPr/>
          <p:nvPr/>
        </p:nvSpPr>
        <p:spPr>
          <a:xfrm>
            <a:off x="8960891" y="5230368"/>
            <a:ext cx="2453564" cy="38404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Hyderabad → India → global</a:t>
            </a:r>
            <a:endParaRPr lang="en-US" sz="1500" dirty="0"/>
          </a:p>
        </p:txBody>
      </p:sp>
      <p:sp>
        <p:nvSpPr>
          <p:cNvPr id="13" name="Text 11"/>
          <p:cNvSpPr/>
          <p:nvPr/>
        </p:nvSpPr>
        <p:spPr>
          <a:xfrm>
            <a:off x="777240" y="6053328"/>
            <a:ext cx="10637215" cy="256032"/>
          </a:xfrm>
          <a:prstGeom prst="rect">
            <a:avLst/>
          </a:prstGeom>
          <a:noFill/>
          <a:ln/>
        </p:spPr>
        <p:txBody>
          <a:bodyPr wrap="square" lIns="0" tIns="0" rIns="0" bIns="0" rtlCol="0" anchor="ctr"/>
          <a:lstStyle/>
          <a:p>
            <a:pPr indent="0" marL="0">
              <a:buNone/>
            </a:pPr>
            <a:r>
              <a:rPr lang="en-US" sz="1050" spc="40" kern="0" dirty="0">
                <a:solidFill>
                  <a:srgbClr val="79818A"/>
                </a:solidFill>
                <a:latin typeface="Calibri" pitchFamily="34" charset="0"/>
                <a:ea typeface="Calibri" pitchFamily="34" charset="-122"/>
                <a:cs typeface="Calibri" pitchFamily="34" charset="-120"/>
              </a:rPr>
              <a:t>Strategy &amp; launch plan for OTHO Realty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658368"/>
            <a:ext cx="10637215" cy="731520"/>
          </a:xfrm>
          <a:prstGeom prst="rect">
            <a:avLst/>
          </a:prstGeom>
          <a:noFill/>
          <a:ln/>
        </p:spPr>
        <p:txBody>
          <a:bodyPr wrap="square" lIns="0" tIns="0" rIns="0" bIns="0" rtlCol="0" anchor="ctr"/>
          <a:lstStyle/>
          <a:p>
            <a:pPr indent="0" marL="0">
              <a:buNone/>
            </a:pPr>
            <a:r>
              <a:rPr lang="en-US" sz="4000" b="1" spc="-70" kern="0" dirty="0">
                <a:solidFill>
                  <a:srgbClr val="FFFFFF"/>
                </a:solidFill>
                <a:latin typeface="Cambria" pitchFamily="34" charset="0"/>
                <a:ea typeface="Cambria" pitchFamily="34" charset="-122"/>
                <a:cs typeface="Cambria" pitchFamily="34" charset="-120"/>
              </a:rPr>
              <a:t>What's in this</a:t>
            </a:r>
            <a:endParaRPr lang="en-US" sz="4000" dirty="0"/>
          </a:p>
        </p:txBody>
      </p:sp>
      <p:sp>
        <p:nvSpPr>
          <p:cNvPr id="3" name="Text 1"/>
          <p:cNvSpPr/>
          <p:nvPr/>
        </p:nvSpPr>
        <p:spPr>
          <a:xfrm>
            <a:off x="777240" y="1700784"/>
            <a:ext cx="658368" cy="512064"/>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01</a:t>
            </a:r>
            <a:endParaRPr lang="en-US" sz="1700" dirty="0"/>
          </a:p>
        </p:txBody>
      </p:sp>
      <p:sp>
        <p:nvSpPr>
          <p:cNvPr id="4" name="Text 2"/>
          <p:cNvSpPr/>
          <p:nvPr/>
        </p:nvSpPr>
        <p:spPr>
          <a:xfrm>
            <a:off x="1527048" y="1700784"/>
            <a:ext cx="4114800" cy="512064"/>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Where OTHO stands today</a:t>
            </a:r>
            <a:endParaRPr lang="en-US" sz="1650" dirty="0"/>
          </a:p>
        </p:txBody>
      </p:sp>
      <p:sp>
        <p:nvSpPr>
          <p:cNvPr id="5" name="Text 3"/>
          <p:cNvSpPr/>
          <p:nvPr/>
        </p:nvSpPr>
        <p:spPr>
          <a:xfrm>
            <a:off x="5852160" y="1700784"/>
            <a:ext cx="5562295" cy="512064"/>
          </a:xfrm>
          <a:prstGeom prst="rect">
            <a:avLst/>
          </a:prstGeom>
          <a:noFill/>
          <a:ln/>
        </p:spPr>
        <p:txBody>
          <a:bodyPr wrap="square" lIns="0" tIns="0" rIns="0" bIns="0" rtlCol="0" anchor="ctr"/>
          <a:lstStyle/>
          <a:p>
            <a:pPr indent="0" marL="0">
              <a:buNone/>
            </a:pPr>
            <a:r>
              <a:rPr lang="en-US" sz="1350" dirty="0">
                <a:solidFill>
                  <a:srgbClr val="79818A"/>
                </a:solidFill>
                <a:latin typeface="Calibri" pitchFamily="34" charset="0"/>
                <a:ea typeface="Calibri" pitchFamily="34" charset="-122"/>
                <a:cs typeface="Calibri" pitchFamily="34" charset="-120"/>
              </a:rPr>
              <a:t>The honest audit. Both names, zero footprint.</a:t>
            </a:r>
            <a:endParaRPr lang="en-US" sz="1350" dirty="0"/>
          </a:p>
        </p:txBody>
      </p:sp>
      <p:sp>
        <p:nvSpPr>
          <p:cNvPr id="6" name="Text 4"/>
          <p:cNvSpPr/>
          <p:nvPr/>
        </p:nvSpPr>
        <p:spPr>
          <a:xfrm>
            <a:off x="777240" y="2359152"/>
            <a:ext cx="658368" cy="512064"/>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02</a:t>
            </a:r>
            <a:endParaRPr lang="en-US" sz="1700" dirty="0"/>
          </a:p>
        </p:txBody>
      </p:sp>
      <p:sp>
        <p:nvSpPr>
          <p:cNvPr id="7" name="Text 5"/>
          <p:cNvSpPr/>
          <p:nvPr/>
        </p:nvSpPr>
        <p:spPr>
          <a:xfrm>
            <a:off x="1527048" y="2359152"/>
            <a:ext cx="4114800" cy="512064"/>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The gap in the market</a:t>
            </a:r>
            <a:endParaRPr lang="en-US" sz="1650" dirty="0"/>
          </a:p>
        </p:txBody>
      </p:sp>
      <p:sp>
        <p:nvSpPr>
          <p:cNvPr id="8" name="Text 6"/>
          <p:cNvSpPr/>
          <p:nvPr/>
        </p:nvSpPr>
        <p:spPr>
          <a:xfrm>
            <a:off x="5852160" y="2359152"/>
            <a:ext cx="5562295" cy="512064"/>
          </a:xfrm>
          <a:prstGeom prst="rect">
            <a:avLst/>
          </a:prstGeom>
          <a:noFill/>
          <a:ln/>
        </p:spPr>
        <p:txBody>
          <a:bodyPr wrap="square" lIns="0" tIns="0" rIns="0" bIns="0" rtlCol="0" anchor="ctr"/>
          <a:lstStyle/>
          <a:p>
            <a:pPr indent="0" marL="0">
              <a:buNone/>
            </a:pPr>
            <a:r>
              <a:rPr lang="en-US" sz="1350" dirty="0">
                <a:solidFill>
                  <a:srgbClr val="79818A"/>
                </a:solidFill>
                <a:latin typeface="Calibri" pitchFamily="34" charset="0"/>
                <a:ea typeface="Calibri" pitchFamily="34" charset="-122"/>
                <a:cs typeface="Calibri" pitchFamily="34" charset="-120"/>
              </a:rPr>
              <a:t>Why no existing platform can fix its worst problem.</a:t>
            </a:r>
            <a:endParaRPr lang="en-US" sz="1350" dirty="0"/>
          </a:p>
        </p:txBody>
      </p:sp>
      <p:sp>
        <p:nvSpPr>
          <p:cNvPr id="9" name="Text 7"/>
          <p:cNvSpPr/>
          <p:nvPr/>
        </p:nvSpPr>
        <p:spPr>
          <a:xfrm>
            <a:off x="777240" y="3017520"/>
            <a:ext cx="658368" cy="512064"/>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03</a:t>
            </a:r>
            <a:endParaRPr lang="en-US" sz="1700" dirty="0"/>
          </a:p>
        </p:txBody>
      </p:sp>
      <p:sp>
        <p:nvSpPr>
          <p:cNvPr id="10" name="Text 8"/>
          <p:cNvSpPr/>
          <p:nvPr/>
        </p:nvSpPr>
        <p:spPr>
          <a:xfrm>
            <a:off x="1527048" y="3017520"/>
            <a:ext cx="4114800" cy="512064"/>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SWOT</a:t>
            </a:r>
            <a:endParaRPr lang="en-US" sz="1650" dirty="0"/>
          </a:p>
        </p:txBody>
      </p:sp>
      <p:sp>
        <p:nvSpPr>
          <p:cNvPr id="11" name="Text 9"/>
          <p:cNvSpPr/>
          <p:nvPr/>
        </p:nvSpPr>
        <p:spPr>
          <a:xfrm>
            <a:off x="5852160" y="3017520"/>
            <a:ext cx="5562295" cy="512064"/>
          </a:xfrm>
          <a:prstGeom prst="rect">
            <a:avLst/>
          </a:prstGeom>
          <a:noFill/>
          <a:ln/>
        </p:spPr>
        <p:txBody>
          <a:bodyPr wrap="square" lIns="0" tIns="0" rIns="0" bIns="0" rtlCol="0" anchor="ctr"/>
          <a:lstStyle/>
          <a:p>
            <a:pPr indent="0" marL="0">
              <a:buNone/>
            </a:pPr>
            <a:r>
              <a:rPr lang="en-US" sz="1350" dirty="0">
                <a:solidFill>
                  <a:srgbClr val="79818A"/>
                </a:solidFill>
                <a:latin typeface="Calibri" pitchFamily="34" charset="0"/>
                <a:ea typeface="Calibri" pitchFamily="34" charset="-122"/>
                <a:cs typeface="Calibri" pitchFamily="34" charset="-120"/>
              </a:rPr>
              <a:t>What we have, what we lack, and what could go wrong.</a:t>
            </a:r>
            <a:endParaRPr lang="en-US" sz="1350" dirty="0"/>
          </a:p>
        </p:txBody>
      </p:sp>
      <p:sp>
        <p:nvSpPr>
          <p:cNvPr id="12" name="Text 10"/>
          <p:cNvSpPr/>
          <p:nvPr/>
        </p:nvSpPr>
        <p:spPr>
          <a:xfrm>
            <a:off x="777240" y="3675888"/>
            <a:ext cx="658368" cy="512064"/>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04</a:t>
            </a:r>
            <a:endParaRPr lang="en-US" sz="1700" dirty="0"/>
          </a:p>
        </p:txBody>
      </p:sp>
      <p:sp>
        <p:nvSpPr>
          <p:cNvPr id="13" name="Text 11"/>
          <p:cNvSpPr/>
          <p:nvPr/>
        </p:nvSpPr>
        <p:spPr>
          <a:xfrm>
            <a:off x="1527048" y="3675888"/>
            <a:ext cx="4114800" cy="512064"/>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The model and the platform</a:t>
            </a:r>
            <a:endParaRPr lang="en-US" sz="1650" dirty="0"/>
          </a:p>
        </p:txBody>
      </p:sp>
      <p:sp>
        <p:nvSpPr>
          <p:cNvPr id="14" name="Text 12"/>
          <p:cNvSpPr/>
          <p:nvPr/>
        </p:nvSpPr>
        <p:spPr>
          <a:xfrm>
            <a:off x="5852160" y="3675888"/>
            <a:ext cx="5562295" cy="512064"/>
          </a:xfrm>
          <a:prstGeom prst="rect">
            <a:avLst/>
          </a:prstGeom>
          <a:noFill/>
          <a:ln/>
        </p:spPr>
        <p:txBody>
          <a:bodyPr wrap="square" lIns="0" tIns="0" rIns="0" bIns="0" rtlCol="0" anchor="ctr"/>
          <a:lstStyle/>
          <a:p>
            <a:pPr indent="0" marL="0">
              <a:buNone/>
            </a:pPr>
            <a:r>
              <a:rPr lang="en-US" sz="1350" dirty="0">
                <a:solidFill>
                  <a:srgbClr val="79818A"/>
                </a:solidFill>
                <a:latin typeface="Calibri" pitchFamily="34" charset="0"/>
                <a:ea typeface="Calibri" pitchFamily="34" charset="-122"/>
                <a:cs typeface="Calibri" pitchFamily="34" charset="-120"/>
              </a:rPr>
              <a:t>CarWale for property. What we build, borrowed from whom.</a:t>
            </a:r>
            <a:endParaRPr lang="en-US" sz="1350" dirty="0"/>
          </a:p>
        </p:txBody>
      </p:sp>
      <p:sp>
        <p:nvSpPr>
          <p:cNvPr id="15" name="Text 13"/>
          <p:cNvSpPr/>
          <p:nvPr/>
        </p:nvSpPr>
        <p:spPr>
          <a:xfrm>
            <a:off x="777240" y="4334256"/>
            <a:ext cx="658368" cy="512064"/>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05</a:t>
            </a:r>
            <a:endParaRPr lang="en-US" sz="1700" dirty="0"/>
          </a:p>
        </p:txBody>
      </p:sp>
      <p:sp>
        <p:nvSpPr>
          <p:cNvPr id="16" name="Text 14"/>
          <p:cNvSpPr/>
          <p:nvPr/>
        </p:nvSpPr>
        <p:spPr>
          <a:xfrm>
            <a:off x="1527048" y="4334256"/>
            <a:ext cx="4114800" cy="512064"/>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Budget and what it returns</a:t>
            </a:r>
            <a:endParaRPr lang="en-US" sz="1650" dirty="0"/>
          </a:p>
        </p:txBody>
      </p:sp>
      <p:sp>
        <p:nvSpPr>
          <p:cNvPr id="17" name="Text 15"/>
          <p:cNvSpPr/>
          <p:nvPr/>
        </p:nvSpPr>
        <p:spPr>
          <a:xfrm>
            <a:off x="5852160" y="4334256"/>
            <a:ext cx="5562295" cy="512064"/>
          </a:xfrm>
          <a:prstGeom prst="rect">
            <a:avLst/>
          </a:prstGeom>
          <a:noFill/>
          <a:ln/>
        </p:spPr>
        <p:txBody>
          <a:bodyPr wrap="square" lIns="0" tIns="0" rIns="0" bIns="0" rtlCol="0" anchor="ctr"/>
          <a:lstStyle/>
          <a:p>
            <a:pPr indent="0" marL="0">
              <a:buNone/>
            </a:pPr>
            <a:r>
              <a:rPr lang="en-US" sz="1350" dirty="0">
                <a:solidFill>
                  <a:srgbClr val="79818A"/>
                </a:solidFill>
                <a:latin typeface="Calibri" pitchFamily="34" charset="0"/>
                <a:ea typeface="Calibri" pitchFamily="34" charset="-122"/>
                <a:cs typeface="Calibri" pitchFamily="34" charset="-120"/>
              </a:rPr>
              <a:t>Three levels, and how little has to happen to break even.</a:t>
            </a:r>
            <a:endParaRPr lang="en-US" sz="1350" dirty="0"/>
          </a:p>
        </p:txBody>
      </p:sp>
      <p:sp>
        <p:nvSpPr>
          <p:cNvPr id="18" name="Text 16"/>
          <p:cNvSpPr/>
          <p:nvPr/>
        </p:nvSpPr>
        <p:spPr>
          <a:xfrm>
            <a:off x="777240" y="4992624"/>
            <a:ext cx="658368" cy="512064"/>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06</a:t>
            </a:r>
            <a:endParaRPr lang="en-US" sz="1700" dirty="0"/>
          </a:p>
        </p:txBody>
      </p:sp>
      <p:sp>
        <p:nvSpPr>
          <p:cNvPr id="19" name="Text 17"/>
          <p:cNvSpPr/>
          <p:nvPr/>
        </p:nvSpPr>
        <p:spPr>
          <a:xfrm>
            <a:off x="1527048" y="4992624"/>
            <a:ext cx="4114800" cy="512064"/>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The first 90 days</a:t>
            </a:r>
            <a:endParaRPr lang="en-US" sz="1650" dirty="0"/>
          </a:p>
        </p:txBody>
      </p:sp>
      <p:sp>
        <p:nvSpPr>
          <p:cNvPr id="20" name="Text 18"/>
          <p:cNvSpPr/>
          <p:nvPr/>
        </p:nvSpPr>
        <p:spPr>
          <a:xfrm>
            <a:off x="5852160" y="4992624"/>
            <a:ext cx="5562295" cy="512064"/>
          </a:xfrm>
          <a:prstGeom prst="rect">
            <a:avLst/>
          </a:prstGeom>
          <a:noFill/>
          <a:ln/>
        </p:spPr>
        <p:txBody>
          <a:bodyPr wrap="square" lIns="0" tIns="0" rIns="0" bIns="0" rtlCol="0" anchor="ctr"/>
          <a:lstStyle/>
          <a:p>
            <a:pPr indent="0" marL="0">
              <a:buNone/>
            </a:pPr>
            <a:r>
              <a:rPr lang="en-US" sz="1350" dirty="0">
                <a:solidFill>
                  <a:srgbClr val="79818A"/>
                </a:solidFill>
                <a:latin typeface="Calibri" pitchFamily="34" charset="0"/>
                <a:ea typeface="Calibri" pitchFamily="34" charset="-122"/>
                <a:cs typeface="Calibri" pitchFamily="34" charset="-120"/>
              </a:rPr>
              <a:t>Week by week, with something finished each month.</a:t>
            </a:r>
            <a:endParaRPr lang="en-US" sz="1350" dirty="0"/>
          </a:p>
        </p:txBody>
      </p:sp>
      <p:sp>
        <p:nvSpPr>
          <p:cNvPr id="21" name="Text 19"/>
          <p:cNvSpPr/>
          <p:nvPr/>
        </p:nvSpPr>
        <p:spPr>
          <a:xfrm>
            <a:off x="777240" y="5650992"/>
            <a:ext cx="658368" cy="512064"/>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07</a:t>
            </a:r>
            <a:endParaRPr lang="en-US" sz="1700" dirty="0"/>
          </a:p>
        </p:txBody>
      </p:sp>
      <p:sp>
        <p:nvSpPr>
          <p:cNvPr id="22" name="Text 20"/>
          <p:cNvSpPr/>
          <p:nvPr/>
        </p:nvSpPr>
        <p:spPr>
          <a:xfrm>
            <a:off x="1527048" y="5650992"/>
            <a:ext cx="4114800" cy="512064"/>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Ten years</a:t>
            </a:r>
            <a:endParaRPr lang="en-US" sz="1650" dirty="0"/>
          </a:p>
        </p:txBody>
      </p:sp>
      <p:sp>
        <p:nvSpPr>
          <p:cNvPr id="23" name="Text 21"/>
          <p:cNvSpPr/>
          <p:nvPr/>
        </p:nvSpPr>
        <p:spPr>
          <a:xfrm>
            <a:off x="5852160" y="5650992"/>
            <a:ext cx="5562295" cy="512064"/>
          </a:xfrm>
          <a:prstGeom prst="rect">
            <a:avLst/>
          </a:prstGeom>
          <a:noFill/>
          <a:ln/>
        </p:spPr>
        <p:txBody>
          <a:bodyPr wrap="square" lIns="0" tIns="0" rIns="0" bIns="0" rtlCol="0" anchor="ctr"/>
          <a:lstStyle/>
          <a:p>
            <a:pPr indent="0" marL="0">
              <a:buNone/>
            </a:pPr>
            <a:r>
              <a:rPr lang="en-US" sz="1350" dirty="0">
                <a:solidFill>
                  <a:srgbClr val="79818A"/>
                </a:solidFill>
                <a:latin typeface="Calibri" pitchFamily="34" charset="0"/>
                <a:ea typeface="Calibri" pitchFamily="34" charset="-122"/>
                <a:cs typeface="Calibri" pitchFamily="34" charset="-120"/>
              </a:rPr>
              <a:t>Hyderabad to India to global, as a sequence.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01</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I found</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I searched for OTHO Realty the way a buyer would. Then I searched for Propertunity.</a:t>
            </a:r>
            <a:endParaRPr lang="en-US" sz="1550" dirty="0"/>
          </a:p>
        </p:txBody>
      </p:sp>
      <p:sp>
        <p:nvSpPr>
          <p:cNvPr id="5" name="Shape 3"/>
          <p:cNvSpPr/>
          <p:nvPr/>
        </p:nvSpPr>
        <p:spPr>
          <a:xfrm>
            <a:off x="777240" y="2066544"/>
            <a:ext cx="10637215" cy="530352"/>
          </a:xfrm>
          <a:prstGeom prst="rect">
            <a:avLst/>
          </a:prstGeom>
          <a:solidFill>
            <a:srgbClr val="FFFFFF"/>
          </a:solidFill>
          <a:ln/>
        </p:spPr>
      </p:sp>
      <p:sp>
        <p:nvSpPr>
          <p:cNvPr id="6" name="Text 4"/>
          <p:cNvSpPr/>
          <p:nvPr/>
        </p:nvSpPr>
        <p:spPr>
          <a:xfrm>
            <a:off x="1014984" y="2066544"/>
            <a:ext cx="3200400" cy="530352"/>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"OTHO Realty" on Google</a:t>
            </a:r>
            <a:endParaRPr lang="en-US" sz="1350" dirty="0"/>
          </a:p>
        </p:txBody>
      </p:sp>
      <p:sp>
        <p:nvSpPr>
          <p:cNvPr id="7" name="Text 5"/>
          <p:cNvSpPr/>
          <p:nvPr/>
        </p:nvSpPr>
        <p:spPr>
          <a:xfrm>
            <a:off x="4343400" y="2066544"/>
            <a:ext cx="5425135" cy="530352"/>
          </a:xfrm>
          <a:prstGeom prst="rect">
            <a:avLst/>
          </a:prstGeom>
          <a:noFill/>
          <a:ln/>
        </p:spPr>
        <p:txBody>
          <a:bodyPr wrap="square" lIns="0" tIns="0" rIns="0" bIns="0" rtlCol="0" anchor="ctr"/>
          <a:lstStyle/>
          <a:p>
            <a:pPr indent="0" marL="0">
              <a:buNone/>
            </a:pPr>
            <a:r>
              <a:rPr lang="en-US" sz="1250" dirty="0">
                <a:solidFill>
                  <a:srgbClr val="555C64"/>
                </a:solidFill>
                <a:latin typeface="Calibri" pitchFamily="34" charset="0"/>
                <a:ea typeface="Calibri" pitchFamily="34" charset="-122"/>
                <a:cs typeface="Calibri" pitchFamily="34" charset="-120"/>
              </a:rPr>
              <a:t>Returns Square Yards, 99acres, NoBroker. Nothing about you.</a:t>
            </a:r>
            <a:endParaRPr lang="en-US" sz="1250" dirty="0"/>
          </a:p>
        </p:txBody>
      </p:sp>
      <p:sp>
        <p:nvSpPr>
          <p:cNvPr id="8" name="Shape 6"/>
          <p:cNvSpPr/>
          <p:nvPr/>
        </p:nvSpPr>
        <p:spPr>
          <a:xfrm>
            <a:off x="9933127" y="2203704"/>
            <a:ext cx="1243584" cy="256032"/>
          </a:xfrm>
          <a:prstGeom prst="rect">
            <a:avLst/>
          </a:prstGeom>
          <a:solidFill>
            <a:srgbClr val="F8E9E7"/>
          </a:solidFill>
          <a:ln/>
        </p:spPr>
      </p:sp>
      <p:sp>
        <p:nvSpPr>
          <p:cNvPr id="9" name="Text 7"/>
          <p:cNvSpPr/>
          <p:nvPr/>
        </p:nvSpPr>
        <p:spPr>
          <a:xfrm>
            <a:off x="9933127" y="2203704"/>
            <a:ext cx="1243584" cy="256032"/>
          </a:xfrm>
          <a:prstGeom prst="rect">
            <a:avLst/>
          </a:prstGeom>
          <a:noFill/>
          <a:ln/>
        </p:spPr>
        <p:txBody>
          <a:bodyPr wrap="square" lIns="0" tIns="0" rIns="0" bIns="0" rtlCol="0" anchor="ctr"/>
          <a:lstStyle/>
          <a:p>
            <a:pPr algn="ctr" indent="0" marL="0">
              <a:buNone/>
            </a:pPr>
            <a:r>
              <a:rPr lang="en-US" sz="900" b="1" spc="100" kern="0" dirty="0">
                <a:solidFill>
                  <a:srgbClr val="A8382C"/>
                </a:solidFill>
                <a:latin typeface="Calibri" pitchFamily="34" charset="0"/>
                <a:ea typeface="Calibri" pitchFamily="34" charset="-122"/>
                <a:cs typeface="Calibri" pitchFamily="34" charset="-120"/>
              </a:rPr>
              <a:t>NOTHING</a:t>
            </a:r>
            <a:endParaRPr lang="en-US" sz="900" dirty="0"/>
          </a:p>
        </p:txBody>
      </p:sp>
      <p:sp>
        <p:nvSpPr>
          <p:cNvPr id="10" name="Shape 8"/>
          <p:cNvSpPr/>
          <p:nvPr/>
        </p:nvSpPr>
        <p:spPr>
          <a:xfrm>
            <a:off x="777240" y="2651760"/>
            <a:ext cx="10637215" cy="530352"/>
          </a:xfrm>
          <a:prstGeom prst="rect">
            <a:avLst/>
          </a:prstGeom>
          <a:solidFill>
            <a:srgbClr val="FFFFFF"/>
          </a:solidFill>
          <a:ln/>
        </p:spPr>
      </p:sp>
      <p:sp>
        <p:nvSpPr>
          <p:cNvPr id="11" name="Text 9"/>
          <p:cNvSpPr/>
          <p:nvPr/>
        </p:nvSpPr>
        <p:spPr>
          <a:xfrm>
            <a:off x="1014984" y="2651760"/>
            <a:ext cx="3200400" cy="530352"/>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"Propertunity" Hyderabad</a:t>
            </a:r>
            <a:endParaRPr lang="en-US" sz="1350" dirty="0"/>
          </a:p>
        </p:txBody>
      </p:sp>
      <p:sp>
        <p:nvSpPr>
          <p:cNvPr id="12" name="Text 10"/>
          <p:cNvSpPr/>
          <p:nvPr/>
        </p:nvSpPr>
        <p:spPr>
          <a:xfrm>
            <a:off x="4343400" y="2651760"/>
            <a:ext cx="5425135" cy="530352"/>
          </a:xfrm>
          <a:prstGeom prst="rect">
            <a:avLst/>
          </a:prstGeom>
          <a:noFill/>
          <a:ln/>
        </p:spPr>
        <p:txBody>
          <a:bodyPr wrap="square" lIns="0" tIns="0" rIns="0" bIns="0" rtlCol="0" anchor="ctr"/>
          <a:lstStyle/>
          <a:p>
            <a:pPr indent="0" marL="0">
              <a:buNone/>
            </a:pPr>
            <a:r>
              <a:rPr lang="en-US" sz="1250" dirty="0">
                <a:solidFill>
                  <a:srgbClr val="555C64"/>
                </a:solidFill>
                <a:latin typeface="Calibri" pitchFamily="34" charset="0"/>
                <a:ea typeface="Calibri" pitchFamily="34" charset="-122"/>
                <a:cs typeface="Calibri" pitchFamily="34" charset="-120"/>
              </a:rPr>
              <a:t>Returns firms in Florida, the UK and Australia. Not you.</a:t>
            </a:r>
            <a:endParaRPr lang="en-US" sz="1250" dirty="0"/>
          </a:p>
        </p:txBody>
      </p:sp>
      <p:sp>
        <p:nvSpPr>
          <p:cNvPr id="13" name="Shape 11"/>
          <p:cNvSpPr/>
          <p:nvPr/>
        </p:nvSpPr>
        <p:spPr>
          <a:xfrm>
            <a:off x="9933127" y="2788920"/>
            <a:ext cx="1243584" cy="256032"/>
          </a:xfrm>
          <a:prstGeom prst="rect">
            <a:avLst/>
          </a:prstGeom>
          <a:solidFill>
            <a:srgbClr val="F8E9E7"/>
          </a:solidFill>
          <a:ln/>
        </p:spPr>
      </p:sp>
      <p:sp>
        <p:nvSpPr>
          <p:cNvPr id="14" name="Text 12"/>
          <p:cNvSpPr/>
          <p:nvPr/>
        </p:nvSpPr>
        <p:spPr>
          <a:xfrm>
            <a:off x="9933127" y="2788920"/>
            <a:ext cx="1243584" cy="256032"/>
          </a:xfrm>
          <a:prstGeom prst="rect">
            <a:avLst/>
          </a:prstGeom>
          <a:noFill/>
          <a:ln/>
        </p:spPr>
        <p:txBody>
          <a:bodyPr wrap="square" lIns="0" tIns="0" rIns="0" bIns="0" rtlCol="0" anchor="ctr"/>
          <a:lstStyle/>
          <a:p>
            <a:pPr algn="ctr" indent="0" marL="0">
              <a:buNone/>
            </a:pPr>
            <a:r>
              <a:rPr lang="en-US" sz="900" b="1" spc="100" kern="0" dirty="0">
                <a:solidFill>
                  <a:srgbClr val="A8382C"/>
                </a:solidFill>
                <a:latin typeface="Calibri" pitchFamily="34" charset="0"/>
                <a:ea typeface="Calibri" pitchFamily="34" charset="-122"/>
                <a:cs typeface="Calibri" pitchFamily="34" charset="-120"/>
              </a:rPr>
              <a:t>NOTHING</a:t>
            </a:r>
            <a:endParaRPr lang="en-US" sz="900" dirty="0"/>
          </a:p>
        </p:txBody>
      </p:sp>
      <p:sp>
        <p:nvSpPr>
          <p:cNvPr id="15" name="Shape 13"/>
          <p:cNvSpPr/>
          <p:nvPr/>
        </p:nvSpPr>
        <p:spPr>
          <a:xfrm>
            <a:off x="777240" y="3236976"/>
            <a:ext cx="10637215" cy="530352"/>
          </a:xfrm>
          <a:prstGeom prst="rect">
            <a:avLst/>
          </a:prstGeom>
          <a:solidFill>
            <a:srgbClr val="FFFFFF"/>
          </a:solidFill>
          <a:ln/>
        </p:spPr>
      </p:sp>
      <p:sp>
        <p:nvSpPr>
          <p:cNvPr id="16" name="Text 14"/>
          <p:cNvSpPr/>
          <p:nvPr/>
        </p:nvSpPr>
        <p:spPr>
          <a:xfrm>
            <a:off x="1014984" y="3236976"/>
            <a:ext cx="3200400" cy="530352"/>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Domain</a:t>
            </a:r>
            <a:endParaRPr lang="en-US" sz="1350" dirty="0"/>
          </a:p>
        </p:txBody>
      </p:sp>
      <p:sp>
        <p:nvSpPr>
          <p:cNvPr id="17" name="Text 15"/>
          <p:cNvSpPr/>
          <p:nvPr/>
        </p:nvSpPr>
        <p:spPr>
          <a:xfrm>
            <a:off x="4343400" y="3236976"/>
            <a:ext cx="5425135" cy="530352"/>
          </a:xfrm>
          <a:prstGeom prst="rect">
            <a:avLst/>
          </a:prstGeom>
          <a:noFill/>
          <a:ln/>
        </p:spPr>
        <p:txBody>
          <a:bodyPr wrap="square" lIns="0" tIns="0" rIns="0" bIns="0" rtlCol="0" anchor="ctr"/>
          <a:lstStyle/>
          <a:p>
            <a:pPr indent="0" marL="0">
              <a:buNone/>
            </a:pPr>
            <a:r>
              <a:rPr lang="en-US" sz="1250" dirty="0">
                <a:solidFill>
                  <a:srgbClr val="555C64"/>
                </a:solidFill>
                <a:latin typeface="Calibri" pitchFamily="34" charset="0"/>
                <a:ea typeface="Calibri" pitchFamily="34" charset="-122"/>
                <a:cs typeface="Calibri" pitchFamily="34" charset="-120"/>
              </a:rPr>
              <a:t>Secured — nothing live on it yet</a:t>
            </a:r>
            <a:endParaRPr lang="en-US" sz="1250" dirty="0"/>
          </a:p>
        </p:txBody>
      </p:sp>
      <p:sp>
        <p:nvSpPr>
          <p:cNvPr id="18" name="Shape 16"/>
          <p:cNvSpPr/>
          <p:nvPr/>
        </p:nvSpPr>
        <p:spPr>
          <a:xfrm>
            <a:off x="9933127" y="3374136"/>
            <a:ext cx="1243584" cy="256032"/>
          </a:xfrm>
          <a:prstGeom prst="rect">
            <a:avLst/>
          </a:prstGeom>
          <a:solidFill>
            <a:srgbClr val="F6EEDA"/>
          </a:solidFill>
          <a:ln/>
        </p:spPr>
      </p:sp>
      <p:sp>
        <p:nvSpPr>
          <p:cNvPr id="19" name="Text 17"/>
          <p:cNvSpPr/>
          <p:nvPr/>
        </p:nvSpPr>
        <p:spPr>
          <a:xfrm>
            <a:off x="9933127" y="3374136"/>
            <a:ext cx="1243584" cy="256032"/>
          </a:xfrm>
          <a:prstGeom prst="rect">
            <a:avLst/>
          </a:prstGeom>
          <a:noFill/>
          <a:ln/>
        </p:spPr>
        <p:txBody>
          <a:bodyPr wrap="square" lIns="0" tIns="0" rIns="0" bIns="0" rtlCol="0" anchor="ctr"/>
          <a:lstStyle/>
          <a:p>
            <a:pPr algn="ctr" indent="0" marL="0">
              <a:buNone/>
            </a:pPr>
            <a:r>
              <a:rPr lang="en-US" sz="900" b="1" spc="100" kern="0" dirty="0">
                <a:solidFill>
                  <a:srgbClr val="9A7A25"/>
                </a:solidFill>
                <a:latin typeface="Calibri" pitchFamily="34" charset="0"/>
                <a:ea typeface="Calibri" pitchFamily="34" charset="-122"/>
                <a:cs typeface="Calibri" pitchFamily="34" charset="-120"/>
              </a:rPr>
              <a:t>CLAIMED</a:t>
            </a:r>
            <a:endParaRPr lang="en-US" sz="900" dirty="0"/>
          </a:p>
        </p:txBody>
      </p:sp>
      <p:sp>
        <p:nvSpPr>
          <p:cNvPr id="20" name="Shape 18"/>
          <p:cNvSpPr/>
          <p:nvPr/>
        </p:nvSpPr>
        <p:spPr>
          <a:xfrm>
            <a:off x="777240" y="3822192"/>
            <a:ext cx="10637215" cy="530352"/>
          </a:xfrm>
          <a:prstGeom prst="rect">
            <a:avLst/>
          </a:prstGeom>
          <a:solidFill>
            <a:srgbClr val="FFFFFF"/>
          </a:solidFill>
          <a:ln/>
        </p:spPr>
      </p:sp>
      <p:sp>
        <p:nvSpPr>
          <p:cNvPr id="21" name="Text 19"/>
          <p:cNvSpPr/>
          <p:nvPr/>
        </p:nvSpPr>
        <p:spPr>
          <a:xfrm>
            <a:off x="1014984" y="3822192"/>
            <a:ext cx="3200400" cy="530352"/>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Social accounts</a:t>
            </a:r>
            <a:endParaRPr lang="en-US" sz="1350" dirty="0"/>
          </a:p>
        </p:txBody>
      </p:sp>
      <p:sp>
        <p:nvSpPr>
          <p:cNvPr id="22" name="Text 20"/>
          <p:cNvSpPr/>
          <p:nvPr/>
        </p:nvSpPr>
        <p:spPr>
          <a:xfrm>
            <a:off x="4343400" y="3822192"/>
            <a:ext cx="5425135" cy="530352"/>
          </a:xfrm>
          <a:prstGeom prst="rect">
            <a:avLst/>
          </a:prstGeom>
          <a:noFill/>
          <a:ln/>
        </p:spPr>
        <p:txBody>
          <a:bodyPr wrap="square" lIns="0" tIns="0" rIns="0" bIns="0" rtlCol="0" anchor="ctr"/>
          <a:lstStyle/>
          <a:p>
            <a:pPr indent="0" marL="0">
              <a:buNone/>
            </a:pPr>
            <a:r>
              <a:rPr lang="en-US" sz="1250" dirty="0">
                <a:solidFill>
                  <a:srgbClr val="555C64"/>
                </a:solidFill>
                <a:latin typeface="Calibri" pitchFamily="34" charset="0"/>
                <a:ea typeface="Calibri" pitchFamily="34" charset="-122"/>
                <a:cs typeface="Calibri" pitchFamily="34" charset="-120"/>
              </a:rPr>
              <a:t>Created — nothing published yet</a:t>
            </a:r>
            <a:endParaRPr lang="en-US" sz="1250" dirty="0"/>
          </a:p>
        </p:txBody>
      </p:sp>
      <p:sp>
        <p:nvSpPr>
          <p:cNvPr id="23" name="Shape 21"/>
          <p:cNvSpPr/>
          <p:nvPr/>
        </p:nvSpPr>
        <p:spPr>
          <a:xfrm>
            <a:off x="9933127" y="3959352"/>
            <a:ext cx="1243584" cy="256032"/>
          </a:xfrm>
          <a:prstGeom prst="rect">
            <a:avLst/>
          </a:prstGeom>
          <a:solidFill>
            <a:srgbClr val="F6EEDA"/>
          </a:solidFill>
          <a:ln/>
        </p:spPr>
      </p:sp>
      <p:sp>
        <p:nvSpPr>
          <p:cNvPr id="24" name="Text 22"/>
          <p:cNvSpPr/>
          <p:nvPr/>
        </p:nvSpPr>
        <p:spPr>
          <a:xfrm>
            <a:off x="9933127" y="3959352"/>
            <a:ext cx="1243584" cy="256032"/>
          </a:xfrm>
          <a:prstGeom prst="rect">
            <a:avLst/>
          </a:prstGeom>
          <a:noFill/>
          <a:ln/>
        </p:spPr>
        <p:txBody>
          <a:bodyPr wrap="square" lIns="0" tIns="0" rIns="0" bIns="0" rtlCol="0" anchor="ctr"/>
          <a:lstStyle/>
          <a:p>
            <a:pPr algn="ctr" indent="0" marL="0">
              <a:buNone/>
            </a:pPr>
            <a:r>
              <a:rPr lang="en-US" sz="900" b="1" spc="100" kern="0" dirty="0">
                <a:solidFill>
                  <a:srgbClr val="9A7A25"/>
                </a:solidFill>
                <a:latin typeface="Calibri" pitchFamily="34" charset="0"/>
                <a:ea typeface="Calibri" pitchFamily="34" charset="-122"/>
                <a:cs typeface="Calibri" pitchFamily="34" charset="-120"/>
              </a:rPr>
              <a:t>CLAIMED</a:t>
            </a:r>
            <a:endParaRPr lang="en-US" sz="900" dirty="0"/>
          </a:p>
        </p:txBody>
      </p:sp>
      <p:sp>
        <p:nvSpPr>
          <p:cNvPr id="25" name="Shape 23"/>
          <p:cNvSpPr/>
          <p:nvPr/>
        </p:nvSpPr>
        <p:spPr>
          <a:xfrm>
            <a:off x="777240" y="4407408"/>
            <a:ext cx="10637215" cy="530352"/>
          </a:xfrm>
          <a:prstGeom prst="rect">
            <a:avLst/>
          </a:prstGeom>
          <a:solidFill>
            <a:srgbClr val="FFFFFF"/>
          </a:solidFill>
          <a:ln/>
        </p:spPr>
      </p:sp>
      <p:sp>
        <p:nvSpPr>
          <p:cNvPr id="26" name="Text 24"/>
          <p:cNvSpPr/>
          <p:nvPr/>
        </p:nvSpPr>
        <p:spPr>
          <a:xfrm>
            <a:off x="1014984" y="4407408"/>
            <a:ext cx="3200400" cy="530352"/>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Published content</a:t>
            </a:r>
            <a:endParaRPr lang="en-US" sz="1350" dirty="0"/>
          </a:p>
        </p:txBody>
      </p:sp>
      <p:sp>
        <p:nvSpPr>
          <p:cNvPr id="27" name="Text 25"/>
          <p:cNvSpPr/>
          <p:nvPr/>
        </p:nvSpPr>
        <p:spPr>
          <a:xfrm>
            <a:off x="4343400" y="4407408"/>
            <a:ext cx="5425135" cy="530352"/>
          </a:xfrm>
          <a:prstGeom prst="rect">
            <a:avLst/>
          </a:prstGeom>
          <a:noFill/>
          <a:ln/>
        </p:spPr>
        <p:txBody>
          <a:bodyPr wrap="square" lIns="0" tIns="0" rIns="0" bIns="0" rtlCol="0" anchor="ctr"/>
          <a:lstStyle/>
          <a:p>
            <a:pPr indent="0" marL="0">
              <a:buNone/>
            </a:pPr>
            <a:r>
              <a:rPr lang="en-US" sz="1250" dirty="0">
                <a:solidFill>
                  <a:srgbClr val="555C64"/>
                </a:solidFill>
                <a:latin typeface="Calibri" pitchFamily="34" charset="0"/>
                <a:ea typeface="Calibri" pitchFamily="34" charset="-122"/>
                <a:cs typeface="Calibri" pitchFamily="34" charset="-120"/>
              </a:rPr>
              <a:t>No articles, guides or video indexed anywhere</a:t>
            </a:r>
            <a:endParaRPr lang="en-US" sz="1250" dirty="0"/>
          </a:p>
        </p:txBody>
      </p:sp>
      <p:sp>
        <p:nvSpPr>
          <p:cNvPr id="28" name="Shape 26"/>
          <p:cNvSpPr/>
          <p:nvPr/>
        </p:nvSpPr>
        <p:spPr>
          <a:xfrm>
            <a:off x="9933127" y="4544568"/>
            <a:ext cx="1243584" cy="256032"/>
          </a:xfrm>
          <a:prstGeom prst="rect">
            <a:avLst/>
          </a:prstGeom>
          <a:solidFill>
            <a:srgbClr val="F8E9E7"/>
          </a:solidFill>
          <a:ln/>
        </p:spPr>
      </p:sp>
      <p:sp>
        <p:nvSpPr>
          <p:cNvPr id="29" name="Text 27"/>
          <p:cNvSpPr/>
          <p:nvPr/>
        </p:nvSpPr>
        <p:spPr>
          <a:xfrm>
            <a:off x="9933127" y="4544568"/>
            <a:ext cx="1243584" cy="256032"/>
          </a:xfrm>
          <a:prstGeom prst="rect">
            <a:avLst/>
          </a:prstGeom>
          <a:noFill/>
          <a:ln/>
        </p:spPr>
        <p:txBody>
          <a:bodyPr wrap="square" lIns="0" tIns="0" rIns="0" bIns="0" rtlCol="0" anchor="ctr"/>
          <a:lstStyle/>
          <a:p>
            <a:pPr algn="ctr" indent="0" marL="0">
              <a:buNone/>
            </a:pPr>
            <a:r>
              <a:rPr lang="en-US" sz="900" b="1" spc="100" kern="0" dirty="0">
                <a:solidFill>
                  <a:srgbClr val="A8382C"/>
                </a:solidFill>
                <a:latin typeface="Calibri" pitchFamily="34" charset="0"/>
                <a:ea typeface="Calibri" pitchFamily="34" charset="-122"/>
                <a:cs typeface="Calibri" pitchFamily="34" charset="-120"/>
              </a:rPr>
              <a:t>NOTHING</a:t>
            </a:r>
            <a:endParaRPr lang="en-US" sz="900" dirty="0"/>
          </a:p>
        </p:txBody>
      </p:sp>
      <p:sp>
        <p:nvSpPr>
          <p:cNvPr id="30" name="Shape 28"/>
          <p:cNvSpPr/>
          <p:nvPr/>
        </p:nvSpPr>
        <p:spPr>
          <a:xfrm>
            <a:off x="777240" y="4992624"/>
            <a:ext cx="10637215" cy="530352"/>
          </a:xfrm>
          <a:prstGeom prst="rect">
            <a:avLst/>
          </a:prstGeom>
          <a:solidFill>
            <a:srgbClr val="FFFFFF"/>
          </a:solidFill>
          <a:ln/>
        </p:spPr>
      </p:sp>
      <p:sp>
        <p:nvSpPr>
          <p:cNvPr id="31" name="Text 29"/>
          <p:cNvSpPr/>
          <p:nvPr/>
        </p:nvSpPr>
        <p:spPr>
          <a:xfrm>
            <a:off x="1014984" y="4992624"/>
            <a:ext cx="3200400" cy="530352"/>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Press and mentions</a:t>
            </a:r>
            <a:endParaRPr lang="en-US" sz="1350" dirty="0"/>
          </a:p>
        </p:txBody>
      </p:sp>
      <p:sp>
        <p:nvSpPr>
          <p:cNvPr id="32" name="Text 30"/>
          <p:cNvSpPr/>
          <p:nvPr/>
        </p:nvSpPr>
        <p:spPr>
          <a:xfrm>
            <a:off x="4343400" y="4992624"/>
            <a:ext cx="5425135" cy="530352"/>
          </a:xfrm>
          <a:prstGeom prst="rect">
            <a:avLst/>
          </a:prstGeom>
          <a:noFill/>
          <a:ln/>
        </p:spPr>
        <p:txBody>
          <a:bodyPr wrap="square" lIns="0" tIns="0" rIns="0" bIns="0" rtlCol="0" anchor="ctr"/>
          <a:lstStyle/>
          <a:p>
            <a:pPr indent="0" marL="0">
              <a:buNone/>
            </a:pPr>
            <a:r>
              <a:rPr lang="en-US" sz="1250" dirty="0">
                <a:solidFill>
                  <a:srgbClr val="555C64"/>
                </a:solidFill>
                <a:latin typeface="Calibri" pitchFamily="34" charset="0"/>
                <a:ea typeface="Calibri" pitchFamily="34" charset="-122"/>
                <a:cs typeface="Calibri" pitchFamily="34" charset="-120"/>
              </a:rPr>
              <a:t>No third-party coverage found</a:t>
            </a:r>
            <a:endParaRPr lang="en-US" sz="1250" dirty="0"/>
          </a:p>
        </p:txBody>
      </p:sp>
      <p:sp>
        <p:nvSpPr>
          <p:cNvPr id="33" name="Shape 31"/>
          <p:cNvSpPr/>
          <p:nvPr/>
        </p:nvSpPr>
        <p:spPr>
          <a:xfrm>
            <a:off x="9933127" y="5129784"/>
            <a:ext cx="1243584" cy="256032"/>
          </a:xfrm>
          <a:prstGeom prst="rect">
            <a:avLst/>
          </a:prstGeom>
          <a:solidFill>
            <a:srgbClr val="F8E9E7"/>
          </a:solidFill>
          <a:ln/>
        </p:spPr>
      </p:sp>
      <p:sp>
        <p:nvSpPr>
          <p:cNvPr id="34" name="Text 32"/>
          <p:cNvSpPr/>
          <p:nvPr/>
        </p:nvSpPr>
        <p:spPr>
          <a:xfrm>
            <a:off x="9933127" y="5129784"/>
            <a:ext cx="1243584" cy="256032"/>
          </a:xfrm>
          <a:prstGeom prst="rect">
            <a:avLst/>
          </a:prstGeom>
          <a:noFill/>
          <a:ln/>
        </p:spPr>
        <p:txBody>
          <a:bodyPr wrap="square" lIns="0" tIns="0" rIns="0" bIns="0" rtlCol="0" anchor="ctr"/>
          <a:lstStyle/>
          <a:p>
            <a:pPr algn="ctr" indent="0" marL="0">
              <a:buNone/>
            </a:pPr>
            <a:r>
              <a:rPr lang="en-US" sz="900" b="1" spc="100" kern="0" dirty="0">
                <a:solidFill>
                  <a:srgbClr val="A8382C"/>
                </a:solidFill>
                <a:latin typeface="Calibri" pitchFamily="34" charset="0"/>
                <a:ea typeface="Calibri" pitchFamily="34" charset="-122"/>
                <a:cs typeface="Calibri" pitchFamily="34" charset="-120"/>
              </a:rPr>
              <a:t>NOTHING</a:t>
            </a:r>
            <a:endParaRPr lang="en-US" sz="900" dirty="0"/>
          </a:p>
        </p:txBody>
      </p:sp>
      <p:sp>
        <p:nvSpPr>
          <p:cNvPr id="35" name="Shape 33"/>
          <p:cNvSpPr/>
          <p:nvPr/>
        </p:nvSpPr>
        <p:spPr>
          <a:xfrm>
            <a:off x="777240" y="5577840"/>
            <a:ext cx="10637215" cy="530352"/>
          </a:xfrm>
          <a:prstGeom prst="rect">
            <a:avLst/>
          </a:prstGeom>
          <a:solidFill>
            <a:srgbClr val="FFFFFF"/>
          </a:solidFill>
          <a:ln/>
        </p:spPr>
      </p:sp>
      <p:sp>
        <p:nvSpPr>
          <p:cNvPr id="36" name="Text 34"/>
          <p:cNvSpPr/>
          <p:nvPr/>
        </p:nvSpPr>
        <p:spPr>
          <a:xfrm>
            <a:off x="1014984" y="5577840"/>
            <a:ext cx="3200400" cy="530352"/>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Founder relationships</a:t>
            </a:r>
            <a:endParaRPr lang="en-US" sz="1350" dirty="0"/>
          </a:p>
        </p:txBody>
      </p:sp>
      <p:sp>
        <p:nvSpPr>
          <p:cNvPr id="37" name="Text 35"/>
          <p:cNvSpPr/>
          <p:nvPr/>
        </p:nvSpPr>
        <p:spPr>
          <a:xfrm>
            <a:off x="4343400" y="5577840"/>
            <a:ext cx="5425135" cy="530352"/>
          </a:xfrm>
          <a:prstGeom prst="rect">
            <a:avLst/>
          </a:prstGeom>
          <a:noFill/>
          <a:ln/>
        </p:spPr>
        <p:txBody>
          <a:bodyPr wrap="square" lIns="0" tIns="0" rIns="0" bIns="0" rtlCol="0" anchor="ctr"/>
          <a:lstStyle/>
          <a:p>
            <a:pPr indent="0" marL="0">
              <a:buNone/>
            </a:pPr>
            <a:r>
              <a:rPr lang="en-US" sz="1250" dirty="0">
                <a:solidFill>
                  <a:srgbClr val="555C64"/>
                </a:solidFill>
                <a:latin typeface="Calibri" pitchFamily="34" charset="0"/>
                <a:ea typeface="Calibri" pitchFamily="34" charset="-122"/>
                <a:cs typeface="Calibri" pitchFamily="34" charset="-120"/>
              </a:rPr>
              <a:t>Two decades, tier-one developers. The whole asset.</a:t>
            </a:r>
            <a:endParaRPr lang="en-US" sz="1250" dirty="0"/>
          </a:p>
        </p:txBody>
      </p:sp>
      <p:sp>
        <p:nvSpPr>
          <p:cNvPr id="38" name="Shape 36"/>
          <p:cNvSpPr/>
          <p:nvPr/>
        </p:nvSpPr>
        <p:spPr>
          <a:xfrm>
            <a:off x="9933127" y="5715000"/>
            <a:ext cx="1243584" cy="256032"/>
          </a:xfrm>
          <a:prstGeom prst="rect">
            <a:avLst/>
          </a:prstGeom>
          <a:solidFill>
            <a:srgbClr val="E6F0EA"/>
          </a:solidFill>
          <a:ln/>
        </p:spPr>
      </p:sp>
      <p:sp>
        <p:nvSpPr>
          <p:cNvPr id="39" name="Text 37"/>
          <p:cNvSpPr/>
          <p:nvPr/>
        </p:nvSpPr>
        <p:spPr>
          <a:xfrm>
            <a:off x="9933127" y="5715000"/>
            <a:ext cx="1243584" cy="256032"/>
          </a:xfrm>
          <a:prstGeom prst="rect">
            <a:avLst/>
          </a:prstGeom>
          <a:noFill/>
          <a:ln/>
        </p:spPr>
        <p:txBody>
          <a:bodyPr wrap="square" lIns="0" tIns="0" rIns="0" bIns="0" rtlCol="0" anchor="ctr"/>
          <a:lstStyle/>
          <a:p>
            <a:pPr algn="ctr" indent="0" marL="0">
              <a:buNone/>
            </a:pPr>
            <a:r>
              <a:rPr lang="en-US" sz="900" b="1" spc="100" kern="0" dirty="0">
                <a:solidFill>
                  <a:srgbClr val="2E7150"/>
                </a:solidFill>
                <a:latin typeface="Calibri" pitchFamily="34" charset="0"/>
                <a:ea typeface="Calibri" pitchFamily="34" charset="-122"/>
                <a:cs typeface="Calibri" pitchFamily="34" charset="-120"/>
              </a:rPr>
              <a:t>STRONG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1600200"/>
            <a:ext cx="9601200" cy="1920240"/>
          </a:xfrm>
          <a:prstGeom prst="rect">
            <a:avLst/>
          </a:prstGeom>
          <a:noFill/>
          <a:ln/>
        </p:spPr>
        <p:txBody>
          <a:bodyPr wrap="square" lIns="0" tIns="0" rIns="0" bIns="0" rtlCol="0" anchor="ctr"/>
          <a:lstStyle/>
          <a:p>
            <a:pPr indent="0" marL="0">
              <a:lnSpc>
                <a:spcPts val="6000"/>
              </a:lnSpc>
              <a:buNone/>
            </a:pPr>
            <a:r>
              <a:rPr lang="en-US" sz="5000" b="1" spc="-100" kern="0" dirty="0">
                <a:solidFill>
                  <a:srgbClr val="FFFFFF"/>
                </a:solidFill>
                <a:latin typeface="Cambria" pitchFamily="34" charset="0"/>
                <a:ea typeface="Cambria" pitchFamily="34" charset="-122"/>
                <a:cs typeface="Cambria" pitchFamily="34" charset="-120"/>
              </a:rPr>
              <a:t>The plots are claimed.</a:t>
            </a:r>
            <a:endParaRPr lang="en-US" sz="5000" dirty="0"/>
          </a:p>
          <a:p>
            <a:pPr indent="0" marL="0">
              <a:lnSpc>
                <a:spcPts val="6000"/>
              </a:lnSpc>
              <a:buNone/>
            </a:pPr>
            <a:r>
              <a:rPr lang="en-US" sz="5000" b="1" spc="-100" kern="0" dirty="0">
                <a:solidFill>
                  <a:srgbClr val="FFFFFF"/>
                </a:solidFill>
                <a:latin typeface="Cambria" pitchFamily="34" charset="0"/>
                <a:ea typeface="Cambria" pitchFamily="34" charset="-122"/>
                <a:cs typeface="Cambria" pitchFamily="34" charset="-120"/>
              </a:rPr>
              <a:t>Nothing is built yet.</a:t>
            </a:r>
            <a:endParaRPr lang="en-US" sz="5000" dirty="0"/>
          </a:p>
        </p:txBody>
      </p:sp>
      <p:sp>
        <p:nvSpPr>
          <p:cNvPr id="3" name="Text 1"/>
          <p:cNvSpPr/>
          <p:nvPr/>
        </p:nvSpPr>
        <p:spPr>
          <a:xfrm>
            <a:off x="777240" y="3886200"/>
            <a:ext cx="8778240" cy="640080"/>
          </a:xfrm>
          <a:prstGeom prst="rect">
            <a:avLst/>
          </a:prstGeom>
          <a:noFill/>
          <a:ln/>
        </p:spPr>
        <p:txBody>
          <a:bodyPr wrap="square" lIns="0" tIns="0" rIns="0" bIns="0" rtlCol="0" anchor="ctr"/>
          <a:lstStyle/>
          <a:p>
            <a:pPr indent="0" marL="0">
              <a:lnSpc>
                <a:spcPts val="2600"/>
              </a:lnSpc>
              <a:buNone/>
            </a:pPr>
            <a:r>
              <a:rPr lang="en-US" sz="1700" dirty="0">
                <a:solidFill>
                  <a:srgbClr val="FFFFFF"/>
                </a:solidFill>
                <a:latin typeface="Calibri" pitchFamily="34" charset="0"/>
                <a:ea typeface="Calibri" pitchFamily="34" charset="-122"/>
                <a:cs typeface="Calibri" pitchFamily="34" charset="-120"/>
              </a:rPr>
              <a:t>Domain secured, social accounts created — and nothing published on any of them. To a buyer searching today, OTHO does not exist.</a:t>
            </a:r>
            <a:endParaRPr lang="en-US" sz="1700" dirty="0"/>
          </a:p>
        </p:txBody>
      </p:sp>
      <p:sp>
        <p:nvSpPr>
          <p:cNvPr id="4" name="Text 2"/>
          <p:cNvSpPr/>
          <p:nvPr/>
        </p:nvSpPr>
        <p:spPr>
          <a:xfrm>
            <a:off x="777240" y="4663440"/>
            <a:ext cx="8778240" cy="914400"/>
          </a:xfrm>
          <a:prstGeom prst="rect">
            <a:avLst/>
          </a:prstGeom>
          <a:noFill/>
          <a:ln/>
        </p:spPr>
        <p:txBody>
          <a:bodyPr wrap="square" lIns="0" tIns="0" rIns="0" bIns="0" rtlCol="0" anchor="ctr"/>
          <a:lstStyle/>
          <a:p>
            <a:pPr indent="0" marL="0">
              <a:lnSpc>
                <a:spcPts val="2400"/>
              </a:lnSpc>
              <a:buNone/>
            </a:pPr>
            <a:r>
              <a:rPr lang="en-US" sz="1500" dirty="0">
                <a:solidFill>
                  <a:srgbClr val="79818A"/>
                </a:solidFill>
                <a:latin typeface="Calibri" pitchFamily="34" charset="0"/>
                <a:ea typeface="Calibri" pitchFamily="34" charset="-122"/>
                <a:cs typeface="Calibri" pitchFamily="34" charset="-120"/>
              </a:rPr>
              <a:t>That's an advantage, not a criticism. No dead campaigns, no complaints ranking on page one, nothing to unpick. Every competitor here carries years of that. Everything OTHO publishes from now compounds instead of competing with its own past.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02</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The market you're entering</a:t>
            </a:r>
            <a:endParaRPr lang="en-US" sz="3800" dirty="0"/>
          </a:p>
        </p:txBody>
      </p:sp>
      <p:sp>
        <p:nvSpPr>
          <p:cNvPr id="4" name="Shape 2"/>
          <p:cNvSpPr/>
          <p:nvPr/>
        </p:nvSpPr>
        <p:spPr>
          <a:xfrm>
            <a:off x="777240" y="1591056"/>
            <a:ext cx="2453564" cy="205740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5" name="Text 3"/>
          <p:cNvSpPr/>
          <p:nvPr/>
        </p:nvSpPr>
        <p:spPr>
          <a:xfrm>
            <a:off x="1033272" y="1810512"/>
            <a:ext cx="1941500" cy="658368"/>
          </a:xfrm>
          <a:prstGeom prst="rect">
            <a:avLst/>
          </a:prstGeom>
          <a:noFill/>
          <a:ln/>
        </p:spPr>
        <p:txBody>
          <a:bodyPr wrap="square" lIns="0" tIns="0" rIns="0" bIns="0" rtlCol="0" anchor="ctr"/>
          <a:lstStyle/>
          <a:p>
            <a:pPr indent="0" marL="0">
              <a:buNone/>
            </a:pPr>
            <a:r>
              <a:rPr lang="en-US" sz="2600" b="1" spc="-60" kern="0" dirty="0">
                <a:solidFill>
                  <a:srgbClr val="14181D"/>
                </a:solidFill>
                <a:latin typeface="Cambria" pitchFamily="34" charset="0"/>
                <a:ea typeface="Cambria" pitchFamily="34" charset="-122"/>
                <a:cs typeface="Cambria" pitchFamily="34" charset="-120"/>
              </a:rPr>
              <a:t>₹2.6 lakh cr</a:t>
            </a:r>
            <a:endParaRPr lang="en-US" sz="2600" dirty="0"/>
          </a:p>
        </p:txBody>
      </p:sp>
      <p:sp>
        <p:nvSpPr>
          <p:cNvPr id="6" name="Text 4"/>
          <p:cNvSpPr/>
          <p:nvPr/>
        </p:nvSpPr>
        <p:spPr>
          <a:xfrm>
            <a:off x="1033272" y="2523744"/>
            <a:ext cx="1941500" cy="749808"/>
          </a:xfrm>
          <a:prstGeom prst="rect">
            <a:avLst/>
          </a:prstGeom>
          <a:noFill/>
          <a:ln/>
        </p:spPr>
        <p:txBody>
          <a:bodyPr wrap="square" lIns="0" tIns="0" rIns="0" bIns="0" rtlCol="0" anchor="t"/>
          <a:lstStyle/>
          <a:p>
            <a:pPr indent="0" marL="0">
              <a:lnSpc>
                <a:spcPts val="1700"/>
              </a:lnSpc>
              <a:buNone/>
            </a:pPr>
            <a:r>
              <a:rPr lang="en-US" sz="1250" dirty="0">
                <a:solidFill>
                  <a:srgbClr val="555C64"/>
                </a:solidFill>
                <a:latin typeface="Calibri" pitchFamily="34" charset="0"/>
                <a:ea typeface="Calibri" pitchFamily="34" charset="-122"/>
                <a:cs typeface="Calibri" pitchFamily="34" charset="-120"/>
              </a:rPr>
              <a:t>Indian proptech market in 2025</a:t>
            </a:r>
            <a:endParaRPr lang="en-US" sz="1250" dirty="0"/>
          </a:p>
        </p:txBody>
      </p:sp>
      <p:sp>
        <p:nvSpPr>
          <p:cNvPr id="7" name="Text 5"/>
          <p:cNvSpPr/>
          <p:nvPr/>
        </p:nvSpPr>
        <p:spPr>
          <a:xfrm>
            <a:off x="1033272" y="3291840"/>
            <a:ext cx="1941500" cy="237744"/>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IMARC / KEN RESEARCH</a:t>
            </a:r>
            <a:endParaRPr lang="en-US" sz="850" dirty="0"/>
          </a:p>
        </p:txBody>
      </p:sp>
      <p:sp>
        <p:nvSpPr>
          <p:cNvPr id="8" name="Shape 6"/>
          <p:cNvSpPr/>
          <p:nvPr/>
        </p:nvSpPr>
        <p:spPr>
          <a:xfrm>
            <a:off x="3505124" y="1591056"/>
            <a:ext cx="2453564" cy="205740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9" name="Text 7"/>
          <p:cNvSpPr/>
          <p:nvPr/>
        </p:nvSpPr>
        <p:spPr>
          <a:xfrm>
            <a:off x="3761156" y="1810512"/>
            <a:ext cx="1941500" cy="658368"/>
          </a:xfrm>
          <a:prstGeom prst="rect">
            <a:avLst/>
          </a:prstGeom>
          <a:noFill/>
          <a:ln/>
        </p:spPr>
        <p:txBody>
          <a:bodyPr wrap="square" lIns="0" tIns="0" rIns="0" bIns="0" rtlCol="0" anchor="ctr"/>
          <a:lstStyle/>
          <a:p>
            <a:pPr indent="0" marL="0">
              <a:buNone/>
            </a:pPr>
            <a:r>
              <a:rPr lang="en-US" sz="2600" b="1" spc="-60" kern="0" dirty="0">
                <a:solidFill>
                  <a:srgbClr val="14181D"/>
                </a:solidFill>
                <a:latin typeface="Cambria" pitchFamily="34" charset="0"/>
                <a:ea typeface="Cambria" pitchFamily="34" charset="-122"/>
                <a:cs typeface="Cambria" pitchFamily="34" charset="-120"/>
              </a:rPr>
              <a:t>₹6.9 lakh cr</a:t>
            </a:r>
            <a:endParaRPr lang="en-US" sz="2600" dirty="0"/>
          </a:p>
        </p:txBody>
      </p:sp>
      <p:sp>
        <p:nvSpPr>
          <p:cNvPr id="10" name="Text 8"/>
          <p:cNvSpPr/>
          <p:nvPr/>
        </p:nvSpPr>
        <p:spPr>
          <a:xfrm>
            <a:off x="3761156" y="2523744"/>
            <a:ext cx="1941500" cy="749808"/>
          </a:xfrm>
          <a:prstGeom prst="rect">
            <a:avLst/>
          </a:prstGeom>
          <a:noFill/>
          <a:ln/>
        </p:spPr>
        <p:txBody>
          <a:bodyPr wrap="square" lIns="0" tIns="0" rIns="0" bIns="0" rtlCol="0" anchor="t"/>
          <a:lstStyle/>
          <a:p>
            <a:pPr indent="0" marL="0">
              <a:lnSpc>
                <a:spcPts val="1700"/>
              </a:lnSpc>
              <a:buNone/>
            </a:pPr>
            <a:r>
              <a:rPr lang="en-US" sz="1250" dirty="0">
                <a:solidFill>
                  <a:srgbClr val="555C64"/>
                </a:solidFill>
                <a:latin typeface="Calibri" pitchFamily="34" charset="0"/>
                <a:ea typeface="Calibri" pitchFamily="34" charset="-122"/>
                <a:cs typeface="Calibri" pitchFamily="34" charset="-120"/>
              </a:rPr>
              <a:t>Where it reaches by 2031</a:t>
            </a:r>
            <a:endParaRPr lang="en-US" sz="1250" dirty="0"/>
          </a:p>
        </p:txBody>
      </p:sp>
      <p:sp>
        <p:nvSpPr>
          <p:cNvPr id="11" name="Text 9"/>
          <p:cNvSpPr/>
          <p:nvPr/>
        </p:nvSpPr>
        <p:spPr>
          <a:xfrm>
            <a:off x="3761156" y="3291840"/>
            <a:ext cx="1941500" cy="237744"/>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IMARC / KEN RESEARCH</a:t>
            </a:r>
            <a:endParaRPr lang="en-US" sz="850" dirty="0"/>
          </a:p>
        </p:txBody>
      </p:sp>
      <p:sp>
        <p:nvSpPr>
          <p:cNvPr id="12" name="Shape 10"/>
          <p:cNvSpPr/>
          <p:nvPr/>
        </p:nvSpPr>
        <p:spPr>
          <a:xfrm>
            <a:off x="6233008" y="1591056"/>
            <a:ext cx="2453564" cy="205740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3" name="Text 11"/>
          <p:cNvSpPr/>
          <p:nvPr/>
        </p:nvSpPr>
        <p:spPr>
          <a:xfrm>
            <a:off x="6489040" y="1810512"/>
            <a:ext cx="1941500" cy="658368"/>
          </a:xfrm>
          <a:prstGeom prst="rect">
            <a:avLst/>
          </a:prstGeom>
          <a:noFill/>
          <a:ln/>
        </p:spPr>
        <p:txBody>
          <a:bodyPr wrap="square" lIns="0" tIns="0" rIns="0" bIns="0" rtlCol="0" anchor="ctr"/>
          <a:lstStyle/>
          <a:p>
            <a:pPr indent="0" marL="0">
              <a:buNone/>
            </a:pPr>
            <a:r>
              <a:rPr lang="en-US" sz="2600" b="1" spc="-60" kern="0" dirty="0">
                <a:solidFill>
                  <a:srgbClr val="14181D"/>
                </a:solidFill>
                <a:latin typeface="Cambria" pitchFamily="34" charset="0"/>
                <a:ea typeface="Cambria" pitchFamily="34" charset="-122"/>
                <a:cs typeface="Cambria" pitchFamily="34" charset="-120"/>
              </a:rPr>
              <a:t>19 months</a:t>
            </a:r>
            <a:endParaRPr lang="en-US" sz="2600" dirty="0"/>
          </a:p>
        </p:txBody>
      </p:sp>
      <p:sp>
        <p:nvSpPr>
          <p:cNvPr id="14" name="Text 12"/>
          <p:cNvSpPr/>
          <p:nvPr/>
        </p:nvSpPr>
        <p:spPr>
          <a:xfrm>
            <a:off x="6489040" y="2523744"/>
            <a:ext cx="1941500" cy="749808"/>
          </a:xfrm>
          <a:prstGeom prst="rect">
            <a:avLst/>
          </a:prstGeom>
          <a:noFill/>
          <a:ln/>
        </p:spPr>
        <p:txBody>
          <a:bodyPr wrap="square" lIns="0" tIns="0" rIns="0" bIns="0" rtlCol="0" anchor="t"/>
          <a:lstStyle/>
          <a:p>
            <a:pPr indent="0" marL="0">
              <a:lnSpc>
                <a:spcPts val="1700"/>
              </a:lnSpc>
              <a:buNone/>
            </a:pPr>
            <a:r>
              <a:rPr lang="en-US" sz="1250" dirty="0">
                <a:solidFill>
                  <a:srgbClr val="555C64"/>
                </a:solidFill>
                <a:latin typeface="Calibri" pitchFamily="34" charset="0"/>
                <a:ea typeface="Calibri" pitchFamily="34" charset="-122"/>
                <a:cs typeface="Calibri" pitchFamily="34" charset="-120"/>
              </a:rPr>
              <a:t>Unsold inventory in Hyderabad — worst in India</a:t>
            </a:r>
            <a:endParaRPr lang="en-US" sz="1250" dirty="0"/>
          </a:p>
        </p:txBody>
      </p:sp>
      <p:sp>
        <p:nvSpPr>
          <p:cNvPr id="15" name="Text 13"/>
          <p:cNvSpPr/>
          <p:nvPr/>
        </p:nvSpPr>
        <p:spPr>
          <a:xfrm>
            <a:off x="6489040" y="3291840"/>
            <a:ext cx="1941500" cy="237744"/>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ANAROCK</a:t>
            </a:r>
            <a:endParaRPr lang="en-US" sz="850" dirty="0"/>
          </a:p>
        </p:txBody>
      </p:sp>
      <p:sp>
        <p:nvSpPr>
          <p:cNvPr id="16" name="Shape 14"/>
          <p:cNvSpPr/>
          <p:nvPr/>
        </p:nvSpPr>
        <p:spPr>
          <a:xfrm>
            <a:off x="8960891" y="1591056"/>
            <a:ext cx="2453564" cy="205740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7" name="Text 15"/>
          <p:cNvSpPr/>
          <p:nvPr/>
        </p:nvSpPr>
        <p:spPr>
          <a:xfrm>
            <a:off x="9216923" y="1810512"/>
            <a:ext cx="1941500" cy="658368"/>
          </a:xfrm>
          <a:prstGeom prst="rect">
            <a:avLst/>
          </a:prstGeom>
          <a:noFill/>
          <a:ln/>
        </p:spPr>
        <p:txBody>
          <a:bodyPr wrap="square" lIns="0" tIns="0" rIns="0" bIns="0" rtlCol="0" anchor="ctr"/>
          <a:lstStyle/>
          <a:p>
            <a:pPr indent="0" marL="0">
              <a:buNone/>
            </a:pPr>
            <a:r>
              <a:rPr lang="en-US" sz="2600" b="1" spc="-60" kern="0" dirty="0">
                <a:solidFill>
                  <a:srgbClr val="14181D"/>
                </a:solidFill>
                <a:latin typeface="Cambria" pitchFamily="34" charset="0"/>
                <a:ea typeface="Cambria" pitchFamily="34" charset="-122"/>
                <a:cs typeface="Cambria" pitchFamily="34" charset="-120"/>
              </a:rPr>
              <a:t>40%</a:t>
            </a:r>
            <a:endParaRPr lang="en-US" sz="2600" dirty="0"/>
          </a:p>
        </p:txBody>
      </p:sp>
      <p:sp>
        <p:nvSpPr>
          <p:cNvPr id="18" name="Text 16"/>
          <p:cNvSpPr/>
          <p:nvPr/>
        </p:nvSpPr>
        <p:spPr>
          <a:xfrm>
            <a:off x="9216923" y="2523744"/>
            <a:ext cx="1941500" cy="749808"/>
          </a:xfrm>
          <a:prstGeom prst="rect">
            <a:avLst/>
          </a:prstGeom>
          <a:noFill/>
          <a:ln/>
        </p:spPr>
        <p:txBody>
          <a:bodyPr wrap="square" lIns="0" tIns="0" rIns="0" bIns="0" rtlCol="0" anchor="t"/>
          <a:lstStyle/>
          <a:p>
            <a:pPr indent="0" marL="0">
              <a:lnSpc>
                <a:spcPts val="1700"/>
              </a:lnSpc>
              <a:buNone/>
            </a:pPr>
            <a:r>
              <a:rPr lang="en-US" sz="1250" dirty="0">
                <a:solidFill>
                  <a:srgbClr val="555C64"/>
                </a:solidFill>
                <a:latin typeface="Calibri" pitchFamily="34" charset="0"/>
                <a:ea typeface="Calibri" pitchFamily="34" charset="-122"/>
                <a:cs typeface="Calibri" pitchFamily="34" charset="-120"/>
              </a:rPr>
              <a:t>Of ~10,000 Neopolis homes, still unsold</a:t>
            </a:r>
            <a:endParaRPr lang="en-US" sz="1250" dirty="0"/>
          </a:p>
        </p:txBody>
      </p:sp>
      <p:sp>
        <p:nvSpPr>
          <p:cNvPr id="19" name="Text 17"/>
          <p:cNvSpPr/>
          <p:nvPr/>
        </p:nvSpPr>
        <p:spPr>
          <a:xfrm>
            <a:off x="9216923" y="3291840"/>
            <a:ext cx="1941500" cy="237744"/>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TRADE PRESS 2026</a:t>
            </a:r>
            <a:endParaRPr lang="en-US" sz="850" dirty="0"/>
          </a:p>
        </p:txBody>
      </p:sp>
      <p:sp>
        <p:nvSpPr>
          <p:cNvPr id="20" name="Text 18"/>
          <p:cNvSpPr/>
          <p:nvPr/>
        </p:nvSpPr>
        <p:spPr>
          <a:xfrm>
            <a:off x="777240" y="3986784"/>
            <a:ext cx="10637215" cy="822960"/>
          </a:xfrm>
          <a:prstGeom prst="rect">
            <a:avLst/>
          </a:prstGeom>
          <a:noFill/>
          <a:ln/>
        </p:spPr>
        <p:txBody>
          <a:bodyPr wrap="square" lIns="0" tIns="0" rIns="0" bIns="0" rtlCol="0" anchor="ctr"/>
          <a:lstStyle/>
          <a:p>
            <a:pPr indent="0" marL="0">
              <a:lnSpc>
                <a:spcPts val="2400"/>
              </a:lnSpc>
              <a:buNone/>
            </a:pPr>
            <a:r>
              <a:rPr lang="en-US" sz="1550" dirty="0">
                <a:solidFill>
                  <a:srgbClr val="14181D"/>
                </a:solidFill>
                <a:latin typeface="Calibri" pitchFamily="34" charset="0"/>
                <a:ea typeface="Calibri" pitchFamily="34" charset="-122"/>
                <a:cs typeface="Calibri" pitchFamily="34" charset="-120"/>
              </a:rPr>
              <a:t>Two things are true at once. The category is large and growing fast. And in Hyderabad, developers are sitting on stock they cannot move — agents are quoting Neopolis units near ₹6,300/sq ft against list prices of ₹11,000–12,000.</a:t>
            </a:r>
            <a:endParaRPr lang="en-US" sz="1550" dirty="0"/>
          </a:p>
        </p:txBody>
      </p:sp>
      <p:sp>
        <p:nvSpPr>
          <p:cNvPr id="21" name="Text 19"/>
          <p:cNvSpPr/>
          <p:nvPr/>
        </p:nvSpPr>
        <p:spPr>
          <a:xfrm>
            <a:off x="777240" y="4864608"/>
            <a:ext cx="10637215" cy="822960"/>
          </a:xfrm>
          <a:prstGeom prst="rect">
            <a:avLst/>
          </a:prstGeom>
          <a:noFill/>
          <a:ln/>
        </p:spPr>
        <p:txBody>
          <a:bodyPr wrap="square" lIns="0" tIns="0" rIns="0" bIns="0" rtlCol="0" anchor="ctr"/>
          <a:lstStyle/>
          <a:p>
            <a:pPr indent="0" marL="0">
              <a:lnSpc>
                <a:spcPts val="2400"/>
              </a:lnSpc>
              <a:buNone/>
            </a:pPr>
            <a:r>
              <a:rPr lang="en-US" sz="1550" dirty="0">
                <a:solidFill>
                  <a:srgbClr val="555C64"/>
                </a:solidFill>
                <a:latin typeface="Calibri" pitchFamily="34" charset="0"/>
                <a:ea typeface="Calibri" pitchFamily="34" charset="-122"/>
                <a:cs typeface="Calibri" pitchFamily="34" charset="-120"/>
              </a:rPr>
              <a:t>That gap is the opening. When a developer's own pricing is undercut by half in the grey market, what they need is not another listings portal. It's someone who brings buyers who arrive already convinced.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03</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The gap</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Every major Indian platform runs the same business: collect a lead, sell it to several brokers, let them fight over it.</a:t>
            </a:r>
            <a:endParaRPr lang="en-US" sz="1550" dirty="0"/>
          </a:p>
        </p:txBody>
      </p:sp>
      <p:sp>
        <p:nvSpPr>
          <p:cNvPr id="5" name="Shape 3"/>
          <p:cNvSpPr/>
          <p:nvPr/>
        </p:nvSpPr>
        <p:spPr>
          <a:xfrm>
            <a:off x="777240" y="2066544"/>
            <a:ext cx="5181448" cy="306324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6" name="Text 4"/>
          <p:cNvSpPr/>
          <p:nvPr/>
        </p:nvSpPr>
        <p:spPr>
          <a:xfrm>
            <a:off x="1069848" y="2304288"/>
            <a:ext cx="4596232" cy="365760"/>
          </a:xfrm>
          <a:prstGeom prst="rect">
            <a:avLst/>
          </a:prstGeom>
          <a:noFill/>
          <a:ln/>
        </p:spPr>
        <p:txBody>
          <a:bodyPr wrap="square" lIns="0" tIns="0" rIns="0" bIns="0" rtlCol="0" anchor="ctr"/>
          <a:lstStyle/>
          <a:p>
            <a:pPr indent="0" marL="0">
              <a:buNone/>
            </a:pPr>
            <a:r>
              <a:rPr lang="en-US" sz="1700" b="1" dirty="0">
                <a:solidFill>
                  <a:srgbClr val="14181D"/>
                </a:solidFill>
                <a:latin typeface="Cambria" pitchFamily="34" charset="0"/>
                <a:ea typeface="Cambria" pitchFamily="34" charset="-122"/>
                <a:cs typeface="Cambria" pitchFamily="34" charset="-120"/>
              </a:rPr>
              <a:t>What buyers complain about</a:t>
            </a:r>
            <a:endParaRPr lang="en-US" sz="1700" dirty="0"/>
          </a:p>
        </p:txBody>
      </p:sp>
      <p:sp>
        <p:nvSpPr>
          <p:cNvPr id="7" name="Text 5"/>
          <p:cNvSpPr/>
          <p:nvPr/>
        </p:nvSpPr>
        <p:spPr>
          <a:xfrm>
            <a:off x="1069848" y="2779776"/>
            <a:ext cx="4596232" cy="214884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555C64"/>
                </a:solidFill>
                <a:latin typeface="Calibri" pitchFamily="34" charset="0"/>
                <a:ea typeface="Calibri" pitchFamily="34" charset="-122"/>
                <a:cs typeface="Calibri" pitchFamily="34" charset="-120"/>
              </a:rPr>
              <a:t>Spam is complaint number one across reviews of every major portal</a:t>
            </a:r>
            <a:endParaRPr lang="en-US" sz="1300" dirty="0"/>
          </a:p>
          <a:p>
            <a:pPr marL="342900" indent="-342900">
              <a:lnSpc>
                <a:spcPts val="1800"/>
              </a:lnSpc>
              <a:spcAft>
                <a:spcPts val="1000"/>
              </a:spcAft>
              <a:buSzPct val="100000"/>
              <a:buChar char="•"/>
            </a:pPr>
            <a:r>
              <a:rPr lang="en-US" sz="1300" dirty="0">
                <a:solidFill>
                  <a:srgbClr val="555C64"/>
                </a:solidFill>
                <a:latin typeface="Calibri" pitchFamily="34" charset="0"/>
                <a:ea typeface="Calibri" pitchFamily="34" charset="-122"/>
                <a:cs typeface="Calibri" pitchFamily="34" charset="-120"/>
              </a:rPr>
              <a:t>People keep a second “property phone” — or change their number</a:t>
            </a:r>
            <a:endParaRPr lang="en-US" sz="1300" dirty="0"/>
          </a:p>
          <a:p>
            <a:pPr marL="342900" indent="-342900">
              <a:lnSpc>
                <a:spcPts val="1800"/>
              </a:lnSpc>
              <a:spcAft>
                <a:spcPts val="1000"/>
              </a:spcAft>
              <a:buSzPct val="100000"/>
              <a:buChar char="•"/>
            </a:pPr>
            <a:r>
              <a:rPr lang="en-US" sz="1300" dirty="0">
                <a:solidFill>
                  <a:srgbClr val="555C64"/>
                </a:solidFill>
                <a:latin typeface="Calibri" pitchFamily="34" charset="0"/>
                <a:ea typeface="Calibri" pitchFamily="34" charset="-122"/>
                <a:cs typeface="Calibri" pitchFamily="34" charset="-120"/>
              </a:rPr>
              <a:t>43% report encountering fraudulent listings</a:t>
            </a:r>
            <a:endParaRPr lang="en-US" sz="1300" dirty="0"/>
          </a:p>
          <a:p>
            <a:pPr marL="342900" indent="-342900">
              <a:lnSpc>
                <a:spcPts val="1800"/>
              </a:lnSpc>
              <a:spcAft>
                <a:spcPts val="1000"/>
              </a:spcAft>
              <a:buSzPct val="100000"/>
              <a:buChar char="•"/>
            </a:pPr>
            <a:r>
              <a:rPr lang="en-US" sz="1300" dirty="0">
                <a:solidFill>
                  <a:srgbClr val="555C64"/>
                </a:solidFill>
                <a:latin typeface="Calibri" pitchFamily="34" charset="0"/>
                <a:ea typeface="Calibri" pitchFamily="34" charset="-122"/>
                <a:cs typeface="Calibri" pitchFamily="34" charset="-120"/>
              </a:rPr>
              <a:t>Listings cloned across portals; AI-generated fake interiors</a:t>
            </a:r>
            <a:endParaRPr lang="en-US" sz="1300" dirty="0"/>
          </a:p>
          <a:p>
            <a:pPr marL="342900" indent="-342900">
              <a:lnSpc>
                <a:spcPts val="1800"/>
              </a:lnSpc>
              <a:spcAft>
                <a:spcPts val="1000"/>
              </a:spcAft>
              <a:buSzPct val="100000"/>
              <a:buChar char="•"/>
            </a:pPr>
            <a:r>
              <a:rPr lang="en-US" sz="1300" dirty="0">
                <a:solidFill>
                  <a:srgbClr val="555C64"/>
                </a:solidFill>
                <a:latin typeface="Calibri" pitchFamily="34" charset="0"/>
                <a:ea typeface="Calibri" pitchFamily="34" charset="-122"/>
                <a:cs typeface="Calibri" pitchFamily="34" charset="-120"/>
              </a:rPr>
              <a:t>The same flat listed by eight brokers at six different prices</a:t>
            </a:r>
            <a:endParaRPr lang="en-US" sz="1300" dirty="0"/>
          </a:p>
        </p:txBody>
      </p:sp>
      <p:sp>
        <p:nvSpPr>
          <p:cNvPr id="8" name="Shape 6"/>
          <p:cNvSpPr/>
          <p:nvPr/>
        </p:nvSpPr>
        <p:spPr>
          <a:xfrm>
            <a:off x="6233008" y="2066544"/>
            <a:ext cx="5181448" cy="3063240"/>
          </a:xfrm>
          <a:prstGeom prst="rect">
            <a:avLst/>
          </a:prstGeom>
          <a:solidFill>
            <a:srgbClr val="14181D"/>
          </a:solidFill>
          <a:ln/>
        </p:spPr>
      </p:sp>
      <p:sp>
        <p:nvSpPr>
          <p:cNvPr id="9" name="Text 7"/>
          <p:cNvSpPr/>
          <p:nvPr/>
        </p:nvSpPr>
        <p:spPr>
          <a:xfrm>
            <a:off x="6525616" y="2304288"/>
            <a:ext cx="4596232" cy="365760"/>
          </a:xfrm>
          <a:prstGeom prst="rect">
            <a:avLst/>
          </a:prstGeom>
          <a:noFill/>
          <a:ln/>
        </p:spPr>
        <p:txBody>
          <a:bodyPr wrap="square" lIns="0" tIns="0" rIns="0" bIns="0" rtlCol="0" anchor="ctr"/>
          <a:lstStyle/>
          <a:p>
            <a:pPr indent="0" marL="0">
              <a:buNone/>
            </a:pPr>
            <a:r>
              <a:rPr lang="en-US" sz="1700" b="1" dirty="0">
                <a:solidFill>
                  <a:srgbClr val="D9B061"/>
                </a:solidFill>
                <a:latin typeface="Cambria" pitchFamily="34" charset="0"/>
                <a:ea typeface="Cambria" pitchFamily="34" charset="-122"/>
                <a:cs typeface="Cambria" pitchFamily="34" charset="-120"/>
              </a:rPr>
              <a:t>Why nobody fixes it</a:t>
            </a:r>
            <a:endParaRPr lang="en-US" sz="1700" dirty="0"/>
          </a:p>
        </p:txBody>
      </p:sp>
      <p:sp>
        <p:nvSpPr>
          <p:cNvPr id="10" name="Text 8"/>
          <p:cNvSpPr/>
          <p:nvPr/>
        </p:nvSpPr>
        <p:spPr>
          <a:xfrm>
            <a:off x="6525616" y="2779776"/>
            <a:ext cx="4596232" cy="2148840"/>
          </a:xfrm>
          <a:prstGeom prst="rect">
            <a:avLst/>
          </a:prstGeom>
          <a:noFill/>
          <a:ln/>
        </p:spPr>
        <p:txBody>
          <a:bodyPr wrap="square" lIns="0" tIns="0" rIns="0" bIns="0" rtlCol="0" anchor="ctr"/>
          <a:lstStyle/>
          <a:p>
            <a:pPr indent="0" marL="0">
              <a:lnSpc>
                <a:spcPts val="2100"/>
              </a:lnSpc>
              <a:buNone/>
            </a:pPr>
            <a:r>
              <a:rPr lang="en-US" sz="1350" dirty="0">
                <a:solidFill>
                  <a:srgbClr val="B6BEC7"/>
                </a:solidFill>
                <a:latin typeface="Calibri" pitchFamily="34" charset="0"/>
                <a:ea typeface="Calibri" pitchFamily="34" charset="-122"/>
                <a:cs typeface="Calibri" pitchFamily="34" charset="-120"/>
              </a:rPr>
              <a:t>They can't. Reselling one lead to eight brokers IS the revenue model.</a:t>
            </a:r>
            <a:endParaRPr lang="en-US" sz="1350" dirty="0"/>
          </a:p>
          <a:p>
            <a:pPr indent="0" marL="0">
              <a:lnSpc>
                <a:spcPts val="2100"/>
              </a:lnSpc>
              <a:buNone/>
            </a:pPr>
            <a:endParaRPr lang="en-US" sz="1350" dirty="0"/>
          </a:p>
          <a:p>
            <a:pPr indent="0" marL="0">
              <a:lnSpc>
                <a:spcPts val="2100"/>
              </a:lnSpc>
              <a:buNone/>
            </a:pPr>
            <a:r>
              <a:rPr lang="en-US" sz="1350" dirty="0">
                <a:solidFill>
                  <a:srgbClr val="B6BEC7"/>
                </a:solidFill>
                <a:latin typeface="Calibri" pitchFamily="34" charset="0"/>
                <a:ea typeface="Calibri" pitchFamily="34" charset="-122"/>
                <a:cs typeface="Calibri" pitchFamily="34" charset="-120"/>
              </a:rPr>
              <a:t>A portal that promised never to share your number would have to dismantle its own P&amp;L to keep the promise.</a:t>
            </a:r>
            <a:endParaRPr lang="en-US" sz="1350" dirty="0"/>
          </a:p>
          <a:p>
            <a:pPr indent="0" marL="0">
              <a:lnSpc>
                <a:spcPts val="2100"/>
              </a:lnSpc>
              <a:buNone/>
            </a:pPr>
            <a:endParaRPr lang="en-US" sz="1350" dirty="0"/>
          </a:p>
          <a:p>
            <a:pPr indent="0" marL="0">
              <a:lnSpc>
                <a:spcPts val="2100"/>
              </a:lnSpc>
              <a:buNone/>
            </a:pPr>
            <a:r>
              <a:rPr lang="en-US" sz="1350" dirty="0">
                <a:solidFill>
                  <a:srgbClr val="B6BEC7"/>
                </a:solidFill>
                <a:latin typeface="Calibri" pitchFamily="34" charset="0"/>
                <a:ea typeface="Calibri" pitchFamily="34" charset="-122"/>
                <a:cs typeface="Calibri" pitchFamily="34" charset="-120"/>
              </a:rPr>
              <a:t>That's the gap. Not a feature they forgot — a door their business model locks from the inside.</a:t>
            </a:r>
            <a:endParaRPr lang="en-US" sz="1350" dirty="0"/>
          </a:p>
        </p:txBody>
      </p:sp>
      <p:sp>
        <p:nvSpPr>
          <p:cNvPr id="11" name="Text 9"/>
          <p:cNvSpPr/>
          <p:nvPr/>
        </p:nvSpPr>
        <p:spPr>
          <a:xfrm>
            <a:off x="777240" y="5440680"/>
            <a:ext cx="10637215" cy="731520"/>
          </a:xfrm>
          <a:prstGeom prst="rect">
            <a:avLst/>
          </a:prstGeom>
          <a:noFill/>
          <a:ln/>
        </p:spPr>
        <p:txBody>
          <a:bodyPr wrap="square" lIns="0" tIns="0" rIns="0" bIns="0" rtlCol="0" anchor="ctr"/>
          <a:lstStyle/>
          <a:p>
            <a:pPr indent="0" marL="0">
              <a:lnSpc>
                <a:spcPts val="2400"/>
              </a:lnSpc>
              <a:buNone/>
            </a:pPr>
            <a:r>
              <a:rPr lang="en-US" sz="1550" dirty="0">
                <a:solidFill>
                  <a:srgbClr val="14181D"/>
                </a:solidFill>
                <a:latin typeface="Calibri" pitchFamily="34" charset="0"/>
                <a:ea typeface="Calibri" pitchFamily="34" charset="-122"/>
                <a:cs typeface="Calibri" pitchFamily="34" charset="-120"/>
              </a:rPr>
              <a:t>Meanwhile the question buyers most want answered — which of these should I actually buy? — is served by nobody. Portals answer “what is available.” Nobody answers “what is good.”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1463040"/>
            <a:ext cx="10241280" cy="3657600"/>
          </a:xfrm>
          <a:prstGeom prst="rect">
            <a:avLst/>
          </a:prstGeom>
          <a:noFill/>
          <a:ln/>
        </p:spPr>
        <p:txBody>
          <a:bodyPr wrap="square" lIns="0" tIns="0" rIns="0" bIns="0" rtlCol="0" anchor="ctr"/>
          <a:lstStyle/>
          <a:p>
            <a:pPr indent="0" marL="0">
              <a:lnSpc>
                <a:spcPts val="5800"/>
              </a:lnSpc>
              <a:buNone/>
            </a:pPr>
            <a:r>
              <a:rPr lang="en-US" sz="4200" b="1" spc="-80" kern="0" dirty="0">
                <a:solidFill>
                  <a:srgbClr val="FFFFFF"/>
                </a:solidFill>
                <a:latin typeface="Cambria" pitchFamily="34" charset="0"/>
                <a:ea typeface="Cambria" pitchFamily="34" charset="-122"/>
                <a:cs typeface="Cambria" pitchFamily="34" charset="-120"/>
              </a:rPr>
              <a:t>A platform with two million</a:t>
            </a:r>
            <a:endParaRPr lang="en-US" sz="4200" dirty="0"/>
          </a:p>
          <a:p>
            <a:pPr indent="0" marL="0">
              <a:lnSpc>
                <a:spcPts val="5800"/>
              </a:lnSpc>
              <a:buNone/>
            </a:pPr>
            <a:r>
              <a:rPr lang="en-US" sz="4200" b="1" spc="-80" kern="0" dirty="0">
                <a:solidFill>
                  <a:srgbClr val="FFFFFF"/>
                </a:solidFill>
                <a:latin typeface="Cambria" pitchFamily="34" charset="0"/>
                <a:ea typeface="Cambria" pitchFamily="34" charset="-122"/>
                <a:cs typeface="Cambria" pitchFamily="34" charset="-120"/>
              </a:rPr>
              <a:t>listings is worthless if</a:t>
            </a:r>
            <a:endParaRPr lang="en-US" sz="4200" dirty="0"/>
          </a:p>
          <a:p>
            <a:pPr indent="0" marL="0">
              <a:lnSpc>
                <a:spcPts val="5800"/>
              </a:lnSpc>
              <a:buNone/>
            </a:pPr>
            <a:r>
              <a:rPr lang="en-US" sz="4200" b="1" spc="-80" kern="0" dirty="0">
                <a:solidFill>
                  <a:srgbClr val="FFFFFF"/>
                </a:solidFill>
                <a:latin typeface="Cambria" pitchFamily="34" charset="0"/>
                <a:ea typeface="Cambria" pitchFamily="34" charset="-122"/>
                <a:cs typeface="Cambria" pitchFamily="34" charset="-120"/>
              </a:rPr>
              <a:t>enquiring on one gets you</a:t>
            </a:r>
            <a:endParaRPr lang="en-US" sz="4200" dirty="0"/>
          </a:p>
          <a:p>
            <a:pPr indent="0" marL="0">
              <a:lnSpc>
                <a:spcPts val="5800"/>
              </a:lnSpc>
              <a:buNone/>
            </a:pPr>
            <a:r>
              <a:rPr lang="en-US" sz="4200" b="1" spc="-80" kern="0" dirty="0">
                <a:solidFill>
                  <a:srgbClr val="FFFFFF"/>
                </a:solidFill>
                <a:latin typeface="Cambria" pitchFamily="34" charset="0"/>
                <a:ea typeface="Cambria" pitchFamily="34" charset="-122"/>
                <a:cs typeface="Cambria" pitchFamily="34" charset="-120"/>
              </a:rPr>
              <a:t>eight phone calls.</a:t>
            </a:r>
            <a:endParaRPr lang="en-US" sz="4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04</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Who we're up against</a:t>
            </a:r>
            <a:endParaRPr lang="en-US" sz="3800" dirty="0"/>
          </a:p>
        </p:txBody>
      </p:sp>
      <p:sp>
        <p:nvSpPr>
          <p:cNvPr id="4" name="Shape 2"/>
          <p:cNvSpPr/>
          <p:nvPr/>
        </p:nvSpPr>
        <p:spPr>
          <a:xfrm>
            <a:off x="777240" y="1591056"/>
            <a:ext cx="10637215" cy="365760"/>
          </a:xfrm>
          <a:prstGeom prst="rect">
            <a:avLst/>
          </a:prstGeom>
          <a:solidFill>
            <a:srgbClr val="14181D"/>
          </a:solidFill>
          <a:ln/>
        </p:spPr>
      </p:sp>
      <p:sp>
        <p:nvSpPr>
          <p:cNvPr id="5" name="Text 3"/>
          <p:cNvSpPr/>
          <p:nvPr/>
        </p:nvSpPr>
        <p:spPr>
          <a:xfrm>
            <a:off x="978408" y="1591056"/>
            <a:ext cx="1417320"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PLAYER</a:t>
            </a:r>
            <a:endParaRPr lang="en-US" sz="900" dirty="0"/>
          </a:p>
        </p:txBody>
      </p:sp>
      <p:sp>
        <p:nvSpPr>
          <p:cNvPr id="6" name="Text 4"/>
          <p:cNvSpPr/>
          <p:nvPr/>
        </p:nvSpPr>
        <p:spPr>
          <a:xfrm>
            <a:off x="2670048" y="1591056"/>
            <a:ext cx="1691640"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SCALE</a:t>
            </a:r>
            <a:endParaRPr lang="en-US" sz="900" dirty="0"/>
          </a:p>
        </p:txBody>
      </p:sp>
      <p:sp>
        <p:nvSpPr>
          <p:cNvPr id="7" name="Text 5"/>
          <p:cNvSpPr/>
          <p:nvPr/>
        </p:nvSpPr>
        <p:spPr>
          <a:xfrm>
            <a:off x="4636008" y="1591056"/>
            <a:ext cx="3154680"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MODEL</a:t>
            </a:r>
            <a:endParaRPr lang="en-US" sz="900" dirty="0"/>
          </a:p>
        </p:txBody>
      </p:sp>
      <p:sp>
        <p:nvSpPr>
          <p:cNvPr id="8" name="Text 6"/>
          <p:cNvSpPr/>
          <p:nvPr/>
        </p:nvSpPr>
        <p:spPr>
          <a:xfrm>
            <a:off x="8065008" y="1591056"/>
            <a:ext cx="3273552"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WHERE THEY'RE WEAK</a:t>
            </a:r>
            <a:endParaRPr lang="en-US" sz="900" dirty="0"/>
          </a:p>
        </p:txBody>
      </p:sp>
      <p:sp>
        <p:nvSpPr>
          <p:cNvPr id="9" name="Shape 7"/>
          <p:cNvSpPr/>
          <p:nvPr/>
        </p:nvSpPr>
        <p:spPr>
          <a:xfrm>
            <a:off x="777240" y="2011680"/>
            <a:ext cx="10637215" cy="713232"/>
          </a:xfrm>
          <a:prstGeom prst="rect">
            <a:avLst/>
          </a:prstGeom>
          <a:solidFill>
            <a:srgbClr val="FFFFFF"/>
          </a:solidFill>
          <a:ln/>
        </p:spPr>
      </p:sp>
      <p:sp>
        <p:nvSpPr>
          <p:cNvPr id="10" name="Text 8"/>
          <p:cNvSpPr/>
          <p:nvPr/>
        </p:nvSpPr>
        <p:spPr>
          <a:xfrm>
            <a:off x="978408" y="2011680"/>
            <a:ext cx="1380744" cy="713232"/>
          </a:xfrm>
          <a:prstGeom prst="rect">
            <a:avLst/>
          </a:prstGeom>
          <a:noFill/>
          <a:ln/>
        </p:spPr>
        <p:txBody>
          <a:bodyPr wrap="square" lIns="0" tIns="0" rIns="0" bIns="0" rtlCol="0" anchor="ctr"/>
          <a:lstStyle/>
          <a:p>
            <a:pPr indent="0" marL="0">
              <a:lnSpc>
                <a:spcPts val="1500"/>
              </a:lnSpc>
              <a:buNone/>
            </a:pPr>
            <a:r>
              <a:rPr lang="en-US" sz="1350" b="1" dirty="0">
                <a:solidFill>
                  <a:srgbClr val="14181D"/>
                </a:solidFill>
                <a:latin typeface="Cambria" pitchFamily="34" charset="0"/>
                <a:ea typeface="Cambria" pitchFamily="34" charset="-122"/>
                <a:cs typeface="Cambria" pitchFamily="34" charset="-120"/>
              </a:rPr>
              <a:t>NoBroker</a:t>
            </a:r>
            <a:endParaRPr lang="en-US" sz="1350" dirty="0"/>
          </a:p>
        </p:txBody>
      </p:sp>
      <p:sp>
        <p:nvSpPr>
          <p:cNvPr id="11" name="Text 9"/>
          <p:cNvSpPr/>
          <p:nvPr/>
        </p:nvSpPr>
        <p:spPr>
          <a:xfrm>
            <a:off x="2670048" y="2011680"/>
            <a:ext cx="1655064" cy="713232"/>
          </a:xfrm>
          <a:prstGeom prst="rect">
            <a:avLst/>
          </a:prstGeom>
          <a:noFill/>
          <a:ln/>
        </p:spPr>
        <p:txBody>
          <a:bodyPr wrap="square" lIns="0" tIns="0" rIns="0" bIns="0" rtlCol="0" anchor="ctr"/>
          <a:lstStyle/>
          <a:p>
            <a:pPr indent="0" marL="0">
              <a:lnSpc>
                <a:spcPts val="1400"/>
              </a:lnSpc>
              <a:buNone/>
            </a:pPr>
            <a:r>
              <a:rPr lang="en-US" sz="1100" dirty="0">
                <a:solidFill>
                  <a:srgbClr val="555C64"/>
                </a:solidFill>
                <a:latin typeface="Calibri" pitchFamily="34" charset="0"/>
                <a:ea typeface="Calibri" pitchFamily="34" charset="-122"/>
                <a:cs typeface="Calibri" pitchFamily="34" charset="-120"/>
              </a:rPr>
              <a:t>₹803cr FY24, +32%</a:t>
            </a:r>
            <a:endParaRPr lang="en-US" sz="1100" dirty="0"/>
          </a:p>
          <a:p>
            <a:pPr indent="0" marL="0">
              <a:lnSpc>
                <a:spcPts val="1400"/>
              </a:lnSpc>
              <a:buNone/>
            </a:pPr>
            <a:r>
              <a:rPr lang="en-US" sz="1100" dirty="0">
                <a:solidFill>
                  <a:srgbClr val="555C64"/>
                </a:solidFill>
                <a:latin typeface="Calibri" pitchFamily="34" charset="0"/>
                <a:ea typeface="Calibri" pitchFamily="34" charset="-122"/>
                <a:cs typeface="Calibri" pitchFamily="34" charset="-120"/>
              </a:rPr>
              <a:t>34mn installs</a:t>
            </a:r>
            <a:endParaRPr lang="en-US" sz="1100" dirty="0"/>
          </a:p>
          <a:p>
            <a:pPr indent="0" marL="0">
              <a:lnSpc>
                <a:spcPts val="1400"/>
              </a:lnSpc>
              <a:buNone/>
            </a:pPr>
            <a:r>
              <a:rPr lang="en-US" sz="1100" dirty="0">
                <a:solidFill>
                  <a:srgbClr val="555C64"/>
                </a:solidFill>
                <a:latin typeface="Calibri" pitchFamily="34" charset="0"/>
                <a:ea typeface="Calibri" pitchFamily="34" charset="-122"/>
                <a:cs typeface="Calibri" pitchFamily="34" charset="-120"/>
              </a:rPr>
              <a:t>3.2mn monthly users</a:t>
            </a:r>
            <a:endParaRPr lang="en-US" sz="1100" dirty="0"/>
          </a:p>
        </p:txBody>
      </p:sp>
      <p:sp>
        <p:nvSpPr>
          <p:cNvPr id="12" name="Text 10"/>
          <p:cNvSpPr/>
          <p:nvPr/>
        </p:nvSpPr>
        <p:spPr>
          <a:xfrm>
            <a:off x="4636008" y="2011680"/>
            <a:ext cx="3118104"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Zero brokerage. ₹999 subscription. Services — loans, movers, interiors. Bank referrals ~₹120cr.</a:t>
            </a:r>
            <a:endParaRPr lang="en-US" sz="1100" dirty="0"/>
          </a:p>
        </p:txBody>
      </p:sp>
      <p:sp>
        <p:nvSpPr>
          <p:cNvPr id="13" name="Text 11"/>
          <p:cNvSpPr/>
          <p:nvPr/>
        </p:nvSpPr>
        <p:spPr>
          <a:xfrm>
            <a:off x="8065008" y="2011680"/>
            <a:ext cx="3236976"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Built for rentals and resale, not new launches. Thin on premium. No advisory layer.</a:t>
            </a:r>
            <a:endParaRPr lang="en-US" sz="1100" dirty="0"/>
          </a:p>
        </p:txBody>
      </p:sp>
      <p:sp>
        <p:nvSpPr>
          <p:cNvPr id="14" name="Shape 12"/>
          <p:cNvSpPr/>
          <p:nvPr/>
        </p:nvSpPr>
        <p:spPr>
          <a:xfrm>
            <a:off x="777240" y="2779776"/>
            <a:ext cx="10637215" cy="713232"/>
          </a:xfrm>
          <a:prstGeom prst="rect">
            <a:avLst/>
          </a:prstGeom>
          <a:solidFill>
            <a:srgbClr val="FFFFFF"/>
          </a:solidFill>
          <a:ln/>
        </p:spPr>
      </p:sp>
      <p:sp>
        <p:nvSpPr>
          <p:cNvPr id="15" name="Text 13"/>
          <p:cNvSpPr/>
          <p:nvPr/>
        </p:nvSpPr>
        <p:spPr>
          <a:xfrm>
            <a:off x="978408" y="2779776"/>
            <a:ext cx="1380744" cy="713232"/>
          </a:xfrm>
          <a:prstGeom prst="rect">
            <a:avLst/>
          </a:prstGeom>
          <a:noFill/>
          <a:ln/>
        </p:spPr>
        <p:txBody>
          <a:bodyPr wrap="square" lIns="0" tIns="0" rIns="0" bIns="0" rtlCol="0" anchor="ctr"/>
          <a:lstStyle/>
          <a:p>
            <a:pPr indent="0" marL="0">
              <a:lnSpc>
                <a:spcPts val="1500"/>
              </a:lnSpc>
              <a:buNone/>
            </a:pPr>
            <a:r>
              <a:rPr lang="en-US" sz="1350" b="1" dirty="0">
                <a:solidFill>
                  <a:srgbClr val="14181D"/>
                </a:solidFill>
                <a:latin typeface="Cambria" pitchFamily="34" charset="0"/>
                <a:ea typeface="Cambria" pitchFamily="34" charset="-122"/>
                <a:cs typeface="Cambria" pitchFamily="34" charset="-120"/>
              </a:rPr>
              <a:t>99acres</a:t>
            </a:r>
            <a:endParaRPr lang="en-US" sz="1350" dirty="0"/>
          </a:p>
        </p:txBody>
      </p:sp>
      <p:sp>
        <p:nvSpPr>
          <p:cNvPr id="16" name="Text 14"/>
          <p:cNvSpPr/>
          <p:nvPr/>
        </p:nvSpPr>
        <p:spPr>
          <a:xfrm>
            <a:off x="2670048" y="2779776"/>
            <a:ext cx="1655064" cy="713232"/>
          </a:xfrm>
          <a:prstGeom prst="rect">
            <a:avLst/>
          </a:prstGeom>
          <a:noFill/>
          <a:ln/>
        </p:spPr>
        <p:txBody>
          <a:bodyPr wrap="square" lIns="0" tIns="0" rIns="0" bIns="0" rtlCol="0" anchor="ctr"/>
          <a:lstStyle/>
          <a:p>
            <a:pPr indent="0" marL="0">
              <a:lnSpc>
                <a:spcPts val="1400"/>
              </a:lnSpc>
              <a:buNone/>
            </a:pPr>
            <a:r>
              <a:rPr lang="en-US" sz="1100" dirty="0">
                <a:solidFill>
                  <a:srgbClr val="555C64"/>
                </a:solidFill>
                <a:latin typeface="Calibri" pitchFamily="34" charset="0"/>
                <a:ea typeface="Calibri" pitchFamily="34" charset="-122"/>
                <a:cs typeface="Calibri" pitchFamily="34" charset="-120"/>
              </a:rPr>
              <a:t>~13.3mn visits / month</a:t>
            </a:r>
            <a:endParaRPr lang="en-US" sz="1100" dirty="0"/>
          </a:p>
        </p:txBody>
      </p:sp>
      <p:sp>
        <p:nvSpPr>
          <p:cNvPr id="17" name="Text 15"/>
          <p:cNvSpPr/>
          <p:nvPr/>
        </p:nvSpPr>
        <p:spPr>
          <a:xfrm>
            <a:off x="4636008" y="2779776"/>
            <a:ext cx="3118104"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Classifieds. Developers and brokers pay to list and be seen.</a:t>
            </a:r>
            <a:endParaRPr lang="en-US" sz="1100" dirty="0"/>
          </a:p>
        </p:txBody>
      </p:sp>
      <p:sp>
        <p:nvSpPr>
          <p:cNvPr id="18" name="Text 16"/>
          <p:cNvSpPr/>
          <p:nvPr/>
        </p:nvSpPr>
        <p:spPr>
          <a:xfrm>
            <a:off x="8065008" y="2779776"/>
            <a:ext cx="3236976"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Pure volume. Lead resold repeatedly. No opinion on anything.</a:t>
            </a:r>
            <a:endParaRPr lang="en-US" sz="1100" dirty="0"/>
          </a:p>
        </p:txBody>
      </p:sp>
      <p:sp>
        <p:nvSpPr>
          <p:cNvPr id="19" name="Shape 17"/>
          <p:cNvSpPr/>
          <p:nvPr/>
        </p:nvSpPr>
        <p:spPr>
          <a:xfrm>
            <a:off x="777240" y="3547872"/>
            <a:ext cx="10637215" cy="713232"/>
          </a:xfrm>
          <a:prstGeom prst="rect">
            <a:avLst/>
          </a:prstGeom>
          <a:solidFill>
            <a:srgbClr val="FFFFFF"/>
          </a:solidFill>
          <a:ln/>
        </p:spPr>
      </p:sp>
      <p:sp>
        <p:nvSpPr>
          <p:cNvPr id="20" name="Text 18"/>
          <p:cNvSpPr/>
          <p:nvPr/>
        </p:nvSpPr>
        <p:spPr>
          <a:xfrm>
            <a:off x="978408" y="3547872"/>
            <a:ext cx="1380744" cy="713232"/>
          </a:xfrm>
          <a:prstGeom prst="rect">
            <a:avLst/>
          </a:prstGeom>
          <a:noFill/>
          <a:ln/>
        </p:spPr>
        <p:txBody>
          <a:bodyPr wrap="square" lIns="0" tIns="0" rIns="0" bIns="0" rtlCol="0" anchor="ctr"/>
          <a:lstStyle/>
          <a:p>
            <a:pPr indent="0" marL="0">
              <a:lnSpc>
                <a:spcPts val="1500"/>
              </a:lnSpc>
              <a:buNone/>
            </a:pPr>
            <a:r>
              <a:rPr lang="en-US" sz="1350" b="1" dirty="0">
                <a:solidFill>
                  <a:srgbClr val="14181D"/>
                </a:solidFill>
                <a:latin typeface="Cambria" pitchFamily="34" charset="0"/>
                <a:ea typeface="Cambria" pitchFamily="34" charset="-122"/>
                <a:cs typeface="Cambria" pitchFamily="34" charset="-120"/>
              </a:rPr>
              <a:t>MagicBricks</a:t>
            </a:r>
            <a:endParaRPr lang="en-US" sz="1350" dirty="0"/>
          </a:p>
        </p:txBody>
      </p:sp>
      <p:sp>
        <p:nvSpPr>
          <p:cNvPr id="21" name="Text 19"/>
          <p:cNvSpPr/>
          <p:nvPr/>
        </p:nvSpPr>
        <p:spPr>
          <a:xfrm>
            <a:off x="2670048" y="3547872"/>
            <a:ext cx="1655064" cy="713232"/>
          </a:xfrm>
          <a:prstGeom prst="rect">
            <a:avLst/>
          </a:prstGeom>
          <a:noFill/>
          <a:ln/>
        </p:spPr>
        <p:txBody>
          <a:bodyPr wrap="square" lIns="0" tIns="0" rIns="0" bIns="0" rtlCol="0" anchor="ctr"/>
          <a:lstStyle/>
          <a:p>
            <a:pPr indent="0" marL="0">
              <a:lnSpc>
                <a:spcPts val="1400"/>
              </a:lnSpc>
              <a:buNone/>
            </a:pPr>
            <a:r>
              <a:rPr lang="en-US" sz="1100" dirty="0">
                <a:solidFill>
                  <a:srgbClr val="555C64"/>
                </a:solidFill>
                <a:latin typeface="Calibri" pitchFamily="34" charset="0"/>
                <a:ea typeface="Calibri" pitchFamily="34" charset="-122"/>
                <a:cs typeface="Calibri" pitchFamily="34" charset="-120"/>
              </a:rPr>
              <a:t>~12.1mn visits / month</a:t>
            </a:r>
            <a:endParaRPr lang="en-US" sz="1100" dirty="0"/>
          </a:p>
        </p:txBody>
      </p:sp>
      <p:sp>
        <p:nvSpPr>
          <p:cNvPr id="22" name="Text 20"/>
          <p:cNvSpPr/>
          <p:nvPr/>
        </p:nvSpPr>
        <p:spPr>
          <a:xfrm>
            <a:off x="4636008" y="3547872"/>
            <a:ext cx="3118104"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Classifieds plus locality data and price trend tools.</a:t>
            </a:r>
            <a:endParaRPr lang="en-US" sz="1100" dirty="0"/>
          </a:p>
        </p:txBody>
      </p:sp>
      <p:sp>
        <p:nvSpPr>
          <p:cNvPr id="23" name="Text 21"/>
          <p:cNvSpPr/>
          <p:nvPr/>
        </p:nvSpPr>
        <p:spPr>
          <a:xfrm>
            <a:off x="8065008" y="3547872"/>
            <a:ext cx="3236976"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Has data but no judgement. Tools sit beside the same lead-resale engine.</a:t>
            </a:r>
            <a:endParaRPr lang="en-US" sz="1100" dirty="0"/>
          </a:p>
        </p:txBody>
      </p:sp>
      <p:sp>
        <p:nvSpPr>
          <p:cNvPr id="24" name="Shape 22"/>
          <p:cNvSpPr/>
          <p:nvPr/>
        </p:nvSpPr>
        <p:spPr>
          <a:xfrm>
            <a:off x="777240" y="4315968"/>
            <a:ext cx="10637215" cy="713232"/>
          </a:xfrm>
          <a:prstGeom prst="rect">
            <a:avLst/>
          </a:prstGeom>
          <a:solidFill>
            <a:srgbClr val="FFFFFF"/>
          </a:solidFill>
          <a:ln/>
        </p:spPr>
      </p:sp>
      <p:sp>
        <p:nvSpPr>
          <p:cNvPr id="25" name="Text 23"/>
          <p:cNvSpPr/>
          <p:nvPr/>
        </p:nvSpPr>
        <p:spPr>
          <a:xfrm>
            <a:off x="978408" y="4315968"/>
            <a:ext cx="1380744" cy="713232"/>
          </a:xfrm>
          <a:prstGeom prst="rect">
            <a:avLst/>
          </a:prstGeom>
          <a:noFill/>
          <a:ln/>
        </p:spPr>
        <p:txBody>
          <a:bodyPr wrap="square" lIns="0" tIns="0" rIns="0" bIns="0" rtlCol="0" anchor="ctr"/>
          <a:lstStyle/>
          <a:p>
            <a:pPr indent="0" marL="0">
              <a:lnSpc>
                <a:spcPts val="1500"/>
              </a:lnSpc>
              <a:buNone/>
            </a:pPr>
            <a:r>
              <a:rPr lang="en-US" sz="1350" b="1" dirty="0">
                <a:solidFill>
                  <a:srgbClr val="14181D"/>
                </a:solidFill>
                <a:latin typeface="Cambria" pitchFamily="34" charset="0"/>
                <a:ea typeface="Cambria" pitchFamily="34" charset="-122"/>
                <a:cs typeface="Cambria" pitchFamily="34" charset="-120"/>
              </a:rPr>
              <a:t>Housing.com</a:t>
            </a:r>
            <a:endParaRPr lang="en-US" sz="1350" dirty="0"/>
          </a:p>
        </p:txBody>
      </p:sp>
      <p:sp>
        <p:nvSpPr>
          <p:cNvPr id="26" name="Text 24"/>
          <p:cNvSpPr/>
          <p:nvPr/>
        </p:nvSpPr>
        <p:spPr>
          <a:xfrm>
            <a:off x="2670048" y="4315968"/>
            <a:ext cx="1655064" cy="713232"/>
          </a:xfrm>
          <a:prstGeom prst="rect">
            <a:avLst/>
          </a:prstGeom>
          <a:noFill/>
          <a:ln/>
        </p:spPr>
        <p:txBody>
          <a:bodyPr wrap="square" lIns="0" tIns="0" rIns="0" bIns="0" rtlCol="0" anchor="ctr"/>
          <a:lstStyle/>
          <a:p>
            <a:pPr indent="0" marL="0">
              <a:lnSpc>
                <a:spcPts val="1400"/>
              </a:lnSpc>
              <a:buNone/>
            </a:pPr>
            <a:r>
              <a:rPr lang="en-US" sz="1100" dirty="0">
                <a:solidFill>
                  <a:srgbClr val="555C64"/>
                </a:solidFill>
                <a:latin typeface="Calibri" pitchFamily="34" charset="0"/>
                <a:ea typeface="Calibri" pitchFamily="34" charset="-122"/>
                <a:cs typeface="Calibri" pitchFamily="34" charset="-120"/>
              </a:rPr>
              <a:t>~9.8mn visits / month</a:t>
            </a:r>
            <a:endParaRPr lang="en-US" sz="1100" dirty="0"/>
          </a:p>
        </p:txBody>
      </p:sp>
      <p:sp>
        <p:nvSpPr>
          <p:cNvPr id="27" name="Text 25"/>
          <p:cNvSpPr/>
          <p:nvPr/>
        </p:nvSpPr>
        <p:spPr>
          <a:xfrm>
            <a:off x="4636008" y="4315968"/>
            <a:ext cx="3118104"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Classifieds with better design and mapping.</a:t>
            </a:r>
            <a:endParaRPr lang="en-US" sz="1100" dirty="0"/>
          </a:p>
        </p:txBody>
      </p:sp>
      <p:sp>
        <p:nvSpPr>
          <p:cNvPr id="28" name="Text 26"/>
          <p:cNvSpPr/>
          <p:nvPr/>
        </p:nvSpPr>
        <p:spPr>
          <a:xfrm>
            <a:off x="8065008" y="4315968"/>
            <a:ext cx="3236976" cy="713232"/>
          </a:xfrm>
          <a:prstGeom prst="rect">
            <a:avLst/>
          </a:prstGeom>
          <a:noFill/>
          <a:ln/>
        </p:spPr>
        <p:txBody>
          <a:bodyPr wrap="square" lIns="0" tIns="0" rIns="0" bIns="0" rtlCol="0" anchor="ctr"/>
          <a:lstStyle/>
          <a:p>
            <a:pPr indent="0" marL="0">
              <a:lnSpc>
                <a:spcPts val="1500"/>
              </a:lnSpc>
              <a:buNone/>
            </a:pPr>
            <a:r>
              <a:rPr lang="en-US" sz="1100" dirty="0">
                <a:solidFill>
                  <a:srgbClr val="555C64"/>
                </a:solidFill>
                <a:latin typeface="Calibri" pitchFamily="34" charset="0"/>
                <a:ea typeface="Calibri" pitchFamily="34" charset="-122"/>
                <a:cs typeface="Calibri" pitchFamily="34" charset="-120"/>
              </a:rPr>
              <a:t>Best interface of the four, same underlying business.</a:t>
            </a:r>
            <a:endParaRPr lang="en-US" sz="1100" dirty="0"/>
          </a:p>
        </p:txBody>
      </p:sp>
      <p:sp>
        <p:nvSpPr>
          <p:cNvPr id="29" name="Shape 27"/>
          <p:cNvSpPr/>
          <p:nvPr/>
        </p:nvSpPr>
        <p:spPr>
          <a:xfrm>
            <a:off x="777240" y="5084064"/>
            <a:ext cx="10637215" cy="713232"/>
          </a:xfrm>
          <a:prstGeom prst="rect">
            <a:avLst/>
          </a:prstGeom>
          <a:solidFill>
            <a:srgbClr val="1D242C"/>
          </a:solidFill>
          <a:ln/>
        </p:spPr>
      </p:sp>
      <p:sp>
        <p:nvSpPr>
          <p:cNvPr id="30" name="Text 28"/>
          <p:cNvSpPr/>
          <p:nvPr/>
        </p:nvSpPr>
        <p:spPr>
          <a:xfrm>
            <a:off x="978408" y="5084064"/>
            <a:ext cx="1380744" cy="713232"/>
          </a:xfrm>
          <a:prstGeom prst="rect">
            <a:avLst/>
          </a:prstGeom>
          <a:noFill/>
          <a:ln/>
        </p:spPr>
        <p:txBody>
          <a:bodyPr wrap="square" lIns="0" tIns="0" rIns="0" bIns="0" rtlCol="0" anchor="ctr"/>
          <a:lstStyle/>
          <a:p>
            <a:pPr indent="0" marL="0">
              <a:lnSpc>
                <a:spcPts val="1500"/>
              </a:lnSpc>
              <a:buNone/>
            </a:pPr>
            <a:r>
              <a:rPr lang="en-US" sz="1350" b="1" dirty="0">
                <a:solidFill>
                  <a:srgbClr val="D9B061"/>
                </a:solidFill>
                <a:latin typeface="Cambria" pitchFamily="34" charset="0"/>
                <a:ea typeface="Cambria" pitchFamily="34" charset="-122"/>
                <a:cs typeface="Cambria" pitchFamily="34" charset="-120"/>
              </a:rPr>
              <a:t>Square Yards</a:t>
            </a:r>
            <a:endParaRPr lang="en-US" sz="1350" dirty="0"/>
          </a:p>
        </p:txBody>
      </p:sp>
      <p:sp>
        <p:nvSpPr>
          <p:cNvPr id="31" name="Text 29"/>
          <p:cNvSpPr/>
          <p:nvPr/>
        </p:nvSpPr>
        <p:spPr>
          <a:xfrm>
            <a:off x="2670048" y="5084064"/>
            <a:ext cx="1655064" cy="713232"/>
          </a:xfrm>
          <a:prstGeom prst="rect">
            <a:avLst/>
          </a:prstGeom>
          <a:noFill/>
          <a:ln/>
        </p:spPr>
        <p:txBody>
          <a:bodyPr wrap="square" lIns="0" tIns="0" rIns="0" bIns="0" rtlCol="0" anchor="ctr"/>
          <a:lstStyle/>
          <a:p>
            <a:pPr indent="0" marL="0">
              <a:lnSpc>
                <a:spcPts val="1400"/>
              </a:lnSpc>
              <a:buNone/>
            </a:pPr>
            <a:r>
              <a:rPr lang="en-US" sz="1100" dirty="0">
                <a:solidFill>
                  <a:srgbClr val="B6BEC7"/>
                </a:solidFill>
                <a:latin typeface="Calibri" pitchFamily="34" charset="0"/>
                <a:ea typeface="Calibri" pitchFamily="34" charset="-122"/>
                <a:cs typeface="Calibri" pitchFamily="34" charset="-120"/>
              </a:rPr>
              <a:t>₹1,410cr FY25</a:t>
            </a:r>
            <a:endParaRPr lang="en-US" sz="1100" dirty="0"/>
          </a:p>
          <a:p>
            <a:pPr indent="0" marL="0">
              <a:lnSpc>
                <a:spcPts val="1400"/>
              </a:lnSpc>
              <a:buNone/>
            </a:pPr>
            <a:r>
              <a:rPr lang="en-US" sz="1100" dirty="0">
                <a:solidFill>
                  <a:srgbClr val="B6BEC7"/>
                </a:solidFill>
                <a:latin typeface="Calibri" pitchFamily="34" charset="0"/>
                <a:ea typeface="Calibri" pitchFamily="34" charset="-122"/>
                <a:cs typeface="Calibri" pitchFamily="34" charset="-120"/>
              </a:rPr>
              <a:t>EBITDA ₹46cr</a:t>
            </a:r>
            <a:endParaRPr lang="en-US" sz="1100" dirty="0"/>
          </a:p>
        </p:txBody>
      </p:sp>
      <p:sp>
        <p:nvSpPr>
          <p:cNvPr id="32" name="Text 30"/>
          <p:cNvSpPr/>
          <p:nvPr/>
        </p:nvSpPr>
        <p:spPr>
          <a:xfrm>
            <a:off x="4636008" y="5084064"/>
            <a:ext cx="3118104" cy="713232"/>
          </a:xfrm>
          <a:prstGeom prst="rect">
            <a:avLst/>
          </a:prstGeom>
          <a:noFill/>
          <a:ln/>
        </p:spPr>
        <p:txBody>
          <a:bodyPr wrap="square" lIns="0" tIns="0" rIns="0" bIns="0" rtlCol="0" anchor="ctr"/>
          <a:lstStyle/>
          <a:p>
            <a:pPr indent="0" marL="0">
              <a:lnSpc>
                <a:spcPts val="1500"/>
              </a:lnSpc>
              <a:buNone/>
            </a:pPr>
            <a:r>
              <a:rPr lang="en-US" sz="1100" dirty="0">
                <a:solidFill>
                  <a:srgbClr val="B6BEC7"/>
                </a:solidFill>
                <a:latin typeface="Calibri" pitchFamily="34" charset="0"/>
                <a:ea typeface="Calibri" pitchFamily="34" charset="-122"/>
                <a:cs typeface="Calibri" pitchFamily="34" charset="-120"/>
              </a:rPr>
              <a:t>Full-service brokerage at volume.</a:t>
            </a:r>
            <a:endParaRPr lang="en-US" sz="1100" dirty="0"/>
          </a:p>
        </p:txBody>
      </p:sp>
      <p:sp>
        <p:nvSpPr>
          <p:cNvPr id="33" name="Text 31"/>
          <p:cNvSpPr/>
          <p:nvPr/>
        </p:nvSpPr>
        <p:spPr>
          <a:xfrm>
            <a:off x="8065008" y="5084064"/>
            <a:ext cx="3236976" cy="713232"/>
          </a:xfrm>
          <a:prstGeom prst="rect">
            <a:avLst/>
          </a:prstGeom>
          <a:noFill/>
          <a:ln/>
        </p:spPr>
        <p:txBody>
          <a:bodyPr wrap="square" lIns="0" tIns="0" rIns="0" bIns="0" rtlCol="0" anchor="ctr"/>
          <a:lstStyle/>
          <a:p>
            <a:pPr indent="0" marL="0">
              <a:lnSpc>
                <a:spcPts val="1500"/>
              </a:lnSpc>
              <a:buNone/>
            </a:pPr>
            <a:r>
              <a:rPr lang="en-US" sz="1100" dirty="0">
                <a:solidFill>
                  <a:srgbClr val="B6BEC7"/>
                </a:solidFill>
                <a:latin typeface="Calibri" pitchFamily="34" charset="0"/>
                <a:ea typeface="Calibri" pitchFamily="34" charset="-122"/>
                <a:cs typeface="Calibri" pitchFamily="34" charset="-120"/>
              </a:rPr>
              <a:t>3.3% margin. Proof that chasing transaction volume is a trap.</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1325880"/>
            <a:ext cx="10637215" cy="274320"/>
          </a:xfrm>
          <a:prstGeom prst="rect">
            <a:avLst/>
          </a:prstGeom>
          <a:noFill/>
          <a:ln/>
        </p:spPr>
        <p:txBody>
          <a:bodyPr wrap="square" lIns="0" tIns="0" rIns="0" bIns="0" rtlCol="0" anchor="ctr"/>
          <a:lstStyle/>
          <a:p>
            <a:pPr indent="0" marL="0">
              <a:buNone/>
            </a:pPr>
            <a:r>
              <a:rPr lang="en-US" sz="1050" b="1" spc="260" kern="0" dirty="0">
                <a:solidFill>
                  <a:srgbClr val="D9B061"/>
                </a:solidFill>
                <a:latin typeface="Calibri" pitchFamily="34" charset="0"/>
                <a:ea typeface="Calibri" pitchFamily="34" charset="-122"/>
                <a:cs typeface="Calibri" pitchFamily="34" charset="-120"/>
              </a:rPr>
              <a:t>THE LESSON IN THE LAST ROW</a:t>
            </a:r>
            <a:endParaRPr lang="en-US" sz="1050" dirty="0"/>
          </a:p>
        </p:txBody>
      </p:sp>
      <p:sp>
        <p:nvSpPr>
          <p:cNvPr id="3" name="Text 1"/>
          <p:cNvSpPr/>
          <p:nvPr/>
        </p:nvSpPr>
        <p:spPr>
          <a:xfrm>
            <a:off x="777240" y="1874520"/>
            <a:ext cx="5486400" cy="2011680"/>
          </a:xfrm>
          <a:prstGeom prst="rect">
            <a:avLst/>
          </a:prstGeom>
          <a:noFill/>
          <a:ln/>
        </p:spPr>
        <p:txBody>
          <a:bodyPr wrap="square" lIns="0" tIns="0" rIns="0" bIns="0" rtlCol="0" anchor="ctr"/>
          <a:lstStyle/>
          <a:p>
            <a:pPr indent="0" marL="0">
              <a:lnSpc>
                <a:spcPts val="6600"/>
              </a:lnSpc>
              <a:buNone/>
            </a:pPr>
            <a:r>
              <a:rPr lang="en-US" sz="5400" b="1" spc="-140" kern="0" dirty="0">
                <a:solidFill>
                  <a:srgbClr val="FFFFFF"/>
                </a:solidFill>
                <a:latin typeface="Cambria" pitchFamily="34" charset="0"/>
                <a:ea typeface="Cambria" pitchFamily="34" charset="-122"/>
                <a:cs typeface="Cambria" pitchFamily="34" charset="-120"/>
              </a:rPr>
              <a:t>₹1,410cr in.</a:t>
            </a:r>
            <a:endParaRPr lang="en-US" sz="5400" dirty="0"/>
          </a:p>
          <a:p>
            <a:pPr indent="0" marL="0">
              <a:lnSpc>
                <a:spcPts val="6600"/>
              </a:lnSpc>
              <a:buNone/>
            </a:pPr>
            <a:r>
              <a:rPr lang="en-US" sz="5400" b="1" spc="-140" kern="0" dirty="0">
                <a:solidFill>
                  <a:srgbClr val="FFFFFF"/>
                </a:solidFill>
                <a:latin typeface="Cambria" pitchFamily="34" charset="0"/>
                <a:ea typeface="Cambria" pitchFamily="34" charset="-122"/>
                <a:cs typeface="Cambria" pitchFamily="34" charset="-120"/>
              </a:rPr>
              <a:t>₹46cr kept.</a:t>
            </a:r>
            <a:endParaRPr lang="en-US" sz="5400" dirty="0"/>
          </a:p>
        </p:txBody>
      </p:sp>
      <p:sp>
        <p:nvSpPr>
          <p:cNvPr id="4" name="Text 2"/>
          <p:cNvSpPr/>
          <p:nvPr/>
        </p:nvSpPr>
        <p:spPr>
          <a:xfrm>
            <a:off x="6720840" y="1965960"/>
            <a:ext cx="4693615" cy="2468880"/>
          </a:xfrm>
          <a:prstGeom prst="rect">
            <a:avLst/>
          </a:prstGeom>
          <a:noFill/>
          <a:ln/>
        </p:spPr>
        <p:txBody>
          <a:bodyPr wrap="square" lIns="0" tIns="0" rIns="0" bIns="0" rtlCol="0" anchor="ctr"/>
          <a:lstStyle/>
          <a:p>
            <a:pPr indent="0" marL="0">
              <a:lnSpc>
                <a:spcPts val="2500"/>
              </a:lnSpc>
              <a:buNone/>
            </a:pPr>
            <a:r>
              <a:rPr lang="en-US" sz="1550" dirty="0">
                <a:solidFill>
                  <a:srgbClr val="B6BEC7"/>
                </a:solidFill>
                <a:latin typeface="Calibri" pitchFamily="34" charset="0"/>
                <a:ea typeface="Calibri" pitchFamily="34" charset="-122"/>
                <a:cs typeface="Calibri" pitchFamily="34" charset="-120"/>
              </a:rPr>
              <a:t>Volume brokerage in India is a treadmill.</a:t>
            </a:r>
            <a:endParaRPr lang="en-US" sz="1550" dirty="0"/>
          </a:p>
          <a:p>
            <a:pPr indent="0" marL="0">
              <a:lnSpc>
                <a:spcPts val="2500"/>
              </a:lnSpc>
              <a:buNone/>
            </a:pPr>
            <a:endParaRPr lang="en-US" sz="1550" dirty="0"/>
          </a:p>
          <a:p>
            <a:pPr indent="0" marL="0">
              <a:lnSpc>
                <a:spcPts val="2500"/>
              </a:lnSpc>
              <a:buNone/>
            </a:pPr>
            <a:r>
              <a:rPr lang="en-US" sz="1550" dirty="0">
                <a:solidFill>
                  <a:srgbClr val="B6BEC7"/>
                </a:solidFill>
                <a:latin typeface="Calibri" pitchFamily="34" charset="0"/>
                <a:ea typeface="Calibri" pitchFamily="34" charset="-122"/>
                <a:cs typeface="Calibri" pitchFamily="34" charset="-120"/>
              </a:rPr>
              <a:t>OTHO should never compete on listing count or transaction volume. That race is won by whoever burns the most money, and the prize is a 3% margin.</a:t>
            </a:r>
            <a:endParaRPr lang="en-US" sz="1550" dirty="0"/>
          </a:p>
          <a:p>
            <a:pPr indent="0" marL="0">
              <a:lnSpc>
                <a:spcPts val="2500"/>
              </a:lnSpc>
              <a:buNone/>
            </a:pPr>
            <a:endParaRPr lang="en-US" sz="1550" dirty="0"/>
          </a:p>
          <a:p>
            <a:pPr indent="0" marL="0">
              <a:lnSpc>
                <a:spcPts val="2500"/>
              </a:lnSpc>
              <a:buNone/>
            </a:pPr>
            <a:r>
              <a:rPr lang="en-US" sz="1550" dirty="0">
                <a:solidFill>
                  <a:srgbClr val="B6BEC7"/>
                </a:solidFill>
                <a:latin typeface="Calibri" pitchFamily="34" charset="0"/>
                <a:ea typeface="Calibri" pitchFamily="34" charset="-122"/>
                <a:cs typeface="Calibri" pitchFamily="34" charset="-120"/>
              </a:rPr>
              <a:t>Compete on judgement instead. Judgement has margin.</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05</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SWOT — what we have, what we lack</a:t>
            </a:r>
            <a:endParaRPr lang="en-US" sz="3800" dirty="0"/>
          </a:p>
        </p:txBody>
      </p:sp>
      <p:sp>
        <p:nvSpPr>
          <p:cNvPr id="4" name="Shape 2"/>
          <p:cNvSpPr/>
          <p:nvPr/>
        </p:nvSpPr>
        <p:spPr>
          <a:xfrm>
            <a:off x="777240" y="1591056"/>
            <a:ext cx="5181448" cy="4718304"/>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5" name="Shape 3"/>
          <p:cNvSpPr/>
          <p:nvPr/>
        </p:nvSpPr>
        <p:spPr>
          <a:xfrm>
            <a:off x="1088136" y="1901952"/>
            <a:ext cx="137160" cy="137160"/>
          </a:xfrm>
          <a:prstGeom prst="ellipse">
            <a:avLst/>
          </a:prstGeom>
          <a:solidFill>
            <a:srgbClr val="2E7150"/>
          </a:solidFill>
          <a:ln/>
        </p:spPr>
      </p:sp>
      <p:sp>
        <p:nvSpPr>
          <p:cNvPr id="6" name="Text 4"/>
          <p:cNvSpPr/>
          <p:nvPr/>
        </p:nvSpPr>
        <p:spPr>
          <a:xfrm>
            <a:off x="1344168" y="1810512"/>
            <a:ext cx="4321912" cy="329184"/>
          </a:xfrm>
          <a:prstGeom prst="rect">
            <a:avLst/>
          </a:prstGeom>
          <a:noFill/>
          <a:ln/>
        </p:spPr>
        <p:txBody>
          <a:bodyPr wrap="square" lIns="0" tIns="0" rIns="0" bIns="0" rtlCol="0" anchor="ctr"/>
          <a:lstStyle/>
          <a:p>
            <a:pPr indent="0" marL="0">
              <a:buNone/>
            </a:pPr>
            <a:r>
              <a:rPr lang="en-US" sz="1800" b="1" dirty="0">
                <a:solidFill>
                  <a:srgbClr val="14181D"/>
                </a:solidFill>
                <a:latin typeface="Cambria" pitchFamily="34" charset="0"/>
                <a:ea typeface="Cambria" pitchFamily="34" charset="-122"/>
                <a:cs typeface="Cambria" pitchFamily="34" charset="-120"/>
              </a:rPr>
              <a:t>Strengths</a:t>
            </a:r>
            <a:endParaRPr lang="en-US" sz="1800" dirty="0"/>
          </a:p>
        </p:txBody>
      </p:sp>
      <p:sp>
        <p:nvSpPr>
          <p:cNvPr id="7" name="Text 5"/>
          <p:cNvSpPr/>
          <p:nvPr/>
        </p:nvSpPr>
        <p:spPr>
          <a:xfrm>
            <a:off x="1088136" y="2286000"/>
            <a:ext cx="4559656" cy="3758184"/>
          </a:xfrm>
          <a:prstGeom prst="rect">
            <a:avLst/>
          </a:prstGeom>
          <a:noFill/>
          <a:ln/>
        </p:spPr>
        <p:txBody>
          <a:bodyPr wrap="square" lIns="0" tIns="0" rIns="0" bIns="0" rtlCol="0" anchor="t"/>
          <a:lstStyle/>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Tier-one relationships</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Direct access to DSR, Sattva, My Home, Aparna, Prestige. Around 70% of Indian residential sales run through channel partners. A funded startup can buy engineers; it cannot buy twenty years of trust with a developer's sales head.</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Timing</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A 19-month overhang means developers are actively looking for a better answer right now.</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No legacy tech debt</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The portals are locked into the shared-lead P&amp;L. OTHO can build the clean architecture from zero.</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Regulatory tailwind</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TRAI and DPDP rules make the spam-and-resell model steadily more expensive.</a:t>
            </a:r>
            <a:endParaRPr lang="en-US" sz="1150" dirty="0"/>
          </a:p>
        </p:txBody>
      </p:sp>
      <p:sp>
        <p:nvSpPr>
          <p:cNvPr id="8" name="Shape 6"/>
          <p:cNvSpPr/>
          <p:nvPr/>
        </p:nvSpPr>
        <p:spPr>
          <a:xfrm>
            <a:off x="6233008" y="1591056"/>
            <a:ext cx="5181448" cy="4718304"/>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9" name="Shape 7"/>
          <p:cNvSpPr/>
          <p:nvPr/>
        </p:nvSpPr>
        <p:spPr>
          <a:xfrm>
            <a:off x="6543904" y="1901952"/>
            <a:ext cx="137160" cy="137160"/>
          </a:xfrm>
          <a:prstGeom prst="ellipse">
            <a:avLst/>
          </a:prstGeom>
          <a:solidFill>
            <a:srgbClr val="A8382C"/>
          </a:solidFill>
          <a:ln/>
        </p:spPr>
      </p:sp>
      <p:sp>
        <p:nvSpPr>
          <p:cNvPr id="10" name="Text 8"/>
          <p:cNvSpPr/>
          <p:nvPr/>
        </p:nvSpPr>
        <p:spPr>
          <a:xfrm>
            <a:off x="6799936" y="1810512"/>
            <a:ext cx="4321912" cy="329184"/>
          </a:xfrm>
          <a:prstGeom prst="rect">
            <a:avLst/>
          </a:prstGeom>
          <a:noFill/>
          <a:ln/>
        </p:spPr>
        <p:txBody>
          <a:bodyPr wrap="square" lIns="0" tIns="0" rIns="0" bIns="0" rtlCol="0" anchor="ctr"/>
          <a:lstStyle/>
          <a:p>
            <a:pPr indent="0" marL="0">
              <a:buNone/>
            </a:pPr>
            <a:r>
              <a:rPr lang="en-US" sz="1800" b="1" dirty="0">
                <a:solidFill>
                  <a:srgbClr val="14181D"/>
                </a:solidFill>
                <a:latin typeface="Cambria" pitchFamily="34" charset="0"/>
                <a:ea typeface="Cambria" pitchFamily="34" charset="-122"/>
                <a:cs typeface="Cambria" pitchFamily="34" charset="-120"/>
              </a:rPr>
              <a:t>Weaknesses</a:t>
            </a:r>
            <a:endParaRPr lang="en-US" sz="1800" dirty="0"/>
          </a:p>
        </p:txBody>
      </p:sp>
      <p:sp>
        <p:nvSpPr>
          <p:cNvPr id="11" name="Text 9"/>
          <p:cNvSpPr/>
          <p:nvPr/>
        </p:nvSpPr>
        <p:spPr>
          <a:xfrm>
            <a:off x="6543904" y="2286000"/>
            <a:ext cx="4559656" cy="3758184"/>
          </a:xfrm>
          <a:prstGeom prst="rect">
            <a:avLst/>
          </a:prstGeom>
          <a:noFill/>
          <a:ln/>
        </p:spPr>
        <p:txBody>
          <a:bodyPr wrap="square" lIns="0" tIns="0" rIns="0" bIns="0" rtlCol="0" anchor="t"/>
          <a:lstStyle/>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No product or data engineering yet</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The comparison engine is a data acquisition and verification problem across RERA, HMDA and registration records. This is what kills proptech startups.</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Zero digital brand equity</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Twenty years of word-of-mouth does not transfer to search.</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Advisory doesn't scale linearly</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Every mandate consumes senior human time.</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Key-person dependency</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Relationships and podcast authority both sit with the founders.</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Working capital</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Commission pays on registration, so cash lands 3–9 months behind the cost.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05</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SWOT — the opening, and what could go wrong</a:t>
            </a:r>
            <a:endParaRPr lang="en-US" sz="3800" dirty="0"/>
          </a:p>
        </p:txBody>
      </p:sp>
      <p:sp>
        <p:nvSpPr>
          <p:cNvPr id="4" name="Shape 2"/>
          <p:cNvSpPr/>
          <p:nvPr/>
        </p:nvSpPr>
        <p:spPr>
          <a:xfrm>
            <a:off x="777240" y="1591056"/>
            <a:ext cx="5181448" cy="4718304"/>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5" name="Shape 3"/>
          <p:cNvSpPr/>
          <p:nvPr/>
        </p:nvSpPr>
        <p:spPr>
          <a:xfrm>
            <a:off x="1088136" y="1901952"/>
            <a:ext cx="137160" cy="137160"/>
          </a:xfrm>
          <a:prstGeom prst="ellipse">
            <a:avLst/>
          </a:prstGeom>
          <a:solidFill>
            <a:srgbClr val="27548F"/>
          </a:solidFill>
          <a:ln/>
        </p:spPr>
      </p:sp>
      <p:sp>
        <p:nvSpPr>
          <p:cNvPr id="6" name="Text 4"/>
          <p:cNvSpPr/>
          <p:nvPr/>
        </p:nvSpPr>
        <p:spPr>
          <a:xfrm>
            <a:off x="1344168" y="1810512"/>
            <a:ext cx="4321912" cy="329184"/>
          </a:xfrm>
          <a:prstGeom prst="rect">
            <a:avLst/>
          </a:prstGeom>
          <a:noFill/>
          <a:ln/>
        </p:spPr>
        <p:txBody>
          <a:bodyPr wrap="square" lIns="0" tIns="0" rIns="0" bIns="0" rtlCol="0" anchor="ctr"/>
          <a:lstStyle/>
          <a:p>
            <a:pPr indent="0" marL="0">
              <a:buNone/>
            </a:pPr>
            <a:r>
              <a:rPr lang="en-US" sz="1800" b="1" dirty="0">
                <a:solidFill>
                  <a:srgbClr val="14181D"/>
                </a:solidFill>
                <a:latin typeface="Cambria" pitchFamily="34" charset="0"/>
                <a:ea typeface="Cambria" pitchFamily="34" charset="-122"/>
                <a:cs typeface="Cambria" pitchFamily="34" charset="-120"/>
              </a:rPr>
              <a:t>Opportunities</a:t>
            </a:r>
            <a:endParaRPr lang="en-US" sz="1800" dirty="0"/>
          </a:p>
        </p:txBody>
      </p:sp>
      <p:sp>
        <p:nvSpPr>
          <p:cNvPr id="7" name="Text 5"/>
          <p:cNvSpPr/>
          <p:nvPr/>
        </p:nvSpPr>
        <p:spPr>
          <a:xfrm>
            <a:off x="1088136" y="2286000"/>
            <a:ext cx="4559656" cy="3758184"/>
          </a:xfrm>
          <a:prstGeom prst="rect">
            <a:avLst/>
          </a:prstGeom>
          <a:noFill/>
          <a:ln/>
        </p:spPr>
        <p:txBody>
          <a:bodyPr wrap="square" lIns="0" tIns="0" rIns="0" bIns="0" rtlCol="0" anchor="t"/>
          <a:lstStyle/>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The overhang itself</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Roughly 97,000 unsold units is a large, motivated mandate pipeline. Every stuck project is a sales conversation.</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The transparency vacuum</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No Indian portal publishes loading factor, true density or UDS as standard fields.</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AI citation land-grab</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Brands cited in AI answers earn far more clicks, and AI referral traffic converts around 3x. That window is open now.</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Bharat Future City</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Master plan and zoning due December 2026 — a dateable, high-search event with no incumbent authority.</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NRI buyers</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Under-served, higher ticket sizes, and they need an honest proxy on the ground.</a:t>
            </a:r>
            <a:endParaRPr lang="en-US" sz="1150" dirty="0"/>
          </a:p>
        </p:txBody>
      </p:sp>
      <p:sp>
        <p:nvSpPr>
          <p:cNvPr id="8" name="Shape 6"/>
          <p:cNvSpPr/>
          <p:nvPr/>
        </p:nvSpPr>
        <p:spPr>
          <a:xfrm>
            <a:off x="6233008" y="1591056"/>
            <a:ext cx="5181448" cy="4718304"/>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9" name="Shape 7"/>
          <p:cNvSpPr/>
          <p:nvPr/>
        </p:nvSpPr>
        <p:spPr>
          <a:xfrm>
            <a:off x="6543904" y="1901952"/>
            <a:ext cx="137160" cy="137160"/>
          </a:xfrm>
          <a:prstGeom prst="ellipse">
            <a:avLst/>
          </a:prstGeom>
          <a:solidFill>
            <a:srgbClr val="9A7A25"/>
          </a:solidFill>
          <a:ln/>
        </p:spPr>
      </p:sp>
      <p:sp>
        <p:nvSpPr>
          <p:cNvPr id="10" name="Text 8"/>
          <p:cNvSpPr/>
          <p:nvPr/>
        </p:nvSpPr>
        <p:spPr>
          <a:xfrm>
            <a:off x="6799936" y="1810512"/>
            <a:ext cx="4321912" cy="329184"/>
          </a:xfrm>
          <a:prstGeom prst="rect">
            <a:avLst/>
          </a:prstGeom>
          <a:noFill/>
          <a:ln/>
        </p:spPr>
        <p:txBody>
          <a:bodyPr wrap="square" lIns="0" tIns="0" rIns="0" bIns="0" rtlCol="0" anchor="ctr"/>
          <a:lstStyle/>
          <a:p>
            <a:pPr indent="0" marL="0">
              <a:buNone/>
            </a:pPr>
            <a:r>
              <a:rPr lang="en-US" sz="1800" b="1" dirty="0">
                <a:solidFill>
                  <a:srgbClr val="14181D"/>
                </a:solidFill>
                <a:latin typeface="Cambria" pitchFamily="34" charset="0"/>
                <a:ea typeface="Cambria" pitchFamily="34" charset="-122"/>
                <a:cs typeface="Cambria" pitchFamily="34" charset="-120"/>
              </a:rPr>
              <a:t>Threats</a:t>
            </a:r>
            <a:endParaRPr lang="en-US" sz="1800" dirty="0"/>
          </a:p>
        </p:txBody>
      </p:sp>
      <p:sp>
        <p:nvSpPr>
          <p:cNvPr id="11" name="Text 9"/>
          <p:cNvSpPr/>
          <p:nvPr/>
        </p:nvSpPr>
        <p:spPr>
          <a:xfrm>
            <a:off x="6543904" y="2286000"/>
            <a:ext cx="4559656" cy="3758184"/>
          </a:xfrm>
          <a:prstGeom prst="rect">
            <a:avLst/>
          </a:prstGeom>
          <a:noFill/>
          <a:ln/>
        </p:spPr>
        <p:txBody>
          <a:bodyPr wrap="square" lIns="0" tIns="0" rIns="0" bIns="0" rtlCol="0" anchor="t"/>
          <a:lstStyle/>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Developer backlash on honest negatives</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We earn from developers while publishing unflattering facts. Needs a written editorial charter, agreed up front.</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Incumbent capital response</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Housing or 99acres can copy a comparison engine faster than we can build a brand. Defensibility is exclusive inventory and verified data, not features.</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A deepening downturn</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If the overhang passes 24 months, marketing budgets and commissions get cut together.</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RERA exposure</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₹10,000/day penalties and mandatory RERA numbers in every ad. One sloppy campaign is existential for a firm selling trust.</a:t>
            </a:r>
            <a:endParaRPr lang="en-US" sz="1150" dirty="0"/>
          </a:p>
          <a:p>
            <a:pPr indent="0" marL="0">
              <a:lnSpc>
                <a:spcPts val="1600"/>
              </a:lnSpc>
              <a:spcAft>
                <a:spcPts val="900"/>
              </a:spcAft>
              <a:buNone/>
            </a:pPr>
            <a:r>
              <a:rPr lang="en-US" sz="1150" b="1" dirty="0">
                <a:solidFill>
                  <a:srgbClr val="14181D"/>
                </a:solidFill>
                <a:latin typeface="Calibri" pitchFamily="34" charset="0"/>
                <a:ea typeface="Calibri" pitchFamily="34" charset="-122"/>
                <a:cs typeface="Calibri" pitchFamily="34" charset="-120"/>
              </a:rPr>
              <a:t>Defamation risk</a:t>
            </a:r>
            <a:endParaRPr lang="en-US" sz="1150" dirty="0"/>
          </a:p>
          <a:p>
            <a:pPr indent="0" marL="0">
              <a:lnSpc>
                <a:spcPts val="1600"/>
              </a:lnSpc>
              <a:spcAft>
                <a:spcPts val="900"/>
              </a:spcAft>
              <a:buNone/>
            </a:pPr>
            <a:r>
              <a:rPr lang="en-US" sz="1150" dirty="0">
                <a:solidFill>
                  <a:srgbClr val="555C64"/>
                </a:solidFill>
                <a:latin typeface="Calibri" pitchFamily="34" charset="0"/>
                <a:ea typeface="Calibri" pitchFamily="34" charset="-122"/>
                <a:cs typeface="Calibri" pitchFamily="34" charset="-120"/>
              </a:rPr>
              <a:t>“This project is bad” is litigable. A cited pollution reading is not. The distinction must be enforced editorially.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914400"/>
            <a:ext cx="10637215" cy="274320"/>
          </a:xfrm>
          <a:prstGeom prst="rect">
            <a:avLst/>
          </a:prstGeom>
          <a:noFill/>
          <a:ln/>
        </p:spPr>
        <p:txBody>
          <a:bodyPr wrap="square" lIns="0" tIns="0" rIns="0" bIns="0" rtlCol="0" anchor="ctr"/>
          <a:lstStyle/>
          <a:p>
            <a:pPr indent="0" marL="0">
              <a:buNone/>
            </a:pPr>
            <a:r>
              <a:rPr lang="en-US" sz="1050" b="1" spc="260" kern="0" dirty="0">
                <a:solidFill>
                  <a:srgbClr val="D9B061"/>
                </a:solidFill>
                <a:latin typeface="Calibri" pitchFamily="34" charset="0"/>
                <a:ea typeface="Calibri" pitchFamily="34" charset="-122"/>
                <a:cs typeface="Calibri" pitchFamily="34" charset="-120"/>
              </a:rPr>
              <a:t>WHAT THE SWOT FORCES</a:t>
            </a:r>
            <a:endParaRPr lang="en-US" sz="1050" dirty="0"/>
          </a:p>
        </p:txBody>
      </p:sp>
      <p:sp>
        <p:nvSpPr>
          <p:cNvPr id="3" name="Text 1"/>
          <p:cNvSpPr/>
          <p:nvPr/>
        </p:nvSpPr>
        <p:spPr>
          <a:xfrm>
            <a:off x="777240" y="1463040"/>
            <a:ext cx="10058400" cy="1463040"/>
          </a:xfrm>
          <a:prstGeom prst="rect">
            <a:avLst/>
          </a:prstGeom>
          <a:noFill/>
          <a:ln/>
        </p:spPr>
        <p:txBody>
          <a:bodyPr wrap="square" lIns="0" tIns="0" rIns="0" bIns="0" rtlCol="0" anchor="ctr"/>
          <a:lstStyle/>
          <a:p>
            <a:pPr indent="0" marL="0">
              <a:lnSpc>
                <a:spcPts val="5000"/>
              </a:lnSpc>
              <a:buNone/>
            </a:pPr>
            <a:r>
              <a:rPr lang="en-US" sz="4000" b="1" spc="-90" kern="0" dirty="0">
                <a:solidFill>
                  <a:srgbClr val="FFFFFF"/>
                </a:solidFill>
                <a:latin typeface="Cambria" pitchFamily="34" charset="0"/>
                <a:ea typeface="Cambria" pitchFamily="34" charset="-122"/>
                <a:cs typeface="Cambria" pitchFamily="34" charset="-120"/>
              </a:rPr>
              <a:t>The moat is not the platform.</a:t>
            </a:r>
            <a:endParaRPr lang="en-US" sz="4000" dirty="0"/>
          </a:p>
          <a:p>
            <a:pPr indent="0" marL="0">
              <a:lnSpc>
                <a:spcPts val="5000"/>
              </a:lnSpc>
              <a:buNone/>
            </a:pPr>
            <a:r>
              <a:rPr lang="en-US" sz="4000" b="1" spc="-90" kern="0" dirty="0">
                <a:solidFill>
                  <a:srgbClr val="FFFFFF"/>
                </a:solidFill>
                <a:latin typeface="Cambria" pitchFamily="34" charset="0"/>
                <a:ea typeface="Cambria" pitchFamily="34" charset="-122"/>
                <a:cs typeface="Cambria" pitchFamily="34" charset="-120"/>
              </a:rPr>
              <a:t>Features get copied.</a:t>
            </a:r>
            <a:endParaRPr lang="en-US" sz="4000" dirty="0"/>
          </a:p>
        </p:txBody>
      </p:sp>
      <p:sp>
        <p:nvSpPr>
          <p:cNvPr id="4" name="Shape 2"/>
          <p:cNvSpPr/>
          <p:nvPr/>
        </p:nvSpPr>
        <p:spPr>
          <a:xfrm>
            <a:off x="777240" y="3310128"/>
            <a:ext cx="3362858" cy="1783080"/>
          </a:xfrm>
          <a:prstGeom prst="rect">
            <a:avLst/>
          </a:prstGeom>
          <a:solidFill>
            <a:srgbClr val="1D242C"/>
          </a:solidFill>
          <a:ln/>
        </p:spPr>
      </p:sp>
      <p:sp>
        <p:nvSpPr>
          <p:cNvPr id="5" name="Text 3"/>
          <p:cNvSpPr/>
          <p:nvPr/>
        </p:nvSpPr>
        <p:spPr>
          <a:xfrm>
            <a:off x="1069848" y="3547872"/>
            <a:ext cx="2777642" cy="402336"/>
          </a:xfrm>
          <a:prstGeom prst="rect">
            <a:avLst/>
          </a:prstGeom>
          <a:noFill/>
          <a:ln/>
        </p:spPr>
        <p:txBody>
          <a:bodyPr wrap="square" lIns="0" tIns="0" rIns="0" bIns="0" rtlCol="0" anchor="ctr"/>
          <a:lstStyle/>
          <a:p>
            <a:pPr indent="0" marL="0">
              <a:buNone/>
            </a:pPr>
            <a:r>
              <a:rPr lang="en-US" sz="1600" b="1" dirty="0">
                <a:solidFill>
                  <a:srgbClr val="D9B061"/>
                </a:solidFill>
                <a:latin typeface="Cambria" pitchFamily="34" charset="0"/>
                <a:ea typeface="Cambria" pitchFamily="34" charset="-122"/>
                <a:cs typeface="Cambria" pitchFamily="34" charset="-120"/>
              </a:rPr>
              <a:t>Exclusive inventory</a:t>
            </a:r>
            <a:endParaRPr lang="en-US" sz="1600" dirty="0"/>
          </a:p>
        </p:txBody>
      </p:sp>
      <p:sp>
        <p:nvSpPr>
          <p:cNvPr id="6" name="Text 4"/>
          <p:cNvSpPr/>
          <p:nvPr/>
        </p:nvSpPr>
        <p:spPr>
          <a:xfrm>
            <a:off x="1069848" y="4005072"/>
            <a:ext cx="2777642" cy="914400"/>
          </a:xfrm>
          <a:prstGeom prst="rect">
            <a:avLst/>
          </a:prstGeom>
          <a:noFill/>
          <a:ln/>
        </p:spPr>
        <p:txBody>
          <a:bodyPr wrap="square" lIns="0" tIns="0" rIns="0" bIns="0" rtlCol="0" anchor="ctr"/>
          <a:lstStyle/>
          <a:p>
            <a:pPr indent="0" marL="0">
              <a:lnSpc>
                <a:spcPts val="1900"/>
              </a:lnSpc>
              <a:buNone/>
            </a:pPr>
            <a:r>
              <a:rPr lang="en-US" sz="1250" dirty="0">
                <a:solidFill>
                  <a:srgbClr val="B6BEC7"/>
                </a:solidFill>
                <a:latin typeface="Calibri" pitchFamily="34" charset="0"/>
                <a:ea typeface="Calibri" pitchFamily="34" charset="-122"/>
                <a:cs typeface="Calibri" pitchFamily="34" charset="-120"/>
              </a:rPr>
              <a:t>Mandates competitors literally cannot list.</a:t>
            </a:r>
            <a:endParaRPr lang="en-US" sz="1250" dirty="0"/>
          </a:p>
        </p:txBody>
      </p:sp>
      <p:sp>
        <p:nvSpPr>
          <p:cNvPr id="7" name="Shape 5"/>
          <p:cNvSpPr/>
          <p:nvPr/>
        </p:nvSpPr>
        <p:spPr>
          <a:xfrm>
            <a:off x="4414418" y="3310128"/>
            <a:ext cx="3362858" cy="1783080"/>
          </a:xfrm>
          <a:prstGeom prst="rect">
            <a:avLst/>
          </a:prstGeom>
          <a:solidFill>
            <a:srgbClr val="1D242C"/>
          </a:solidFill>
          <a:ln/>
        </p:spPr>
      </p:sp>
      <p:sp>
        <p:nvSpPr>
          <p:cNvPr id="8" name="Text 6"/>
          <p:cNvSpPr/>
          <p:nvPr/>
        </p:nvSpPr>
        <p:spPr>
          <a:xfrm>
            <a:off x="4707026" y="3547872"/>
            <a:ext cx="2777642" cy="402336"/>
          </a:xfrm>
          <a:prstGeom prst="rect">
            <a:avLst/>
          </a:prstGeom>
          <a:noFill/>
          <a:ln/>
        </p:spPr>
        <p:txBody>
          <a:bodyPr wrap="square" lIns="0" tIns="0" rIns="0" bIns="0" rtlCol="0" anchor="ctr"/>
          <a:lstStyle/>
          <a:p>
            <a:pPr indent="0" marL="0">
              <a:buNone/>
            </a:pPr>
            <a:r>
              <a:rPr lang="en-US" sz="1600" b="1" dirty="0">
                <a:solidFill>
                  <a:srgbClr val="D9B061"/>
                </a:solidFill>
                <a:latin typeface="Cambria" pitchFamily="34" charset="0"/>
                <a:ea typeface="Cambria" pitchFamily="34" charset="-122"/>
                <a:cs typeface="Cambria" pitchFamily="34" charset="-120"/>
              </a:rPr>
              <a:t>Verified data</a:t>
            </a:r>
            <a:endParaRPr lang="en-US" sz="1600" dirty="0"/>
          </a:p>
        </p:txBody>
      </p:sp>
      <p:sp>
        <p:nvSpPr>
          <p:cNvPr id="9" name="Text 7"/>
          <p:cNvSpPr/>
          <p:nvPr/>
        </p:nvSpPr>
        <p:spPr>
          <a:xfrm>
            <a:off x="4707026" y="4005072"/>
            <a:ext cx="2777642" cy="914400"/>
          </a:xfrm>
          <a:prstGeom prst="rect">
            <a:avLst/>
          </a:prstGeom>
          <a:noFill/>
          <a:ln/>
        </p:spPr>
        <p:txBody>
          <a:bodyPr wrap="square" lIns="0" tIns="0" rIns="0" bIns="0" rtlCol="0" anchor="ctr"/>
          <a:lstStyle/>
          <a:p>
            <a:pPr indent="0" marL="0">
              <a:lnSpc>
                <a:spcPts val="1900"/>
              </a:lnSpc>
              <a:buNone/>
            </a:pPr>
            <a:r>
              <a:rPr lang="en-US" sz="1250" dirty="0">
                <a:solidFill>
                  <a:srgbClr val="B6BEC7"/>
                </a:solidFill>
                <a:latin typeface="Calibri" pitchFamily="34" charset="0"/>
                <a:ea typeface="Calibri" pitchFamily="34" charset="-122"/>
                <a:cs typeface="Calibri" pitchFamily="34" charset="-120"/>
              </a:rPr>
              <a:t>A proprietary dataset built by physically auditing projects.</a:t>
            </a:r>
            <a:endParaRPr lang="en-US" sz="1250" dirty="0"/>
          </a:p>
        </p:txBody>
      </p:sp>
      <p:sp>
        <p:nvSpPr>
          <p:cNvPr id="10" name="Shape 8"/>
          <p:cNvSpPr/>
          <p:nvPr/>
        </p:nvSpPr>
        <p:spPr>
          <a:xfrm>
            <a:off x="8051597" y="3310128"/>
            <a:ext cx="3362858" cy="1783080"/>
          </a:xfrm>
          <a:prstGeom prst="rect">
            <a:avLst/>
          </a:prstGeom>
          <a:solidFill>
            <a:srgbClr val="1D242C"/>
          </a:solidFill>
          <a:ln/>
        </p:spPr>
      </p:sp>
      <p:sp>
        <p:nvSpPr>
          <p:cNvPr id="11" name="Text 9"/>
          <p:cNvSpPr/>
          <p:nvPr/>
        </p:nvSpPr>
        <p:spPr>
          <a:xfrm>
            <a:off x="8344205" y="3547872"/>
            <a:ext cx="2777642" cy="402336"/>
          </a:xfrm>
          <a:prstGeom prst="rect">
            <a:avLst/>
          </a:prstGeom>
          <a:noFill/>
          <a:ln/>
        </p:spPr>
        <p:txBody>
          <a:bodyPr wrap="square" lIns="0" tIns="0" rIns="0" bIns="0" rtlCol="0" anchor="ctr"/>
          <a:lstStyle/>
          <a:p>
            <a:pPr indent="0" marL="0">
              <a:buNone/>
            </a:pPr>
            <a:r>
              <a:rPr lang="en-US" sz="1600" b="1" dirty="0">
                <a:solidFill>
                  <a:srgbClr val="D9B061"/>
                </a:solidFill>
                <a:latin typeface="Cambria" pitchFamily="34" charset="0"/>
                <a:ea typeface="Cambria" pitchFamily="34" charset="-122"/>
                <a:cs typeface="Cambria" pitchFamily="34" charset="-120"/>
              </a:rPr>
              <a:t>A trust brand</a:t>
            </a:r>
            <a:endParaRPr lang="en-US" sz="1600" dirty="0"/>
          </a:p>
        </p:txBody>
      </p:sp>
      <p:sp>
        <p:nvSpPr>
          <p:cNvPr id="12" name="Text 10"/>
          <p:cNvSpPr/>
          <p:nvPr/>
        </p:nvSpPr>
        <p:spPr>
          <a:xfrm>
            <a:off x="8344205" y="4005072"/>
            <a:ext cx="2777642" cy="914400"/>
          </a:xfrm>
          <a:prstGeom prst="rect">
            <a:avLst/>
          </a:prstGeom>
          <a:noFill/>
          <a:ln/>
        </p:spPr>
        <p:txBody>
          <a:bodyPr wrap="square" lIns="0" tIns="0" rIns="0" bIns="0" rtlCol="0" anchor="ctr"/>
          <a:lstStyle/>
          <a:p>
            <a:pPr indent="0" marL="0">
              <a:lnSpc>
                <a:spcPts val="1900"/>
              </a:lnSpc>
              <a:buNone/>
            </a:pPr>
            <a:r>
              <a:rPr lang="en-US" sz="1250" dirty="0">
                <a:solidFill>
                  <a:srgbClr val="B6BEC7"/>
                </a:solidFill>
                <a:latin typeface="Calibri" pitchFamily="34" charset="0"/>
                <a:ea typeface="Calibri" pitchFamily="34" charset="-122"/>
                <a:cs typeface="Calibri" pitchFamily="34" charset="-120"/>
              </a:rPr>
              <a:t>One the portals cannot adopt without cannibalising their own revenue.</a:t>
            </a:r>
            <a:endParaRPr lang="en-US" sz="1250" dirty="0"/>
          </a:p>
        </p:txBody>
      </p:sp>
      <p:sp>
        <p:nvSpPr>
          <p:cNvPr id="13" name="Text 11"/>
          <p:cNvSpPr/>
          <p:nvPr/>
        </p:nvSpPr>
        <p:spPr>
          <a:xfrm>
            <a:off x="777240" y="5413248"/>
            <a:ext cx="10637215" cy="45720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The platform is the delivery mechanism for those three. Build in that order.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1417320"/>
            <a:ext cx="1097280" cy="365760"/>
          </a:xfrm>
          <a:prstGeom prst="rect">
            <a:avLst/>
          </a:prstGeom>
          <a:noFill/>
          <a:ln/>
        </p:spPr>
        <p:txBody>
          <a:bodyPr wrap="square" lIns="0" tIns="0" rIns="0" bIns="0" rtlCol="0" anchor="ctr"/>
          <a:lstStyle/>
          <a:p>
            <a:pPr indent="0" marL="0">
              <a:buNone/>
            </a:pPr>
            <a:r>
              <a:rPr lang="en-US" sz="1100" b="1" spc="260" kern="0" dirty="0">
                <a:solidFill>
                  <a:srgbClr val="D9B061"/>
                </a:solidFill>
                <a:latin typeface="Calibri" pitchFamily="34" charset="0"/>
                <a:ea typeface="Calibri" pitchFamily="34" charset="-122"/>
                <a:cs typeface="Calibri" pitchFamily="34" charset="-120"/>
              </a:rPr>
              <a:t>06</a:t>
            </a:r>
            <a:endParaRPr lang="en-US" sz="1100" dirty="0"/>
          </a:p>
        </p:txBody>
      </p:sp>
      <p:sp>
        <p:nvSpPr>
          <p:cNvPr id="3" name="Text 1"/>
          <p:cNvSpPr/>
          <p:nvPr/>
        </p:nvSpPr>
        <p:spPr>
          <a:xfrm>
            <a:off x="777240" y="1874520"/>
            <a:ext cx="9601200" cy="1828800"/>
          </a:xfrm>
          <a:prstGeom prst="rect">
            <a:avLst/>
          </a:prstGeom>
          <a:noFill/>
          <a:ln/>
        </p:spPr>
        <p:txBody>
          <a:bodyPr wrap="square" lIns="0" tIns="0" rIns="0" bIns="0" rtlCol="0" anchor="ctr"/>
          <a:lstStyle/>
          <a:p>
            <a:pPr indent="0" marL="0">
              <a:lnSpc>
                <a:spcPts val="6000"/>
              </a:lnSpc>
              <a:buNone/>
            </a:pPr>
            <a:r>
              <a:rPr lang="en-US" sz="4800" b="1" spc="-120" kern="0" dirty="0">
                <a:solidFill>
                  <a:srgbClr val="FFFFFF"/>
                </a:solidFill>
                <a:latin typeface="Cambria" pitchFamily="34" charset="0"/>
                <a:ea typeface="Cambria" pitchFamily="34" charset="-122"/>
                <a:cs typeface="Cambria" pitchFamily="34" charset="-120"/>
              </a:rPr>
              <a:t>The model:</a:t>
            </a:r>
            <a:endParaRPr lang="en-US" sz="4800" dirty="0"/>
          </a:p>
          <a:p>
            <a:pPr indent="0" marL="0">
              <a:lnSpc>
                <a:spcPts val="6000"/>
              </a:lnSpc>
              <a:buNone/>
            </a:pPr>
            <a:r>
              <a:rPr lang="en-US" sz="4800" b="1" spc="-120" kern="0" dirty="0">
                <a:solidFill>
                  <a:srgbClr val="FFFFFF"/>
                </a:solidFill>
                <a:latin typeface="Cambria" pitchFamily="34" charset="0"/>
                <a:ea typeface="Cambria" pitchFamily="34" charset="-122"/>
                <a:cs typeface="Cambria" pitchFamily="34" charset="-120"/>
              </a:rPr>
              <a:t>CarWale, for property.</a:t>
            </a:r>
            <a:endParaRPr lang="en-US" sz="4800" dirty="0"/>
          </a:p>
        </p:txBody>
      </p:sp>
      <p:sp>
        <p:nvSpPr>
          <p:cNvPr id="4" name="Text 2"/>
          <p:cNvSpPr/>
          <p:nvPr/>
        </p:nvSpPr>
        <p:spPr>
          <a:xfrm>
            <a:off x="777240" y="4023360"/>
            <a:ext cx="9326880" cy="731520"/>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Calibri" pitchFamily="34" charset="0"/>
                <a:ea typeface="Calibri" pitchFamily="34" charset="-122"/>
                <a:cs typeface="Calibri" pitchFamily="34" charset="-120"/>
              </a:rPr>
              <a:t>CarWale did not beat the classifieds by having more cars. It won by owning the step before the transaction — expert reviews, side-by-side comparisons, price guides, owner ratings, EMI calculators.</a:t>
            </a:r>
            <a:endParaRPr lang="en-US" sz="1600" dirty="0"/>
          </a:p>
        </p:txBody>
      </p:sp>
      <p:sp>
        <p:nvSpPr>
          <p:cNvPr id="5" name="Text 3"/>
          <p:cNvSpPr/>
          <p:nvPr/>
        </p:nvSpPr>
        <p:spPr>
          <a:xfrm>
            <a:off x="777240" y="4892040"/>
            <a:ext cx="9326880" cy="731520"/>
          </a:xfrm>
          <a:prstGeom prst="rect">
            <a:avLst/>
          </a:prstGeom>
          <a:noFill/>
          <a:ln/>
        </p:spPr>
        <p:txBody>
          <a:bodyPr wrap="square" lIns="0" tIns="0" rIns="0" bIns="0" rtlCol="0" anchor="ctr"/>
          <a:lstStyle/>
          <a:p>
            <a:pPr indent="0" marL="0">
              <a:lnSpc>
                <a:spcPts val="2500"/>
              </a:lnSpc>
              <a:buNone/>
            </a:pPr>
            <a:r>
              <a:rPr lang="en-US" sz="1600" dirty="0">
                <a:solidFill>
                  <a:srgbClr val="79818A"/>
                </a:solidFill>
                <a:latin typeface="Calibri" pitchFamily="34" charset="0"/>
                <a:ea typeface="Calibri" pitchFamily="34" charset="-122"/>
                <a:cs typeface="Calibri" pitchFamily="34" charset="-120"/>
              </a:rPr>
              <a:t>It became where Indians go to decide. It reached 65 million car buyers and built roughly ₹1,260cr of revenue on the intent it had already earned.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06</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Two different businesses</a:t>
            </a:r>
            <a:endParaRPr lang="en-US" sz="3800" dirty="0"/>
          </a:p>
        </p:txBody>
      </p:sp>
      <p:sp>
        <p:nvSpPr>
          <p:cNvPr id="4" name="Shape 2"/>
          <p:cNvSpPr/>
          <p:nvPr/>
        </p:nvSpPr>
        <p:spPr>
          <a:xfrm>
            <a:off x="777240" y="1591056"/>
            <a:ext cx="5181448" cy="265176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5" name="Text 3"/>
          <p:cNvSpPr/>
          <p:nvPr/>
        </p:nvSpPr>
        <p:spPr>
          <a:xfrm>
            <a:off x="1069848" y="1828800"/>
            <a:ext cx="4596232" cy="256032"/>
          </a:xfrm>
          <a:prstGeom prst="rect">
            <a:avLst/>
          </a:prstGeom>
          <a:noFill/>
          <a:ln/>
        </p:spPr>
        <p:txBody>
          <a:bodyPr wrap="square" lIns="0" tIns="0" rIns="0" bIns="0" rtlCol="0" anchor="ctr"/>
          <a:lstStyle/>
          <a:p>
            <a:pPr indent="0" marL="0">
              <a:buNone/>
            </a:pPr>
            <a:r>
              <a:rPr lang="en-US" sz="900" b="1" spc="180" kern="0" dirty="0">
                <a:solidFill>
                  <a:srgbClr val="8A9099"/>
                </a:solidFill>
                <a:latin typeface="Calibri" pitchFamily="34" charset="0"/>
                <a:ea typeface="Calibri" pitchFamily="34" charset="-122"/>
                <a:cs typeface="Calibri" pitchFamily="34" charset="-120"/>
              </a:rPr>
              <a:t>EVERYONE ELSE</a:t>
            </a:r>
            <a:endParaRPr lang="en-US" sz="900" dirty="0"/>
          </a:p>
        </p:txBody>
      </p:sp>
      <p:sp>
        <p:nvSpPr>
          <p:cNvPr id="6" name="Text 4"/>
          <p:cNvSpPr/>
          <p:nvPr/>
        </p:nvSpPr>
        <p:spPr>
          <a:xfrm>
            <a:off x="1069848" y="2121408"/>
            <a:ext cx="4596232" cy="420624"/>
          </a:xfrm>
          <a:prstGeom prst="rect">
            <a:avLst/>
          </a:prstGeom>
          <a:noFill/>
          <a:ln/>
        </p:spPr>
        <p:txBody>
          <a:bodyPr wrap="square" lIns="0" tIns="0" rIns="0" bIns="0" rtlCol="0" anchor="ctr"/>
          <a:lstStyle/>
          <a:p>
            <a:pPr indent="0" marL="0">
              <a:buNone/>
            </a:pPr>
            <a:r>
              <a:rPr lang="en-US" sz="2000" b="1" dirty="0">
                <a:solidFill>
                  <a:srgbClr val="14181D"/>
                </a:solidFill>
                <a:latin typeface="Cambria" pitchFamily="34" charset="0"/>
                <a:ea typeface="Cambria" pitchFamily="34" charset="-122"/>
                <a:cs typeface="Cambria" pitchFamily="34" charset="-120"/>
              </a:rPr>
              <a:t>Classifieds business</a:t>
            </a:r>
            <a:endParaRPr lang="en-US" sz="2000" dirty="0"/>
          </a:p>
        </p:txBody>
      </p:sp>
      <p:sp>
        <p:nvSpPr>
          <p:cNvPr id="7" name="Text 5"/>
          <p:cNvSpPr/>
          <p:nvPr/>
        </p:nvSpPr>
        <p:spPr>
          <a:xfrm>
            <a:off x="1069848" y="2651760"/>
            <a:ext cx="4596232" cy="13716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55C64"/>
                </a:solidFill>
                <a:latin typeface="Calibri" pitchFamily="34" charset="0"/>
                <a:ea typeface="Calibri" pitchFamily="34" charset="-122"/>
                <a:cs typeface="Calibri" pitchFamily="34" charset="-120"/>
              </a:rPr>
              <a:t>Answers “what's available”</a:t>
            </a:r>
            <a:endParaRPr lang="en-US" sz="1300" dirty="0"/>
          </a:p>
          <a:p>
            <a:pPr marL="342900" indent="-342900">
              <a:spcAft>
                <a:spcPts val="800"/>
              </a:spcAft>
              <a:buSzPct val="100000"/>
              <a:buChar char="•"/>
            </a:pPr>
            <a:r>
              <a:rPr lang="en-US" sz="1300" dirty="0">
                <a:solidFill>
                  <a:srgbClr val="555C64"/>
                </a:solidFill>
                <a:latin typeface="Calibri" pitchFamily="34" charset="0"/>
                <a:ea typeface="Calibri" pitchFamily="34" charset="-122"/>
                <a:cs typeface="Calibri" pitchFamily="34" charset="-120"/>
              </a:rPr>
              <a:t>Monetises by reselling your attention</a:t>
            </a:r>
            <a:endParaRPr lang="en-US" sz="1300" dirty="0"/>
          </a:p>
          <a:p>
            <a:pPr marL="342900" indent="-342900">
              <a:spcAft>
                <a:spcPts val="800"/>
              </a:spcAft>
              <a:buSzPct val="100000"/>
              <a:buChar char="•"/>
            </a:pPr>
            <a:r>
              <a:rPr lang="en-US" sz="1300" dirty="0">
                <a:solidFill>
                  <a:srgbClr val="555C64"/>
                </a:solidFill>
                <a:latin typeface="Calibri" pitchFamily="34" charset="0"/>
                <a:ea typeface="Calibri" pitchFamily="34" charset="-122"/>
                <a:cs typeface="Calibri" pitchFamily="34" charset="-120"/>
              </a:rPr>
              <a:t>Wins on volume and ad spend</a:t>
            </a:r>
            <a:endParaRPr lang="en-US" sz="1300" dirty="0"/>
          </a:p>
          <a:p>
            <a:pPr marL="342900" indent="-342900">
              <a:spcAft>
                <a:spcPts val="800"/>
              </a:spcAft>
              <a:buSzPct val="100000"/>
              <a:buChar char="•"/>
            </a:pPr>
            <a:r>
              <a:rPr lang="en-US" sz="1300" dirty="0">
                <a:solidFill>
                  <a:srgbClr val="555C64"/>
                </a:solidFill>
                <a:latin typeface="Calibri" pitchFamily="34" charset="0"/>
                <a:ea typeface="Calibri" pitchFamily="34" charset="-122"/>
                <a:cs typeface="Calibri" pitchFamily="34" charset="-120"/>
              </a:rPr>
              <a:t>The buyer is the product</a:t>
            </a:r>
            <a:endParaRPr lang="en-US" sz="1300" dirty="0"/>
          </a:p>
        </p:txBody>
      </p:sp>
      <p:sp>
        <p:nvSpPr>
          <p:cNvPr id="8" name="Shape 6"/>
          <p:cNvSpPr/>
          <p:nvPr/>
        </p:nvSpPr>
        <p:spPr>
          <a:xfrm>
            <a:off x="6233008" y="1591056"/>
            <a:ext cx="5181448" cy="2651760"/>
          </a:xfrm>
          <a:prstGeom prst="rect">
            <a:avLst/>
          </a:prstGeom>
          <a:solidFill>
            <a:srgbClr val="14181D"/>
          </a:solidFill>
          <a:ln/>
        </p:spPr>
      </p:sp>
      <p:sp>
        <p:nvSpPr>
          <p:cNvPr id="9" name="Text 7"/>
          <p:cNvSpPr/>
          <p:nvPr/>
        </p:nvSpPr>
        <p:spPr>
          <a:xfrm>
            <a:off x="6525616" y="1828800"/>
            <a:ext cx="4596232" cy="256032"/>
          </a:xfrm>
          <a:prstGeom prst="rect">
            <a:avLst/>
          </a:prstGeom>
          <a:noFill/>
          <a:ln/>
        </p:spPr>
        <p:txBody>
          <a:bodyPr wrap="square" lIns="0" tIns="0" rIns="0" bIns="0" rtlCol="0" anchor="ctr"/>
          <a:lstStyle/>
          <a:p>
            <a:pPr indent="0" marL="0">
              <a:buNone/>
            </a:pPr>
            <a:r>
              <a:rPr lang="en-US" sz="900" b="1" spc="180" kern="0" dirty="0">
                <a:solidFill>
                  <a:srgbClr val="D9B061"/>
                </a:solidFill>
                <a:latin typeface="Calibri" pitchFamily="34" charset="0"/>
                <a:ea typeface="Calibri" pitchFamily="34" charset="-122"/>
                <a:cs typeface="Calibri" pitchFamily="34" charset="-120"/>
              </a:rPr>
              <a:t>OTHO</a:t>
            </a:r>
            <a:endParaRPr lang="en-US" sz="900" dirty="0"/>
          </a:p>
        </p:txBody>
      </p:sp>
      <p:sp>
        <p:nvSpPr>
          <p:cNvPr id="10" name="Text 8"/>
          <p:cNvSpPr/>
          <p:nvPr/>
        </p:nvSpPr>
        <p:spPr>
          <a:xfrm>
            <a:off x="6525616" y="2121408"/>
            <a:ext cx="4596232" cy="42062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Research business</a:t>
            </a:r>
            <a:endParaRPr lang="en-US" sz="2000" dirty="0"/>
          </a:p>
        </p:txBody>
      </p:sp>
      <p:sp>
        <p:nvSpPr>
          <p:cNvPr id="11" name="Text 9"/>
          <p:cNvSpPr/>
          <p:nvPr/>
        </p:nvSpPr>
        <p:spPr>
          <a:xfrm>
            <a:off x="6525616" y="2651760"/>
            <a:ext cx="4596232" cy="13716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6BEC7"/>
                </a:solidFill>
                <a:latin typeface="Calibri" pitchFamily="34" charset="0"/>
                <a:ea typeface="Calibri" pitchFamily="34" charset="-122"/>
                <a:cs typeface="Calibri" pitchFamily="34" charset="-120"/>
              </a:rPr>
              <a:t>Answers “what should I buy”</a:t>
            </a:r>
            <a:endParaRPr lang="en-US" sz="1300" dirty="0"/>
          </a:p>
          <a:p>
            <a:pPr marL="342900" indent="-342900">
              <a:spcAft>
                <a:spcPts val="800"/>
              </a:spcAft>
              <a:buSzPct val="100000"/>
              <a:buChar char="•"/>
            </a:pPr>
            <a:r>
              <a:rPr lang="en-US" sz="1300" dirty="0">
                <a:solidFill>
                  <a:srgbClr val="B6BEC7"/>
                </a:solidFill>
                <a:latin typeface="Calibri" pitchFamily="34" charset="0"/>
                <a:ea typeface="Calibri" pitchFamily="34" charset="-122"/>
                <a:cs typeface="Calibri" pitchFamily="34" charset="-120"/>
              </a:rPr>
              <a:t>Monetises intent it has already earned</a:t>
            </a:r>
            <a:endParaRPr lang="en-US" sz="1300" dirty="0"/>
          </a:p>
          <a:p>
            <a:pPr marL="342900" indent="-342900">
              <a:spcAft>
                <a:spcPts val="800"/>
              </a:spcAft>
              <a:buSzPct val="100000"/>
              <a:buChar char="•"/>
            </a:pPr>
            <a:r>
              <a:rPr lang="en-US" sz="1300" dirty="0">
                <a:solidFill>
                  <a:srgbClr val="B6BEC7"/>
                </a:solidFill>
                <a:latin typeface="Calibri" pitchFamily="34" charset="0"/>
                <a:ea typeface="Calibri" pitchFamily="34" charset="-122"/>
                <a:cs typeface="Calibri" pitchFamily="34" charset="-120"/>
              </a:rPr>
              <a:t>Wins on trust and depth</a:t>
            </a:r>
            <a:endParaRPr lang="en-US" sz="1300" dirty="0"/>
          </a:p>
          <a:p>
            <a:pPr marL="342900" indent="-342900">
              <a:spcAft>
                <a:spcPts val="800"/>
              </a:spcAft>
              <a:buSzPct val="100000"/>
              <a:buChar char="•"/>
            </a:pPr>
            <a:r>
              <a:rPr lang="en-US" sz="1300" dirty="0">
                <a:solidFill>
                  <a:srgbClr val="B6BEC7"/>
                </a:solidFill>
                <a:latin typeface="Calibri" pitchFamily="34" charset="0"/>
                <a:ea typeface="Calibri" pitchFamily="34" charset="-122"/>
                <a:cs typeface="Calibri" pitchFamily="34" charset="-120"/>
              </a:rPr>
              <a:t>The buyer is the customer</a:t>
            </a:r>
            <a:endParaRPr lang="en-US" sz="1300" dirty="0"/>
          </a:p>
        </p:txBody>
      </p:sp>
      <p:sp>
        <p:nvSpPr>
          <p:cNvPr id="12" name="Text 10"/>
          <p:cNvSpPr/>
          <p:nvPr/>
        </p:nvSpPr>
        <p:spPr>
          <a:xfrm>
            <a:off x="777240" y="4553712"/>
            <a:ext cx="10637215" cy="475488"/>
          </a:xfrm>
          <a:prstGeom prst="rect">
            <a:avLst/>
          </a:prstGeom>
          <a:noFill/>
          <a:ln/>
        </p:spPr>
        <p:txBody>
          <a:bodyPr wrap="square" lIns="0" tIns="0" rIns="0" bIns="0" rtlCol="0" anchor="ctr"/>
          <a:lstStyle/>
          <a:p>
            <a:pPr indent="0" marL="0">
              <a:buNone/>
            </a:pPr>
            <a:r>
              <a:rPr lang="en-US" sz="2300" b="1" spc="-40" kern="0" dirty="0">
                <a:solidFill>
                  <a:srgbClr val="14181D"/>
                </a:solidFill>
                <a:latin typeface="Cambria" pitchFamily="34" charset="0"/>
                <a:ea typeface="Cambria" pitchFamily="34" charset="-122"/>
                <a:cs typeface="Cambria" pitchFamily="34" charset="-120"/>
              </a:rPr>
              <a:t>In Indian real estate, the research layer is empty.</a:t>
            </a:r>
            <a:endParaRPr lang="en-US" sz="2300" dirty="0"/>
          </a:p>
        </p:txBody>
      </p:sp>
      <p:sp>
        <p:nvSpPr>
          <p:cNvPr id="13" name="Text 11"/>
          <p:cNvSpPr/>
          <p:nvPr/>
        </p:nvSpPr>
        <p:spPr>
          <a:xfrm>
            <a:off x="777240" y="5102352"/>
            <a:ext cx="10637215" cy="640080"/>
          </a:xfrm>
          <a:prstGeom prst="rect">
            <a:avLst/>
          </a:prstGeom>
          <a:noFill/>
          <a:ln/>
        </p:spPr>
        <p:txBody>
          <a:bodyPr wrap="square" lIns="0" tIns="0" rIns="0" bIns="0" rtlCol="0" anchor="ctr"/>
          <a:lstStyle/>
          <a:p>
            <a:pPr indent="0" marL="0">
              <a:lnSpc>
                <a:spcPts val="2300"/>
              </a:lnSpc>
              <a:buNone/>
            </a:pPr>
            <a:r>
              <a:rPr lang="en-US" sz="1500" dirty="0">
                <a:solidFill>
                  <a:srgbClr val="555C64"/>
                </a:solidFill>
                <a:latin typeface="Calibri" pitchFamily="34" charset="0"/>
                <a:ea typeface="Calibri" pitchFamily="34" charset="-122"/>
                <a:cs typeface="Calibri" pitchFamily="34" charset="-120"/>
              </a:rPr>
              <a:t>No price estimate, no expert project reviews, no honest comparison engine, no resident ratings. Every player is fighting over the classifieds half of the market.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1874520"/>
            <a:ext cx="10424160" cy="1371600"/>
          </a:xfrm>
          <a:prstGeom prst="rect">
            <a:avLst/>
          </a:prstGeom>
          <a:noFill/>
          <a:ln/>
        </p:spPr>
        <p:txBody>
          <a:bodyPr wrap="square" lIns="0" tIns="0" rIns="0" bIns="0" rtlCol="0" anchor="ctr"/>
          <a:lstStyle/>
          <a:p>
            <a:pPr indent="0" marL="0">
              <a:lnSpc>
                <a:spcPts val="4800"/>
              </a:lnSpc>
              <a:buNone/>
            </a:pPr>
            <a:r>
              <a:rPr lang="en-US" sz="3400" dirty="0">
                <a:solidFill>
                  <a:srgbClr val="79818A"/>
                </a:solidFill>
                <a:latin typeface="Cambria" pitchFamily="34" charset="0"/>
                <a:ea typeface="Cambria" pitchFamily="34" charset="-122"/>
                <a:cs typeface="Cambria" pitchFamily="34" charset="-120"/>
              </a:rPr>
              <a:t>Every property platform tells you</a:t>
            </a:r>
            <a:endParaRPr lang="en-US" sz="3400" dirty="0"/>
          </a:p>
          <a:p>
            <a:pPr indent="0" marL="0">
              <a:lnSpc>
                <a:spcPts val="4800"/>
              </a:lnSpc>
              <a:buNone/>
            </a:pPr>
            <a:r>
              <a:rPr lang="en-US" sz="3400" dirty="0">
                <a:solidFill>
                  <a:srgbClr val="79818A"/>
                </a:solidFill>
                <a:latin typeface="Cambria" pitchFamily="34" charset="0"/>
                <a:ea typeface="Cambria" pitchFamily="34" charset="-122"/>
                <a:cs typeface="Cambria" pitchFamily="34" charset="-120"/>
              </a:rPr>
              <a:t>what's for sale.</a:t>
            </a:r>
            <a:endParaRPr lang="en-US" sz="3400" dirty="0"/>
          </a:p>
        </p:txBody>
      </p:sp>
      <p:sp>
        <p:nvSpPr>
          <p:cNvPr id="3" name="Text 1"/>
          <p:cNvSpPr/>
          <p:nvPr/>
        </p:nvSpPr>
        <p:spPr>
          <a:xfrm>
            <a:off x="777240" y="3429000"/>
            <a:ext cx="10424160" cy="1554480"/>
          </a:xfrm>
          <a:prstGeom prst="rect">
            <a:avLst/>
          </a:prstGeom>
          <a:noFill/>
          <a:ln/>
        </p:spPr>
        <p:txBody>
          <a:bodyPr wrap="square" lIns="0" tIns="0" rIns="0" bIns="0" rtlCol="0" anchor="ctr"/>
          <a:lstStyle/>
          <a:p>
            <a:pPr indent="0" marL="0">
              <a:lnSpc>
                <a:spcPts val="6000"/>
              </a:lnSpc>
              <a:buNone/>
            </a:pPr>
            <a:r>
              <a:rPr lang="en-US" sz="4800" b="1" spc="-120" kern="0" dirty="0">
                <a:solidFill>
                  <a:srgbClr val="FFFFFF"/>
                </a:solidFill>
                <a:latin typeface="Cambria" pitchFamily="34" charset="0"/>
                <a:ea typeface="Cambria" pitchFamily="34" charset="-122"/>
                <a:cs typeface="Cambria" pitchFamily="34" charset="-120"/>
              </a:rPr>
              <a:t>OTHO tells you what's</a:t>
            </a:r>
            <a:endParaRPr lang="en-US" sz="4800" dirty="0"/>
          </a:p>
          <a:p>
            <a:pPr indent="0" marL="0">
              <a:lnSpc>
                <a:spcPts val="6000"/>
              </a:lnSpc>
              <a:buNone/>
            </a:pPr>
            <a:r>
              <a:rPr lang="en-US" sz="4800" b="1" spc="-120" kern="0" dirty="0">
                <a:solidFill>
                  <a:srgbClr val="FFFFFF"/>
                </a:solidFill>
                <a:latin typeface="Cambria" pitchFamily="34" charset="0"/>
                <a:ea typeface="Cambria" pitchFamily="34" charset="-122"/>
                <a:cs typeface="Cambria" pitchFamily="34" charset="-120"/>
              </a:rPr>
              <a:t>worth buying.</a:t>
            </a:r>
            <a:endParaRPr lang="en-US" sz="4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The signature screen</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Two projects. One is 5% cheaper on the board, and 2% dearer in reality.</a:t>
            </a:r>
            <a:endParaRPr lang="en-US" sz="1550" dirty="0"/>
          </a:p>
        </p:txBody>
      </p:sp>
      <p:sp>
        <p:nvSpPr>
          <p:cNvPr id="5" name="Shape 3"/>
          <p:cNvSpPr/>
          <p:nvPr/>
        </p:nvSpPr>
        <p:spPr>
          <a:xfrm>
            <a:off x="777240" y="2066544"/>
            <a:ext cx="4114800" cy="475488"/>
          </a:xfrm>
          <a:prstGeom prst="rect">
            <a:avLst/>
          </a:prstGeom>
          <a:solidFill>
            <a:srgbClr val="14181D"/>
          </a:solidFill>
          <a:ln/>
        </p:spPr>
      </p:sp>
      <p:sp>
        <p:nvSpPr>
          <p:cNvPr id="6" name="Text 4"/>
          <p:cNvSpPr/>
          <p:nvPr/>
        </p:nvSpPr>
        <p:spPr>
          <a:xfrm>
            <a:off x="1014984" y="2066544"/>
            <a:ext cx="3703320" cy="475488"/>
          </a:xfrm>
          <a:prstGeom prst="rect">
            <a:avLst/>
          </a:prstGeom>
          <a:noFill/>
          <a:ln/>
        </p:spPr>
        <p:txBody>
          <a:bodyPr wrap="square" lIns="0" tIns="0" rIns="0" bIns="0" rtlCol="0" anchor="ctr"/>
          <a:lstStyle/>
          <a:p>
            <a:pPr indent="0" marL="0">
              <a:buNone/>
            </a:pPr>
            <a:endParaRPr lang="en-US" sz="1250" dirty="0"/>
          </a:p>
        </p:txBody>
      </p:sp>
      <p:sp>
        <p:nvSpPr>
          <p:cNvPr id="7" name="Shape 5"/>
          <p:cNvSpPr/>
          <p:nvPr/>
        </p:nvSpPr>
        <p:spPr>
          <a:xfrm>
            <a:off x="4937760" y="2066544"/>
            <a:ext cx="3192628" cy="475488"/>
          </a:xfrm>
          <a:prstGeom prst="rect">
            <a:avLst/>
          </a:prstGeom>
          <a:solidFill>
            <a:srgbClr val="14181D"/>
          </a:solidFill>
          <a:ln/>
        </p:spPr>
      </p:sp>
      <p:sp>
        <p:nvSpPr>
          <p:cNvPr id="8" name="Text 6"/>
          <p:cNvSpPr/>
          <p:nvPr/>
        </p:nvSpPr>
        <p:spPr>
          <a:xfrm>
            <a:off x="4937760" y="2066544"/>
            <a:ext cx="319262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Project A</a:t>
            </a:r>
            <a:endParaRPr lang="en-US" sz="1200" dirty="0"/>
          </a:p>
        </p:txBody>
      </p:sp>
      <p:sp>
        <p:nvSpPr>
          <p:cNvPr id="9" name="Shape 7"/>
          <p:cNvSpPr/>
          <p:nvPr/>
        </p:nvSpPr>
        <p:spPr>
          <a:xfrm>
            <a:off x="8176108" y="2066544"/>
            <a:ext cx="3238348" cy="475488"/>
          </a:xfrm>
          <a:prstGeom prst="rect">
            <a:avLst/>
          </a:prstGeom>
          <a:solidFill>
            <a:srgbClr val="14181D"/>
          </a:solidFill>
          <a:ln/>
        </p:spPr>
      </p:sp>
      <p:sp>
        <p:nvSpPr>
          <p:cNvPr id="10" name="Text 8"/>
          <p:cNvSpPr/>
          <p:nvPr/>
        </p:nvSpPr>
        <p:spPr>
          <a:xfrm>
            <a:off x="8176108" y="2066544"/>
            <a:ext cx="323834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Project B</a:t>
            </a:r>
            <a:endParaRPr lang="en-US" sz="1200" dirty="0"/>
          </a:p>
        </p:txBody>
      </p:sp>
      <p:sp>
        <p:nvSpPr>
          <p:cNvPr id="11" name="Shape 9"/>
          <p:cNvSpPr/>
          <p:nvPr/>
        </p:nvSpPr>
        <p:spPr>
          <a:xfrm>
            <a:off x="777240" y="2587752"/>
            <a:ext cx="4114800" cy="475488"/>
          </a:xfrm>
          <a:prstGeom prst="rect">
            <a:avLst/>
          </a:prstGeom>
          <a:solidFill>
            <a:srgbClr val="FFFFFF"/>
          </a:solidFill>
          <a:ln/>
        </p:spPr>
      </p:sp>
      <p:sp>
        <p:nvSpPr>
          <p:cNvPr id="12" name="Text 10"/>
          <p:cNvSpPr/>
          <p:nvPr/>
        </p:nvSpPr>
        <p:spPr>
          <a:xfrm>
            <a:off x="1014984" y="2587752"/>
            <a:ext cx="3703320" cy="47548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Advertised rate</a:t>
            </a:r>
            <a:endParaRPr lang="en-US" sz="1250" dirty="0"/>
          </a:p>
        </p:txBody>
      </p:sp>
      <p:sp>
        <p:nvSpPr>
          <p:cNvPr id="13" name="Shape 11"/>
          <p:cNvSpPr/>
          <p:nvPr/>
        </p:nvSpPr>
        <p:spPr>
          <a:xfrm>
            <a:off x="4937760" y="2587752"/>
            <a:ext cx="3192628" cy="475488"/>
          </a:xfrm>
          <a:prstGeom prst="rect">
            <a:avLst/>
          </a:prstGeom>
          <a:solidFill>
            <a:srgbClr val="E6F0EA"/>
          </a:solidFill>
          <a:ln/>
        </p:spPr>
      </p:sp>
      <p:sp>
        <p:nvSpPr>
          <p:cNvPr id="14" name="Text 12"/>
          <p:cNvSpPr/>
          <p:nvPr/>
        </p:nvSpPr>
        <p:spPr>
          <a:xfrm>
            <a:off x="4937760" y="2587752"/>
            <a:ext cx="3192628" cy="47548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₹9,483</a:t>
            </a:r>
            <a:endParaRPr lang="en-US" sz="1350" dirty="0"/>
          </a:p>
        </p:txBody>
      </p:sp>
      <p:sp>
        <p:nvSpPr>
          <p:cNvPr id="15" name="Shape 13"/>
          <p:cNvSpPr/>
          <p:nvPr/>
        </p:nvSpPr>
        <p:spPr>
          <a:xfrm>
            <a:off x="8176108" y="2587752"/>
            <a:ext cx="3238348" cy="475488"/>
          </a:xfrm>
          <a:prstGeom prst="rect">
            <a:avLst/>
          </a:prstGeom>
          <a:solidFill>
            <a:srgbClr val="FFFFFF"/>
          </a:solidFill>
          <a:ln/>
        </p:spPr>
      </p:sp>
      <p:sp>
        <p:nvSpPr>
          <p:cNvPr id="16" name="Text 14"/>
          <p:cNvSpPr/>
          <p:nvPr/>
        </p:nvSpPr>
        <p:spPr>
          <a:xfrm>
            <a:off x="8176108" y="2587752"/>
            <a:ext cx="3238348" cy="47548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₹9,994</a:t>
            </a:r>
            <a:endParaRPr lang="en-US" sz="1350" dirty="0"/>
          </a:p>
        </p:txBody>
      </p:sp>
      <p:sp>
        <p:nvSpPr>
          <p:cNvPr id="17" name="Shape 15"/>
          <p:cNvSpPr/>
          <p:nvPr/>
        </p:nvSpPr>
        <p:spPr>
          <a:xfrm>
            <a:off x="777240" y="3108960"/>
            <a:ext cx="4114800" cy="475488"/>
          </a:xfrm>
          <a:prstGeom prst="rect">
            <a:avLst/>
          </a:prstGeom>
          <a:solidFill>
            <a:srgbClr val="FFFFFF"/>
          </a:solidFill>
          <a:ln/>
        </p:spPr>
      </p:sp>
      <p:sp>
        <p:nvSpPr>
          <p:cNvPr id="18" name="Text 16"/>
          <p:cNvSpPr/>
          <p:nvPr/>
        </p:nvSpPr>
        <p:spPr>
          <a:xfrm>
            <a:off x="1014984" y="3108960"/>
            <a:ext cx="3703320" cy="47548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RERA carpet area</a:t>
            </a:r>
            <a:endParaRPr lang="en-US" sz="1250" dirty="0"/>
          </a:p>
        </p:txBody>
      </p:sp>
      <p:sp>
        <p:nvSpPr>
          <p:cNvPr id="19" name="Shape 17"/>
          <p:cNvSpPr/>
          <p:nvPr/>
        </p:nvSpPr>
        <p:spPr>
          <a:xfrm>
            <a:off x="4937760" y="3108960"/>
            <a:ext cx="3192628" cy="475488"/>
          </a:xfrm>
          <a:prstGeom prst="rect">
            <a:avLst/>
          </a:prstGeom>
          <a:solidFill>
            <a:srgbClr val="FFFFFF"/>
          </a:solidFill>
          <a:ln/>
        </p:spPr>
      </p:sp>
      <p:sp>
        <p:nvSpPr>
          <p:cNvPr id="20" name="Text 18"/>
          <p:cNvSpPr/>
          <p:nvPr/>
        </p:nvSpPr>
        <p:spPr>
          <a:xfrm>
            <a:off x="4937760" y="3108960"/>
            <a:ext cx="3192628" cy="47548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1,842 sq ft</a:t>
            </a:r>
            <a:endParaRPr lang="en-US" sz="1350" dirty="0"/>
          </a:p>
        </p:txBody>
      </p:sp>
      <p:sp>
        <p:nvSpPr>
          <p:cNvPr id="21" name="Shape 19"/>
          <p:cNvSpPr/>
          <p:nvPr/>
        </p:nvSpPr>
        <p:spPr>
          <a:xfrm>
            <a:off x="8176108" y="3108960"/>
            <a:ext cx="3238348" cy="475488"/>
          </a:xfrm>
          <a:prstGeom prst="rect">
            <a:avLst/>
          </a:prstGeom>
          <a:solidFill>
            <a:srgbClr val="FFFFFF"/>
          </a:solidFill>
          <a:ln/>
        </p:spPr>
      </p:sp>
      <p:sp>
        <p:nvSpPr>
          <p:cNvPr id="22" name="Text 20"/>
          <p:cNvSpPr/>
          <p:nvPr/>
        </p:nvSpPr>
        <p:spPr>
          <a:xfrm>
            <a:off x="8176108" y="3108960"/>
            <a:ext cx="3238348" cy="47548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1,861 sq ft</a:t>
            </a:r>
            <a:endParaRPr lang="en-US" sz="1350" dirty="0"/>
          </a:p>
        </p:txBody>
      </p:sp>
      <p:sp>
        <p:nvSpPr>
          <p:cNvPr id="23" name="Shape 21"/>
          <p:cNvSpPr/>
          <p:nvPr/>
        </p:nvSpPr>
        <p:spPr>
          <a:xfrm>
            <a:off x="777240" y="3630168"/>
            <a:ext cx="4114800" cy="475488"/>
          </a:xfrm>
          <a:prstGeom prst="rect">
            <a:avLst/>
          </a:prstGeom>
          <a:solidFill>
            <a:srgbClr val="FFFFFF"/>
          </a:solidFill>
          <a:ln/>
        </p:spPr>
      </p:sp>
      <p:sp>
        <p:nvSpPr>
          <p:cNvPr id="24" name="Text 22"/>
          <p:cNvSpPr/>
          <p:nvPr/>
        </p:nvSpPr>
        <p:spPr>
          <a:xfrm>
            <a:off x="1014984" y="3630168"/>
            <a:ext cx="3703320" cy="47548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Loading factor</a:t>
            </a:r>
            <a:endParaRPr lang="en-US" sz="1250" dirty="0"/>
          </a:p>
        </p:txBody>
      </p:sp>
      <p:sp>
        <p:nvSpPr>
          <p:cNvPr id="25" name="Shape 23"/>
          <p:cNvSpPr/>
          <p:nvPr/>
        </p:nvSpPr>
        <p:spPr>
          <a:xfrm>
            <a:off x="4937760" y="3630168"/>
            <a:ext cx="3192628" cy="475488"/>
          </a:xfrm>
          <a:prstGeom prst="rect">
            <a:avLst/>
          </a:prstGeom>
          <a:solidFill>
            <a:srgbClr val="F8E9E7"/>
          </a:solidFill>
          <a:ln/>
        </p:spPr>
      </p:sp>
      <p:sp>
        <p:nvSpPr>
          <p:cNvPr id="26" name="Text 24"/>
          <p:cNvSpPr/>
          <p:nvPr/>
        </p:nvSpPr>
        <p:spPr>
          <a:xfrm>
            <a:off x="4937760" y="3630168"/>
            <a:ext cx="3192628" cy="475488"/>
          </a:xfrm>
          <a:prstGeom prst="rect">
            <a:avLst/>
          </a:prstGeom>
          <a:noFill/>
          <a:ln/>
        </p:spPr>
        <p:txBody>
          <a:bodyPr wrap="square" lIns="0" tIns="0" rIns="0" bIns="0" rtlCol="0" anchor="ctr"/>
          <a:lstStyle/>
          <a:p>
            <a:pPr algn="ctr" indent="0" marL="0">
              <a:buNone/>
            </a:pPr>
            <a:r>
              <a:rPr lang="en-US" sz="1350" b="1" dirty="0">
                <a:solidFill>
                  <a:srgbClr val="A8382C"/>
                </a:solidFill>
                <a:latin typeface="Cambria" pitchFamily="34" charset="0"/>
                <a:ea typeface="Cambria" pitchFamily="34" charset="-122"/>
                <a:cs typeface="Cambria" pitchFamily="34" charset="-120"/>
              </a:rPr>
              <a:t>44%</a:t>
            </a:r>
            <a:endParaRPr lang="en-US" sz="1350" dirty="0"/>
          </a:p>
        </p:txBody>
      </p:sp>
      <p:sp>
        <p:nvSpPr>
          <p:cNvPr id="27" name="Shape 25"/>
          <p:cNvSpPr/>
          <p:nvPr/>
        </p:nvSpPr>
        <p:spPr>
          <a:xfrm>
            <a:off x="8176108" y="3630168"/>
            <a:ext cx="3238348" cy="475488"/>
          </a:xfrm>
          <a:prstGeom prst="rect">
            <a:avLst/>
          </a:prstGeom>
          <a:solidFill>
            <a:srgbClr val="E6F0EA"/>
          </a:solidFill>
          <a:ln/>
        </p:spPr>
      </p:sp>
      <p:sp>
        <p:nvSpPr>
          <p:cNvPr id="28" name="Text 26"/>
          <p:cNvSpPr/>
          <p:nvPr/>
        </p:nvSpPr>
        <p:spPr>
          <a:xfrm>
            <a:off x="8176108" y="3630168"/>
            <a:ext cx="3238348" cy="47548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36%</a:t>
            </a:r>
            <a:endParaRPr lang="en-US" sz="1350" dirty="0"/>
          </a:p>
        </p:txBody>
      </p:sp>
      <p:sp>
        <p:nvSpPr>
          <p:cNvPr id="29" name="Shape 27"/>
          <p:cNvSpPr/>
          <p:nvPr/>
        </p:nvSpPr>
        <p:spPr>
          <a:xfrm>
            <a:off x="777240" y="4151376"/>
            <a:ext cx="4114800" cy="475488"/>
          </a:xfrm>
          <a:prstGeom prst="rect">
            <a:avLst/>
          </a:prstGeom>
          <a:solidFill>
            <a:srgbClr val="FFFFFF"/>
          </a:solidFill>
          <a:ln/>
        </p:spPr>
      </p:sp>
      <p:sp>
        <p:nvSpPr>
          <p:cNvPr id="30" name="Text 28"/>
          <p:cNvSpPr/>
          <p:nvPr/>
        </p:nvSpPr>
        <p:spPr>
          <a:xfrm>
            <a:off x="1014984" y="4151376"/>
            <a:ext cx="3703320" cy="47548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Real rate on carpet</a:t>
            </a:r>
            <a:endParaRPr lang="en-US" sz="1250" dirty="0"/>
          </a:p>
        </p:txBody>
      </p:sp>
      <p:sp>
        <p:nvSpPr>
          <p:cNvPr id="31" name="Shape 29"/>
          <p:cNvSpPr/>
          <p:nvPr/>
        </p:nvSpPr>
        <p:spPr>
          <a:xfrm>
            <a:off x="4937760" y="4151376"/>
            <a:ext cx="3192628" cy="475488"/>
          </a:xfrm>
          <a:prstGeom prst="rect">
            <a:avLst/>
          </a:prstGeom>
          <a:solidFill>
            <a:srgbClr val="F8E9E7"/>
          </a:solidFill>
          <a:ln/>
        </p:spPr>
      </p:sp>
      <p:sp>
        <p:nvSpPr>
          <p:cNvPr id="32" name="Text 30"/>
          <p:cNvSpPr/>
          <p:nvPr/>
        </p:nvSpPr>
        <p:spPr>
          <a:xfrm>
            <a:off x="4937760" y="4151376"/>
            <a:ext cx="3192628" cy="475488"/>
          </a:xfrm>
          <a:prstGeom prst="rect">
            <a:avLst/>
          </a:prstGeom>
          <a:noFill/>
          <a:ln/>
        </p:spPr>
        <p:txBody>
          <a:bodyPr wrap="square" lIns="0" tIns="0" rIns="0" bIns="0" rtlCol="0" anchor="ctr"/>
          <a:lstStyle/>
          <a:p>
            <a:pPr algn="ctr" indent="0" marL="0">
              <a:buNone/>
            </a:pPr>
            <a:r>
              <a:rPr lang="en-US" sz="1350" b="1" dirty="0">
                <a:solidFill>
                  <a:srgbClr val="A8382C"/>
                </a:solidFill>
                <a:latin typeface="Cambria" pitchFamily="34" charset="0"/>
                <a:ea typeface="Cambria" pitchFamily="34" charset="-122"/>
                <a:cs typeface="Cambria" pitchFamily="34" charset="-120"/>
              </a:rPr>
              <a:t>₹13,720</a:t>
            </a:r>
            <a:endParaRPr lang="en-US" sz="1350" dirty="0"/>
          </a:p>
        </p:txBody>
      </p:sp>
      <p:sp>
        <p:nvSpPr>
          <p:cNvPr id="33" name="Shape 31"/>
          <p:cNvSpPr/>
          <p:nvPr/>
        </p:nvSpPr>
        <p:spPr>
          <a:xfrm>
            <a:off x="8176108" y="4151376"/>
            <a:ext cx="3238348" cy="475488"/>
          </a:xfrm>
          <a:prstGeom prst="rect">
            <a:avLst/>
          </a:prstGeom>
          <a:solidFill>
            <a:srgbClr val="E6F0EA"/>
          </a:solidFill>
          <a:ln/>
        </p:spPr>
      </p:sp>
      <p:sp>
        <p:nvSpPr>
          <p:cNvPr id="34" name="Text 32"/>
          <p:cNvSpPr/>
          <p:nvPr/>
        </p:nvSpPr>
        <p:spPr>
          <a:xfrm>
            <a:off x="8176108" y="4151376"/>
            <a:ext cx="3238348" cy="47548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₹13,440</a:t>
            </a:r>
            <a:endParaRPr lang="en-US" sz="1350" dirty="0"/>
          </a:p>
        </p:txBody>
      </p:sp>
      <p:sp>
        <p:nvSpPr>
          <p:cNvPr id="35" name="Shape 33"/>
          <p:cNvSpPr/>
          <p:nvPr/>
        </p:nvSpPr>
        <p:spPr>
          <a:xfrm>
            <a:off x="777240" y="4672584"/>
            <a:ext cx="4114800" cy="475488"/>
          </a:xfrm>
          <a:prstGeom prst="rect">
            <a:avLst/>
          </a:prstGeom>
          <a:solidFill>
            <a:srgbClr val="FFFFFF"/>
          </a:solidFill>
          <a:ln/>
        </p:spPr>
      </p:sp>
      <p:sp>
        <p:nvSpPr>
          <p:cNvPr id="36" name="Text 34"/>
          <p:cNvSpPr/>
          <p:nvPr/>
        </p:nvSpPr>
        <p:spPr>
          <a:xfrm>
            <a:off x="1014984" y="4672584"/>
            <a:ext cx="3703320" cy="47548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Land share per unit</a:t>
            </a:r>
            <a:endParaRPr lang="en-US" sz="1250" dirty="0"/>
          </a:p>
        </p:txBody>
      </p:sp>
      <p:sp>
        <p:nvSpPr>
          <p:cNvPr id="37" name="Shape 35"/>
          <p:cNvSpPr/>
          <p:nvPr/>
        </p:nvSpPr>
        <p:spPr>
          <a:xfrm>
            <a:off x="4937760" y="4672584"/>
            <a:ext cx="3192628" cy="475488"/>
          </a:xfrm>
          <a:prstGeom prst="rect">
            <a:avLst/>
          </a:prstGeom>
          <a:solidFill>
            <a:srgbClr val="F8E9E7"/>
          </a:solidFill>
          <a:ln/>
        </p:spPr>
      </p:sp>
      <p:sp>
        <p:nvSpPr>
          <p:cNvPr id="38" name="Text 36"/>
          <p:cNvSpPr/>
          <p:nvPr/>
        </p:nvSpPr>
        <p:spPr>
          <a:xfrm>
            <a:off x="4937760" y="4672584"/>
            <a:ext cx="3192628" cy="475488"/>
          </a:xfrm>
          <a:prstGeom prst="rect">
            <a:avLst/>
          </a:prstGeom>
          <a:noFill/>
          <a:ln/>
        </p:spPr>
        <p:txBody>
          <a:bodyPr wrap="square" lIns="0" tIns="0" rIns="0" bIns="0" rtlCol="0" anchor="ctr"/>
          <a:lstStyle/>
          <a:p>
            <a:pPr algn="ctr" indent="0" marL="0">
              <a:buNone/>
            </a:pPr>
            <a:r>
              <a:rPr lang="en-US" sz="1350" b="1" dirty="0">
                <a:solidFill>
                  <a:srgbClr val="A8382C"/>
                </a:solidFill>
                <a:latin typeface="Cambria" pitchFamily="34" charset="0"/>
                <a:ea typeface="Cambria" pitchFamily="34" charset="-122"/>
                <a:cs typeface="Cambria" pitchFamily="34" charset="-120"/>
              </a:rPr>
              <a:t>Lower</a:t>
            </a:r>
            <a:endParaRPr lang="en-US" sz="1350" dirty="0"/>
          </a:p>
        </p:txBody>
      </p:sp>
      <p:sp>
        <p:nvSpPr>
          <p:cNvPr id="39" name="Shape 37"/>
          <p:cNvSpPr/>
          <p:nvPr/>
        </p:nvSpPr>
        <p:spPr>
          <a:xfrm>
            <a:off x="8176108" y="4672584"/>
            <a:ext cx="3238348" cy="475488"/>
          </a:xfrm>
          <a:prstGeom prst="rect">
            <a:avLst/>
          </a:prstGeom>
          <a:solidFill>
            <a:srgbClr val="E6F0EA"/>
          </a:solidFill>
          <a:ln/>
        </p:spPr>
      </p:sp>
      <p:sp>
        <p:nvSpPr>
          <p:cNvPr id="40" name="Text 38"/>
          <p:cNvSpPr/>
          <p:nvPr/>
        </p:nvSpPr>
        <p:spPr>
          <a:xfrm>
            <a:off x="8176108" y="4672584"/>
            <a:ext cx="3238348" cy="47548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18% more</a:t>
            </a:r>
            <a:endParaRPr lang="en-US" sz="1350" dirty="0"/>
          </a:p>
        </p:txBody>
      </p:sp>
      <p:sp>
        <p:nvSpPr>
          <p:cNvPr id="41" name="Shape 39"/>
          <p:cNvSpPr/>
          <p:nvPr/>
        </p:nvSpPr>
        <p:spPr>
          <a:xfrm>
            <a:off x="777240" y="5193792"/>
            <a:ext cx="4114800" cy="475488"/>
          </a:xfrm>
          <a:prstGeom prst="rect">
            <a:avLst/>
          </a:prstGeom>
          <a:solidFill>
            <a:srgbClr val="FFFFFF"/>
          </a:solidFill>
          <a:ln/>
        </p:spPr>
      </p:sp>
      <p:sp>
        <p:nvSpPr>
          <p:cNvPr id="42" name="Text 40"/>
          <p:cNvSpPr/>
          <p:nvPr/>
        </p:nvSpPr>
        <p:spPr>
          <a:xfrm>
            <a:off x="1014984" y="5193792"/>
            <a:ext cx="3703320" cy="47548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OTHO verdict</a:t>
            </a:r>
            <a:endParaRPr lang="en-US" sz="1250" dirty="0"/>
          </a:p>
        </p:txBody>
      </p:sp>
      <p:sp>
        <p:nvSpPr>
          <p:cNvPr id="43" name="Shape 41"/>
          <p:cNvSpPr/>
          <p:nvPr/>
        </p:nvSpPr>
        <p:spPr>
          <a:xfrm>
            <a:off x="4937760" y="5193792"/>
            <a:ext cx="3192628" cy="475488"/>
          </a:xfrm>
          <a:prstGeom prst="rect">
            <a:avLst/>
          </a:prstGeom>
          <a:solidFill>
            <a:srgbClr val="F8E9E7"/>
          </a:solidFill>
          <a:ln/>
        </p:spPr>
      </p:sp>
      <p:sp>
        <p:nvSpPr>
          <p:cNvPr id="44" name="Text 42"/>
          <p:cNvSpPr/>
          <p:nvPr/>
        </p:nvSpPr>
        <p:spPr>
          <a:xfrm>
            <a:off x="4937760" y="5193792"/>
            <a:ext cx="3192628" cy="475488"/>
          </a:xfrm>
          <a:prstGeom prst="rect">
            <a:avLst/>
          </a:prstGeom>
          <a:noFill/>
          <a:ln/>
        </p:spPr>
        <p:txBody>
          <a:bodyPr wrap="square" lIns="0" tIns="0" rIns="0" bIns="0" rtlCol="0" anchor="ctr"/>
          <a:lstStyle/>
          <a:p>
            <a:pPr algn="ctr" indent="0" marL="0">
              <a:buNone/>
            </a:pPr>
            <a:r>
              <a:rPr lang="en-US" sz="1350" b="1" dirty="0">
                <a:solidFill>
                  <a:srgbClr val="A8382C"/>
                </a:solidFill>
                <a:latin typeface="Cambria" pitchFamily="34" charset="0"/>
                <a:ea typeface="Cambria" pitchFamily="34" charset="-122"/>
                <a:cs typeface="Cambria" pitchFamily="34" charset="-120"/>
              </a:rPr>
              <a:t>Looks cheaper</a:t>
            </a:r>
            <a:endParaRPr lang="en-US" sz="1350" dirty="0"/>
          </a:p>
        </p:txBody>
      </p:sp>
      <p:sp>
        <p:nvSpPr>
          <p:cNvPr id="45" name="Shape 43"/>
          <p:cNvSpPr/>
          <p:nvPr/>
        </p:nvSpPr>
        <p:spPr>
          <a:xfrm>
            <a:off x="8176108" y="5193792"/>
            <a:ext cx="3238348" cy="475488"/>
          </a:xfrm>
          <a:prstGeom prst="rect">
            <a:avLst/>
          </a:prstGeom>
          <a:solidFill>
            <a:srgbClr val="E6F0EA"/>
          </a:solidFill>
          <a:ln/>
        </p:spPr>
      </p:sp>
      <p:sp>
        <p:nvSpPr>
          <p:cNvPr id="46" name="Text 44"/>
          <p:cNvSpPr/>
          <p:nvPr/>
        </p:nvSpPr>
        <p:spPr>
          <a:xfrm>
            <a:off x="8176108" y="5193792"/>
            <a:ext cx="3238348" cy="47548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Actually cheaper</a:t>
            </a:r>
            <a:endParaRPr lang="en-US" sz="1350" dirty="0"/>
          </a:p>
        </p:txBody>
      </p:sp>
      <p:sp>
        <p:nvSpPr>
          <p:cNvPr id="47" name="Text 45"/>
          <p:cNvSpPr/>
          <p:nvPr/>
        </p:nvSpPr>
        <p:spPr>
          <a:xfrm>
            <a:off x="777240" y="5916168"/>
            <a:ext cx="10637215" cy="548640"/>
          </a:xfrm>
          <a:prstGeom prst="rect">
            <a:avLst/>
          </a:prstGeom>
          <a:noFill/>
          <a:ln/>
        </p:spPr>
        <p:txBody>
          <a:bodyPr wrap="square" lIns="0" tIns="0" rIns="0" bIns="0" rtlCol="0" anchor="ctr"/>
          <a:lstStyle/>
          <a:p>
            <a:pPr indent="0" marL="0">
              <a:lnSpc>
                <a:spcPts val="2000"/>
              </a:lnSpc>
              <a:buNone/>
            </a:pPr>
            <a:r>
              <a:rPr lang="en-US" sz="1300" i="1" dirty="0">
                <a:solidFill>
                  <a:srgbClr val="8A9099"/>
                </a:solidFill>
                <a:latin typeface="Calibri" pitchFamily="34" charset="0"/>
                <a:ea typeface="Calibri" pitchFamily="34" charset="-122"/>
                <a:cs typeface="Calibri" pitchFamily="34" charset="-120"/>
              </a:rPr>
              <a:t>Every portal in India shows the two advertised numbers and lets you pick the wrong flat. Figures illustrative until built from live TG-RERA filings.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the site looks like</a:t>
            </a:r>
            <a:endParaRPr lang="en-US" sz="3800" dirty="0"/>
          </a:p>
        </p:txBody>
      </p:sp>
      <p:sp>
        <p:nvSpPr>
          <p:cNvPr id="4" name="Shape 2"/>
          <p:cNvSpPr/>
          <p:nvPr/>
        </p:nvSpPr>
        <p:spPr>
          <a:xfrm>
            <a:off x="777240" y="1591056"/>
            <a:ext cx="10637215" cy="310896"/>
          </a:xfrm>
          <a:prstGeom prst="rect">
            <a:avLst/>
          </a:prstGeom>
          <a:solidFill>
            <a:srgbClr val="F1F1ED"/>
          </a:solidFill>
          <a:ln/>
        </p:spPr>
      </p:sp>
      <p:sp>
        <p:nvSpPr>
          <p:cNvPr id="5" name="Shape 3"/>
          <p:cNvSpPr/>
          <p:nvPr/>
        </p:nvSpPr>
        <p:spPr>
          <a:xfrm>
            <a:off x="1014984" y="1700784"/>
            <a:ext cx="91440" cy="91440"/>
          </a:xfrm>
          <a:prstGeom prst="ellipse">
            <a:avLst/>
          </a:prstGeom>
          <a:solidFill>
            <a:srgbClr val="C9C9C3"/>
          </a:solidFill>
          <a:ln/>
        </p:spPr>
      </p:sp>
      <p:sp>
        <p:nvSpPr>
          <p:cNvPr id="6" name="Shape 4"/>
          <p:cNvSpPr/>
          <p:nvPr/>
        </p:nvSpPr>
        <p:spPr>
          <a:xfrm>
            <a:off x="1188720" y="1700784"/>
            <a:ext cx="91440" cy="91440"/>
          </a:xfrm>
          <a:prstGeom prst="ellipse">
            <a:avLst/>
          </a:prstGeom>
          <a:solidFill>
            <a:srgbClr val="C9C9C3"/>
          </a:solidFill>
          <a:ln/>
        </p:spPr>
      </p:sp>
      <p:sp>
        <p:nvSpPr>
          <p:cNvPr id="7" name="Shape 5"/>
          <p:cNvSpPr/>
          <p:nvPr/>
        </p:nvSpPr>
        <p:spPr>
          <a:xfrm>
            <a:off x="1362456" y="1700784"/>
            <a:ext cx="91440" cy="91440"/>
          </a:xfrm>
          <a:prstGeom prst="ellipse">
            <a:avLst/>
          </a:prstGeom>
          <a:solidFill>
            <a:srgbClr val="C9C9C3"/>
          </a:solidFill>
          <a:ln/>
        </p:spPr>
      </p:sp>
      <p:sp>
        <p:nvSpPr>
          <p:cNvPr id="8" name="Text 6"/>
          <p:cNvSpPr/>
          <p:nvPr/>
        </p:nvSpPr>
        <p:spPr>
          <a:xfrm>
            <a:off x="1645920" y="1591056"/>
            <a:ext cx="4114800" cy="31089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otho.in / neopolis</a:t>
            </a:r>
            <a:endParaRPr lang="en-US" sz="950" dirty="0"/>
          </a:p>
        </p:txBody>
      </p:sp>
      <p:sp>
        <p:nvSpPr>
          <p:cNvPr id="9" name="Shape 7"/>
          <p:cNvSpPr/>
          <p:nvPr/>
        </p:nvSpPr>
        <p:spPr>
          <a:xfrm>
            <a:off x="777240" y="1901952"/>
            <a:ext cx="10637215" cy="4270248"/>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0" name="Text 8"/>
          <p:cNvSpPr/>
          <p:nvPr/>
        </p:nvSpPr>
        <p:spPr>
          <a:xfrm>
            <a:off x="1051560" y="1901952"/>
            <a:ext cx="1097280" cy="402336"/>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OTHO</a:t>
            </a:r>
            <a:endParaRPr lang="en-US" sz="1350" dirty="0"/>
          </a:p>
        </p:txBody>
      </p:sp>
      <p:sp>
        <p:nvSpPr>
          <p:cNvPr id="11" name="Text 9"/>
          <p:cNvSpPr/>
          <p:nvPr/>
        </p:nvSpPr>
        <p:spPr>
          <a:xfrm>
            <a:off x="2377440" y="1901952"/>
            <a:ext cx="987552" cy="402336"/>
          </a:xfrm>
          <a:prstGeom prst="rect">
            <a:avLst/>
          </a:prstGeom>
          <a:noFill/>
          <a:ln/>
        </p:spPr>
        <p:txBody>
          <a:bodyPr wrap="square" lIns="0" tIns="0" rIns="0" bIns="0" rtlCol="0" anchor="ctr"/>
          <a:lstStyle/>
          <a:p>
            <a:pPr indent="0" marL="0">
              <a:buNone/>
            </a:pPr>
            <a:r>
              <a:rPr lang="en-US" sz="950" b="1" dirty="0">
                <a:solidFill>
                  <a:srgbClr val="14181D"/>
                </a:solidFill>
                <a:latin typeface="Calibri" pitchFamily="34" charset="0"/>
                <a:ea typeface="Calibri" pitchFamily="34" charset="-122"/>
                <a:cs typeface="Calibri" pitchFamily="34" charset="-120"/>
              </a:rPr>
              <a:t>Projects</a:t>
            </a:r>
            <a:endParaRPr lang="en-US" sz="950" dirty="0"/>
          </a:p>
        </p:txBody>
      </p:sp>
      <p:sp>
        <p:nvSpPr>
          <p:cNvPr id="12" name="Text 10"/>
          <p:cNvSpPr/>
          <p:nvPr/>
        </p:nvSpPr>
        <p:spPr>
          <a:xfrm>
            <a:off x="3401568"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Compare</a:t>
            </a:r>
            <a:endParaRPr lang="en-US" sz="950" dirty="0"/>
          </a:p>
        </p:txBody>
      </p:sp>
      <p:sp>
        <p:nvSpPr>
          <p:cNvPr id="13" name="Text 11"/>
          <p:cNvSpPr/>
          <p:nvPr/>
        </p:nvSpPr>
        <p:spPr>
          <a:xfrm>
            <a:off x="4425696"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Localities</a:t>
            </a:r>
            <a:endParaRPr lang="en-US" sz="950" dirty="0"/>
          </a:p>
        </p:txBody>
      </p:sp>
      <p:sp>
        <p:nvSpPr>
          <p:cNvPr id="14" name="Text 12"/>
          <p:cNvSpPr/>
          <p:nvPr/>
        </p:nvSpPr>
        <p:spPr>
          <a:xfrm>
            <a:off x="5449824"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Reviews</a:t>
            </a:r>
            <a:endParaRPr lang="en-US" sz="950" dirty="0"/>
          </a:p>
        </p:txBody>
      </p:sp>
      <p:sp>
        <p:nvSpPr>
          <p:cNvPr id="15" name="Text 13"/>
          <p:cNvSpPr/>
          <p:nvPr/>
        </p:nvSpPr>
        <p:spPr>
          <a:xfrm>
            <a:off x="6473952"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Guides</a:t>
            </a:r>
            <a:endParaRPr lang="en-US" sz="950" dirty="0"/>
          </a:p>
        </p:txBody>
      </p:sp>
      <p:sp>
        <p:nvSpPr>
          <p:cNvPr id="16" name="Shape 14"/>
          <p:cNvSpPr/>
          <p:nvPr/>
        </p:nvSpPr>
        <p:spPr>
          <a:xfrm>
            <a:off x="9658807" y="1984248"/>
            <a:ext cx="1481328" cy="246888"/>
          </a:xfrm>
          <a:prstGeom prst="rect">
            <a:avLst/>
          </a:prstGeom>
          <a:solidFill>
            <a:srgbClr val="14181D"/>
          </a:solidFill>
          <a:ln/>
        </p:spPr>
      </p:sp>
      <p:sp>
        <p:nvSpPr>
          <p:cNvPr id="17" name="Text 15"/>
          <p:cNvSpPr/>
          <p:nvPr/>
        </p:nvSpPr>
        <p:spPr>
          <a:xfrm>
            <a:off x="9658807" y="1984248"/>
            <a:ext cx="148132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Book a site visit</a:t>
            </a:r>
            <a:endParaRPr lang="en-US" sz="850" dirty="0"/>
          </a:p>
        </p:txBody>
      </p:sp>
      <p:sp>
        <p:nvSpPr>
          <p:cNvPr id="18" name="Text 16"/>
          <p:cNvSpPr/>
          <p:nvPr/>
        </p:nvSpPr>
        <p:spPr>
          <a:xfrm>
            <a:off x="1051560" y="2450592"/>
            <a:ext cx="10088575" cy="201168"/>
          </a:xfrm>
          <a:prstGeom prst="rect">
            <a:avLst/>
          </a:prstGeom>
          <a:noFill/>
          <a:ln/>
        </p:spPr>
        <p:txBody>
          <a:bodyPr wrap="square" lIns="0" tIns="0" rIns="0" bIns="0" rtlCol="0" anchor="ctr"/>
          <a:lstStyle/>
          <a:p>
            <a:pPr indent="0" marL="0">
              <a:buNone/>
            </a:pPr>
            <a:r>
              <a:rPr lang="en-US" sz="800" spc="120" kern="0" dirty="0">
                <a:solidFill>
                  <a:srgbClr val="8A9099"/>
                </a:solidFill>
                <a:latin typeface="Calibri" pitchFamily="34" charset="0"/>
                <a:ea typeface="Calibri" pitchFamily="34" charset="-122"/>
                <a:cs typeface="Calibri" pitchFamily="34" charset="-120"/>
              </a:rPr>
              <a:t>KOKAPET  ·  NEOPOLIS LAYOUT  ·  TG-RERA P0XXXXXXX</a:t>
            </a:r>
            <a:endParaRPr lang="en-US" sz="800" dirty="0"/>
          </a:p>
        </p:txBody>
      </p:sp>
      <p:sp>
        <p:nvSpPr>
          <p:cNvPr id="19" name="Text 17"/>
          <p:cNvSpPr/>
          <p:nvPr/>
        </p:nvSpPr>
        <p:spPr>
          <a:xfrm>
            <a:off x="1051560" y="2688336"/>
            <a:ext cx="6766560" cy="530352"/>
          </a:xfrm>
          <a:prstGeom prst="rect">
            <a:avLst/>
          </a:prstGeom>
          <a:noFill/>
          <a:ln/>
        </p:spPr>
        <p:txBody>
          <a:bodyPr wrap="square" lIns="0" tIns="0" rIns="0" bIns="0" rtlCol="0" anchor="ctr"/>
          <a:lstStyle/>
          <a:p>
            <a:pPr indent="0" marL="0">
              <a:buNone/>
            </a:pPr>
            <a:r>
              <a:rPr lang="en-US" sz="2500" b="1" spc="-60" kern="0" dirty="0">
                <a:solidFill>
                  <a:srgbClr val="14181D"/>
                </a:solidFill>
                <a:latin typeface="Cambria" pitchFamily="34" charset="0"/>
                <a:ea typeface="Cambria" pitchFamily="34" charset="-122"/>
                <a:cs typeface="Cambria" pitchFamily="34" charset="-120"/>
              </a:rPr>
              <a:t>3 &amp; 4 BHK homes, priced in the open.</a:t>
            </a:r>
            <a:endParaRPr lang="en-US" sz="2500" dirty="0"/>
          </a:p>
        </p:txBody>
      </p:sp>
      <p:sp>
        <p:nvSpPr>
          <p:cNvPr id="20" name="Text 18"/>
          <p:cNvSpPr/>
          <p:nvPr/>
        </p:nvSpPr>
        <p:spPr>
          <a:xfrm>
            <a:off x="1051560" y="3255264"/>
            <a:ext cx="6766560" cy="274320"/>
          </a:xfrm>
          <a:prstGeom prst="rect">
            <a:avLst/>
          </a:prstGeom>
          <a:noFill/>
          <a:ln/>
        </p:spPr>
        <p:txBody>
          <a:bodyPr wrap="square" lIns="0" tIns="0" rIns="0" bIns="0" rtlCol="0" anchor="ctr"/>
          <a:lstStyle/>
          <a:p>
            <a:pPr indent="0" marL="0">
              <a:buNone/>
            </a:pPr>
            <a:r>
              <a:rPr lang="en-US" sz="1050" dirty="0">
                <a:solidFill>
                  <a:srgbClr val="555C64"/>
                </a:solidFill>
                <a:latin typeface="Calibri" pitchFamily="34" charset="0"/>
                <a:ea typeface="Calibri" pitchFamily="34" charset="-122"/>
                <a:cs typeface="Calibri" pitchFamily="34" charset="-120"/>
              </a:rPr>
              <a:t>Full pricing, real carpet area, and what the commute actually takes at 9am. No callback required to see any of it.</a:t>
            </a:r>
            <a:endParaRPr lang="en-US" sz="1050" dirty="0"/>
          </a:p>
        </p:txBody>
      </p:sp>
      <p:sp>
        <p:nvSpPr>
          <p:cNvPr id="21" name="Shape 19"/>
          <p:cNvSpPr/>
          <p:nvPr/>
        </p:nvSpPr>
        <p:spPr>
          <a:xfrm>
            <a:off x="1051560" y="3639312"/>
            <a:ext cx="2474138" cy="621792"/>
          </a:xfrm>
          <a:prstGeom prst="rect">
            <a:avLst/>
          </a:prstGeom>
          <a:solidFill>
            <a:srgbClr val="F1F1ED"/>
          </a:solidFill>
          <a:ln/>
        </p:spPr>
      </p:sp>
      <p:sp>
        <p:nvSpPr>
          <p:cNvPr id="22" name="Text 20"/>
          <p:cNvSpPr/>
          <p:nvPr/>
        </p:nvSpPr>
        <p:spPr>
          <a:xfrm>
            <a:off x="1197864" y="3712464"/>
            <a:ext cx="2181530" cy="292608"/>
          </a:xfrm>
          <a:prstGeom prst="rect">
            <a:avLst/>
          </a:prstGeom>
          <a:noFill/>
          <a:ln/>
        </p:spPr>
        <p:txBody>
          <a:bodyPr wrap="square" lIns="0" tIns="0" rIns="0" bIns="0" rtlCol="0" anchor="ctr"/>
          <a:lstStyle/>
          <a:p>
            <a:pPr indent="0" marL="0">
              <a:buNone/>
            </a:pPr>
            <a:r>
              <a:rPr lang="en-US" sz="1400" b="1" dirty="0">
                <a:solidFill>
                  <a:srgbClr val="14181D"/>
                </a:solidFill>
                <a:latin typeface="Cambria" pitchFamily="34" charset="0"/>
                <a:ea typeface="Cambria" pitchFamily="34" charset="-122"/>
                <a:cs typeface="Cambria" pitchFamily="34" charset="-120"/>
              </a:rPr>
              <a:t>1,850–3,400</a:t>
            </a:r>
            <a:endParaRPr lang="en-US" sz="1400" dirty="0"/>
          </a:p>
        </p:txBody>
      </p:sp>
      <p:sp>
        <p:nvSpPr>
          <p:cNvPr id="23" name="Text 21"/>
          <p:cNvSpPr/>
          <p:nvPr/>
        </p:nvSpPr>
        <p:spPr>
          <a:xfrm>
            <a:off x="1197864" y="3995928"/>
            <a:ext cx="2181530" cy="201168"/>
          </a:xfrm>
          <a:prstGeom prst="rect">
            <a:avLst/>
          </a:prstGeom>
          <a:noFill/>
          <a:ln/>
        </p:spPr>
        <p:txBody>
          <a:bodyPr wrap="square" lIns="0" tIns="0" rIns="0" bIns="0" rtlCol="0" anchor="ctr"/>
          <a:lstStyle/>
          <a:p>
            <a:pPr indent="0" marL="0">
              <a:buNone/>
            </a:pPr>
            <a:r>
              <a:rPr lang="en-US" sz="750" spc="100" kern="0" dirty="0">
                <a:solidFill>
                  <a:srgbClr val="8A9099"/>
                </a:solidFill>
                <a:latin typeface="Calibri" pitchFamily="34" charset="0"/>
                <a:ea typeface="Calibri" pitchFamily="34" charset="-122"/>
                <a:cs typeface="Calibri" pitchFamily="34" charset="-120"/>
              </a:rPr>
              <a:t>CARPET SQ FT</a:t>
            </a:r>
            <a:endParaRPr lang="en-US" sz="750" dirty="0"/>
          </a:p>
        </p:txBody>
      </p:sp>
      <p:sp>
        <p:nvSpPr>
          <p:cNvPr id="24" name="Shape 22"/>
          <p:cNvSpPr/>
          <p:nvPr/>
        </p:nvSpPr>
        <p:spPr>
          <a:xfrm>
            <a:off x="3589706" y="3639312"/>
            <a:ext cx="2474138" cy="621792"/>
          </a:xfrm>
          <a:prstGeom prst="rect">
            <a:avLst/>
          </a:prstGeom>
          <a:solidFill>
            <a:srgbClr val="F1F1ED"/>
          </a:solidFill>
          <a:ln/>
        </p:spPr>
      </p:sp>
      <p:sp>
        <p:nvSpPr>
          <p:cNvPr id="25" name="Text 23"/>
          <p:cNvSpPr/>
          <p:nvPr/>
        </p:nvSpPr>
        <p:spPr>
          <a:xfrm>
            <a:off x="3736010" y="3712464"/>
            <a:ext cx="2181530" cy="292608"/>
          </a:xfrm>
          <a:prstGeom prst="rect">
            <a:avLst/>
          </a:prstGeom>
          <a:noFill/>
          <a:ln/>
        </p:spPr>
        <p:txBody>
          <a:bodyPr wrap="square" lIns="0" tIns="0" rIns="0" bIns="0" rtlCol="0" anchor="ctr"/>
          <a:lstStyle/>
          <a:p>
            <a:pPr indent="0" marL="0">
              <a:buNone/>
            </a:pPr>
            <a:r>
              <a:rPr lang="en-US" sz="1400" b="1" dirty="0">
                <a:solidFill>
                  <a:srgbClr val="14181D"/>
                </a:solidFill>
                <a:latin typeface="Cambria" pitchFamily="34" charset="0"/>
                <a:ea typeface="Cambria" pitchFamily="34" charset="-122"/>
                <a:cs typeface="Cambria" pitchFamily="34" charset="-120"/>
              </a:rPr>
              <a:t>₹2.1–4.6 Cr</a:t>
            </a:r>
            <a:endParaRPr lang="en-US" sz="1400" dirty="0"/>
          </a:p>
        </p:txBody>
      </p:sp>
      <p:sp>
        <p:nvSpPr>
          <p:cNvPr id="26" name="Text 24"/>
          <p:cNvSpPr/>
          <p:nvPr/>
        </p:nvSpPr>
        <p:spPr>
          <a:xfrm>
            <a:off x="3736010" y="3995928"/>
            <a:ext cx="2181530" cy="201168"/>
          </a:xfrm>
          <a:prstGeom prst="rect">
            <a:avLst/>
          </a:prstGeom>
          <a:noFill/>
          <a:ln/>
        </p:spPr>
        <p:txBody>
          <a:bodyPr wrap="square" lIns="0" tIns="0" rIns="0" bIns="0" rtlCol="0" anchor="ctr"/>
          <a:lstStyle/>
          <a:p>
            <a:pPr indent="0" marL="0">
              <a:buNone/>
            </a:pPr>
            <a:r>
              <a:rPr lang="en-US" sz="750" spc="100" kern="0" dirty="0">
                <a:solidFill>
                  <a:srgbClr val="8A9099"/>
                </a:solidFill>
                <a:latin typeface="Calibri" pitchFamily="34" charset="0"/>
                <a:ea typeface="Calibri" pitchFamily="34" charset="-122"/>
                <a:cs typeface="Calibri" pitchFamily="34" charset="-120"/>
              </a:rPr>
              <a:t>ALL-IN PRICE</a:t>
            </a:r>
            <a:endParaRPr lang="en-US" sz="750" dirty="0"/>
          </a:p>
        </p:txBody>
      </p:sp>
      <p:sp>
        <p:nvSpPr>
          <p:cNvPr id="27" name="Shape 25"/>
          <p:cNvSpPr/>
          <p:nvPr/>
        </p:nvSpPr>
        <p:spPr>
          <a:xfrm>
            <a:off x="6127852" y="3639312"/>
            <a:ext cx="2474138" cy="621792"/>
          </a:xfrm>
          <a:prstGeom prst="rect">
            <a:avLst/>
          </a:prstGeom>
          <a:solidFill>
            <a:srgbClr val="F1F1ED"/>
          </a:solidFill>
          <a:ln/>
        </p:spPr>
      </p:sp>
      <p:sp>
        <p:nvSpPr>
          <p:cNvPr id="28" name="Text 26"/>
          <p:cNvSpPr/>
          <p:nvPr/>
        </p:nvSpPr>
        <p:spPr>
          <a:xfrm>
            <a:off x="6274156" y="3712464"/>
            <a:ext cx="2181530" cy="292608"/>
          </a:xfrm>
          <a:prstGeom prst="rect">
            <a:avLst/>
          </a:prstGeom>
          <a:noFill/>
          <a:ln/>
        </p:spPr>
        <p:txBody>
          <a:bodyPr wrap="square" lIns="0" tIns="0" rIns="0" bIns="0" rtlCol="0" anchor="ctr"/>
          <a:lstStyle/>
          <a:p>
            <a:pPr indent="0" marL="0">
              <a:buNone/>
            </a:pPr>
            <a:r>
              <a:rPr lang="en-US" sz="1400" b="1" dirty="0">
                <a:solidFill>
                  <a:srgbClr val="14181D"/>
                </a:solidFill>
                <a:latin typeface="Cambria" pitchFamily="34" charset="0"/>
                <a:ea typeface="Cambria" pitchFamily="34" charset="-122"/>
                <a:cs typeface="Cambria" pitchFamily="34" charset="-120"/>
              </a:rPr>
              <a:t>Dec 2028</a:t>
            </a:r>
            <a:endParaRPr lang="en-US" sz="1400" dirty="0"/>
          </a:p>
        </p:txBody>
      </p:sp>
      <p:sp>
        <p:nvSpPr>
          <p:cNvPr id="29" name="Text 27"/>
          <p:cNvSpPr/>
          <p:nvPr/>
        </p:nvSpPr>
        <p:spPr>
          <a:xfrm>
            <a:off x="6274156" y="3995928"/>
            <a:ext cx="2181530" cy="201168"/>
          </a:xfrm>
          <a:prstGeom prst="rect">
            <a:avLst/>
          </a:prstGeom>
          <a:noFill/>
          <a:ln/>
        </p:spPr>
        <p:txBody>
          <a:bodyPr wrap="square" lIns="0" tIns="0" rIns="0" bIns="0" rtlCol="0" anchor="ctr"/>
          <a:lstStyle/>
          <a:p>
            <a:pPr indent="0" marL="0">
              <a:buNone/>
            </a:pPr>
            <a:r>
              <a:rPr lang="en-US" sz="750" spc="100" kern="0" dirty="0">
                <a:solidFill>
                  <a:srgbClr val="8A9099"/>
                </a:solidFill>
                <a:latin typeface="Calibri" pitchFamily="34" charset="0"/>
                <a:ea typeface="Calibri" pitchFamily="34" charset="-122"/>
                <a:cs typeface="Calibri" pitchFamily="34" charset="-120"/>
              </a:rPr>
              <a:t>POSSESSION</a:t>
            </a:r>
            <a:endParaRPr lang="en-US" sz="750" dirty="0"/>
          </a:p>
        </p:txBody>
      </p:sp>
      <p:sp>
        <p:nvSpPr>
          <p:cNvPr id="30" name="Shape 28"/>
          <p:cNvSpPr/>
          <p:nvPr/>
        </p:nvSpPr>
        <p:spPr>
          <a:xfrm>
            <a:off x="8665997" y="3639312"/>
            <a:ext cx="2474138" cy="621792"/>
          </a:xfrm>
          <a:prstGeom prst="rect">
            <a:avLst/>
          </a:prstGeom>
          <a:solidFill>
            <a:srgbClr val="F1F1ED"/>
          </a:solidFill>
          <a:ln/>
        </p:spPr>
      </p:sp>
      <p:sp>
        <p:nvSpPr>
          <p:cNvPr id="31" name="Text 29"/>
          <p:cNvSpPr/>
          <p:nvPr/>
        </p:nvSpPr>
        <p:spPr>
          <a:xfrm>
            <a:off x="8812301" y="3712464"/>
            <a:ext cx="2181530" cy="292608"/>
          </a:xfrm>
          <a:prstGeom prst="rect">
            <a:avLst/>
          </a:prstGeom>
          <a:noFill/>
          <a:ln/>
        </p:spPr>
        <p:txBody>
          <a:bodyPr wrap="square" lIns="0" tIns="0" rIns="0" bIns="0" rtlCol="0" anchor="ctr"/>
          <a:lstStyle/>
          <a:p>
            <a:pPr indent="0" marL="0">
              <a:buNone/>
            </a:pPr>
            <a:r>
              <a:rPr lang="en-US" sz="1400" b="1" dirty="0">
                <a:solidFill>
                  <a:srgbClr val="14181D"/>
                </a:solidFill>
                <a:latin typeface="Cambria" pitchFamily="34" charset="0"/>
                <a:ea typeface="Cambria" pitchFamily="34" charset="-122"/>
                <a:cs typeface="Cambria" pitchFamily="34" charset="-120"/>
              </a:rPr>
              <a:t>4.2 acres</a:t>
            </a:r>
            <a:endParaRPr lang="en-US" sz="1400" dirty="0"/>
          </a:p>
        </p:txBody>
      </p:sp>
      <p:sp>
        <p:nvSpPr>
          <p:cNvPr id="32" name="Text 30"/>
          <p:cNvSpPr/>
          <p:nvPr/>
        </p:nvSpPr>
        <p:spPr>
          <a:xfrm>
            <a:off x="8812301" y="3995928"/>
            <a:ext cx="2181530" cy="201168"/>
          </a:xfrm>
          <a:prstGeom prst="rect">
            <a:avLst/>
          </a:prstGeom>
          <a:noFill/>
          <a:ln/>
        </p:spPr>
        <p:txBody>
          <a:bodyPr wrap="square" lIns="0" tIns="0" rIns="0" bIns="0" rtlCol="0" anchor="ctr"/>
          <a:lstStyle/>
          <a:p>
            <a:pPr indent="0" marL="0">
              <a:buNone/>
            </a:pPr>
            <a:r>
              <a:rPr lang="en-US" sz="750" spc="100" kern="0" dirty="0">
                <a:solidFill>
                  <a:srgbClr val="8A9099"/>
                </a:solidFill>
                <a:latin typeface="Calibri" pitchFamily="34" charset="0"/>
                <a:ea typeface="Calibri" pitchFamily="34" charset="-122"/>
                <a:cs typeface="Calibri" pitchFamily="34" charset="-120"/>
              </a:rPr>
              <a:t>LAND PARCEL</a:t>
            </a:r>
            <a:endParaRPr lang="en-US" sz="750" dirty="0"/>
          </a:p>
        </p:txBody>
      </p:sp>
      <p:sp>
        <p:nvSpPr>
          <p:cNvPr id="33" name="Shape 31"/>
          <p:cNvSpPr/>
          <p:nvPr/>
        </p:nvSpPr>
        <p:spPr>
          <a:xfrm>
            <a:off x="1051560" y="4389120"/>
            <a:ext cx="10088575" cy="1700784"/>
          </a:xfrm>
          <a:prstGeom prst="rect">
            <a:avLst/>
          </a:prstGeom>
          <a:solidFill>
            <a:srgbClr val="F1F1ED"/>
          </a:solidFill>
          <a:ln/>
        </p:spPr>
      </p:sp>
      <p:sp>
        <p:nvSpPr>
          <p:cNvPr id="34" name="Text 32"/>
          <p:cNvSpPr/>
          <p:nvPr/>
        </p:nvSpPr>
        <p:spPr>
          <a:xfrm>
            <a:off x="1252728" y="4517136"/>
            <a:ext cx="5486400" cy="256032"/>
          </a:xfrm>
          <a:prstGeom prst="rect">
            <a:avLst/>
          </a:prstGeom>
          <a:noFill/>
          <a:ln/>
        </p:spPr>
        <p:txBody>
          <a:bodyPr wrap="square" lIns="0" tIns="0" rIns="0" bIns="0" rtlCol="0" anchor="ctr"/>
          <a:lstStyle/>
          <a:p>
            <a:pPr indent="0" marL="0">
              <a:buNone/>
            </a:pPr>
            <a:r>
              <a:rPr lang="en-US" sz="1200" b="1" dirty="0">
                <a:solidFill>
                  <a:srgbClr val="14181D"/>
                </a:solidFill>
                <a:latin typeface="Cambria" pitchFamily="34" charset="0"/>
                <a:ea typeface="Cambria" pitchFamily="34" charset="-122"/>
                <a:cs typeface="Cambria" pitchFamily="34" charset="-120"/>
              </a:rPr>
              <a:t>What you're actually paying per usable foot</a:t>
            </a:r>
            <a:endParaRPr lang="en-US" sz="1200" dirty="0"/>
          </a:p>
        </p:txBody>
      </p:sp>
      <p:sp>
        <p:nvSpPr>
          <p:cNvPr id="35" name="Text 33"/>
          <p:cNvSpPr/>
          <p:nvPr/>
        </p:nvSpPr>
        <p:spPr>
          <a:xfrm>
            <a:off x="1252728" y="4773168"/>
            <a:ext cx="5486400" cy="219456"/>
          </a:xfrm>
          <a:prstGeom prst="rect">
            <a:avLst/>
          </a:prstGeom>
          <a:noFill/>
          <a:ln/>
        </p:spPr>
        <p:txBody>
          <a:bodyPr wrap="square" lIns="0" tIns="0" rIns="0" bIns="0" rtlCol="0" anchor="ctr"/>
          <a:lstStyle/>
          <a:p>
            <a:pPr indent="0" marL="0">
              <a:buNone/>
            </a:pPr>
            <a:r>
              <a:rPr lang="en-US" sz="900" dirty="0">
                <a:solidFill>
                  <a:srgbClr val="8A9099"/>
                </a:solidFill>
                <a:latin typeface="Calibri" pitchFamily="34" charset="0"/>
                <a:ea typeface="Calibri" pitchFamily="34" charset="-122"/>
                <a:cs typeface="Calibri" pitchFamily="34" charset="-120"/>
              </a:rPr>
              <a:t>Most listings quote super built-up. This shows both.</a:t>
            </a:r>
            <a:endParaRPr lang="en-US" sz="900" dirty="0"/>
          </a:p>
        </p:txBody>
      </p:sp>
      <p:sp>
        <p:nvSpPr>
          <p:cNvPr id="36" name="Shape 34"/>
          <p:cNvSpPr/>
          <p:nvPr/>
        </p:nvSpPr>
        <p:spPr>
          <a:xfrm>
            <a:off x="1252728" y="5029200"/>
            <a:ext cx="9686239" cy="182880"/>
          </a:xfrm>
          <a:prstGeom prst="rect">
            <a:avLst/>
          </a:prstGeom>
          <a:solidFill>
            <a:srgbClr val="FFFFFF"/>
          </a:solidFill>
          <a:ln/>
        </p:spPr>
      </p:sp>
      <p:sp>
        <p:nvSpPr>
          <p:cNvPr id="37" name="Text 35"/>
          <p:cNvSpPr/>
          <p:nvPr/>
        </p:nvSpPr>
        <p:spPr>
          <a:xfrm>
            <a:off x="1380744" y="5029200"/>
            <a:ext cx="4572000" cy="182880"/>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Super built-up area</a:t>
            </a:r>
            <a:endParaRPr lang="en-US" sz="950" dirty="0"/>
          </a:p>
        </p:txBody>
      </p:sp>
      <p:sp>
        <p:nvSpPr>
          <p:cNvPr id="38" name="Text 36"/>
          <p:cNvSpPr/>
          <p:nvPr/>
        </p:nvSpPr>
        <p:spPr>
          <a:xfrm>
            <a:off x="9128455" y="5029200"/>
            <a:ext cx="1682496" cy="182880"/>
          </a:xfrm>
          <a:prstGeom prst="rect">
            <a:avLst/>
          </a:prstGeom>
          <a:noFill/>
          <a:ln/>
        </p:spPr>
        <p:txBody>
          <a:bodyPr wrap="square" lIns="0" tIns="0" rIns="0" bIns="0" rtlCol="0" anchor="ctr"/>
          <a:lstStyle/>
          <a:p>
            <a:pPr algn="r" indent="0" marL="0">
              <a:buNone/>
            </a:pPr>
            <a:r>
              <a:rPr lang="en-US" sz="950" b="1" dirty="0">
                <a:solidFill>
                  <a:srgbClr val="14181D"/>
                </a:solidFill>
                <a:latin typeface="Calibri" pitchFamily="34" charset="0"/>
                <a:ea typeface="Calibri" pitchFamily="34" charset="-122"/>
                <a:cs typeface="Calibri" pitchFamily="34" charset="-120"/>
              </a:rPr>
              <a:t>2,650 sq ft</a:t>
            </a:r>
            <a:endParaRPr lang="en-US" sz="950" dirty="0"/>
          </a:p>
        </p:txBody>
      </p:sp>
      <p:sp>
        <p:nvSpPr>
          <p:cNvPr id="39" name="Shape 37"/>
          <p:cNvSpPr/>
          <p:nvPr/>
        </p:nvSpPr>
        <p:spPr>
          <a:xfrm>
            <a:off x="1252728" y="5230368"/>
            <a:ext cx="9686239" cy="182880"/>
          </a:xfrm>
          <a:prstGeom prst="rect">
            <a:avLst/>
          </a:prstGeom>
          <a:solidFill>
            <a:srgbClr val="FFFFFF"/>
          </a:solidFill>
          <a:ln/>
        </p:spPr>
      </p:sp>
      <p:sp>
        <p:nvSpPr>
          <p:cNvPr id="40" name="Text 38"/>
          <p:cNvSpPr/>
          <p:nvPr/>
        </p:nvSpPr>
        <p:spPr>
          <a:xfrm>
            <a:off x="1380744" y="5230368"/>
            <a:ext cx="4572000" cy="182880"/>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RERA carpet area</a:t>
            </a:r>
            <a:endParaRPr lang="en-US" sz="950" dirty="0"/>
          </a:p>
        </p:txBody>
      </p:sp>
      <p:sp>
        <p:nvSpPr>
          <p:cNvPr id="41" name="Text 39"/>
          <p:cNvSpPr/>
          <p:nvPr/>
        </p:nvSpPr>
        <p:spPr>
          <a:xfrm>
            <a:off x="9128455" y="5230368"/>
            <a:ext cx="1682496" cy="182880"/>
          </a:xfrm>
          <a:prstGeom prst="rect">
            <a:avLst/>
          </a:prstGeom>
          <a:noFill/>
          <a:ln/>
        </p:spPr>
        <p:txBody>
          <a:bodyPr wrap="square" lIns="0" tIns="0" rIns="0" bIns="0" rtlCol="0" anchor="ctr"/>
          <a:lstStyle/>
          <a:p>
            <a:pPr algn="r" indent="0" marL="0">
              <a:buNone/>
            </a:pPr>
            <a:r>
              <a:rPr lang="en-US" sz="950" b="1" dirty="0">
                <a:solidFill>
                  <a:srgbClr val="14181D"/>
                </a:solidFill>
                <a:latin typeface="Calibri" pitchFamily="34" charset="0"/>
                <a:ea typeface="Calibri" pitchFamily="34" charset="-122"/>
                <a:cs typeface="Calibri" pitchFamily="34" charset="-120"/>
              </a:rPr>
              <a:t>1,850 sq ft</a:t>
            </a:r>
            <a:endParaRPr lang="en-US" sz="950" dirty="0"/>
          </a:p>
        </p:txBody>
      </p:sp>
      <p:sp>
        <p:nvSpPr>
          <p:cNvPr id="42" name="Shape 40"/>
          <p:cNvSpPr/>
          <p:nvPr/>
        </p:nvSpPr>
        <p:spPr>
          <a:xfrm>
            <a:off x="1252728" y="5431536"/>
            <a:ext cx="9686239" cy="182880"/>
          </a:xfrm>
          <a:prstGeom prst="rect">
            <a:avLst/>
          </a:prstGeom>
          <a:solidFill>
            <a:srgbClr val="FFFFFF"/>
          </a:solidFill>
          <a:ln/>
        </p:spPr>
      </p:sp>
      <p:sp>
        <p:nvSpPr>
          <p:cNvPr id="43" name="Text 41"/>
          <p:cNvSpPr/>
          <p:nvPr/>
        </p:nvSpPr>
        <p:spPr>
          <a:xfrm>
            <a:off x="1380744" y="5431536"/>
            <a:ext cx="4572000" cy="182880"/>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Loading factor</a:t>
            </a:r>
            <a:endParaRPr lang="en-US" sz="950" dirty="0"/>
          </a:p>
        </p:txBody>
      </p:sp>
      <p:sp>
        <p:nvSpPr>
          <p:cNvPr id="44" name="Text 42"/>
          <p:cNvSpPr/>
          <p:nvPr/>
        </p:nvSpPr>
        <p:spPr>
          <a:xfrm>
            <a:off x="9128455" y="5431536"/>
            <a:ext cx="1682496" cy="182880"/>
          </a:xfrm>
          <a:prstGeom prst="rect">
            <a:avLst/>
          </a:prstGeom>
          <a:noFill/>
          <a:ln/>
        </p:spPr>
        <p:txBody>
          <a:bodyPr wrap="square" lIns="0" tIns="0" rIns="0" bIns="0" rtlCol="0" anchor="ctr"/>
          <a:lstStyle/>
          <a:p>
            <a:pPr algn="r" indent="0" marL="0">
              <a:buNone/>
            </a:pPr>
            <a:r>
              <a:rPr lang="en-US" sz="950" b="1" dirty="0">
                <a:solidFill>
                  <a:srgbClr val="14181D"/>
                </a:solidFill>
                <a:latin typeface="Calibri" pitchFamily="34" charset="0"/>
                <a:ea typeface="Calibri" pitchFamily="34" charset="-122"/>
                <a:cs typeface="Calibri" pitchFamily="34" charset="-120"/>
              </a:rPr>
              <a:t>43%</a:t>
            </a:r>
            <a:endParaRPr lang="en-US" sz="950" dirty="0"/>
          </a:p>
        </p:txBody>
      </p:sp>
      <p:sp>
        <p:nvSpPr>
          <p:cNvPr id="45" name="Shape 43"/>
          <p:cNvSpPr/>
          <p:nvPr/>
        </p:nvSpPr>
        <p:spPr>
          <a:xfrm>
            <a:off x="1252728" y="5632704"/>
            <a:ext cx="9686239" cy="182880"/>
          </a:xfrm>
          <a:prstGeom prst="rect">
            <a:avLst/>
          </a:prstGeom>
          <a:solidFill>
            <a:srgbClr val="FFFFFF"/>
          </a:solidFill>
          <a:ln/>
        </p:spPr>
      </p:sp>
      <p:sp>
        <p:nvSpPr>
          <p:cNvPr id="46" name="Text 44"/>
          <p:cNvSpPr/>
          <p:nvPr/>
        </p:nvSpPr>
        <p:spPr>
          <a:xfrm>
            <a:off x="1380744" y="5632704"/>
            <a:ext cx="4572000" cy="182880"/>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Advertised rate</a:t>
            </a:r>
            <a:endParaRPr lang="en-US" sz="950" dirty="0"/>
          </a:p>
        </p:txBody>
      </p:sp>
      <p:sp>
        <p:nvSpPr>
          <p:cNvPr id="47" name="Text 45"/>
          <p:cNvSpPr/>
          <p:nvPr/>
        </p:nvSpPr>
        <p:spPr>
          <a:xfrm>
            <a:off x="9128455" y="5632704"/>
            <a:ext cx="1682496" cy="182880"/>
          </a:xfrm>
          <a:prstGeom prst="rect">
            <a:avLst/>
          </a:prstGeom>
          <a:noFill/>
          <a:ln/>
        </p:spPr>
        <p:txBody>
          <a:bodyPr wrap="square" lIns="0" tIns="0" rIns="0" bIns="0" rtlCol="0" anchor="ctr"/>
          <a:lstStyle/>
          <a:p>
            <a:pPr algn="r" indent="0" marL="0">
              <a:buNone/>
            </a:pPr>
            <a:r>
              <a:rPr lang="en-US" sz="950" b="1" dirty="0">
                <a:solidFill>
                  <a:srgbClr val="14181D"/>
                </a:solidFill>
                <a:latin typeface="Calibri" pitchFamily="34" charset="0"/>
                <a:ea typeface="Calibri" pitchFamily="34" charset="-122"/>
                <a:cs typeface="Calibri" pitchFamily="34" charset="-120"/>
              </a:rPr>
              <a:t>₹9,400 / sq ft</a:t>
            </a:r>
            <a:endParaRPr lang="en-US" sz="950" dirty="0"/>
          </a:p>
        </p:txBody>
      </p:sp>
      <p:sp>
        <p:nvSpPr>
          <p:cNvPr id="48" name="Shape 46"/>
          <p:cNvSpPr/>
          <p:nvPr/>
        </p:nvSpPr>
        <p:spPr>
          <a:xfrm>
            <a:off x="1252728" y="5833872"/>
            <a:ext cx="9686239" cy="182880"/>
          </a:xfrm>
          <a:prstGeom prst="rect">
            <a:avLst/>
          </a:prstGeom>
          <a:solidFill>
            <a:srgbClr val="E7EDF5"/>
          </a:solidFill>
          <a:ln/>
        </p:spPr>
      </p:sp>
      <p:sp>
        <p:nvSpPr>
          <p:cNvPr id="49" name="Text 47"/>
          <p:cNvSpPr/>
          <p:nvPr/>
        </p:nvSpPr>
        <p:spPr>
          <a:xfrm>
            <a:off x="1380744" y="5833872"/>
            <a:ext cx="4572000" cy="182880"/>
          </a:xfrm>
          <a:prstGeom prst="rect">
            <a:avLst/>
          </a:prstGeom>
          <a:noFill/>
          <a:ln/>
        </p:spPr>
        <p:txBody>
          <a:bodyPr wrap="square" lIns="0" tIns="0" rIns="0" bIns="0" rtlCol="0" anchor="ctr"/>
          <a:lstStyle/>
          <a:p>
            <a:pPr indent="0" marL="0">
              <a:buNone/>
            </a:pPr>
            <a:r>
              <a:rPr lang="en-US" sz="950" b="1" dirty="0">
                <a:solidFill>
                  <a:srgbClr val="27548F"/>
                </a:solidFill>
                <a:latin typeface="Calibri" pitchFamily="34" charset="0"/>
                <a:ea typeface="Calibri" pitchFamily="34" charset="-122"/>
                <a:cs typeface="Calibri" pitchFamily="34" charset="-120"/>
              </a:rPr>
              <a:t>Real rate on carpet</a:t>
            </a:r>
            <a:endParaRPr lang="en-US" sz="950" dirty="0"/>
          </a:p>
        </p:txBody>
      </p:sp>
      <p:sp>
        <p:nvSpPr>
          <p:cNvPr id="50" name="Text 48"/>
          <p:cNvSpPr/>
          <p:nvPr/>
        </p:nvSpPr>
        <p:spPr>
          <a:xfrm>
            <a:off x="9128455" y="5833872"/>
            <a:ext cx="1682496" cy="182880"/>
          </a:xfrm>
          <a:prstGeom prst="rect">
            <a:avLst/>
          </a:prstGeom>
          <a:noFill/>
          <a:ln/>
        </p:spPr>
        <p:txBody>
          <a:bodyPr wrap="square" lIns="0" tIns="0" rIns="0" bIns="0" rtlCol="0" anchor="ctr"/>
          <a:lstStyle/>
          <a:p>
            <a:pPr algn="r" indent="0" marL="0">
              <a:buNone/>
            </a:pPr>
            <a:r>
              <a:rPr lang="en-US" sz="950" b="1" dirty="0">
                <a:solidFill>
                  <a:srgbClr val="27548F"/>
                </a:solidFill>
                <a:latin typeface="Calibri" pitchFamily="34" charset="0"/>
                <a:ea typeface="Calibri" pitchFamily="34" charset="-122"/>
                <a:cs typeface="Calibri" pitchFamily="34" charset="-120"/>
              </a:rPr>
              <a:t>₹13,460 / sq ft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The review page</a:t>
            </a:r>
            <a:endParaRPr lang="en-US" sz="3800" dirty="0"/>
          </a:p>
        </p:txBody>
      </p:sp>
      <p:sp>
        <p:nvSpPr>
          <p:cNvPr id="4" name="Shape 2"/>
          <p:cNvSpPr/>
          <p:nvPr/>
        </p:nvSpPr>
        <p:spPr>
          <a:xfrm>
            <a:off x="777240" y="1591056"/>
            <a:ext cx="10637215" cy="310896"/>
          </a:xfrm>
          <a:prstGeom prst="rect">
            <a:avLst/>
          </a:prstGeom>
          <a:solidFill>
            <a:srgbClr val="F1F1ED"/>
          </a:solidFill>
          <a:ln/>
        </p:spPr>
      </p:sp>
      <p:sp>
        <p:nvSpPr>
          <p:cNvPr id="5" name="Shape 3"/>
          <p:cNvSpPr/>
          <p:nvPr/>
        </p:nvSpPr>
        <p:spPr>
          <a:xfrm>
            <a:off x="1014984" y="1700784"/>
            <a:ext cx="91440" cy="91440"/>
          </a:xfrm>
          <a:prstGeom prst="ellipse">
            <a:avLst/>
          </a:prstGeom>
          <a:solidFill>
            <a:srgbClr val="C9C9C3"/>
          </a:solidFill>
          <a:ln/>
        </p:spPr>
      </p:sp>
      <p:sp>
        <p:nvSpPr>
          <p:cNvPr id="6" name="Shape 4"/>
          <p:cNvSpPr/>
          <p:nvPr/>
        </p:nvSpPr>
        <p:spPr>
          <a:xfrm>
            <a:off x="1188720" y="1700784"/>
            <a:ext cx="91440" cy="91440"/>
          </a:xfrm>
          <a:prstGeom prst="ellipse">
            <a:avLst/>
          </a:prstGeom>
          <a:solidFill>
            <a:srgbClr val="C9C9C3"/>
          </a:solidFill>
          <a:ln/>
        </p:spPr>
      </p:sp>
      <p:sp>
        <p:nvSpPr>
          <p:cNvPr id="7" name="Shape 5"/>
          <p:cNvSpPr/>
          <p:nvPr/>
        </p:nvSpPr>
        <p:spPr>
          <a:xfrm>
            <a:off x="1362456" y="1700784"/>
            <a:ext cx="91440" cy="91440"/>
          </a:xfrm>
          <a:prstGeom prst="ellipse">
            <a:avLst/>
          </a:prstGeom>
          <a:solidFill>
            <a:srgbClr val="C9C9C3"/>
          </a:solidFill>
          <a:ln/>
        </p:spPr>
      </p:sp>
      <p:sp>
        <p:nvSpPr>
          <p:cNvPr id="8" name="Text 6"/>
          <p:cNvSpPr/>
          <p:nvPr/>
        </p:nvSpPr>
        <p:spPr>
          <a:xfrm>
            <a:off x="1645920" y="1591056"/>
            <a:ext cx="4114800" cy="31089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otho.in / reviews / neopolis-tower-a</a:t>
            </a:r>
            <a:endParaRPr lang="en-US" sz="950" dirty="0"/>
          </a:p>
        </p:txBody>
      </p:sp>
      <p:sp>
        <p:nvSpPr>
          <p:cNvPr id="9" name="Shape 7"/>
          <p:cNvSpPr/>
          <p:nvPr/>
        </p:nvSpPr>
        <p:spPr>
          <a:xfrm>
            <a:off x="777240" y="1901952"/>
            <a:ext cx="10637215" cy="4270248"/>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0" name="Text 8"/>
          <p:cNvSpPr/>
          <p:nvPr/>
        </p:nvSpPr>
        <p:spPr>
          <a:xfrm>
            <a:off x="1051560" y="1901952"/>
            <a:ext cx="1097280" cy="402336"/>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OTHO</a:t>
            </a:r>
            <a:endParaRPr lang="en-US" sz="1350" dirty="0"/>
          </a:p>
        </p:txBody>
      </p:sp>
      <p:sp>
        <p:nvSpPr>
          <p:cNvPr id="11" name="Text 9"/>
          <p:cNvSpPr/>
          <p:nvPr/>
        </p:nvSpPr>
        <p:spPr>
          <a:xfrm>
            <a:off x="2377440"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Projects</a:t>
            </a:r>
            <a:endParaRPr lang="en-US" sz="950" dirty="0"/>
          </a:p>
        </p:txBody>
      </p:sp>
      <p:sp>
        <p:nvSpPr>
          <p:cNvPr id="12" name="Text 10"/>
          <p:cNvSpPr/>
          <p:nvPr/>
        </p:nvSpPr>
        <p:spPr>
          <a:xfrm>
            <a:off x="3401568"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Compare</a:t>
            </a:r>
            <a:endParaRPr lang="en-US" sz="950" dirty="0"/>
          </a:p>
        </p:txBody>
      </p:sp>
      <p:sp>
        <p:nvSpPr>
          <p:cNvPr id="13" name="Text 11"/>
          <p:cNvSpPr/>
          <p:nvPr/>
        </p:nvSpPr>
        <p:spPr>
          <a:xfrm>
            <a:off x="4425696"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Localities</a:t>
            </a:r>
            <a:endParaRPr lang="en-US" sz="950" dirty="0"/>
          </a:p>
        </p:txBody>
      </p:sp>
      <p:sp>
        <p:nvSpPr>
          <p:cNvPr id="14" name="Text 12"/>
          <p:cNvSpPr/>
          <p:nvPr/>
        </p:nvSpPr>
        <p:spPr>
          <a:xfrm>
            <a:off x="5449824" y="1901952"/>
            <a:ext cx="987552" cy="402336"/>
          </a:xfrm>
          <a:prstGeom prst="rect">
            <a:avLst/>
          </a:prstGeom>
          <a:noFill/>
          <a:ln/>
        </p:spPr>
        <p:txBody>
          <a:bodyPr wrap="square" lIns="0" tIns="0" rIns="0" bIns="0" rtlCol="0" anchor="ctr"/>
          <a:lstStyle/>
          <a:p>
            <a:pPr indent="0" marL="0">
              <a:buNone/>
            </a:pPr>
            <a:r>
              <a:rPr lang="en-US" sz="950" b="1" dirty="0">
                <a:solidFill>
                  <a:srgbClr val="14181D"/>
                </a:solidFill>
                <a:latin typeface="Calibri" pitchFamily="34" charset="0"/>
                <a:ea typeface="Calibri" pitchFamily="34" charset="-122"/>
                <a:cs typeface="Calibri" pitchFamily="34" charset="-120"/>
              </a:rPr>
              <a:t>Reviews</a:t>
            </a:r>
            <a:endParaRPr lang="en-US" sz="950" dirty="0"/>
          </a:p>
        </p:txBody>
      </p:sp>
      <p:sp>
        <p:nvSpPr>
          <p:cNvPr id="15" name="Text 13"/>
          <p:cNvSpPr/>
          <p:nvPr/>
        </p:nvSpPr>
        <p:spPr>
          <a:xfrm>
            <a:off x="6473952"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Guides</a:t>
            </a:r>
            <a:endParaRPr lang="en-US" sz="950" dirty="0"/>
          </a:p>
        </p:txBody>
      </p:sp>
      <p:sp>
        <p:nvSpPr>
          <p:cNvPr id="16" name="Shape 14"/>
          <p:cNvSpPr/>
          <p:nvPr/>
        </p:nvSpPr>
        <p:spPr>
          <a:xfrm>
            <a:off x="9658807" y="1984248"/>
            <a:ext cx="1481328" cy="246888"/>
          </a:xfrm>
          <a:prstGeom prst="rect">
            <a:avLst/>
          </a:prstGeom>
          <a:solidFill>
            <a:srgbClr val="14181D"/>
          </a:solidFill>
          <a:ln/>
        </p:spPr>
      </p:sp>
      <p:sp>
        <p:nvSpPr>
          <p:cNvPr id="17" name="Text 15"/>
          <p:cNvSpPr/>
          <p:nvPr/>
        </p:nvSpPr>
        <p:spPr>
          <a:xfrm>
            <a:off x="9658807" y="1984248"/>
            <a:ext cx="148132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Book a site visit</a:t>
            </a:r>
            <a:endParaRPr lang="en-US" sz="850" dirty="0"/>
          </a:p>
        </p:txBody>
      </p:sp>
      <p:sp>
        <p:nvSpPr>
          <p:cNvPr id="18" name="Text 16"/>
          <p:cNvSpPr/>
          <p:nvPr/>
        </p:nvSpPr>
        <p:spPr>
          <a:xfrm>
            <a:off x="1051560" y="2450592"/>
            <a:ext cx="5943600" cy="201168"/>
          </a:xfrm>
          <a:prstGeom prst="rect">
            <a:avLst/>
          </a:prstGeom>
          <a:noFill/>
          <a:ln/>
        </p:spPr>
        <p:txBody>
          <a:bodyPr wrap="square" lIns="0" tIns="0" rIns="0" bIns="0" rtlCol="0" anchor="ctr"/>
          <a:lstStyle/>
          <a:p>
            <a:pPr indent="0" marL="0">
              <a:buNone/>
            </a:pPr>
            <a:r>
              <a:rPr lang="en-US" sz="800" spc="120" kern="0" dirty="0">
                <a:solidFill>
                  <a:srgbClr val="8A9099"/>
                </a:solidFill>
                <a:latin typeface="Calibri" pitchFamily="34" charset="0"/>
                <a:ea typeface="Calibri" pitchFamily="34" charset="-122"/>
                <a:cs typeface="Calibri" pitchFamily="34" charset="-120"/>
              </a:rPr>
              <a:t>OTHO PROJECT REVIEW  ·  KOKAPET</a:t>
            </a:r>
            <a:endParaRPr lang="en-US" sz="800" dirty="0"/>
          </a:p>
        </p:txBody>
      </p:sp>
      <p:sp>
        <p:nvSpPr>
          <p:cNvPr id="19" name="Text 17"/>
          <p:cNvSpPr/>
          <p:nvPr/>
        </p:nvSpPr>
        <p:spPr>
          <a:xfrm>
            <a:off x="1051560" y="2688336"/>
            <a:ext cx="5943600" cy="457200"/>
          </a:xfrm>
          <a:prstGeom prst="rect">
            <a:avLst/>
          </a:prstGeom>
          <a:noFill/>
          <a:ln/>
        </p:spPr>
        <p:txBody>
          <a:bodyPr wrap="square" lIns="0" tIns="0" rIns="0" bIns="0" rtlCol="0" anchor="ctr"/>
          <a:lstStyle/>
          <a:p>
            <a:pPr indent="0" marL="0">
              <a:buNone/>
            </a:pPr>
            <a:r>
              <a:rPr lang="en-US" sz="2200" b="1" spc="-50" kern="0" dirty="0">
                <a:solidFill>
                  <a:srgbClr val="14181D"/>
                </a:solidFill>
                <a:latin typeface="Cambria" pitchFamily="34" charset="0"/>
                <a:ea typeface="Cambria" pitchFamily="34" charset="-122"/>
                <a:cs typeface="Cambria" pitchFamily="34" charset="-120"/>
              </a:rPr>
              <a:t>Neopolis — Tower A</a:t>
            </a:r>
            <a:endParaRPr lang="en-US" sz="2200" dirty="0"/>
          </a:p>
        </p:txBody>
      </p:sp>
      <p:sp>
        <p:nvSpPr>
          <p:cNvPr id="20" name="Text 18"/>
          <p:cNvSpPr/>
          <p:nvPr/>
        </p:nvSpPr>
        <p:spPr>
          <a:xfrm>
            <a:off x="1051560" y="3163824"/>
            <a:ext cx="5943600" cy="237744"/>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Reviewed on site, 14 August 2026. Verified against TG-RERA filing.</a:t>
            </a:r>
            <a:endParaRPr lang="en-US" sz="950" dirty="0"/>
          </a:p>
        </p:txBody>
      </p:sp>
      <p:sp>
        <p:nvSpPr>
          <p:cNvPr id="21" name="Shape 19"/>
          <p:cNvSpPr/>
          <p:nvPr/>
        </p:nvSpPr>
        <p:spPr>
          <a:xfrm>
            <a:off x="8854135" y="2487168"/>
            <a:ext cx="2286000" cy="914400"/>
          </a:xfrm>
          <a:prstGeom prst="rect">
            <a:avLst/>
          </a:prstGeom>
          <a:solidFill>
            <a:srgbClr val="14181D"/>
          </a:solidFill>
          <a:ln/>
        </p:spPr>
      </p:sp>
      <p:sp>
        <p:nvSpPr>
          <p:cNvPr id="22" name="Text 20"/>
          <p:cNvSpPr/>
          <p:nvPr/>
        </p:nvSpPr>
        <p:spPr>
          <a:xfrm>
            <a:off x="8945575" y="2578608"/>
            <a:ext cx="914400" cy="548640"/>
          </a:xfrm>
          <a:prstGeom prst="rect">
            <a:avLst/>
          </a:prstGeom>
          <a:noFill/>
          <a:ln/>
        </p:spPr>
        <p:txBody>
          <a:bodyPr wrap="square" lIns="0" tIns="0" rIns="0" bIns="0" rtlCol="0" anchor="ctr"/>
          <a:lstStyle/>
          <a:p>
            <a:pPr indent="0" marL="0">
              <a:buNone/>
            </a:pPr>
            <a:r>
              <a:rPr lang="en-US" sz="3000" b="1" dirty="0">
                <a:solidFill>
                  <a:srgbClr val="D9B061"/>
                </a:solidFill>
                <a:latin typeface="Cambria" pitchFamily="34" charset="0"/>
                <a:ea typeface="Cambria" pitchFamily="34" charset="-122"/>
                <a:cs typeface="Cambria" pitchFamily="34" charset="-120"/>
              </a:rPr>
              <a:t>7.4</a:t>
            </a:r>
            <a:endParaRPr lang="en-US" sz="3000" dirty="0"/>
          </a:p>
        </p:txBody>
      </p:sp>
      <p:sp>
        <p:nvSpPr>
          <p:cNvPr id="23" name="Text 21"/>
          <p:cNvSpPr/>
          <p:nvPr/>
        </p:nvSpPr>
        <p:spPr>
          <a:xfrm>
            <a:off x="9905695" y="2670048"/>
            <a:ext cx="1097280" cy="182880"/>
          </a:xfrm>
          <a:prstGeom prst="rect">
            <a:avLst/>
          </a:prstGeom>
          <a:noFill/>
          <a:ln/>
        </p:spPr>
        <p:txBody>
          <a:bodyPr wrap="square" lIns="0" tIns="0" rIns="0" bIns="0" rtlCol="0" anchor="ctr"/>
          <a:lstStyle/>
          <a:p>
            <a:pPr indent="0" marL="0">
              <a:buNone/>
            </a:pPr>
            <a:r>
              <a:rPr lang="en-US" sz="750" spc="100" kern="0" dirty="0">
                <a:solidFill>
                  <a:srgbClr val="79818A"/>
                </a:solidFill>
                <a:latin typeface="Calibri" pitchFamily="34" charset="0"/>
                <a:ea typeface="Calibri" pitchFamily="34" charset="-122"/>
                <a:cs typeface="Calibri" pitchFamily="34" charset="-120"/>
              </a:rPr>
              <a:t>OTHO SCORE</a:t>
            </a:r>
            <a:endParaRPr lang="en-US" sz="750" dirty="0"/>
          </a:p>
        </p:txBody>
      </p:sp>
      <p:sp>
        <p:nvSpPr>
          <p:cNvPr id="24" name="Text 22"/>
          <p:cNvSpPr/>
          <p:nvPr/>
        </p:nvSpPr>
        <p:spPr>
          <a:xfrm>
            <a:off x="9905695" y="2852928"/>
            <a:ext cx="1097280" cy="20116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out of 10</a:t>
            </a:r>
            <a:endParaRPr lang="en-US" sz="900" dirty="0"/>
          </a:p>
        </p:txBody>
      </p:sp>
      <p:sp>
        <p:nvSpPr>
          <p:cNvPr id="25" name="Shape 23"/>
          <p:cNvSpPr/>
          <p:nvPr/>
        </p:nvSpPr>
        <p:spPr>
          <a:xfrm>
            <a:off x="1051560" y="3602736"/>
            <a:ext cx="4934560" cy="2487168"/>
          </a:xfrm>
          <a:prstGeom prst="rect">
            <a:avLst/>
          </a:prstGeom>
          <a:solidFill>
            <a:srgbClr val="F1F1ED"/>
          </a:solidFill>
          <a:ln/>
        </p:spPr>
      </p:sp>
      <p:sp>
        <p:nvSpPr>
          <p:cNvPr id="26" name="Shape 24"/>
          <p:cNvSpPr/>
          <p:nvPr/>
        </p:nvSpPr>
        <p:spPr>
          <a:xfrm>
            <a:off x="1252728" y="3803904"/>
            <a:ext cx="118872" cy="118872"/>
          </a:xfrm>
          <a:prstGeom prst="ellipse">
            <a:avLst/>
          </a:prstGeom>
          <a:solidFill>
            <a:srgbClr val="2E7150"/>
          </a:solidFill>
          <a:ln/>
        </p:spPr>
      </p:sp>
      <p:sp>
        <p:nvSpPr>
          <p:cNvPr id="27" name="Text 25"/>
          <p:cNvSpPr/>
          <p:nvPr/>
        </p:nvSpPr>
        <p:spPr>
          <a:xfrm>
            <a:off x="1472184" y="3712464"/>
            <a:ext cx="4312768" cy="310896"/>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What's good</a:t>
            </a:r>
            <a:endParaRPr lang="en-US" sz="1300" dirty="0"/>
          </a:p>
        </p:txBody>
      </p:sp>
      <p:sp>
        <p:nvSpPr>
          <p:cNvPr id="28" name="Shape 26"/>
          <p:cNvSpPr/>
          <p:nvPr/>
        </p:nvSpPr>
        <p:spPr>
          <a:xfrm>
            <a:off x="1216152" y="4078224"/>
            <a:ext cx="4605376" cy="420624"/>
          </a:xfrm>
          <a:prstGeom prst="rect">
            <a:avLst/>
          </a:prstGeom>
          <a:solidFill>
            <a:srgbClr val="FFFFFF"/>
          </a:solidFill>
          <a:ln/>
        </p:spPr>
      </p:sp>
      <p:sp>
        <p:nvSpPr>
          <p:cNvPr id="29" name="Text 27"/>
          <p:cNvSpPr/>
          <p:nvPr/>
        </p:nvSpPr>
        <p:spPr>
          <a:xfrm>
            <a:off x="1344168" y="4078224"/>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Lowest loading factor in the layout at 36%</a:t>
            </a:r>
            <a:endParaRPr lang="en-US" sz="950" dirty="0"/>
          </a:p>
        </p:txBody>
      </p:sp>
      <p:sp>
        <p:nvSpPr>
          <p:cNvPr id="30" name="Shape 28"/>
          <p:cNvSpPr/>
          <p:nvPr/>
        </p:nvSpPr>
        <p:spPr>
          <a:xfrm>
            <a:off x="1216152" y="4562856"/>
            <a:ext cx="4605376" cy="420624"/>
          </a:xfrm>
          <a:prstGeom prst="rect">
            <a:avLst/>
          </a:prstGeom>
          <a:solidFill>
            <a:srgbClr val="FFFFFF"/>
          </a:solidFill>
          <a:ln/>
        </p:spPr>
      </p:sp>
      <p:sp>
        <p:nvSpPr>
          <p:cNvPr id="31" name="Text 29"/>
          <p:cNvSpPr/>
          <p:nvPr/>
        </p:nvSpPr>
        <p:spPr>
          <a:xfrm>
            <a:off x="1344168" y="4562856"/>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18% more land per unit than the nearest comparison</a:t>
            </a:r>
            <a:endParaRPr lang="en-US" sz="950" dirty="0"/>
          </a:p>
        </p:txBody>
      </p:sp>
      <p:sp>
        <p:nvSpPr>
          <p:cNvPr id="32" name="Shape 30"/>
          <p:cNvSpPr/>
          <p:nvPr/>
        </p:nvSpPr>
        <p:spPr>
          <a:xfrm>
            <a:off x="1216152" y="5047488"/>
            <a:ext cx="4605376" cy="420624"/>
          </a:xfrm>
          <a:prstGeom prst="rect">
            <a:avLst/>
          </a:prstGeom>
          <a:solidFill>
            <a:srgbClr val="FFFFFF"/>
          </a:solidFill>
          <a:ln/>
        </p:spPr>
      </p:sp>
      <p:sp>
        <p:nvSpPr>
          <p:cNvPr id="33" name="Text 31"/>
          <p:cNvSpPr/>
          <p:nvPr/>
        </p:nvSpPr>
        <p:spPr>
          <a:xfrm>
            <a:off x="1344168" y="5047488"/>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Developer has delivered four projects on schedule</a:t>
            </a:r>
            <a:endParaRPr lang="en-US" sz="950" dirty="0"/>
          </a:p>
        </p:txBody>
      </p:sp>
      <p:sp>
        <p:nvSpPr>
          <p:cNvPr id="34" name="Shape 32"/>
          <p:cNvSpPr/>
          <p:nvPr/>
        </p:nvSpPr>
        <p:spPr>
          <a:xfrm>
            <a:off x="1216152" y="5532120"/>
            <a:ext cx="4605376" cy="420624"/>
          </a:xfrm>
          <a:prstGeom prst="rect">
            <a:avLst/>
          </a:prstGeom>
          <a:solidFill>
            <a:srgbClr val="FFFFFF"/>
          </a:solidFill>
          <a:ln/>
        </p:spPr>
      </p:sp>
      <p:sp>
        <p:nvSpPr>
          <p:cNvPr id="35" name="Text 33"/>
          <p:cNvSpPr/>
          <p:nvPr/>
        </p:nvSpPr>
        <p:spPr>
          <a:xfrm>
            <a:off x="1344168" y="5532120"/>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Genuine 9am commute to Financial District: 14 min</a:t>
            </a:r>
            <a:endParaRPr lang="en-US" sz="950" dirty="0"/>
          </a:p>
        </p:txBody>
      </p:sp>
      <p:sp>
        <p:nvSpPr>
          <p:cNvPr id="36" name="Shape 34"/>
          <p:cNvSpPr/>
          <p:nvPr/>
        </p:nvSpPr>
        <p:spPr>
          <a:xfrm>
            <a:off x="6205576" y="3602736"/>
            <a:ext cx="4934560" cy="2487168"/>
          </a:xfrm>
          <a:prstGeom prst="rect">
            <a:avLst/>
          </a:prstGeom>
          <a:solidFill>
            <a:srgbClr val="F1F1ED"/>
          </a:solidFill>
          <a:ln/>
        </p:spPr>
      </p:sp>
      <p:sp>
        <p:nvSpPr>
          <p:cNvPr id="37" name="Shape 35"/>
          <p:cNvSpPr/>
          <p:nvPr/>
        </p:nvSpPr>
        <p:spPr>
          <a:xfrm>
            <a:off x="6406744" y="3803904"/>
            <a:ext cx="118872" cy="118872"/>
          </a:xfrm>
          <a:prstGeom prst="ellipse">
            <a:avLst/>
          </a:prstGeom>
          <a:solidFill>
            <a:srgbClr val="A8382C"/>
          </a:solidFill>
          <a:ln/>
        </p:spPr>
      </p:sp>
      <p:sp>
        <p:nvSpPr>
          <p:cNvPr id="38" name="Text 36"/>
          <p:cNvSpPr/>
          <p:nvPr/>
        </p:nvSpPr>
        <p:spPr>
          <a:xfrm>
            <a:off x="6626200" y="3712464"/>
            <a:ext cx="4312768" cy="310896"/>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What we'd flag</a:t>
            </a:r>
            <a:endParaRPr lang="en-US" sz="1300" dirty="0"/>
          </a:p>
        </p:txBody>
      </p:sp>
      <p:sp>
        <p:nvSpPr>
          <p:cNvPr id="39" name="Shape 37"/>
          <p:cNvSpPr/>
          <p:nvPr/>
        </p:nvSpPr>
        <p:spPr>
          <a:xfrm>
            <a:off x="6370168" y="4078224"/>
            <a:ext cx="4605376" cy="420624"/>
          </a:xfrm>
          <a:prstGeom prst="rect">
            <a:avLst/>
          </a:prstGeom>
          <a:solidFill>
            <a:srgbClr val="FFFFFF"/>
          </a:solidFill>
          <a:ln/>
        </p:spPr>
      </p:sp>
      <p:sp>
        <p:nvSpPr>
          <p:cNvPr id="40" name="Text 38"/>
          <p:cNvSpPr/>
          <p:nvPr/>
        </p:nvSpPr>
        <p:spPr>
          <a:xfrm>
            <a:off x="6498184" y="4078224"/>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Metro Phase 2 is unfunded — do not price it in</a:t>
            </a:r>
            <a:endParaRPr lang="en-US" sz="950" dirty="0"/>
          </a:p>
        </p:txBody>
      </p:sp>
      <p:sp>
        <p:nvSpPr>
          <p:cNvPr id="41" name="Shape 39"/>
          <p:cNvSpPr/>
          <p:nvPr/>
        </p:nvSpPr>
        <p:spPr>
          <a:xfrm>
            <a:off x="6370168" y="4562856"/>
            <a:ext cx="4605376" cy="420624"/>
          </a:xfrm>
          <a:prstGeom prst="rect">
            <a:avLst/>
          </a:prstGeom>
          <a:solidFill>
            <a:srgbClr val="FFFFFF"/>
          </a:solidFill>
          <a:ln/>
        </p:spPr>
      </p:sp>
      <p:sp>
        <p:nvSpPr>
          <p:cNvPr id="42" name="Text 40"/>
          <p:cNvSpPr/>
          <p:nvPr/>
        </p:nvSpPr>
        <p:spPr>
          <a:xfrm>
            <a:off x="6498184" y="4562856"/>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Amenity ratio is 1 clubhouse per 640 families</a:t>
            </a:r>
            <a:endParaRPr lang="en-US" sz="950" dirty="0"/>
          </a:p>
        </p:txBody>
      </p:sp>
      <p:sp>
        <p:nvSpPr>
          <p:cNvPr id="43" name="Shape 41"/>
          <p:cNvSpPr/>
          <p:nvPr/>
        </p:nvSpPr>
        <p:spPr>
          <a:xfrm>
            <a:off x="6370168" y="5047488"/>
            <a:ext cx="4605376" cy="420624"/>
          </a:xfrm>
          <a:prstGeom prst="rect">
            <a:avLst/>
          </a:prstGeom>
          <a:solidFill>
            <a:srgbClr val="FFFFFF"/>
          </a:solidFill>
          <a:ln/>
        </p:spPr>
      </p:sp>
      <p:sp>
        <p:nvSpPr>
          <p:cNvPr id="44" name="Text 42"/>
          <p:cNvSpPr/>
          <p:nvPr/>
        </p:nvSpPr>
        <p:spPr>
          <a:xfrm>
            <a:off x="6498184" y="5047488"/>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Water: borewell dependent, no HMWSSB line yet</a:t>
            </a:r>
            <a:endParaRPr lang="en-US" sz="950" dirty="0"/>
          </a:p>
        </p:txBody>
      </p:sp>
      <p:sp>
        <p:nvSpPr>
          <p:cNvPr id="45" name="Shape 43"/>
          <p:cNvSpPr/>
          <p:nvPr/>
        </p:nvSpPr>
        <p:spPr>
          <a:xfrm>
            <a:off x="6370168" y="5532120"/>
            <a:ext cx="4605376" cy="420624"/>
          </a:xfrm>
          <a:prstGeom prst="rect">
            <a:avLst/>
          </a:prstGeom>
          <a:solidFill>
            <a:srgbClr val="FFFFFF"/>
          </a:solidFill>
          <a:ln/>
        </p:spPr>
      </p:sp>
      <p:sp>
        <p:nvSpPr>
          <p:cNvPr id="46" name="Text 44"/>
          <p:cNvSpPr/>
          <p:nvPr/>
        </p:nvSpPr>
        <p:spPr>
          <a:xfrm>
            <a:off x="6498184" y="5532120"/>
            <a:ext cx="4349344" cy="420624"/>
          </a:xfrm>
          <a:prstGeom prst="rect">
            <a:avLst/>
          </a:prstGeom>
          <a:noFill/>
          <a:ln/>
        </p:spPr>
        <p:txBody>
          <a:bodyPr wrap="square" lIns="0" tIns="0" rIns="0" bIns="0" rtlCol="0" anchor="ctr"/>
          <a:lstStyle/>
          <a:p>
            <a:pPr indent="0" marL="0">
              <a:lnSpc>
                <a:spcPts val="1300"/>
              </a:lnSpc>
              <a:buNone/>
            </a:pPr>
            <a:r>
              <a:rPr lang="en-US" sz="950" dirty="0">
                <a:solidFill>
                  <a:srgbClr val="555C64"/>
                </a:solidFill>
                <a:latin typeface="Calibri" pitchFamily="34" charset="0"/>
                <a:ea typeface="Calibri" pitchFamily="34" charset="-122"/>
                <a:cs typeface="Calibri" pitchFamily="34" charset="-120"/>
              </a:rPr>
              <a:t>East-facing units overlook the service road</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The locality page</a:t>
            </a:r>
            <a:endParaRPr lang="en-US" sz="3800" dirty="0"/>
          </a:p>
        </p:txBody>
      </p:sp>
      <p:sp>
        <p:nvSpPr>
          <p:cNvPr id="4" name="Shape 2"/>
          <p:cNvSpPr/>
          <p:nvPr/>
        </p:nvSpPr>
        <p:spPr>
          <a:xfrm>
            <a:off x="777240" y="1591056"/>
            <a:ext cx="10637215" cy="310896"/>
          </a:xfrm>
          <a:prstGeom prst="rect">
            <a:avLst/>
          </a:prstGeom>
          <a:solidFill>
            <a:srgbClr val="F1F1ED"/>
          </a:solidFill>
          <a:ln/>
        </p:spPr>
      </p:sp>
      <p:sp>
        <p:nvSpPr>
          <p:cNvPr id="5" name="Shape 3"/>
          <p:cNvSpPr/>
          <p:nvPr/>
        </p:nvSpPr>
        <p:spPr>
          <a:xfrm>
            <a:off x="1014984" y="1700784"/>
            <a:ext cx="91440" cy="91440"/>
          </a:xfrm>
          <a:prstGeom prst="ellipse">
            <a:avLst/>
          </a:prstGeom>
          <a:solidFill>
            <a:srgbClr val="C9C9C3"/>
          </a:solidFill>
          <a:ln/>
        </p:spPr>
      </p:sp>
      <p:sp>
        <p:nvSpPr>
          <p:cNvPr id="6" name="Shape 4"/>
          <p:cNvSpPr/>
          <p:nvPr/>
        </p:nvSpPr>
        <p:spPr>
          <a:xfrm>
            <a:off x="1188720" y="1700784"/>
            <a:ext cx="91440" cy="91440"/>
          </a:xfrm>
          <a:prstGeom prst="ellipse">
            <a:avLst/>
          </a:prstGeom>
          <a:solidFill>
            <a:srgbClr val="C9C9C3"/>
          </a:solidFill>
          <a:ln/>
        </p:spPr>
      </p:sp>
      <p:sp>
        <p:nvSpPr>
          <p:cNvPr id="7" name="Shape 5"/>
          <p:cNvSpPr/>
          <p:nvPr/>
        </p:nvSpPr>
        <p:spPr>
          <a:xfrm>
            <a:off x="1362456" y="1700784"/>
            <a:ext cx="91440" cy="91440"/>
          </a:xfrm>
          <a:prstGeom prst="ellipse">
            <a:avLst/>
          </a:prstGeom>
          <a:solidFill>
            <a:srgbClr val="C9C9C3"/>
          </a:solidFill>
          <a:ln/>
        </p:spPr>
      </p:sp>
      <p:sp>
        <p:nvSpPr>
          <p:cNvPr id="8" name="Text 6"/>
          <p:cNvSpPr/>
          <p:nvPr/>
        </p:nvSpPr>
        <p:spPr>
          <a:xfrm>
            <a:off x="1645920" y="1591056"/>
            <a:ext cx="4114800" cy="31089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otho.in / localities / kokapet</a:t>
            </a:r>
            <a:endParaRPr lang="en-US" sz="950" dirty="0"/>
          </a:p>
        </p:txBody>
      </p:sp>
      <p:sp>
        <p:nvSpPr>
          <p:cNvPr id="9" name="Shape 7"/>
          <p:cNvSpPr/>
          <p:nvPr/>
        </p:nvSpPr>
        <p:spPr>
          <a:xfrm>
            <a:off x="777240" y="1901952"/>
            <a:ext cx="10637215" cy="4270248"/>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0" name="Text 8"/>
          <p:cNvSpPr/>
          <p:nvPr/>
        </p:nvSpPr>
        <p:spPr>
          <a:xfrm>
            <a:off x="1051560" y="1901952"/>
            <a:ext cx="1097280" cy="402336"/>
          </a:xfrm>
          <a:prstGeom prst="rect">
            <a:avLst/>
          </a:prstGeom>
          <a:noFill/>
          <a:ln/>
        </p:spPr>
        <p:txBody>
          <a:bodyPr wrap="square" lIns="0" tIns="0" rIns="0" bIns="0" rtlCol="0" anchor="ctr"/>
          <a:lstStyle/>
          <a:p>
            <a:pPr indent="0" marL="0">
              <a:buNone/>
            </a:pPr>
            <a:r>
              <a:rPr lang="en-US" sz="1350" b="1" dirty="0">
                <a:solidFill>
                  <a:srgbClr val="14181D"/>
                </a:solidFill>
                <a:latin typeface="Cambria" pitchFamily="34" charset="0"/>
                <a:ea typeface="Cambria" pitchFamily="34" charset="-122"/>
                <a:cs typeface="Cambria" pitchFamily="34" charset="-120"/>
              </a:rPr>
              <a:t>OTHO</a:t>
            </a:r>
            <a:endParaRPr lang="en-US" sz="1350" dirty="0"/>
          </a:p>
        </p:txBody>
      </p:sp>
      <p:sp>
        <p:nvSpPr>
          <p:cNvPr id="11" name="Text 9"/>
          <p:cNvSpPr/>
          <p:nvPr/>
        </p:nvSpPr>
        <p:spPr>
          <a:xfrm>
            <a:off x="2377440"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Projects</a:t>
            </a:r>
            <a:endParaRPr lang="en-US" sz="950" dirty="0"/>
          </a:p>
        </p:txBody>
      </p:sp>
      <p:sp>
        <p:nvSpPr>
          <p:cNvPr id="12" name="Text 10"/>
          <p:cNvSpPr/>
          <p:nvPr/>
        </p:nvSpPr>
        <p:spPr>
          <a:xfrm>
            <a:off x="3401568"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Compare</a:t>
            </a:r>
            <a:endParaRPr lang="en-US" sz="950" dirty="0"/>
          </a:p>
        </p:txBody>
      </p:sp>
      <p:sp>
        <p:nvSpPr>
          <p:cNvPr id="13" name="Text 11"/>
          <p:cNvSpPr/>
          <p:nvPr/>
        </p:nvSpPr>
        <p:spPr>
          <a:xfrm>
            <a:off x="4425696" y="1901952"/>
            <a:ext cx="987552" cy="402336"/>
          </a:xfrm>
          <a:prstGeom prst="rect">
            <a:avLst/>
          </a:prstGeom>
          <a:noFill/>
          <a:ln/>
        </p:spPr>
        <p:txBody>
          <a:bodyPr wrap="square" lIns="0" tIns="0" rIns="0" bIns="0" rtlCol="0" anchor="ctr"/>
          <a:lstStyle/>
          <a:p>
            <a:pPr indent="0" marL="0">
              <a:buNone/>
            </a:pPr>
            <a:r>
              <a:rPr lang="en-US" sz="950" b="1" dirty="0">
                <a:solidFill>
                  <a:srgbClr val="14181D"/>
                </a:solidFill>
                <a:latin typeface="Calibri" pitchFamily="34" charset="0"/>
                <a:ea typeface="Calibri" pitchFamily="34" charset="-122"/>
                <a:cs typeface="Calibri" pitchFamily="34" charset="-120"/>
              </a:rPr>
              <a:t>Localities</a:t>
            </a:r>
            <a:endParaRPr lang="en-US" sz="950" dirty="0"/>
          </a:p>
        </p:txBody>
      </p:sp>
      <p:sp>
        <p:nvSpPr>
          <p:cNvPr id="14" name="Text 12"/>
          <p:cNvSpPr/>
          <p:nvPr/>
        </p:nvSpPr>
        <p:spPr>
          <a:xfrm>
            <a:off x="5449824"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Reviews</a:t>
            </a:r>
            <a:endParaRPr lang="en-US" sz="950" dirty="0"/>
          </a:p>
        </p:txBody>
      </p:sp>
      <p:sp>
        <p:nvSpPr>
          <p:cNvPr id="15" name="Text 13"/>
          <p:cNvSpPr/>
          <p:nvPr/>
        </p:nvSpPr>
        <p:spPr>
          <a:xfrm>
            <a:off x="6473952" y="1901952"/>
            <a:ext cx="987552" cy="402336"/>
          </a:xfrm>
          <a:prstGeom prst="rect">
            <a:avLst/>
          </a:prstGeom>
          <a:noFill/>
          <a:ln/>
        </p:spPr>
        <p:txBody>
          <a:bodyPr wrap="square" lIns="0" tIns="0" rIns="0" bIns="0" rtlCol="0" anchor="ctr"/>
          <a:lstStyle/>
          <a:p>
            <a:pPr indent="0" marL="0">
              <a:buNone/>
            </a:pPr>
            <a:r>
              <a:rPr lang="en-US" sz="950" dirty="0">
                <a:solidFill>
                  <a:srgbClr val="8A9099"/>
                </a:solidFill>
                <a:latin typeface="Calibri" pitchFamily="34" charset="0"/>
                <a:ea typeface="Calibri" pitchFamily="34" charset="-122"/>
                <a:cs typeface="Calibri" pitchFamily="34" charset="-120"/>
              </a:rPr>
              <a:t>Guides</a:t>
            </a:r>
            <a:endParaRPr lang="en-US" sz="950" dirty="0"/>
          </a:p>
        </p:txBody>
      </p:sp>
      <p:sp>
        <p:nvSpPr>
          <p:cNvPr id="16" name="Shape 14"/>
          <p:cNvSpPr/>
          <p:nvPr/>
        </p:nvSpPr>
        <p:spPr>
          <a:xfrm>
            <a:off x="9658807" y="1984248"/>
            <a:ext cx="1481328" cy="246888"/>
          </a:xfrm>
          <a:prstGeom prst="rect">
            <a:avLst/>
          </a:prstGeom>
          <a:solidFill>
            <a:srgbClr val="14181D"/>
          </a:solidFill>
          <a:ln/>
        </p:spPr>
      </p:sp>
      <p:sp>
        <p:nvSpPr>
          <p:cNvPr id="17" name="Text 15"/>
          <p:cNvSpPr/>
          <p:nvPr/>
        </p:nvSpPr>
        <p:spPr>
          <a:xfrm>
            <a:off x="9658807" y="1984248"/>
            <a:ext cx="1481328"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Book a site visit</a:t>
            </a:r>
            <a:endParaRPr lang="en-US" sz="850" dirty="0"/>
          </a:p>
        </p:txBody>
      </p:sp>
      <p:sp>
        <p:nvSpPr>
          <p:cNvPr id="18" name="Text 16"/>
          <p:cNvSpPr/>
          <p:nvPr/>
        </p:nvSpPr>
        <p:spPr>
          <a:xfrm>
            <a:off x="1051560" y="2450592"/>
            <a:ext cx="5943600" cy="201168"/>
          </a:xfrm>
          <a:prstGeom prst="rect">
            <a:avLst/>
          </a:prstGeom>
          <a:noFill/>
          <a:ln/>
        </p:spPr>
        <p:txBody>
          <a:bodyPr wrap="square" lIns="0" tIns="0" rIns="0" bIns="0" rtlCol="0" anchor="ctr"/>
          <a:lstStyle/>
          <a:p>
            <a:pPr indent="0" marL="0">
              <a:buNone/>
            </a:pPr>
            <a:r>
              <a:rPr lang="en-US" sz="800" spc="120" kern="0" dirty="0">
                <a:solidFill>
                  <a:srgbClr val="8A9099"/>
                </a:solidFill>
                <a:latin typeface="Calibri" pitchFamily="34" charset="0"/>
                <a:ea typeface="Calibri" pitchFamily="34" charset="-122"/>
                <a:cs typeface="Calibri" pitchFamily="34" charset="-120"/>
              </a:rPr>
              <a:t>LOCALITY REPORT  ·  UPDATED MONTHLY</a:t>
            </a:r>
            <a:endParaRPr lang="en-US" sz="800" dirty="0"/>
          </a:p>
        </p:txBody>
      </p:sp>
      <p:sp>
        <p:nvSpPr>
          <p:cNvPr id="19" name="Text 17"/>
          <p:cNvSpPr/>
          <p:nvPr/>
        </p:nvSpPr>
        <p:spPr>
          <a:xfrm>
            <a:off x="1051560" y="2688336"/>
            <a:ext cx="5943600" cy="457200"/>
          </a:xfrm>
          <a:prstGeom prst="rect">
            <a:avLst/>
          </a:prstGeom>
          <a:noFill/>
          <a:ln/>
        </p:spPr>
        <p:txBody>
          <a:bodyPr wrap="square" lIns="0" tIns="0" rIns="0" bIns="0" rtlCol="0" anchor="ctr"/>
          <a:lstStyle/>
          <a:p>
            <a:pPr indent="0" marL="0">
              <a:buNone/>
            </a:pPr>
            <a:r>
              <a:rPr lang="en-US" sz="2400" b="1" spc="-50" kern="0" dirty="0">
                <a:solidFill>
                  <a:srgbClr val="14181D"/>
                </a:solidFill>
                <a:latin typeface="Cambria" pitchFamily="34" charset="0"/>
                <a:ea typeface="Cambria" pitchFamily="34" charset="-122"/>
                <a:cs typeface="Cambria" pitchFamily="34" charset="-120"/>
              </a:rPr>
              <a:t>Kokapet</a:t>
            </a:r>
            <a:endParaRPr lang="en-US" sz="2400" dirty="0"/>
          </a:p>
        </p:txBody>
      </p:sp>
      <p:sp>
        <p:nvSpPr>
          <p:cNvPr id="20" name="Text 18"/>
          <p:cNvSpPr/>
          <p:nvPr/>
        </p:nvSpPr>
        <p:spPr>
          <a:xfrm>
            <a:off x="1051560" y="3218688"/>
            <a:ext cx="6400800" cy="237744"/>
          </a:xfrm>
          <a:prstGeom prst="rect">
            <a:avLst/>
          </a:prstGeom>
          <a:noFill/>
          <a:ln/>
        </p:spPr>
        <p:txBody>
          <a:bodyPr wrap="square" lIns="0" tIns="0" rIns="0" bIns="0" rtlCol="0" anchor="ctr"/>
          <a:lstStyle/>
          <a:p>
            <a:pPr indent="0" marL="0">
              <a:buNone/>
            </a:pPr>
            <a:r>
              <a:rPr lang="en-US" sz="1150" b="1" dirty="0">
                <a:solidFill>
                  <a:srgbClr val="14181D"/>
                </a:solidFill>
                <a:latin typeface="Cambria" pitchFamily="34" charset="0"/>
                <a:ea typeface="Cambria" pitchFamily="34" charset="-122"/>
                <a:cs typeface="Cambria" pitchFamily="34" charset="-120"/>
              </a:rPr>
              <a:t>Infrastructure confidence — what's funded, what's promised</a:t>
            </a:r>
            <a:endParaRPr lang="en-US" sz="1150" dirty="0"/>
          </a:p>
        </p:txBody>
      </p:sp>
      <p:sp>
        <p:nvSpPr>
          <p:cNvPr id="21" name="Shape 19"/>
          <p:cNvSpPr/>
          <p:nvPr/>
        </p:nvSpPr>
        <p:spPr>
          <a:xfrm>
            <a:off x="1051560" y="3493008"/>
            <a:ext cx="10088575" cy="402336"/>
          </a:xfrm>
          <a:prstGeom prst="rect">
            <a:avLst/>
          </a:prstGeom>
          <a:solidFill>
            <a:srgbClr val="F1F1ED"/>
          </a:solidFill>
          <a:ln/>
        </p:spPr>
      </p:sp>
      <p:sp>
        <p:nvSpPr>
          <p:cNvPr id="22" name="Text 20"/>
          <p:cNvSpPr/>
          <p:nvPr/>
        </p:nvSpPr>
        <p:spPr>
          <a:xfrm>
            <a:off x="1252728" y="3493008"/>
            <a:ext cx="3383280" cy="402336"/>
          </a:xfrm>
          <a:prstGeom prst="rect">
            <a:avLst/>
          </a:prstGeom>
          <a:noFill/>
          <a:ln/>
        </p:spPr>
        <p:txBody>
          <a:bodyPr wrap="square" lIns="0" tIns="0" rIns="0" bIns="0" rtlCol="0" anchor="ctr"/>
          <a:lstStyle/>
          <a:p>
            <a:pPr indent="0" marL="0">
              <a:buNone/>
            </a:pPr>
            <a:r>
              <a:rPr lang="en-US" sz="1100" b="1" dirty="0">
                <a:solidFill>
                  <a:srgbClr val="14181D"/>
                </a:solidFill>
                <a:latin typeface="Cambria" pitchFamily="34" charset="0"/>
                <a:ea typeface="Cambria" pitchFamily="34" charset="-122"/>
                <a:cs typeface="Cambria" pitchFamily="34" charset="-120"/>
              </a:rPr>
              <a:t>ORR access</a:t>
            </a:r>
            <a:endParaRPr lang="en-US" sz="1100" dirty="0"/>
          </a:p>
        </p:txBody>
      </p:sp>
      <p:sp>
        <p:nvSpPr>
          <p:cNvPr id="23" name="Text 21"/>
          <p:cNvSpPr/>
          <p:nvPr/>
        </p:nvSpPr>
        <p:spPr>
          <a:xfrm>
            <a:off x="4800600" y="3493008"/>
            <a:ext cx="4967935" cy="402336"/>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Operational since 2018</a:t>
            </a:r>
            <a:endParaRPr lang="en-US" sz="950" dirty="0"/>
          </a:p>
        </p:txBody>
      </p:sp>
      <p:sp>
        <p:nvSpPr>
          <p:cNvPr id="24" name="Shape 22"/>
          <p:cNvSpPr/>
          <p:nvPr/>
        </p:nvSpPr>
        <p:spPr>
          <a:xfrm>
            <a:off x="9905695" y="3584448"/>
            <a:ext cx="1033272" cy="219456"/>
          </a:xfrm>
          <a:prstGeom prst="rect">
            <a:avLst/>
          </a:prstGeom>
          <a:solidFill>
            <a:srgbClr val="E6F0EA"/>
          </a:solidFill>
          <a:ln/>
        </p:spPr>
      </p:sp>
      <p:sp>
        <p:nvSpPr>
          <p:cNvPr id="25" name="Text 23"/>
          <p:cNvSpPr/>
          <p:nvPr/>
        </p:nvSpPr>
        <p:spPr>
          <a:xfrm>
            <a:off x="9905695" y="3584448"/>
            <a:ext cx="1033272" cy="219456"/>
          </a:xfrm>
          <a:prstGeom prst="rect">
            <a:avLst/>
          </a:prstGeom>
          <a:noFill/>
          <a:ln/>
        </p:spPr>
        <p:txBody>
          <a:bodyPr wrap="square" lIns="0" tIns="0" rIns="0" bIns="0" rtlCol="0" anchor="ctr"/>
          <a:lstStyle/>
          <a:p>
            <a:pPr algn="ctr" indent="0" marL="0">
              <a:buNone/>
            </a:pPr>
            <a:r>
              <a:rPr lang="en-US" sz="750" b="1" spc="60" kern="0" dirty="0">
                <a:solidFill>
                  <a:srgbClr val="2E7150"/>
                </a:solidFill>
                <a:latin typeface="Calibri" pitchFamily="34" charset="0"/>
                <a:ea typeface="Calibri" pitchFamily="34" charset="-122"/>
                <a:cs typeface="Calibri" pitchFamily="34" charset="-120"/>
              </a:rPr>
              <a:t>CONFIRMED</a:t>
            </a:r>
            <a:endParaRPr lang="en-US" sz="750" dirty="0"/>
          </a:p>
        </p:txBody>
      </p:sp>
      <p:sp>
        <p:nvSpPr>
          <p:cNvPr id="26" name="Shape 24"/>
          <p:cNvSpPr/>
          <p:nvPr/>
        </p:nvSpPr>
        <p:spPr>
          <a:xfrm>
            <a:off x="1051560" y="3950208"/>
            <a:ext cx="10088575" cy="402336"/>
          </a:xfrm>
          <a:prstGeom prst="rect">
            <a:avLst/>
          </a:prstGeom>
          <a:solidFill>
            <a:srgbClr val="F1F1ED"/>
          </a:solidFill>
          <a:ln/>
        </p:spPr>
      </p:sp>
      <p:sp>
        <p:nvSpPr>
          <p:cNvPr id="27" name="Text 25"/>
          <p:cNvSpPr/>
          <p:nvPr/>
        </p:nvSpPr>
        <p:spPr>
          <a:xfrm>
            <a:off x="1252728" y="3950208"/>
            <a:ext cx="3383280" cy="402336"/>
          </a:xfrm>
          <a:prstGeom prst="rect">
            <a:avLst/>
          </a:prstGeom>
          <a:noFill/>
          <a:ln/>
        </p:spPr>
        <p:txBody>
          <a:bodyPr wrap="square" lIns="0" tIns="0" rIns="0" bIns="0" rtlCol="0" anchor="ctr"/>
          <a:lstStyle/>
          <a:p>
            <a:pPr indent="0" marL="0">
              <a:buNone/>
            </a:pPr>
            <a:r>
              <a:rPr lang="en-US" sz="1100" b="1" dirty="0">
                <a:solidFill>
                  <a:srgbClr val="14181D"/>
                </a:solidFill>
                <a:latin typeface="Cambria" pitchFamily="34" charset="0"/>
                <a:ea typeface="Cambria" pitchFamily="34" charset="-122"/>
                <a:cs typeface="Cambria" pitchFamily="34" charset="-120"/>
              </a:rPr>
              <a:t>Financial District road widening</a:t>
            </a:r>
            <a:endParaRPr lang="en-US" sz="1100" dirty="0"/>
          </a:p>
        </p:txBody>
      </p:sp>
      <p:sp>
        <p:nvSpPr>
          <p:cNvPr id="28" name="Text 26"/>
          <p:cNvSpPr/>
          <p:nvPr/>
        </p:nvSpPr>
        <p:spPr>
          <a:xfrm>
            <a:off x="4800600" y="3950208"/>
            <a:ext cx="4967935" cy="402336"/>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Funded, under construction</a:t>
            </a:r>
            <a:endParaRPr lang="en-US" sz="950" dirty="0"/>
          </a:p>
        </p:txBody>
      </p:sp>
      <p:sp>
        <p:nvSpPr>
          <p:cNvPr id="29" name="Shape 27"/>
          <p:cNvSpPr/>
          <p:nvPr/>
        </p:nvSpPr>
        <p:spPr>
          <a:xfrm>
            <a:off x="9905695" y="4041648"/>
            <a:ext cx="1033272" cy="219456"/>
          </a:xfrm>
          <a:prstGeom prst="rect">
            <a:avLst/>
          </a:prstGeom>
          <a:solidFill>
            <a:srgbClr val="E6F0EA"/>
          </a:solidFill>
          <a:ln/>
        </p:spPr>
      </p:sp>
      <p:sp>
        <p:nvSpPr>
          <p:cNvPr id="30" name="Text 28"/>
          <p:cNvSpPr/>
          <p:nvPr/>
        </p:nvSpPr>
        <p:spPr>
          <a:xfrm>
            <a:off x="9905695" y="4041648"/>
            <a:ext cx="1033272" cy="219456"/>
          </a:xfrm>
          <a:prstGeom prst="rect">
            <a:avLst/>
          </a:prstGeom>
          <a:noFill/>
          <a:ln/>
        </p:spPr>
        <p:txBody>
          <a:bodyPr wrap="square" lIns="0" tIns="0" rIns="0" bIns="0" rtlCol="0" anchor="ctr"/>
          <a:lstStyle/>
          <a:p>
            <a:pPr algn="ctr" indent="0" marL="0">
              <a:buNone/>
            </a:pPr>
            <a:r>
              <a:rPr lang="en-US" sz="750" b="1" spc="60" kern="0" dirty="0">
                <a:solidFill>
                  <a:srgbClr val="2E7150"/>
                </a:solidFill>
                <a:latin typeface="Calibri" pitchFamily="34" charset="0"/>
                <a:ea typeface="Calibri" pitchFamily="34" charset="-122"/>
                <a:cs typeface="Calibri" pitchFamily="34" charset="-120"/>
              </a:rPr>
              <a:t>LIKELY</a:t>
            </a:r>
            <a:endParaRPr lang="en-US" sz="750" dirty="0"/>
          </a:p>
        </p:txBody>
      </p:sp>
      <p:sp>
        <p:nvSpPr>
          <p:cNvPr id="31" name="Shape 29"/>
          <p:cNvSpPr/>
          <p:nvPr/>
        </p:nvSpPr>
        <p:spPr>
          <a:xfrm>
            <a:off x="1051560" y="4407408"/>
            <a:ext cx="10088575" cy="402336"/>
          </a:xfrm>
          <a:prstGeom prst="rect">
            <a:avLst/>
          </a:prstGeom>
          <a:solidFill>
            <a:srgbClr val="F1F1ED"/>
          </a:solidFill>
          <a:ln/>
        </p:spPr>
      </p:sp>
      <p:sp>
        <p:nvSpPr>
          <p:cNvPr id="32" name="Text 30"/>
          <p:cNvSpPr/>
          <p:nvPr/>
        </p:nvSpPr>
        <p:spPr>
          <a:xfrm>
            <a:off x="1252728" y="4407408"/>
            <a:ext cx="3383280" cy="402336"/>
          </a:xfrm>
          <a:prstGeom prst="rect">
            <a:avLst/>
          </a:prstGeom>
          <a:noFill/>
          <a:ln/>
        </p:spPr>
        <p:txBody>
          <a:bodyPr wrap="square" lIns="0" tIns="0" rIns="0" bIns="0" rtlCol="0" anchor="ctr"/>
          <a:lstStyle/>
          <a:p>
            <a:pPr indent="0" marL="0">
              <a:buNone/>
            </a:pPr>
            <a:r>
              <a:rPr lang="en-US" sz="1100" b="1" dirty="0">
                <a:solidFill>
                  <a:srgbClr val="14181D"/>
                </a:solidFill>
                <a:latin typeface="Cambria" pitchFamily="34" charset="0"/>
                <a:ea typeface="Cambria" pitchFamily="34" charset="-122"/>
                <a:cs typeface="Cambria" pitchFamily="34" charset="-120"/>
              </a:rPr>
              <a:t>Metro Phase 2 corridor</a:t>
            </a:r>
            <a:endParaRPr lang="en-US" sz="1100" dirty="0"/>
          </a:p>
        </p:txBody>
      </p:sp>
      <p:sp>
        <p:nvSpPr>
          <p:cNvPr id="33" name="Text 31"/>
          <p:cNvSpPr/>
          <p:nvPr/>
        </p:nvSpPr>
        <p:spPr>
          <a:xfrm>
            <a:off x="4800600" y="4407408"/>
            <a:ext cx="4967935" cy="402336"/>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Approved, financial sanction pending</a:t>
            </a:r>
            <a:endParaRPr lang="en-US" sz="950" dirty="0"/>
          </a:p>
        </p:txBody>
      </p:sp>
      <p:sp>
        <p:nvSpPr>
          <p:cNvPr id="34" name="Shape 32"/>
          <p:cNvSpPr/>
          <p:nvPr/>
        </p:nvSpPr>
        <p:spPr>
          <a:xfrm>
            <a:off x="9905695" y="4498848"/>
            <a:ext cx="1033272" cy="219456"/>
          </a:xfrm>
          <a:prstGeom prst="rect">
            <a:avLst/>
          </a:prstGeom>
          <a:solidFill>
            <a:srgbClr val="F8E9E7"/>
          </a:solidFill>
          <a:ln/>
        </p:spPr>
      </p:sp>
      <p:sp>
        <p:nvSpPr>
          <p:cNvPr id="35" name="Text 33"/>
          <p:cNvSpPr/>
          <p:nvPr/>
        </p:nvSpPr>
        <p:spPr>
          <a:xfrm>
            <a:off x="9905695" y="4498848"/>
            <a:ext cx="1033272" cy="219456"/>
          </a:xfrm>
          <a:prstGeom prst="rect">
            <a:avLst/>
          </a:prstGeom>
          <a:noFill/>
          <a:ln/>
        </p:spPr>
        <p:txBody>
          <a:bodyPr wrap="square" lIns="0" tIns="0" rIns="0" bIns="0" rtlCol="0" anchor="ctr"/>
          <a:lstStyle/>
          <a:p>
            <a:pPr algn="ctr" indent="0" marL="0">
              <a:buNone/>
            </a:pPr>
            <a:r>
              <a:rPr lang="en-US" sz="750" b="1" spc="60" kern="0" dirty="0">
                <a:solidFill>
                  <a:srgbClr val="A8382C"/>
                </a:solidFill>
                <a:latin typeface="Calibri" pitchFamily="34" charset="0"/>
                <a:ea typeface="Calibri" pitchFamily="34" charset="-122"/>
                <a:cs typeface="Calibri" pitchFamily="34" charset="-120"/>
              </a:rPr>
              <a:t>UNFUNDED</a:t>
            </a:r>
            <a:endParaRPr lang="en-US" sz="750" dirty="0"/>
          </a:p>
        </p:txBody>
      </p:sp>
      <p:sp>
        <p:nvSpPr>
          <p:cNvPr id="36" name="Shape 34"/>
          <p:cNvSpPr/>
          <p:nvPr/>
        </p:nvSpPr>
        <p:spPr>
          <a:xfrm>
            <a:off x="1051560" y="4864608"/>
            <a:ext cx="10088575" cy="402336"/>
          </a:xfrm>
          <a:prstGeom prst="rect">
            <a:avLst/>
          </a:prstGeom>
          <a:solidFill>
            <a:srgbClr val="F1F1ED"/>
          </a:solidFill>
          <a:ln/>
        </p:spPr>
      </p:sp>
      <p:sp>
        <p:nvSpPr>
          <p:cNvPr id="37" name="Text 35"/>
          <p:cNvSpPr/>
          <p:nvPr/>
        </p:nvSpPr>
        <p:spPr>
          <a:xfrm>
            <a:off x="1252728" y="4864608"/>
            <a:ext cx="3383280" cy="402336"/>
          </a:xfrm>
          <a:prstGeom prst="rect">
            <a:avLst/>
          </a:prstGeom>
          <a:noFill/>
          <a:ln/>
        </p:spPr>
        <p:txBody>
          <a:bodyPr wrap="square" lIns="0" tIns="0" rIns="0" bIns="0" rtlCol="0" anchor="ctr"/>
          <a:lstStyle/>
          <a:p>
            <a:pPr indent="0" marL="0">
              <a:buNone/>
            </a:pPr>
            <a:r>
              <a:rPr lang="en-US" sz="1100" b="1" dirty="0">
                <a:solidFill>
                  <a:srgbClr val="14181D"/>
                </a:solidFill>
                <a:latin typeface="Cambria" pitchFamily="34" charset="0"/>
                <a:ea typeface="Cambria" pitchFamily="34" charset="-122"/>
                <a:cs typeface="Cambria" pitchFamily="34" charset="-120"/>
              </a:rPr>
              <a:t>HMWSSB water line</a:t>
            </a:r>
            <a:endParaRPr lang="en-US" sz="1100" dirty="0"/>
          </a:p>
        </p:txBody>
      </p:sp>
      <p:sp>
        <p:nvSpPr>
          <p:cNvPr id="38" name="Text 36"/>
          <p:cNvSpPr/>
          <p:nvPr/>
        </p:nvSpPr>
        <p:spPr>
          <a:xfrm>
            <a:off x="4800600" y="4864608"/>
            <a:ext cx="4967935" cy="402336"/>
          </a:xfrm>
          <a:prstGeom prst="rect">
            <a:avLst/>
          </a:prstGeom>
          <a:noFill/>
          <a:ln/>
        </p:spPr>
        <p:txBody>
          <a:bodyPr wrap="square" lIns="0" tIns="0" rIns="0" bIns="0" rtlCol="0" anchor="ctr"/>
          <a:lstStyle/>
          <a:p>
            <a:pPr indent="0" marL="0">
              <a:buNone/>
            </a:pPr>
            <a:r>
              <a:rPr lang="en-US" sz="950" dirty="0">
                <a:solidFill>
                  <a:srgbClr val="555C64"/>
                </a:solidFill>
                <a:latin typeface="Calibri" pitchFamily="34" charset="0"/>
                <a:ea typeface="Calibri" pitchFamily="34" charset="-122"/>
                <a:cs typeface="Calibri" pitchFamily="34" charset="-120"/>
              </a:rPr>
              <a:t>Proposed, no tender issued</a:t>
            </a:r>
            <a:endParaRPr lang="en-US" sz="950" dirty="0"/>
          </a:p>
        </p:txBody>
      </p:sp>
      <p:sp>
        <p:nvSpPr>
          <p:cNvPr id="39" name="Shape 37"/>
          <p:cNvSpPr/>
          <p:nvPr/>
        </p:nvSpPr>
        <p:spPr>
          <a:xfrm>
            <a:off x="9905695" y="4956048"/>
            <a:ext cx="1033272" cy="219456"/>
          </a:xfrm>
          <a:prstGeom prst="rect">
            <a:avLst/>
          </a:prstGeom>
          <a:solidFill>
            <a:srgbClr val="F6EEDA"/>
          </a:solidFill>
          <a:ln/>
        </p:spPr>
      </p:sp>
      <p:sp>
        <p:nvSpPr>
          <p:cNvPr id="40" name="Text 38"/>
          <p:cNvSpPr/>
          <p:nvPr/>
        </p:nvSpPr>
        <p:spPr>
          <a:xfrm>
            <a:off x="9905695" y="4956048"/>
            <a:ext cx="1033272" cy="219456"/>
          </a:xfrm>
          <a:prstGeom prst="rect">
            <a:avLst/>
          </a:prstGeom>
          <a:noFill/>
          <a:ln/>
        </p:spPr>
        <p:txBody>
          <a:bodyPr wrap="square" lIns="0" tIns="0" rIns="0" bIns="0" rtlCol="0" anchor="ctr"/>
          <a:lstStyle/>
          <a:p>
            <a:pPr algn="ctr" indent="0" marL="0">
              <a:buNone/>
            </a:pPr>
            <a:r>
              <a:rPr lang="en-US" sz="750" b="1" spc="60" kern="0" dirty="0">
                <a:solidFill>
                  <a:srgbClr val="9A7A25"/>
                </a:solidFill>
                <a:latin typeface="Calibri" pitchFamily="34" charset="0"/>
                <a:ea typeface="Calibri" pitchFamily="34" charset="-122"/>
                <a:cs typeface="Calibri" pitchFamily="34" charset="-120"/>
              </a:rPr>
              <a:t>UNCERTAIN</a:t>
            </a:r>
            <a:endParaRPr lang="en-US" sz="750" dirty="0"/>
          </a:p>
        </p:txBody>
      </p:sp>
      <p:sp>
        <p:nvSpPr>
          <p:cNvPr id="41" name="Text 39"/>
          <p:cNvSpPr/>
          <p:nvPr/>
        </p:nvSpPr>
        <p:spPr>
          <a:xfrm>
            <a:off x="1051560" y="5376672"/>
            <a:ext cx="6400800" cy="237744"/>
          </a:xfrm>
          <a:prstGeom prst="rect">
            <a:avLst/>
          </a:prstGeom>
          <a:noFill/>
          <a:ln/>
        </p:spPr>
        <p:txBody>
          <a:bodyPr wrap="square" lIns="0" tIns="0" rIns="0" bIns="0" rtlCol="0" anchor="ctr"/>
          <a:lstStyle/>
          <a:p>
            <a:pPr indent="0" marL="0">
              <a:buNone/>
            </a:pPr>
            <a:r>
              <a:rPr lang="en-US" sz="1150" b="1" dirty="0">
                <a:solidFill>
                  <a:srgbClr val="14181D"/>
                </a:solidFill>
                <a:latin typeface="Cambria" pitchFamily="34" charset="0"/>
                <a:ea typeface="Cambria" pitchFamily="34" charset="-122"/>
                <a:cs typeface="Cambria" pitchFamily="34" charset="-120"/>
              </a:rPr>
              <a:t>Real drive times, measured at 9am on a weekday</a:t>
            </a:r>
            <a:endParaRPr lang="en-US" sz="1150" dirty="0"/>
          </a:p>
        </p:txBody>
      </p:sp>
      <p:sp>
        <p:nvSpPr>
          <p:cNvPr id="42" name="Shape 40"/>
          <p:cNvSpPr/>
          <p:nvPr/>
        </p:nvSpPr>
        <p:spPr>
          <a:xfrm>
            <a:off x="1051560" y="5650992"/>
            <a:ext cx="2474138" cy="457200"/>
          </a:xfrm>
          <a:prstGeom prst="rect">
            <a:avLst/>
          </a:prstGeom>
          <a:solidFill>
            <a:srgbClr val="F1F1ED"/>
          </a:solidFill>
          <a:ln/>
        </p:spPr>
      </p:sp>
      <p:sp>
        <p:nvSpPr>
          <p:cNvPr id="43" name="Text 41"/>
          <p:cNvSpPr/>
          <p:nvPr/>
        </p:nvSpPr>
        <p:spPr>
          <a:xfrm>
            <a:off x="1197864" y="5696712"/>
            <a:ext cx="2181530" cy="228600"/>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14 min</a:t>
            </a:r>
            <a:endParaRPr lang="en-US" sz="1300" dirty="0"/>
          </a:p>
        </p:txBody>
      </p:sp>
      <p:sp>
        <p:nvSpPr>
          <p:cNvPr id="44" name="Text 42"/>
          <p:cNvSpPr/>
          <p:nvPr/>
        </p:nvSpPr>
        <p:spPr>
          <a:xfrm>
            <a:off x="1197864" y="5916168"/>
            <a:ext cx="2181530" cy="173736"/>
          </a:xfrm>
          <a:prstGeom prst="rect">
            <a:avLst/>
          </a:prstGeom>
          <a:noFill/>
          <a:ln/>
        </p:spPr>
        <p:txBody>
          <a:bodyPr wrap="square" lIns="0" tIns="0" rIns="0" bIns="0" rtlCol="0" anchor="ctr"/>
          <a:lstStyle/>
          <a:p>
            <a:pPr indent="0" marL="0">
              <a:buNone/>
            </a:pPr>
            <a:r>
              <a:rPr lang="en-US" sz="800" dirty="0">
                <a:solidFill>
                  <a:srgbClr val="8A9099"/>
                </a:solidFill>
                <a:latin typeface="Calibri" pitchFamily="34" charset="0"/>
                <a:ea typeface="Calibri" pitchFamily="34" charset="-122"/>
                <a:cs typeface="Calibri" pitchFamily="34" charset="-120"/>
              </a:rPr>
              <a:t>Financial District</a:t>
            </a:r>
            <a:endParaRPr lang="en-US" sz="800" dirty="0"/>
          </a:p>
        </p:txBody>
      </p:sp>
      <p:sp>
        <p:nvSpPr>
          <p:cNvPr id="45" name="Shape 43"/>
          <p:cNvSpPr/>
          <p:nvPr/>
        </p:nvSpPr>
        <p:spPr>
          <a:xfrm>
            <a:off x="3589706" y="5650992"/>
            <a:ext cx="2474138" cy="457200"/>
          </a:xfrm>
          <a:prstGeom prst="rect">
            <a:avLst/>
          </a:prstGeom>
          <a:solidFill>
            <a:srgbClr val="F1F1ED"/>
          </a:solidFill>
          <a:ln/>
        </p:spPr>
      </p:sp>
      <p:sp>
        <p:nvSpPr>
          <p:cNvPr id="46" name="Text 44"/>
          <p:cNvSpPr/>
          <p:nvPr/>
        </p:nvSpPr>
        <p:spPr>
          <a:xfrm>
            <a:off x="3736010" y="5696712"/>
            <a:ext cx="2181530" cy="228600"/>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26 min</a:t>
            </a:r>
            <a:endParaRPr lang="en-US" sz="1300" dirty="0"/>
          </a:p>
        </p:txBody>
      </p:sp>
      <p:sp>
        <p:nvSpPr>
          <p:cNvPr id="47" name="Text 45"/>
          <p:cNvSpPr/>
          <p:nvPr/>
        </p:nvSpPr>
        <p:spPr>
          <a:xfrm>
            <a:off x="3736010" y="5916168"/>
            <a:ext cx="2181530" cy="173736"/>
          </a:xfrm>
          <a:prstGeom prst="rect">
            <a:avLst/>
          </a:prstGeom>
          <a:noFill/>
          <a:ln/>
        </p:spPr>
        <p:txBody>
          <a:bodyPr wrap="square" lIns="0" tIns="0" rIns="0" bIns="0" rtlCol="0" anchor="ctr"/>
          <a:lstStyle/>
          <a:p>
            <a:pPr indent="0" marL="0">
              <a:buNone/>
            </a:pPr>
            <a:r>
              <a:rPr lang="en-US" sz="800" dirty="0">
                <a:solidFill>
                  <a:srgbClr val="8A9099"/>
                </a:solidFill>
                <a:latin typeface="Calibri" pitchFamily="34" charset="0"/>
                <a:ea typeface="Calibri" pitchFamily="34" charset="-122"/>
                <a:cs typeface="Calibri" pitchFamily="34" charset="-120"/>
              </a:rPr>
              <a:t>HITEC City</a:t>
            </a:r>
            <a:endParaRPr lang="en-US" sz="800" dirty="0"/>
          </a:p>
        </p:txBody>
      </p:sp>
      <p:sp>
        <p:nvSpPr>
          <p:cNvPr id="48" name="Shape 46"/>
          <p:cNvSpPr/>
          <p:nvPr/>
        </p:nvSpPr>
        <p:spPr>
          <a:xfrm>
            <a:off x="6127852" y="5650992"/>
            <a:ext cx="2474138" cy="457200"/>
          </a:xfrm>
          <a:prstGeom prst="rect">
            <a:avLst/>
          </a:prstGeom>
          <a:solidFill>
            <a:srgbClr val="F1F1ED"/>
          </a:solidFill>
          <a:ln/>
        </p:spPr>
      </p:sp>
      <p:sp>
        <p:nvSpPr>
          <p:cNvPr id="49" name="Text 47"/>
          <p:cNvSpPr/>
          <p:nvPr/>
        </p:nvSpPr>
        <p:spPr>
          <a:xfrm>
            <a:off x="6274156" y="5696712"/>
            <a:ext cx="2181530" cy="228600"/>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38 min</a:t>
            </a:r>
            <a:endParaRPr lang="en-US" sz="1300" dirty="0"/>
          </a:p>
        </p:txBody>
      </p:sp>
      <p:sp>
        <p:nvSpPr>
          <p:cNvPr id="50" name="Text 48"/>
          <p:cNvSpPr/>
          <p:nvPr/>
        </p:nvSpPr>
        <p:spPr>
          <a:xfrm>
            <a:off x="6274156" y="5916168"/>
            <a:ext cx="2181530" cy="173736"/>
          </a:xfrm>
          <a:prstGeom prst="rect">
            <a:avLst/>
          </a:prstGeom>
          <a:noFill/>
          <a:ln/>
        </p:spPr>
        <p:txBody>
          <a:bodyPr wrap="square" lIns="0" tIns="0" rIns="0" bIns="0" rtlCol="0" anchor="ctr"/>
          <a:lstStyle/>
          <a:p>
            <a:pPr indent="0" marL="0">
              <a:buNone/>
            </a:pPr>
            <a:r>
              <a:rPr lang="en-US" sz="800" dirty="0">
                <a:solidFill>
                  <a:srgbClr val="8A9099"/>
                </a:solidFill>
                <a:latin typeface="Calibri" pitchFamily="34" charset="0"/>
                <a:ea typeface="Calibri" pitchFamily="34" charset="-122"/>
                <a:cs typeface="Calibri" pitchFamily="34" charset="-120"/>
              </a:rPr>
              <a:t>Airport</a:t>
            </a:r>
            <a:endParaRPr lang="en-US" sz="800" dirty="0"/>
          </a:p>
        </p:txBody>
      </p:sp>
      <p:sp>
        <p:nvSpPr>
          <p:cNvPr id="51" name="Shape 49"/>
          <p:cNvSpPr/>
          <p:nvPr/>
        </p:nvSpPr>
        <p:spPr>
          <a:xfrm>
            <a:off x="8665997" y="5650992"/>
            <a:ext cx="2474138" cy="457200"/>
          </a:xfrm>
          <a:prstGeom prst="rect">
            <a:avLst/>
          </a:prstGeom>
          <a:solidFill>
            <a:srgbClr val="F1F1ED"/>
          </a:solidFill>
          <a:ln/>
        </p:spPr>
      </p:sp>
      <p:sp>
        <p:nvSpPr>
          <p:cNvPr id="52" name="Text 50"/>
          <p:cNvSpPr/>
          <p:nvPr/>
        </p:nvSpPr>
        <p:spPr>
          <a:xfrm>
            <a:off x="8812301" y="5696712"/>
            <a:ext cx="2181530" cy="228600"/>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19 min</a:t>
            </a:r>
            <a:endParaRPr lang="en-US" sz="1300" dirty="0"/>
          </a:p>
        </p:txBody>
      </p:sp>
      <p:sp>
        <p:nvSpPr>
          <p:cNvPr id="53" name="Text 51"/>
          <p:cNvSpPr/>
          <p:nvPr/>
        </p:nvSpPr>
        <p:spPr>
          <a:xfrm>
            <a:off x="8812301" y="5916168"/>
            <a:ext cx="2181530" cy="173736"/>
          </a:xfrm>
          <a:prstGeom prst="rect">
            <a:avLst/>
          </a:prstGeom>
          <a:noFill/>
          <a:ln/>
        </p:spPr>
        <p:txBody>
          <a:bodyPr wrap="square" lIns="0" tIns="0" rIns="0" bIns="0" rtlCol="0" anchor="ctr"/>
          <a:lstStyle/>
          <a:p>
            <a:pPr indent="0" marL="0">
              <a:buNone/>
            </a:pPr>
            <a:r>
              <a:rPr lang="en-US" sz="800" dirty="0">
                <a:solidFill>
                  <a:srgbClr val="8A9099"/>
                </a:solidFill>
                <a:latin typeface="Calibri" pitchFamily="34" charset="0"/>
                <a:ea typeface="Calibri" pitchFamily="34" charset="-122"/>
                <a:cs typeface="Calibri" pitchFamily="34" charset="-120"/>
              </a:rPr>
              <a:t>Gachibowli</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goes in the platform</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Nothing here is unproven. It's proven elsewhere and missing in Indian property.</a:t>
            </a:r>
            <a:endParaRPr lang="en-US" sz="1550" dirty="0"/>
          </a:p>
        </p:txBody>
      </p:sp>
      <p:sp>
        <p:nvSpPr>
          <p:cNvPr id="5" name="Shape 3"/>
          <p:cNvSpPr/>
          <p:nvPr/>
        </p:nvSpPr>
        <p:spPr>
          <a:xfrm>
            <a:off x="777240" y="2066544"/>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6" name="Text 4"/>
          <p:cNvSpPr/>
          <p:nvPr/>
        </p:nvSpPr>
        <p:spPr>
          <a:xfrm>
            <a:off x="1051560" y="2286000"/>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Comparison engine</a:t>
            </a:r>
            <a:endParaRPr lang="en-US" sz="1500" dirty="0"/>
          </a:p>
        </p:txBody>
      </p:sp>
      <p:sp>
        <p:nvSpPr>
          <p:cNvPr id="7" name="Text 5"/>
          <p:cNvSpPr/>
          <p:nvPr/>
        </p:nvSpPr>
        <p:spPr>
          <a:xfrm>
            <a:off x="1051560" y="2706624"/>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Any two projects side by side on carpet, real rate, land share, density, possession.</a:t>
            </a:r>
            <a:endParaRPr lang="en-US" sz="1150" dirty="0"/>
          </a:p>
        </p:txBody>
      </p:sp>
      <p:sp>
        <p:nvSpPr>
          <p:cNvPr id="8" name="Text 6"/>
          <p:cNvSpPr/>
          <p:nvPr/>
        </p:nvSpPr>
        <p:spPr>
          <a:xfrm>
            <a:off x="1051560" y="3602736"/>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CARWALE</a:t>
            </a:r>
            <a:endParaRPr lang="en-US" sz="850" dirty="0"/>
          </a:p>
        </p:txBody>
      </p:sp>
      <p:sp>
        <p:nvSpPr>
          <p:cNvPr id="9" name="Shape 7"/>
          <p:cNvSpPr/>
          <p:nvPr/>
        </p:nvSpPr>
        <p:spPr>
          <a:xfrm>
            <a:off x="4414418" y="2066544"/>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0" name="Text 8"/>
          <p:cNvSpPr/>
          <p:nvPr/>
        </p:nvSpPr>
        <p:spPr>
          <a:xfrm>
            <a:off x="4688738" y="2286000"/>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Expert project reviews</a:t>
            </a:r>
            <a:endParaRPr lang="en-US" sz="1500" dirty="0"/>
          </a:p>
        </p:txBody>
      </p:sp>
      <p:sp>
        <p:nvSpPr>
          <p:cNvPr id="11" name="Text 9"/>
          <p:cNvSpPr/>
          <p:nvPr/>
        </p:nvSpPr>
        <p:spPr>
          <a:xfrm>
            <a:off x="4688738" y="2706624"/>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OTHO rates every project it covers, with a score and a written verdict. Including the bad ones.</a:t>
            </a:r>
            <a:endParaRPr lang="en-US" sz="1150" dirty="0"/>
          </a:p>
        </p:txBody>
      </p:sp>
      <p:sp>
        <p:nvSpPr>
          <p:cNvPr id="12" name="Text 10"/>
          <p:cNvSpPr/>
          <p:nvPr/>
        </p:nvSpPr>
        <p:spPr>
          <a:xfrm>
            <a:off x="4688738" y="3602736"/>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CARWALE</a:t>
            </a:r>
            <a:endParaRPr lang="en-US" sz="850" dirty="0"/>
          </a:p>
        </p:txBody>
      </p:sp>
      <p:sp>
        <p:nvSpPr>
          <p:cNvPr id="13" name="Shape 11"/>
          <p:cNvSpPr/>
          <p:nvPr/>
        </p:nvSpPr>
        <p:spPr>
          <a:xfrm>
            <a:off x="8051597" y="2066544"/>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4" name="Text 12"/>
          <p:cNvSpPr/>
          <p:nvPr/>
        </p:nvSpPr>
        <p:spPr>
          <a:xfrm>
            <a:off x="8325917" y="2286000"/>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Resident reviews</a:t>
            </a:r>
            <a:endParaRPr lang="en-US" sz="1500" dirty="0"/>
          </a:p>
        </p:txBody>
      </p:sp>
      <p:sp>
        <p:nvSpPr>
          <p:cNvPr id="15" name="Text 13"/>
          <p:cNvSpPr/>
          <p:nvPr/>
        </p:nvSpPr>
        <p:spPr>
          <a:xfrm>
            <a:off x="8325917" y="2706624"/>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People who live there rate build quality, management, and what broke first.</a:t>
            </a:r>
            <a:endParaRPr lang="en-US" sz="1150" dirty="0"/>
          </a:p>
        </p:txBody>
      </p:sp>
      <p:sp>
        <p:nvSpPr>
          <p:cNvPr id="16" name="Text 14"/>
          <p:cNvSpPr/>
          <p:nvPr/>
        </p:nvSpPr>
        <p:spPr>
          <a:xfrm>
            <a:off x="8325917" y="3602736"/>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CARWALE</a:t>
            </a:r>
            <a:endParaRPr lang="en-US" sz="850" dirty="0"/>
          </a:p>
        </p:txBody>
      </p:sp>
      <p:sp>
        <p:nvSpPr>
          <p:cNvPr id="17" name="Shape 15"/>
          <p:cNvSpPr/>
          <p:nvPr/>
        </p:nvSpPr>
        <p:spPr>
          <a:xfrm>
            <a:off x="777240" y="4151376"/>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8" name="Text 16"/>
          <p:cNvSpPr/>
          <p:nvPr/>
        </p:nvSpPr>
        <p:spPr>
          <a:xfrm>
            <a:off x="1051560" y="4370832"/>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Real rate calculator</a:t>
            </a:r>
            <a:endParaRPr lang="en-US" sz="1500" dirty="0"/>
          </a:p>
        </p:txBody>
      </p:sp>
      <p:sp>
        <p:nvSpPr>
          <p:cNvPr id="19" name="Text 17"/>
          <p:cNvSpPr/>
          <p:nvPr/>
        </p:nvSpPr>
        <p:spPr>
          <a:xfrm>
            <a:off x="1051560" y="4791456"/>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Loading factor exposed. What you pay per usable foot, not per marketing foot.</a:t>
            </a:r>
            <a:endParaRPr lang="en-US" sz="1150" dirty="0"/>
          </a:p>
        </p:txBody>
      </p:sp>
      <p:sp>
        <p:nvSpPr>
          <p:cNvPr id="20" name="Text 18"/>
          <p:cNvSpPr/>
          <p:nvPr/>
        </p:nvSpPr>
        <p:spPr>
          <a:xfrm>
            <a:off x="1051560" y="5687568"/>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OTHO ORIGINAL</a:t>
            </a:r>
            <a:endParaRPr lang="en-US" sz="850" dirty="0"/>
          </a:p>
        </p:txBody>
      </p:sp>
      <p:sp>
        <p:nvSpPr>
          <p:cNvPr id="21" name="Shape 19"/>
          <p:cNvSpPr/>
          <p:nvPr/>
        </p:nvSpPr>
        <p:spPr>
          <a:xfrm>
            <a:off x="4414418" y="4151376"/>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22" name="Text 20"/>
          <p:cNvSpPr/>
          <p:nvPr/>
        </p:nvSpPr>
        <p:spPr>
          <a:xfrm>
            <a:off x="4688738" y="4370832"/>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Honest negatives</a:t>
            </a:r>
            <a:endParaRPr lang="en-US" sz="1500" dirty="0"/>
          </a:p>
        </p:txBody>
      </p:sp>
      <p:sp>
        <p:nvSpPr>
          <p:cNvPr id="23" name="Text 21"/>
          <p:cNvSpPr/>
          <p:nvPr/>
        </p:nvSpPr>
        <p:spPr>
          <a:xfrm>
            <a:off x="4688738" y="4791456"/>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Every project page lists what's wrong with it. The trust engine of the whole platform.</a:t>
            </a:r>
            <a:endParaRPr lang="en-US" sz="1150" dirty="0"/>
          </a:p>
        </p:txBody>
      </p:sp>
      <p:sp>
        <p:nvSpPr>
          <p:cNvPr id="24" name="Text 22"/>
          <p:cNvSpPr/>
          <p:nvPr/>
        </p:nvSpPr>
        <p:spPr>
          <a:xfrm>
            <a:off x="4688738" y="5687568"/>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OTHO ORIGINAL</a:t>
            </a:r>
            <a:endParaRPr lang="en-US" sz="850" dirty="0"/>
          </a:p>
        </p:txBody>
      </p:sp>
      <p:sp>
        <p:nvSpPr>
          <p:cNvPr id="25" name="Shape 23"/>
          <p:cNvSpPr/>
          <p:nvPr/>
        </p:nvSpPr>
        <p:spPr>
          <a:xfrm>
            <a:off x="8051597" y="4151376"/>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26" name="Text 24"/>
          <p:cNvSpPr/>
          <p:nvPr/>
        </p:nvSpPr>
        <p:spPr>
          <a:xfrm>
            <a:off x="8325917" y="4370832"/>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Price estimate</a:t>
            </a:r>
            <a:endParaRPr lang="en-US" sz="1500" dirty="0"/>
          </a:p>
        </p:txBody>
      </p:sp>
      <p:sp>
        <p:nvSpPr>
          <p:cNvPr id="27" name="Text 25"/>
          <p:cNvSpPr/>
          <p:nvPr/>
        </p:nvSpPr>
        <p:spPr>
          <a:xfrm>
            <a:off x="8325917" y="4791456"/>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What a unit is actually worth, from registration data — not from the asking price.</a:t>
            </a:r>
            <a:endParaRPr lang="en-US" sz="1150" dirty="0"/>
          </a:p>
        </p:txBody>
      </p:sp>
      <p:sp>
        <p:nvSpPr>
          <p:cNvPr id="28" name="Text 26"/>
          <p:cNvSpPr/>
          <p:nvPr/>
        </p:nvSpPr>
        <p:spPr>
          <a:xfrm>
            <a:off x="8325917" y="5687568"/>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ZILLOW</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goes in the platform</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Continued — the trust and service layer.</a:t>
            </a:r>
            <a:endParaRPr lang="en-US" sz="1550" dirty="0"/>
          </a:p>
        </p:txBody>
      </p:sp>
      <p:sp>
        <p:nvSpPr>
          <p:cNvPr id="5" name="Shape 3"/>
          <p:cNvSpPr/>
          <p:nvPr/>
        </p:nvSpPr>
        <p:spPr>
          <a:xfrm>
            <a:off x="777240" y="2066544"/>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6" name="Text 4"/>
          <p:cNvSpPr/>
          <p:nvPr/>
        </p:nvSpPr>
        <p:spPr>
          <a:xfrm>
            <a:off x="1051560" y="2286000"/>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Locality pages</a:t>
            </a:r>
            <a:endParaRPr lang="en-US" sz="1500" dirty="0"/>
          </a:p>
        </p:txBody>
      </p:sp>
      <p:sp>
        <p:nvSpPr>
          <p:cNvPr id="7" name="Text 5"/>
          <p:cNvSpPr/>
          <p:nvPr/>
        </p:nvSpPr>
        <p:spPr>
          <a:xfrm>
            <a:off x="1051560" y="2706624"/>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Price history, infrastructure status, commute times measured at peak hour, schools, water.</a:t>
            </a:r>
            <a:endParaRPr lang="en-US" sz="1150" dirty="0"/>
          </a:p>
        </p:txBody>
      </p:sp>
      <p:sp>
        <p:nvSpPr>
          <p:cNvPr id="8" name="Text 6"/>
          <p:cNvSpPr/>
          <p:nvPr/>
        </p:nvSpPr>
        <p:spPr>
          <a:xfrm>
            <a:off x="1051560" y="3602736"/>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MAGICBRICKS</a:t>
            </a:r>
            <a:endParaRPr lang="en-US" sz="850" dirty="0"/>
          </a:p>
        </p:txBody>
      </p:sp>
      <p:sp>
        <p:nvSpPr>
          <p:cNvPr id="9" name="Shape 7"/>
          <p:cNvSpPr/>
          <p:nvPr/>
        </p:nvSpPr>
        <p:spPr>
          <a:xfrm>
            <a:off x="4414418" y="2066544"/>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0" name="Text 8"/>
          <p:cNvSpPr/>
          <p:nvPr/>
        </p:nvSpPr>
        <p:spPr>
          <a:xfrm>
            <a:off x="4688738" y="2286000"/>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Your number stays private</a:t>
            </a:r>
            <a:endParaRPr lang="en-US" sz="1500" dirty="0"/>
          </a:p>
        </p:txBody>
      </p:sp>
      <p:sp>
        <p:nvSpPr>
          <p:cNvPr id="11" name="Text 9"/>
          <p:cNvSpPr/>
          <p:nvPr/>
        </p:nvSpPr>
        <p:spPr>
          <a:xfrm>
            <a:off x="4688738" y="2706624"/>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Never sold, never shared with brokers. One conversation, with OTHO.</a:t>
            </a:r>
            <a:endParaRPr lang="en-US" sz="1150" dirty="0"/>
          </a:p>
        </p:txBody>
      </p:sp>
      <p:sp>
        <p:nvSpPr>
          <p:cNvPr id="12" name="Text 10"/>
          <p:cNvSpPr/>
          <p:nvPr/>
        </p:nvSpPr>
        <p:spPr>
          <a:xfrm>
            <a:off x="4688738" y="3602736"/>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NOBROKER</a:t>
            </a:r>
            <a:endParaRPr lang="en-US" sz="850" dirty="0"/>
          </a:p>
        </p:txBody>
      </p:sp>
      <p:sp>
        <p:nvSpPr>
          <p:cNvPr id="13" name="Shape 11"/>
          <p:cNvSpPr/>
          <p:nvPr/>
        </p:nvSpPr>
        <p:spPr>
          <a:xfrm>
            <a:off x="8051597" y="2066544"/>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4" name="Text 12"/>
          <p:cNvSpPr/>
          <p:nvPr/>
        </p:nvSpPr>
        <p:spPr>
          <a:xfrm>
            <a:off x="8325917" y="2286000"/>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Verified listings only</a:t>
            </a:r>
            <a:endParaRPr lang="en-US" sz="1500" dirty="0"/>
          </a:p>
        </p:txBody>
      </p:sp>
      <p:sp>
        <p:nvSpPr>
          <p:cNvPr id="15" name="Text 13"/>
          <p:cNvSpPr/>
          <p:nvPr/>
        </p:nvSpPr>
        <p:spPr>
          <a:xfrm>
            <a:off x="8325917" y="2706624"/>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Every project checked against its RERA filing before it appears. No cloned photos.</a:t>
            </a:r>
            <a:endParaRPr lang="en-US" sz="1150" dirty="0"/>
          </a:p>
        </p:txBody>
      </p:sp>
      <p:sp>
        <p:nvSpPr>
          <p:cNvPr id="16" name="Text 14"/>
          <p:cNvSpPr/>
          <p:nvPr/>
        </p:nvSpPr>
        <p:spPr>
          <a:xfrm>
            <a:off x="8325917" y="3602736"/>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FIXES THE #1 COMPLAINT</a:t>
            </a:r>
            <a:endParaRPr lang="en-US" sz="850" dirty="0"/>
          </a:p>
        </p:txBody>
      </p:sp>
      <p:sp>
        <p:nvSpPr>
          <p:cNvPr id="17" name="Shape 15"/>
          <p:cNvSpPr/>
          <p:nvPr/>
        </p:nvSpPr>
        <p:spPr>
          <a:xfrm>
            <a:off x="777240" y="4151376"/>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8" name="Text 16"/>
          <p:cNvSpPr/>
          <p:nvPr/>
        </p:nvSpPr>
        <p:spPr>
          <a:xfrm>
            <a:off x="1051560" y="4370832"/>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Site visit booking</a:t>
            </a:r>
            <a:endParaRPr lang="en-US" sz="1500" dirty="0"/>
          </a:p>
        </p:txBody>
      </p:sp>
      <p:sp>
        <p:nvSpPr>
          <p:cNvPr id="19" name="Text 17"/>
          <p:cNvSpPr/>
          <p:nvPr/>
        </p:nvSpPr>
        <p:spPr>
          <a:xfrm>
            <a:off x="1051560" y="4791456"/>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Real calendar slots, confirmed on WhatsApp. Not a form promising a callback.</a:t>
            </a:r>
            <a:endParaRPr lang="en-US" sz="1150" dirty="0"/>
          </a:p>
        </p:txBody>
      </p:sp>
      <p:sp>
        <p:nvSpPr>
          <p:cNvPr id="20" name="Text 18"/>
          <p:cNvSpPr/>
          <p:nvPr/>
        </p:nvSpPr>
        <p:spPr>
          <a:xfrm>
            <a:off x="1051560" y="5687568"/>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NOBROKER</a:t>
            </a:r>
            <a:endParaRPr lang="en-US" sz="850" dirty="0"/>
          </a:p>
        </p:txBody>
      </p:sp>
      <p:sp>
        <p:nvSpPr>
          <p:cNvPr id="21" name="Shape 19"/>
          <p:cNvSpPr/>
          <p:nvPr/>
        </p:nvSpPr>
        <p:spPr>
          <a:xfrm>
            <a:off x="4414418" y="4151376"/>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22" name="Text 20"/>
          <p:cNvSpPr/>
          <p:nvPr/>
        </p:nvSpPr>
        <p:spPr>
          <a:xfrm>
            <a:off x="4688738" y="4370832"/>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Infrastructure tracker</a:t>
            </a:r>
            <a:endParaRPr lang="en-US" sz="1500" dirty="0"/>
          </a:p>
        </p:txBody>
      </p:sp>
      <p:sp>
        <p:nvSpPr>
          <p:cNvPr id="23" name="Text 21"/>
          <p:cNvSpPr/>
          <p:nvPr/>
        </p:nvSpPr>
        <p:spPr>
          <a:xfrm>
            <a:off x="4688738" y="4791456"/>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Metro Phase 2 and Future City with funding and construction status, not developer promises.</a:t>
            </a:r>
            <a:endParaRPr lang="en-US" sz="1150" dirty="0"/>
          </a:p>
        </p:txBody>
      </p:sp>
      <p:sp>
        <p:nvSpPr>
          <p:cNvPr id="24" name="Text 22"/>
          <p:cNvSpPr/>
          <p:nvPr/>
        </p:nvSpPr>
        <p:spPr>
          <a:xfrm>
            <a:off x="4688738" y="5687568"/>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OTHO ORIGINAL</a:t>
            </a:r>
            <a:endParaRPr lang="en-US" sz="850" dirty="0"/>
          </a:p>
        </p:txBody>
      </p:sp>
      <p:sp>
        <p:nvSpPr>
          <p:cNvPr id="25" name="Shape 23"/>
          <p:cNvSpPr/>
          <p:nvPr/>
        </p:nvSpPr>
        <p:spPr>
          <a:xfrm>
            <a:off x="8051597" y="4151376"/>
            <a:ext cx="3362858" cy="187452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26" name="Text 24"/>
          <p:cNvSpPr/>
          <p:nvPr/>
        </p:nvSpPr>
        <p:spPr>
          <a:xfrm>
            <a:off x="8325917" y="4370832"/>
            <a:ext cx="2814218" cy="365760"/>
          </a:xfrm>
          <a:prstGeom prst="rect">
            <a:avLst/>
          </a:prstGeom>
          <a:noFill/>
          <a:ln/>
        </p:spPr>
        <p:txBody>
          <a:bodyPr wrap="square" lIns="0" tIns="0" rIns="0" bIns="0" rtlCol="0" anchor="ctr"/>
          <a:lstStyle/>
          <a:p>
            <a:pPr indent="0" marL="0">
              <a:buNone/>
            </a:pPr>
            <a:r>
              <a:rPr lang="en-US" sz="1500" b="1" dirty="0">
                <a:solidFill>
                  <a:srgbClr val="14181D"/>
                </a:solidFill>
                <a:latin typeface="Cambria" pitchFamily="34" charset="0"/>
                <a:ea typeface="Cambria" pitchFamily="34" charset="-122"/>
                <a:cs typeface="Cambria" pitchFamily="34" charset="-120"/>
              </a:rPr>
              <a:t>Services layer</a:t>
            </a:r>
            <a:endParaRPr lang="en-US" sz="1500" dirty="0"/>
          </a:p>
        </p:txBody>
      </p:sp>
      <p:sp>
        <p:nvSpPr>
          <p:cNvPr id="27" name="Text 25"/>
          <p:cNvSpPr/>
          <p:nvPr/>
        </p:nvSpPr>
        <p:spPr>
          <a:xfrm>
            <a:off x="8325917" y="4791456"/>
            <a:ext cx="2814218" cy="868680"/>
          </a:xfrm>
          <a:prstGeom prst="rect">
            <a:avLst/>
          </a:prstGeom>
          <a:noFill/>
          <a:ln/>
        </p:spPr>
        <p:txBody>
          <a:bodyPr wrap="square" lIns="0" tIns="0" rIns="0" bIns="0" rtlCol="0" anchor="ctr"/>
          <a:lstStyle/>
          <a:p>
            <a:pPr indent="0" marL="0">
              <a:lnSpc>
                <a:spcPts val="1700"/>
              </a:lnSpc>
              <a:buNone/>
            </a:pPr>
            <a:r>
              <a:rPr lang="en-US" sz="1150" dirty="0">
                <a:solidFill>
                  <a:srgbClr val="555C64"/>
                </a:solidFill>
                <a:latin typeface="Calibri" pitchFamily="34" charset="0"/>
                <a:ea typeface="Calibri" pitchFamily="34" charset="-122"/>
                <a:cs typeface="Calibri" pitchFamily="34" charset="-120"/>
              </a:rPr>
              <a:t>Home loans, legal checks, registration, interiors. Added later, once trust exists.</a:t>
            </a:r>
            <a:endParaRPr lang="en-US" sz="1150" dirty="0"/>
          </a:p>
        </p:txBody>
      </p:sp>
      <p:sp>
        <p:nvSpPr>
          <p:cNvPr id="28" name="Text 26"/>
          <p:cNvSpPr/>
          <p:nvPr/>
        </p:nvSpPr>
        <p:spPr>
          <a:xfrm>
            <a:off x="8325917" y="5687568"/>
            <a:ext cx="2814218" cy="237744"/>
          </a:xfrm>
          <a:prstGeom prst="rect">
            <a:avLst/>
          </a:prstGeom>
          <a:noFill/>
          <a:ln/>
        </p:spPr>
        <p:txBody>
          <a:bodyPr wrap="square" lIns="0" tIns="0" rIns="0" bIns="0" rtlCol="0" anchor="ctr"/>
          <a:lstStyle/>
          <a:p>
            <a:pPr indent="0" marL="0">
              <a:buNone/>
            </a:pPr>
            <a:r>
              <a:rPr lang="en-US" sz="850" b="1" spc="110" kern="0" dirty="0">
                <a:solidFill>
                  <a:srgbClr val="9A7A25"/>
                </a:solidFill>
                <a:latin typeface="Calibri" pitchFamily="34" charset="0"/>
                <a:ea typeface="Calibri" pitchFamily="34" charset="-122"/>
                <a:cs typeface="Calibri" pitchFamily="34" charset="-120"/>
              </a:rPr>
              <a:t>FROM NOBROKER</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08</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Built in four layers</a:t>
            </a:r>
            <a:endParaRPr lang="en-US" sz="3800" dirty="0"/>
          </a:p>
        </p:txBody>
      </p:sp>
      <p:sp>
        <p:nvSpPr>
          <p:cNvPr id="4" name="Shape 2"/>
          <p:cNvSpPr/>
          <p:nvPr/>
        </p:nvSpPr>
        <p:spPr>
          <a:xfrm>
            <a:off x="777240" y="1591056"/>
            <a:ext cx="10637215" cy="969264"/>
          </a:xfrm>
          <a:prstGeom prst="rect">
            <a:avLst/>
          </a:prstGeom>
          <a:solidFill>
            <a:srgbClr val="14181D"/>
          </a:solidFill>
          <a:ln/>
        </p:spPr>
      </p:sp>
      <p:sp>
        <p:nvSpPr>
          <p:cNvPr id="5" name="Text 3"/>
          <p:cNvSpPr/>
          <p:nvPr/>
        </p:nvSpPr>
        <p:spPr>
          <a:xfrm>
            <a:off x="1069848" y="1755648"/>
            <a:ext cx="1371600" cy="274320"/>
          </a:xfrm>
          <a:prstGeom prst="rect">
            <a:avLst/>
          </a:prstGeom>
          <a:noFill/>
          <a:ln/>
        </p:spPr>
        <p:txBody>
          <a:bodyPr wrap="square" lIns="0" tIns="0" rIns="0" bIns="0" rtlCol="0" anchor="ctr"/>
          <a:lstStyle/>
          <a:p>
            <a:pPr indent="0" marL="0">
              <a:buNone/>
            </a:pPr>
            <a:r>
              <a:rPr lang="en-US" sz="900" b="1" spc="140" kern="0" dirty="0">
                <a:solidFill>
                  <a:srgbClr val="D9B061"/>
                </a:solidFill>
                <a:latin typeface="Calibri" pitchFamily="34" charset="0"/>
                <a:ea typeface="Calibri" pitchFamily="34" charset="-122"/>
                <a:cs typeface="Calibri" pitchFamily="34" charset="-120"/>
              </a:rPr>
              <a:t>LAYER 1</a:t>
            </a:r>
            <a:endParaRPr lang="en-US" sz="900" dirty="0"/>
          </a:p>
        </p:txBody>
      </p:sp>
      <p:sp>
        <p:nvSpPr>
          <p:cNvPr id="6" name="Text 4"/>
          <p:cNvSpPr/>
          <p:nvPr/>
        </p:nvSpPr>
        <p:spPr>
          <a:xfrm>
            <a:off x="1069848" y="2066544"/>
            <a:ext cx="1371600" cy="292608"/>
          </a:xfrm>
          <a:prstGeom prst="rect">
            <a:avLst/>
          </a:prstGeom>
          <a:noFill/>
          <a:ln/>
        </p:spPr>
        <p:txBody>
          <a:bodyPr wrap="square" lIns="0" tIns="0" rIns="0" bIns="0" rtlCol="0" anchor="ctr"/>
          <a:lstStyle/>
          <a:p>
            <a:pPr indent="0" marL="0">
              <a:buNone/>
            </a:pPr>
            <a:r>
              <a:rPr lang="en-US" sz="1100" dirty="0">
                <a:solidFill>
                  <a:srgbClr val="79818A"/>
                </a:solidFill>
                <a:latin typeface="Calibri" pitchFamily="34" charset="0"/>
                <a:ea typeface="Calibri" pitchFamily="34" charset="-122"/>
                <a:cs typeface="Calibri" pitchFamily="34" charset="-120"/>
              </a:rPr>
              <a:t>Days 1–90</a:t>
            </a:r>
            <a:endParaRPr lang="en-US" sz="1100" dirty="0"/>
          </a:p>
        </p:txBody>
      </p:sp>
      <p:sp>
        <p:nvSpPr>
          <p:cNvPr id="7" name="Text 5"/>
          <p:cNvSpPr/>
          <p:nvPr/>
        </p:nvSpPr>
        <p:spPr>
          <a:xfrm>
            <a:off x="2697480" y="1591056"/>
            <a:ext cx="2286000" cy="9692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Trust</a:t>
            </a:r>
            <a:endParaRPr lang="en-US" sz="1900" dirty="0"/>
          </a:p>
        </p:txBody>
      </p:sp>
      <p:sp>
        <p:nvSpPr>
          <p:cNvPr id="8" name="Text 6"/>
          <p:cNvSpPr/>
          <p:nvPr/>
        </p:nvSpPr>
        <p:spPr>
          <a:xfrm>
            <a:off x="5120640" y="1591056"/>
            <a:ext cx="6019495" cy="969264"/>
          </a:xfrm>
          <a:prstGeom prst="rect">
            <a:avLst/>
          </a:prstGeom>
          <a:noFill/>
          <a:ln/>
        </p:spPr>
        <p:txBody>
          <a:bodyPr wrap="square" lIns="0" tIns="0" rIns="0" bIns="0" rtlCol="0" anchor="ctr"/>
          <a:lstStyle/>
          <a:p>
            <a:pPr indent="0" marL="0">
              <a:lnSpc>
                <a:spcPts val="1800"/>
              </a:lnSpc>
              <a:buNone/>
            </a:pPr>
            <a:r>
              <a:rPr lang="en-US" sz="1250" dirty="0">
                <a:solidFill>
                  <a:srgbClr val="B6BEC7"/>
                </a:solidFill>
                <a:latin typeface="Calibri" pitchFamily="34" charset="0"/>
                <a:ea typeface="Calibri" pitchFamily="34" charset="-122"/>
                <a:cs typeface="Calibri" pitchFamily="34" charset="-120"/>
              </a:rPr>
              <a:t>Website, project pages, comparison engine, reviews and guides. No listings, no transactions. We earn the right to be believed before we ask for anything.</a:t>
            </a:r>
            <a:endParaRPr lang="en-US" sz="1250" dirty="0"/>
          </a:p>
        </p:txBody>
      </p:sp>
      <p:sp>
        <p:nvSpPr>
          <p:cNvPr id="9" name="Shape 7"/>
          <p:cNvSpPr/>
          <p:nvPr/>
        </p:nvSpPr>
        <p:spPr>
          <a:xfrm>
            <a:off x="777240" y="2633472"/>
            <a:ext cx="10637215" cy="969264"/>
          </a:xfrm>
          <a:prstGeom prst="rect">
            <a:avLst/>
          </a:prstGeom>
          <a:solidFill>
            <a:srgbClr val="222C36"/>
          </a:solidFill>
          <a:ln/>
        </p:spPr>
      </p:sp>
      <p:sp>
        <p:nvSpPr>
          <p:cNvPr id="10" name="Text 8"/>
          <p:cNvSpPr/>
          <p:nvPr/>
        </p:nvSpPr>
        <p:spPr>
          <a:xfrm>
            <a:off x="1069848" y="2798064"/>
            <a:ext cx="1371600" cy="274320"/>
          </a:xfrm>
          <a:prstGeom prst="rect">
            <a:avLst/>
          </a:prstGeom>
          <a:noFill/>
          <a:ln/>
        </p:spPr>
        <p:txBody>
          <a:bodyPr wrap="square" lIns="0" tIns="0" rIns="0" bIns="0" rtlCol="0" anchor="ctr"/>
          <a:lstStyle/>
          <a:p>
            <a:pPr indent="0" marL="0">
              <a:buNone/>
            </a:pPr>
            <a:r>
              <a:rPr lang="en-US" sz="900" b="1" spc="140" kern="0" dirty="0">
                <a:solidFill>
                  <a:srgbClr val="D9B061"/>
                </a:solidFill>
                <a:latin typeface="Calibri" pitchFamily="34" charset="0"/>
                <a:ea typeface="Calibri" pitchFamily="34" charset="-122"/>
                <a:cs typeface="Calibri" pitchFamily="34" charset="-120"/>
              </a:rPr>
              <a:t>LAYER 2</a:t>
            </a:r>
            <a:endParaRPr lang="en-US" sz="900" dirty="0"/>
          </a:p>
        </p:txBody>
      </p:sp>
      <p:sp>
        <p:nvSpPr>
          <p:cNvPr id="11" name="Text 9"/>
          <p:cNvSpPr/>
          <p:nvPr/>
        </p:nvSpPr>
        <p:spPr>
          <a:xfrm>
            <a:off x="1069848" y="3108960"/>
            <a:ext cx="1371600" cy="292608"/>
          </a:xfrm>
          <a:prstGeom prst="rect">
            <a:avLst/>
          </a:prstGeom>
          <a:noFill/>
          <a:ln/>
        </p:spPr>
        <p:txBody>
          <a:bodyPr wrap="square" lIns="0" tIns="0" rIns="0" bIns="0" rtlCol="0" anchor="ctr"/>
          <a:lstStyle/>
          <a:p>
            <a:pPr indent="0" marL="0">
              <a:buNone/>
            </a:pPr>
            <a:r>
              <a:rPr lang="en-US" sz="1100" dirty="0">
                <a:solidFill>
                  <a:srgbClr val="79818A"/>
                </a:solidFill>
                <a:latin typeface="Calibri" pitchFamily="34" charset="0"/>
                <a:ea typeface="Calibri" pitchFamily="34" charset="-122"/>
                <a:cs typeface="Calibri" pitchFamily="34" charset="-120"/>
              </a:rPr>
              <a:t>Months 4–12</a:t>
            </a:r>
            <a:endParaRPr lang="en-US" sz="1100" dirty="0"/>
          </a:p>
        </p:txBody>
      </p:sp>
      <p:sp>
        <p:nvSpPr>
          <p:cNvPr id="12" name="Text 10"/>
          <p:cNvSpPr/>
          <p:nvPr/>
        </p:nvSpPr>
        <p:spPr>
          <a:xfrm>
            <a:off x="2697480" y="2633472"/>
            <a:ext cx="2286000" cy="9692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Coverage</a:t>
            </a:r>
            <a:endParaRPr lang="en-US" sz="1900" dirty="0"/>
          </a:p>
        </p:txBody>
      </p:sp>
      <p:sp>
        <p:nvSpPr>
          <p:cNvPr id="13" name="Text 11"/>
          <p:cNvSpPr/>
          <p:nvPr/>
        </p:nvSpPr>
        <p:spPr>
          <a:xfrm>
            <a:off x="5120640" y="2633472"/>
            <a:ext cx="6019495" cy="969264"/>
          </a:xfrm>
          <a:prstGeom prst="rect">
            <a:avLst/>
          </a:prstGeom>
          <a:noFill/>
          <a:ln/>
        </p:spPr>
        <p:txBody>
          <a:bodyPr wrap="square" lIns="0" tIns="0" rIns="0" bIns="0" rtlCol="0" anchor="ctr"/>
          <a:lstStyle/>
          <a:p>
            <a:pPr indent="0" marL="0">
              <a:lnSpc>
                <a:spcPts val="1800"/>
              </a:lnSpc>
              <a:buNone/>
            </a:pPr>
            <a:r>
              <a:rPr lang="en-US" sz="1250" dirty="0">
                <a:solidFill>
                  <a:srgbClr val="B6BEC7"/>
                </a:solidFill>
                <a:latin typeface="Calibri" pitchFamily="34" charset="0"/>
                <a:ea typeface="Calibri" pitchFamily="34" charset="-122"/>
                <a:cs typeface="Calibri" pitchFamily="34" charset="-120"/>
              </a:rPr>
              <a:t>Every meaningful Hyderabad project reviewed and comparable. Resident reviews live. Price estimates from registration data. The default check before buying in this city.</a:t>
            </a:r>
            <a:endParaRPr lang="en-US" sz="1250" dirty="0"/>
          </a:p>
        </p:txBody>
      </p:sp>
      <p:sp>
        <p:nvSpPr>
          <p:cNvPr id="14" name="Shape 12"/>
          <p:cNvSpPr/>
          <p:nvPr/>
        </p:nvSpPr>
        <p:spPr>
          <a:xfrm>
            <a:off x="777240" y="3675888"/>
            <a:ext cx="10637215" cy="969264"/>
          </a:xfrm>
          <a:prstGeom prst="rect">
            <a:avLst/>
          </a:prstGeom>
          <a:solidFill>
            <a:srgbClr val="2E3B47"/>
          </a:solidFill>
          <a:ln/>
        </p:spPr>
      </p:sp>
      <p:sp>
        <p:nvSpPr>
          <p:cNvPr id="15" name="Text 13"/>
          <p:cNvSpPr/>
          <p:nvPr/>
        </p:nvSpPr>
        <p:spPr>
          <a:xfrm>
            <a:off x="1069848" y="3840480"/>
            <a:ext cx="1371600" cy="274320"/>
          </a:xfrm>
          <a:prstGeom prst="rect">
            <a:avLst/>
          </a:prstGeom>
          <a:noFill/>
          <a:ln/>
        </p:spPr>
        <p:txBody>
          <a:bodyPr wrap="square" lIns="0" tIns="0" rIns="0" bIns="0" rtlCol="0" anchor="ctr"/>
          <a:lstStyle/>
          <a:p>
            <a:pPr indent="0" marL="0">
              <a:buNone/>
            </a:pPr>
            <a:r>
              <a:rPr lang="en-US" sz="900" b="1" spc="140" kern="0" dirty="0">
                <a:solidFill>
                  <a:srgbClr val="D9B061"/>
                </a:solidFill>
                <a:latin typeface="Calibri" pitchFamily="34" charset="0"/>
                <a:ea typeface="Calibri" pitchFamily="34" charset="-122"/>
                <a:cs typeface="Calibri" pitchFamily="34" charset="-120"/>
              </a:rPr>
              <a:t>LAYER 3</a:t>
            </a:r>
            <a:endParaRPr lang="en-US" sz="900" dirty="0"/>
          </a:p>
        </p:txBody>
      </p:sp>
      <p:sp>
        <p:nvSpPr>
          <p:cNvPr id="16" name="Text 14"/>
          <p:cNvSpPr/>
          <p:nvPr/>
        </p:nvSpPr>
        <p:spPr>
          <a:xfrm>
            <a:off x="1069848" y="4151376"/>
            <a:ext cx="1371600" cy="292608"/>
          </a:xfrm>
          <a:prstGeom prst="rect">
            <a:avLst/>
          </a:prstGeom>
          <a:noFill/>
          <a:ln/>
        </p:spPr>
        <p:txBody>
          <a:bodyPr wrap="square" lIns="0" tIns="0" rIns="0" bIns="0" rtlCol="0" anchor="ctr"/>
          <a:lstStyle/>
          <a:p>
            <a:pPr indent="0" marL="0">
              <a:buNone/>
            </a:pPr>
            <a:r>
              <a:rPr lang="en-US" sz="1100" dirty="0">
                <a:solidFill>
                  <a:srgbClr val="79818A"/>
                </a:solidFill>
                <a:latin typeface="Calibri" pitchFamily="34" charset="0"/>
                <a:ea typeface="Calibri" pitchFamily="34" charset="-122"/>
                <a:cs typeface="Calibri" pitchFamily="34" charset="-120"/>
              </a:rPr>
              <a:t>Year 2</a:t>
            </a:r>
            <a:endParaRPr lang="en-US" sz="1100" dirty="0"/>
          </a:p>
        </p:txBody>
      </p:sp>
      <p:sp>
        <p:nvSpPr>
          <p:cNvPr id="17" name="Text 15"/>
          <p:cNvSpPr/>
          <p:nvPr/>
        </p:nvSpPr>
        <p:spPr>
          <a:xfrm>
            <a:off x="2697480" y="3675888"/>
            <a:ext cx="2286000" cy="9692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Transactions</a:t>
            </a:r>
            <a:endParaRPr lang="en-US" sz="1900" dirty="0"/>
          </a:p>
        </p:txBody>
      </p:sp>
      <p:sp>
        <p:nvSpPr>
          <p:cNvPr id="18" name="Text 16"/>
          <p:cNvSpPr/>
          <p:nvPr/>
        </p:nvSpPr>
        <p:spPr>
          <a:xfrm>
            <a:off x="5120640" y="3675888"/>
            <a:ext cx="6019495" cy="969264"/>
          </a:xfrm>
          <a:prstGeom prst="rect">
            <a:avLst/>
          </a:prstGeom>
          <a:noFill/>
          <a:ln/>
        </p:spPr>
        <p:txBody>
          <a:bodyPr wrap="square" lIns="0" tIns="0" rIns="0" bIns="0" rtlCol="0" anchor="ctr"/>
          <a:lstStyle/>
          <a:p>
            <a:pPr indent="0" marL="0">
              <a:lnSpc>
                <a:spcPts val="1800"/>
              </a:lnSpc>
              <a:buNone/>
            </a:pPr>
            <a:r>
              <a:rPr lang="en-US" sz="1250" dirty="0">
                <a:solidFill>
                  <a:srgbClr val="B6BEC7"/>
                </a:solidFill>
                <a:latin typeface="Calibri" pitchFamily="34" charset="0"/>
                <a:ea typeface="Calibri" pitchFamily="34" charset="-122"/>
                <a:cs typeface="Calibri" pitchFamily="34" charset="-120"/>
              </a:rPr>
              <a:t>Exclusive developer mandates, site visits, bookings. Revenue arrives on intent we already own, so cost per booking is a fraction of portal leads.</a:t>
            </a:r>
            <a:endParaRPr lang="en-US" sz="1250" dirty="0"/>
          </a:p>
        </p:txBody>
      </p:sp>
      <p:sp>
        <p:nvSpPr>
          <p:cNvPr id="19" name="Shape 17"/>
          <p:cNvSpPr/>
          <p:nvPr/>
        </p:nvSpPr>
        <p:spPr>
          <a:xfrm>
            <a:off x="777240" y="4718304"/>
            <a:ext cx="10637215" cy="969264"/>
          </a:xfrm>
          <a:prstGeom prst="rect">
            <a:avLst/>
          </a:prstGeom>
          <a:solidFill>
            <a:srgbClr val="3B4B59"/>
          </a:solidFill>
          <a:ln/>
        </p:spPr>
      </p:sp>
      <p:sp>
        <p:nvSpPr>
          <p:cNvPr id="20" name="Text 18"/>
          <p:cNvSpPr/>
          <p:nvPr/>
        </p:nvSpPr>
        <p:spPr>
          <a:xfrm>
            <a:off x="1069848" y="4882896"/>
            <a:ext cx="1371600" cy="274320"/>
          </a:xfrm>
          <a:prstGeom prst="rect">
            <a:avLst/>
          </a:prstGeom>
          <a:noFill/>
          <a:ln/>
        </p:spPr>
        <p:txBody>
          <a:bodyPr wrap="square" lIns="0" tIns="0" rIns="0" bIns="0" rtlCol="0" anchor="ctr"/>
          <a:lstStyle/>
          <a:p>
            <a:pPr indent="0" marL="0">
              <a:buNone/>
            </a:pPr>
            <a:r>
              <a:rPr lang="en-US" sz="900" b="1" spc="140" kern="0" dirty="0">
                <a:solidFill>
                  <a:srgbClr val="D9B061"/>
                </a:solidFill>
                <a:latin typeface="Calibri" pitchFamily="34" charset="0"/>
                <a:ea typeface="Calibri" pitchFamily="34" charset="-122"/>
                <a:cs typeface="Calibri" pitchFamily="34" charset="-120"/>
              </a:rPr>
              <a:t>LAYER 4</a:t>
            </a:r>
            <a:endParaRPr lang="en-US" sz="900" dirty="0"/>
          </a:p>
        </p:txBody>
      </p:sp>
      <p:sp>
        <p:nvSpPr>
          <p:cNvPr id="21" name="Text 19"/>
          <p:cNvSpPr/>
          <p:nvPr/>
        </p:nvSpPr>
        <p:spPr>
          <a:xfrm>
            <a:off x="1069848" y="5193792"/>
            <a:ext cx="1371600" cy="292608"/>
          </a:xfrm>
          <a:prstGeom prst="rect">
            <a:avLst/>
          </a:prstGeom>
          <a:noFill/>
          <a:ln/>
        </p:spPr>
        <p:txBody>
          <a:bodyPr wrap="square" lIns="0" tIns="0" rIns="0" bIns="0" rtlCol="0" anchor="ctr"/>
          <a:lstStyle/>
          <a:p>
            <a:pPr indent="0" marL="0">
              <a:buNone/>
            </a:pPr>
            <a:r>
              <a:rPr lang="en-US" sz="1100" dirty="0">
                <a:solidFill>
                  <a:srgbClr val="79818A"/>
                </a:solidFill>
                <a:latin typeface="Calibri" pitchFamily="34" charset="0"/>
                <a:ea typeface="Calibri" pitchFamily="34" charset="-122"/>
                <a:cs typeface="Calibri" pitchFamily="34" charset="-120"/>
              </a:rPr>
              <a:t>Year 3+</a:t>
            </a:r>
            <a:endParaRPr lang="en-US" sz="1100" dirty="0"/>
          </a:p>
        </p:txBody>
      </p:sp>
      <p:sp>
        <p:nvSpPr>
          <p:cNvPr id="22" name="Text 20"/>
          <p:cNvSpPr/>
          <p:nvPr/>
        </p:nvSpPr>
        <p:spPr>
          <a:xfrm>
            <a:off x="2697480" y="4718304"/>
            <a:ext cx="2286000" cy="969264"/>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Services and data</a:t>
            </a:r>
            <a:endParaRPr lang="en-US" sz="1900" dirty="0"/>
          </a:p>
        </p:txBody>
      </p:sp>
      <p:sp>
        <p:nvSpPr>
          <p:cNvPr id="23" name="Text 21"/>
          <p:cNvSpPr/>
          <p:nvPr/>
        </p:nvSpPr>
        <p:spPr>
          <a:xfrm>
            <a:off x="5120640" y="4718304"/>
            <a:ext cx="6019495" cy="969264"/>
          </a:xfrm>
          <a:prstGeom prst="rect">
            <a:avLst/>
          </a:prstGeom>
          <a:noFill/>
          <a:ln/>
        </p:spPr>
        <p:txBody>
          <a:bodyPr wrap="square" lIns="0" tIns="0" rIns="0" bIns="0" rtlCol="0" anchor="ctr"/>
          <a:lstStyle/>
          <a:p>
            <a:pPr indent="0" marL="0">
              <a:lnSpc>
                <a:spcPts val="1800"/>
              </a:lnSpc>
              <a:buNone/>
            </a:pPr>
            <a:r>
              <a:rPr lang="en-US" sz="1250" dirty="0">
                <a:solidFill>
                  <a:srgbClr val="B6BEC7"/>
                </a:solidFill>
                <a:latin typeface="Calibri" pitchFamily="34" charset="0"/>
                <a:ea typeface="Calibri" pitchFamily="34" charset="-122"/>
                <a:cs typeface="Calibri" pitchFamily="34" charset="-120"/>
              </a:rPr>
              <a:t>Loans, legal, registration, interiors. And the data business — developers and banks paying for what OTHO knows about demand. The high-margin end.</a:t>
            </a:r>
            <a:endParaRPr lang="en-US" sz="1250" dirty="0"/>
          </a:p>
        </p:txBody>
      </p:sp>
      <p:sp>
        <p:nvSpPr>
          <p:cNvPr id="24" name="Text 22"/>
          <p:cNvSpPr/>
          <p:nvPr/>
        </p:nvSpPr>
        <p:spPr>
          <a:xfrm>
            <a:off x="777240" y="5925312"/>
            <a:ext cx="10637215" cy="548640"/>
          </a:xfrm>
          <a:prstGeom prst="rect">
            <a:avLst/>
          </a:prstGeom>
          <a:noFill/>
          <a:ln/>
        </p:spPr>
        <p:txBody>
          <a:bodyPr wrap="square" lIns="0" tIns="0" rIns="0" bIns="0" rtlCol="0" anchor="ctr"/>
          <a:lstStyle/>
          <a:p>
            <a:pPr indent="0" marL="0">
              <a:lnSpc>
                <a:spcPts val="2100"/>
              </a:lnSpc>
              <a:buNone/>
            </a:pPr>
            <a:r>
              <a:rPr lang="en-US" sz="1450" i="1" dirty="0">
                <a:solidFill>
                  <a:srgbClr val="14181D"/>
                </a:solidFill>
                <a:latin typeface="Calibri" pitchFamily="34" charset="0"/>
                <a:ea typeface="Calibri" pitchFamily="34" charset="-122"/>
                <a:cs typeface="Calibri" pitchFamily="34" charset="-120"/>
              </a:rPr>
              <a:t>Every competitor started at Layer 3 and tried to reverse into trust. It doesn't work — you can't earn credibility from people already annoyed by your calls.</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09</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we produce</a:t>
            </a:r>
            <a:endParaRPr lang="en-US" sz="3800" dirty="0"/>
          </a:p>
        </p:txBody>
      </p:sp>
      <p:sp>
        <p:nvSpPr>
          <p:cNvPr id="4" name="Shape 2"/>
          <p:cNvSpPr/>
          <p:nvPr/>
        </p:nvSpPr>
        <p:spPr>
          <a:xfrm>
            <a:off x="777240" y="1591056"/>
            <a:ext cx="10637215" cy="365760"/>
          </a:xfrm>
          <a:prstGeom prst="rect">
            <a:avLst/>
          </a:prstGeom>
          <a:solidFill>
            <a:srgbClr val="14181D"/>
          </a:solidFill>
          <a:ln/>
        </p:spPr>
      </p:sp>
      <p:sp>
        <p:nvSpPr>
          <p:cNvPr id="5" name="Text 3"/>
          <p:cNvSpPr/>
          <p:nvPr/>
        </p:nvSpPr>
        <p:spPr>
          <a:xfrm>
            <a:off x="978408" y="1591056"/>
            <a:ext cx="1874520"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FORMAT</a:t>
            </a:r>
            <a:endParaRPr lang="en-US" sz="900" dirty="0"/>
          </a:p>
        </p:txBody>
      </p:sp>
      <p:sp>
        <p:nvSpPr>
          <p:cNvPr id="6" name="Text 4"/>
          <p:cNvSpPr/>
          <p:nvPr/>
        </p:nvSpPr>
        <p:spPr>
          <a:xfrm>
            <a:off x="3127248" y="1591056"/>
            <a:ext cx="3703320"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WHAT IT IS</a:t>
            </a:r>
            <a:endParaRPr lang="en-US" sz="900" dirty="0"/>
          </a:p>
        </p:txBody>
      </p:sp>
      <p:sp>
        <p:nvSpPr>
          <p:cNvPr id="7" name="Text 5"/>
          <p:cNvSpPr/>
          <p:nvPr/>
        </p:nvSpPr>
        <p:spPr>
          <a:xfrm>
            <a:off x="7104888" y="1591056"/>
            <a:ext cx="1097280"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VOLUME</a:t>
            </a:r>
            <a:endParaRPr lang="en-US" sz="900" dirty="0"/>
          </a:p>
        </p:txBody>
      </p:sp>
      <p:sp>
        <p:nvSpPr>
          <p:cNvPr id="8" name="Text 6"/>
          <p:cNvSpPr/>
          <p:nvPr/>
        </p:nvSpPr>
        <p:spPr>
          <a:xfrm>
            <a:off x="8476488" y="1591056"/>
            <a:ext cx="2862072" cy="365760"/>
          </a:xfrm>
          <a:prstGeom prst="rect">
            <a:avLst/>
          </a:prstGeom>
          <a:noFill/>
          <a:ln/>
        </p:spPr>
        <p:txBody>
          <a:bodyPr wrap="square" lIns="0" tIns="0" rIns="0" bIns="0" rtlCol="0" anchor="ctr"/>
          <a:lstStyle/>
          <a:p>
            <a:pPr indent="0" marL="0">
              <a:buNone/>
            </a:pPr>
            <a:r>
              <a:rPr lang="en-US" sz="900" b="1" spc="130" kern="0" dirty="0">
                <a:solidFill>
                  <a:srgbClr val="B6BEC7"/>
                </a:solidFill>
                <a:latin typeface="Calibri" pitchFamily="34" charset="0"/>
                <a:ea typeface="Calibri" pitchFamily="34" charset="-122"/>
                <a:cs typeface="Calibri" pitchFamily="34" charset="-120"/>
              </a:rPr>
              <a:t>JOB</a:t>
            </a:r>
            <a:endParaRPr lang="en-US" sz="900" dirty="0"/>
          </a:p>
        </p:txBody>
      </p:sp>
      <p:sp>
        <p:nvSpPr>
          <p:cNvPr id="9" name="Shape 7"/>
          <p:cNvSpPr/>
          <p:nvPr/>
        </p:nvSpPr>
        <p:spPr>
          <a:xfrm>
            <a:off x="777240" y="2011680"/>
            <a:ext cx="10637215" cy="402336"/>
          </a:xfrm>
          <a:prstGeom prst="rect">
            <a:avLst/>
          </a:prstGeom>
          <a:solidFill>
            <a:srgbClr val="FFFFFF"/>
          </a:solidFill>
          <a:ln/>
        </p:spPr>
      </p:sp>
      <p:sp>
        <p:nvSpPr>
          <p:cNvPr id="10" name="Text 8"/>
          <p:cNvSpPr/>
          <p:nvPr/>
        </p:nvSpPr>
        <p:spPr>
          <a:xfrm>
            <a:off x="978408" y="2011680"/>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Project review film</a:t>
            </a:r>
            <a:endParaRPr lang="en-US" sz="1250" dirty="0"/>
          </a:p>
        </p:txBody>
      </p:sp>
      <p:sp>
        <p:nvSpPr>
          <p:cNvPr id="11" name="Text 9"/>
          <p:cNvSpPr/>
          <p:nvPr/>
        </p:nvSpPr>
        <p:spPr>
          <a:xfrm>
            <a:off x="3127248" y="2011680"/>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8–12 min walkthrough with a verdict. Good and bad, on camera.</a:t>
            </a:r>
            <a:endParaRPr lang="en-US" sz="1100" dirty="0"/>
          </a:p>
        </p:txBody>
      </p:sp>
      <p:sp>
        <p:nvSpPr>
          <p:cNvPr id="12" name="Text 10"/>
          <p:cNvSpPr/>
          <p:nvPr/>
        </p:nvSpPr>
        <p:spPr>
          <a:xfrm>
            <a:off x="7104888" y="2011680"/>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2 / month</a:t>
            </a:r>
            <a:endParaRPr lang="en-US" sz="1100" dirty="0"/>
          </a:p>
        </p:txBody>
      </p:sp>
      <p:sp>
        <p:nvSpPr>
          <p:cNvPr id="13" name="Text 11"/>
          <p:cNvSpPr/>
          <p:nvPr/>
        </p:nvSpPr>
        <p:spPr>
          <a:xfrm>
            <a:off x="8476488" y="2011680"/>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The signature format. Builds the library.</a:t>
            </a:r>
            <a:endParaRPr lang="en-US" sz="1100" dirty="0"/>
          </a:p>
        </p:txBody>
      </p:sp>
      <p:sp>
        <p:nvSpPr>
          <p:cNvPr id="14" name="Shape 12"/>
          <p:cNvSpPr/>
          <p:nvPr/>
        </p:nvSpPr>
        <p:spPr>
          <a:xfrm>
            <a:off x="777240" y="2459736"/>
            <a:ext cx="10637215" cy="402336"/>
          </a:xfrm>
          <a:prstGeom prst="rect">
            <a:avLst/>
          </a:prstGeom>
          <a:solidFill>
            <a:srgbClr val="FFFFFF"/>
          </a:solidFill>
          <a:ln/>
        </p:spPr>
      </p:sp>
      <p:sp>
        <p:nvSpPr>
          <p:cNvPr id="15" name="Text 13"/>
          <p:cNvSpPr/>
          <p:nvPr/>
        </p:nvSpPr>
        <p:spPr>
          <a:xfrm>
            <a:off x="978408" y="2459736"/>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Comparison film</a:t>
            </a:r>
            <a:endParaRPr lang="en-US" sz="1250" dirty="0"/>
          </a:p>
        </p:txBody>
      </p:sp>
      <p:sp>
        <p:nvSpPr>
          <p:cNvPr id="16" name="Text 14"/>
          <p:cNvSpPr/>
          <p:nvPr/>
        </p:nvSpPr>
        <p:spPr>
          <a:xfrm>
            <a:off x="3127248" y="2459736"/>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Two projects, one screen, real numbers.</a:t>
            </a:r>
            <a:endParaRPr lang="en-US" sz="1100" dirty="0"/>
          </a:p>
        </p:txBody>
      </p:sp>
      <p:sp>
        <p:nvSpPr>
          <p:cNvPr id="17" name="Text 15"/>
          <p:cNvSpPr/>
          <p:nvPr/>
        </p:nvSpPr>
        <p:spPr>
          <a:xfrm>
            <a:off x="7104888" y="2459736"/>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1 / month</a:t>
            </a:r>
            <a:endParaRPr lang="en-US" sz="1100" dirty="0"/>
          </a:p>
        </p:txBody>
      </p:sp>
      <p:sp>
        <p:nvSpPr>
          <p:cNvPr id="18" name="Text 16"/>
          <p:cNvSpPr/>
          <p:nvPr/>
        </p:nvSpPr>
        <p:spPr>
          <a:xfrm>
            <a:off x="8476488" y="2459736"/>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Most shared format. Drives the tool.</a:t>
            </a:r>
            <a:endParaRPr lang="en-US" sz="1100" dirty="0"/>
          </a:p>
        </p:txBody>
      </p:sp>
      <p:sp>
        <p:nvSpPr>
          <p:cNvPr id="19" name="Shape 17"/>
          <p:cNvSpPr/>
          <p:nvPr/>
        </p:nvSpPr>
        <p:spPr>
          <a:xfrm>
            <a:off x="777240" y="2907792"/>
            <a:ext cx="10637215" cy="402336"/>
          </a:xfrm>
          <a:prstGeom prst="rect">
            <a:avLst/>
          </a:prstGeom>
          <a:solidFill>
            <a:srgbClr val="FFFFFF"/>
          </a:solidFill>
          <a:ln/>
        </p:spPr>
      </p:sp>
      <p:sp>
        <p:nvSpPr>
          <p:cNvPr id="20" name="Text 18"/>
          <p:cNvSpPr/>
          <p:nvPr/>
        </p:nvSpPr>
        <p:spPr>
          <a:xfrm>
            <a:off x="978408" y="2907792"/>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Founder podcast</a:t>
            </a:r>
            <a:endParaRPr lang="en-US" sz="1250" dirty="0"/>
          </a:p>
        </p:txBody>
      </p:sp>
      <p:sp>
        <p:nvSpPr>
          <p:cNvPr id="21" name="Text 19"/>
          <p:cNvSpPr/>
          <p:nvPr/>
        </p:nvSpPr>
        <p:spPr>
          <a:xfrm>
            <a:off x="3127248" y="2907792"/>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30–40 min with a developer, planner, architect or lawyer.</a:t>
            </a:r>
            <a:endParaRPr lang="en-US" sz="1100" dirty="0"/>
          </a:p>
        </p:txBody>
      </p:sp>
      <p:sp>
        <p:nvSpPr>
          <p:cNvPr id="22" name="Text 20"/>
          <p:cNvSpPr/>
          <p:nvPr/>
        </p:nvSpPr>
        <p:spPr>
          <a:xfrm>
            <a:off x="7104888" y="2907792"/>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2 / month</a:t>
            </a:r>
            <a:endParaRPr lang="en-US" sz="1100" dirty="0"/>
          </a:p>
        </p:txBody>
      </p:sp>
      <p:sp>
        <p:nvSpPr>
          <p:cNvPr id="23" name="Text 21"/>
          <p:cNvSpPr/>
          <p:nvPr/>
        </p:nvSpPr>
        <p:spPr>
          <a:xfrm>
            <a:off x="8476488" y="2907792"/>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Authority. Only OTHO can book these guests.</a:t>
            </a:r>
            <a:endParaRPr lang="en-US" sz="1100" dirty="0"/>
          </a:p>
        </p:txBody>
      </p:sp>
      <p:sp>
        <p:nvSpPr>
          <p:cNvPr id="24" name="Shape 22"/>
          <p:cNvSpPr/>
          <p:nvPr/>
        </p:nvSpPr>
        <p:spPr>
          <a:xfrm>
            <a:off x="777240" y="3355848"/>
            <a:ext cx="10637215" cy="402336"/>
          </a:xfrm>
          <a:prstGeom prst="rect">
            <a:avLst/>
          </a:prstGeom>
          <a:solidFill>
            <a:srgbClr val="FFFFFF"/>
          </a:solidFill>
          <a:ln/>
        </p:spPr>
      </p:sp>
      <p:sp>
        <p:nvSpPr>
          <p:cNvPr id="25" name="Text 23"/>
          <p:cNvSpPr/>
          <p:nvPr/>
        </p:nvSpPr>
        <p:spPr>
          <a:xfrm>
            <a:off x="978408" y="3355848"/>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Locality deep-dive</a:t>
            </a:r>
            <a:endParaRPr lang="en-US" sz="1250" dirty="0"/>
          </a:p>
        </p:txBody>
      </p:sp>
      <p:sp>
        <p:nvSpPr>
          <p:cNvPr id="26" name="Text 24"/>
          <p:cNvSpPr/>
          <p:nvPr/>
        </p:nvSpPr>
        <p:spPr>
          <a:xfrm>
            <a:off x="3127248" y="3355848"/>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Kokapet, Financial District, Tellapur — including drawbacks.</a:t>
            </a:r>
            <a:endParaRPr lang="en-US" sz="1100" dirty="0"/>
          </a:p>
        </p:txBody>
      </p:sp>
      <p:sp>
        <p:nvSpPr>
          <p:cNvPr id="27" name="Text 25"/>
          <p:cNvSpPr/>
          <p:nvPr/>
        </p:nvSpPr>
        <p:spPr>
          <a:xfrm>
            <a:off x="7104888" y="3355848"/>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1 / month</a:t>
            </a:r>
            <a:endParaRPr lang="en-US" sz="1100" dirty="0"/>
          </a:p>
        </p:txBody>
      </p:sp>
      <p:sp>
        <p:nvSpPr>
          <p:cNvPr id="28" name="Text 26"/>
          <p:cNvSpPr/>
          <p:nvPr/>
        </p:nvSpPr>
        <p:spPr>
          <a:xfrm>
            <a:off x="8476488" y="3355848"/>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Search traffic and AI citations.</a:t>
            </a:r>
            <a:endParaRPr lang="en-US" sz="1100" dirty="0"/>
          </a:p>
        </p:txBody>
      </p:sp>
      <p:sp>
        <p:nvSpPr>
          <p:cNvPr id="29" name="Shape 27"/>
          <p:cNvSpPr/>
          <p:nvPr/>
        </p:nvSpPr>
        <p:spPr>
          <a:xfrm>
            <a:off x="777240" y="3803904"/>
            <a:ext cx="10637215" cy="402336"/>
          </a:xfrm>
          <a:prstGeom prst="rect">
            <a:avLst/>
          </a:prstGeom>
          <a:solidFill>
            <a:srgbClr val="FFFFFF"/>
          </a:solidFill>
          <a:ln/>
        </p:spPr>
      </p:sp>
      <p:sp>
        <p:nvSpPr>
          <p:cNvPr id="30" name="Text 28"/>
          <p:cNvSpPr/>
          <p:nvPr/>
        </p:nvSpPr>
        <p:spPr>
          <a:xfrm>
            <a:off x="978408" y="3803904"/>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The dictionary</a:t>
            </a:r>
            <a:endParaRPr lang="en-US" sz="1250" dirty="0"/>
          </a:p>
        </p:txBody>
      </p:sp>
      <p:sp>
        <p:nvSpPr>
          <p:cNvPr id="31" name="Text 29"/>
          <p:cNvSpPr/>
          <p:nvPr/>
        </p:nvSpPr>
        <p:spPr>
          <a:xfrm>
            <a:off x="3127248" y="3803904"/>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Loading factor, UDS, carpet vs SBA, reading a RERA filing.</a:t>
            </a:r>
            <a:endParaRPr lang="en-US" sz="1100" dirty="0"/>
          </a:p>
        </p:txBody>
      </p:sp>
      <p:sp>
        <p:nvSpPr>
          <p:cNvPr id="32" name="Text 30"/>
          <p:cNvSpPr/>
          <p:nvPr/>
        </p:nvSpPr>
        <p:spPr>
          <a:xfrm>
            <a:off x="7104888" y="3803904"/>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2 / month</a:t>
            </a:r>
            <a:endParaRPr lang="en-US" sz="1100" dirty="0"/>
          </a:p>
        </p:txBody>
      </p:sp>
      <p:sp>
        <p:nvSpPr>
          <p:cNvPr id="33" name="Text 31"/>
          <p:cNvSpPr/>
          <p:nvPr/>
        </p:nvSpPr>
        <p:spPr>
          <a:xfrm>
            <a:off x="8476488" y="3803904"/>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Permanent traffic. Gets OTHO quoted by AI.</a:t>
            </a:r>
            <a:endParaRPr lang="en-US" sz="1100" dirty="0"/>
          </a:p>
        </p:txBody>
      </p:sp>
      <p:sp>
        <p:nvSpPr>
          <p:cNvPr id="34" name="Shape 32"/>
          <p:cNvSpPr/>
          <p:nvPr/>
        </p:nvSpPr>
        <p:spPr>
          <a:xfrm>
            <a:off x="777240" y="4251960"/>
            <a:ext cx="10637215" cy="402336"/>
          </a:xfrm>
          <a:prstGeom prst="rect">
            <a:avLst/>
          </a:prstGeom>
          <a:solidFill>
            <a:srgbClr val="FFFFFF"/>
          </a:solidFill>
          <a:ln/>
        </p:spPr>
      </p:sp>
      <p:sp>
        <p:nvSpPr>
          <p:cNvPr id="35" name="Text 33"/>
          <p:cNvSpPr/>
          <p:nvPr/>
        </p:nvSpPr>
        <p:spPr>
          <a:xfrm>
            <a:off x="978408" y="4251960"/>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Monthly market note</a:t>
            </a:r>
            <a:endParaRPr lang="en-US" sz="1250" dirty="0"/>
          </a:p>
        </p:txBody>
      </p:sp>
      <p:sp>
        <p:nvSpPr>
          <p:cNvPr id="36" name="Text 34"/>
          <p:cNvSpPr/>
          <p:nvPr/>
        </p:nvSpPr>
        <p:spPr>
          <a:xfrm>
            <a:off x="3127248" y="4251960"/>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Registrations, prices, launches, absorption. Real data.</a:t>
            </a:r>
            <a:endParaRPr lang="en-US" sz="1100" dirty="0"/>
          </a:p>
        </p:txBody>
      </p:sp>
      <p:sp>
        <p:nvSpPr>
          <p:cNvPr id="37" name="Text 35"/>
          <p:cNvSpPr/>
          <p:nvPr/>
        </p:nvSpPr>
        <p:spPr>
          <a:xfrm>
            <a:off x="7104888" y="4251960"/>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1 / month</a:t>
            </a:r>
            <a:endParaRPr lang="en-US" sz="1100" dirty="0"/>
          </a:p>
        </p:txBody>
      </p:sp>
      <p:sp>
        <p:nvSpPr>
          <p:cNvPr id="38" name="Text 36"/>
          <p:cNvSpPr/>
          <p:nvPr/>
        </p:nvSpPr>
        <p:spPr>
          <a:xfrm>
            <a:off x="8476488" y="4251960"/>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Journalists start quoting it. Free PR.</a:t>
            </a:r>
            <a:endParaRPr lang="en-US" sz="1100" dirty="0"/>
          </a:p>
        </p:txBody>
      </p:sp>
      <p:sp>
        <p:nvSpPr>
          <p:cNvPr id="39" name="Shape 37"/>
          <p:cNvSpPr/>
          <p:nvPr/>
        </p:nvSpPr>
        <p:spPr>
          <a:xfrm>
            <a:off x="777240" y="4700016"/>
            <a:ext cx="10637215" cy="402336"/>
          </a:xfrm>
          <a:prstGeom prst="rect">
            <a:avLst/>
          </a:prstGeom>
          <a:solidFill>
            <a:srgbClr val="FFFFFF"/>
          </a:solidFill>
          <a:ln/>
        </p:spPr>
      </p:sp>
      <p:sp>
        <p:nvSpPr>
          <p:cNvPr id="40" name="Text 38"/>
          <p:cNvSpPr/>
          <p:nvPr/>
        </p:nvSpPr>
        <p:spPr>
          <a:xfrm>
            <a:off x="978408" y="4700016"/>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Vertical clips</a:t>
            </a:r>
            <a:endParaRPr lang="en-US" sz="1250" dirty="0"/>
          </a:p>
        </p:txBody>
      </p:sp>
      <p:sp>
        <p:nvSpPr>
          <p:cNvPr id="41" name="Text 39"/>
          <p:cNvSpPr/>
          <p:nvPr/>
        </p:nvSpPr>
        <p:spPr>
          <a:xfrm>
            <a:off x="3127248" y="4700016"/>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Cut from everything above.</a:t>
            </a:r>
            <a:endParaRPr lang="en-US" sz="1100" dirty="0"/>
          </a:p>
        </p:txBody>
      </p:sp>
      <p:sp>
        <p:nvSpPr>
          <p:cNvPr id="42" name="Text 40"/>
          <p:cNvSpPr/>
          <p:nvPr/>
        </p:nvSpPr>
        <p:spPr>
          <a:xfrm>
            <a:off x="7104888" y="4700016"/>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20–25 / month</a:t>
            </a:r>
            <a:endParaRPr lang="en-US" sz="1100" dirty="0"/>
          </a:p>
        </p:txBody>
      </p:sp>
      <p:sp>
        <p:nvSpPr>
          <p:cNvPr id="43" name="Text 41"/>
          <p:cNvSpPr/>
          <p:nvPr/>
        </p:nvSpPr>
        <p:spPr>
          <a:xfrm>
            <a:off x="8476488" y="4700016"/>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Reach on Instagram, Shorts, LinkedIn.</a:t>
            </a:r>
            <a:endParaRPr lang="en-US" sz="1100" dirty="0"/>
          </a:p>
        </p:txBody>
      </p:sp>
      <p:sp>
        <p:nvSpPr>
          <p:cNvPr id="44" name="Shape 42"/>
          <p:cNvSpPr/>
          <p:nvPr/>
        </p:nvSpPr>
        <p:spPr>
          <a:xfrm>
            <a:off x="777240" y="5148072"/>
            <a:ext cx="10637215" cy="402336"/>
          </a:xfrm>
          <a:prstGeom prst="rect">
            <a:avLst/>
          </a:prstGeom>
          <a:solidFill>
            <a:srgbClr val="FFFFFF"/>
          </a:solidFill>
          <a:ln/>
        </p:spPr>
      </p:sp>
      <p:sp>
        <p:nvSpPr>
          <p:cNvPr id="45" name="Text 43"/>
          <p:cNvSpPr/>
          <p:nvPr/>
        </p:nvSpPr>
        <p:spPr>
          <a:xfrm>
            <a:off x="978408" y="5148072"/>
            <a:ext cx="1837944" cy="402336"/>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Founder posts</a:t>
            </a:r>
            <a:endParaRPr lang="en-US" sz="1250" dirty="0"/>
          </a:p>
        </p:txBody>
      </p:sp>
      <p:sp>
        <p:nvSpPr>
          <p:cNvPr id="46" name="Text 44"/>
          <p:cNvSpPr/>
          <p:nvPr/>
        </p:nvSpPr>
        <p:spPr>
          <a:xfrm>
            <a:off x="3127248" y="5148072"/>
            <a:ext cx="3666744"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Site observations, pricing oddities, war stories.</a:t>
            </a:r>
            <a:endParaRPr lang="en-US" sz="1100" dirty="0"/>
          </a:p>
        </p:txBody>
      </p:sp>
      <p:sp>
        <p:nvSpPr>
          <p:cNvPr id="47" name="Text 45"/>
          <p:cNvSpPr/>
          <p:nvPr/>
        </p:nvSpPr>
        <p:spPr>
          <a:xfrm>
            <a:off x="7104888" y="5148072"/>
            <a:ext cx="1060704" cy="402336"/>
          </a:xfrm>
          <a:prstGeom prst="rect">
            <a:avLst/>
          </a:prstGeom>
          <a:noFill/>
          <a:ln/>
        </p:spPr>
        <p:txBody>
          <a:bodyPr wrap="square" lIns="0" tIns="0" rIns="0" bIns="0" rtlCol="0" anchor="ctr"/>
          <a:lstStyle/>
          <a:p>
            <a:pPr indent="0" marL="0">
              <a:buNone/>
            </a:pPr>
            <a:r>
              <a:rPr lang="en-US" sz="1100" dirty="0">
                <a:solidFill>
                  <a:srgbClr val="9A7A25"/>
                </a:solidFill>
                <a:latin typeface="Calibri" pitchFamily="34" charset="0"/>
                <a:ea typeface="Calibri" pitchFamily="34" charset="-122"/>
                <a:cs typeface="Calibri" pitchFamily="34" charset="-120"/>
              </a:rPr>
              <a:t>8–10 / month</a:t>
            </a:r>
            <a:endParaRPr lang="en-US" sz="1100" dirty="0"/>
          </a:p>
        </p:txBody>
      </p:sp>
      <p:sp>
        <p:nvSpPr>
          <p:cNvPr id="48" name="Text 46"/>
          <p:cNvSpPr/>
          <p:nvPr/>
        </p:nvSpPr>
        <p:spPr>
          <a:xfrm>
            <a:off x="8476488" y="5148072"/>
            <a:ext cx="2825496" cy="402336"/>
          </a:xfrm>
          <a:prstGeom prst="rect">
            <a:avLst/>
          </a:prstGeom>
          <a:noFill/>
          <a:ln/>
        </p:spPr>
        <p:txBody>
          <a:bodyPr wrap="square" lIns="0" tIns="0" rIns="0" bIns="0" rtlCol="0" anchor="ctr"/>
          <a:lstStyle/>
          <a:p>
            <a:pPr indent="0" marL="0">
              <a:buNone/>
            </a:pPr>
            <a:r>
              <a:rPr lang="en-US" sz="1100" dirty="0">
                <a:solidFill>
                  <a:srgbClr val="555C64"/>
                </a:solidFill>
                <a:latin typeface="Calibri" pitchFamily="34" charset="0"/>
                <a:ea typeface="Calibri" pitchFamily="34" charset="-122"/>
                <a:cs typeface="Calibri" pitchFamily="34" charset="-120"/>
              </a:rPr>
              <a:t>Nobody can copy twenty years of stories.</a:t>
            </a:r>
            <a:endParaRPr lang="en-US" sz="1100" dirty="0"/>
          </a:p>
        </p:txBody>
      </p:sp>
      <p:sp>
        <p:nvSpPr>
          <p:cNvPr id="49" name="Text 47"/>
          <p:cNvSpPr/>
          <p:nvPr/>
        </p:nvSpPr>
        <p:spPr>
          <a:xfrm>
            <a:off x="777240" y="5742432"/>
            <a:ext cx="10637215" cy="548640"/>
          </a:xfrm>
          <a:prstGeom prst="rect">
            <a:avLst/>
          </a:prstGeom>
          <a:noFill/>
          <a:ln/>
        </p:spPr>
        <p:txBody>
          <a:bodyPr wrap="square" lIns="0" tIns="0" rIns="0" bIns="0" rtlCol="0" anchor="ctr"/>
          <a:lstStyle/>
          <a:p>
            <a:pPr indent="0" marL="0">
              <a:lnSpc>
                <a:spcPts val="2100"/>
              </a:lnSpc>
              <a:buNone/>
            </a:pPr>
            <a:r>
              <a:rPr lang="en-US" sz="1400" dirty="0">
                <a:solidFill>
                  <a:srgbClr val="14181D"/>
                </a:solidFill>
                <a:latin typeface="Calibri" pitchFamily="34" charset="0"/>
                <a:ea typeface="Calibri" pitchFamily="34" charset="-122"/>
                <a:cs typeface="Calibri" pitchFamily="34" charset="-120"/>
              </a:rPr>
              <a:t>All of it from two shoot days a month — one studio, one on site. Roughly 35 usable pieces. Production is what Production X does, which is why this costs a fraction of agency rates.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10</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How we promote it</a:t>
            </a:r>
            <a:endParaRPr lang="en-US" sz="3800" dirty="0"/>
          </a:p>
        </p:txBody>
      </p:sp>
      <p:sp>
        <p:nvSpPr>
          <p:cNvPr id="4" name="Shape 2"/>
          <p:cNvSpPr/>
          <p:nvPr/>
        </p:nvSpPr>
        <p:spPr>
          <a:xfrm>
            <a:off x="777240" y="1591056"/>
            <a:ext cx="10637215" cy="384048"/>
          </a:xfrm>
          <a:prstGeom prst="rect">
            <a:avLst/>
          </a:prstGeom>
          <a:solidFill>
            <a:srgbClr val="FFFFFF"/>
          </a:solidFill>
          <a:ln/>
        </p:spPr>
      </p:sp>
      <p:sp>
        <p:nvSpPr>
          <p:cNvPr id="5" name="Text 3"/>
          <p:cNvSpPr/>
          <p:nvPr/>
        </p:nvSpPr>
        <p:spPr>
          <a:xfrm>
            <a:off x="1014984" y="1591056"/>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YouTube</a:t>
            </a:r>
            <a:endParaRPr lang="en-US" sz="1250" dirty="0"/>
          </a:p>
        </p:txBody>
      </p:sp>
      <p:sp>
        <p:nvSpPr>
          <p:cNvPr id="6" name="Text 4"/>
          <p:cNvSpPr/>
          <p:nvPr/>
        </p:nvSpPr>
        <p:spPr>
          <a:xfrm>
            <a:off x="3154680" y="1591056"/>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Review films, comparisons, podcast</a:t>
            </a:r>
            <a:endParaRPr lang="en-US" sz="1150" dirty="0"/>
          </a:p>
        </p:txBody>
      </p:sp>
      <p:sp>
        <p:nvSpPr>
          <p:cNvPr id="7" name="Text 5"/>
          <p:cNvSpPr/>
          <p:nvPr/>
        </p:nvSpPr>
        <p:spPr>
          <a:xfrm>
            <a:off x="7955280" y="1591056"/>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Where property research actually happens now</a:t>
            </a:r>
            <a:endParaRPr lang="en-US" sz="1150" dirty="0"/>
          </a:p>
        </p:txBody>
      </p:sp>
      <p:sp>
        <p:nvSpPr>
          <p:cNvPr id="8" name="Shape 6"/>
          <p:cNvSpPr/>
          <p:nvPr/>
        </p:nvSpPr>
        <p:spPr>
          <a:xfrm>
            <a:off x="777240" y="2020824"/>
            <a:ext cx="10637215" cy="384048"/>
          </a:xfrm>
          <a:prstGeom prst="rect">
            <a:avLst/>
          </a:prstGeom>
          <a:solidFill>
            <a:srgbClr val="FFFFFF"/>
          </a:solidFill>
          <a:ln/>
        </p:spPr>
      </p:sp>
      <p:sp>
        <p:nvSpPr>
          <p:cNvPr id="9" name="Text 7"/>
          <p:cNvSpPr/>
          <p:nvPr/>
        </p:nvSpPr>
        <p:spPr>
          <a:xfrm>
            <a:off x="1014984" y="2020824"/>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Instagram</a:t>
            </a:r>
            <a:endParaRPr lang="en-US" sz="1250" dirty="0"/>
          </a:p>
        </p:txBody>
      </p:sp>
      <p:sp>
        <p:nvSpPr>
          <p:cNvPr id="10" name="Text 8"/>
          <p:cNvSpPr/>
          <p:nvPr/>
        </p:nvSpPr>
        <p:spPr>
          <a:xfrm>
            <a:off x="3154680" y="2020824"/>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Vertical clips, project reveals, founder pieces</a:t>
            </a:r>
            <a:endParaRPr lang="en-US" sz="1150" dirty="0"/>
          </a:p>
        </p:txBody>
      </p:sp>
      <p:sp>
        <p:nvSpPr>
          <p:cNvPr id="11" name="Text 9"/>
          <p:cNvSpPr/>
          <p:nvPr/>
        </p:nvSpPr>
        <p:spPr>
          <a:xfrm>
            <a:off x="7955280" y="2020824"/>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Reach and recall</a:t>
            </a:r>
            <a:endParaRPr lang="en-US" sz="1150" dirty="0"/>
          </a:p>
        </p:txBody>
      </p:sp>
      <p:sp>
        <p:nvSpPr>
          <p:cNvPr id="12" name="Shape 10"/>
          <p:cNvSpPr/>
          <p:nvPr/>
        </p:nvSpPr>
        <p:spPr>
          <a:xfrm>
            <a:off x="777240" y="2450592"/>
            <a:ext cx="10637215" cy="384048"/>
          </a:xfrm>
          <a:prstGeom prst="rect">
            <a:avLst/>
          </a:prstGeom>
          <a:solidFill>
            <a:srgbClr val="FFFFFF"/>
          </a:solidFill>
          <a:ln/>
        </p:spPr>
      </p:sp>
      <p:sp>
        <p:nvSpPr>
          <p:cNvPr id="13" name="Text 11"/>
          <p:cNvSpPr/>
          <p:nvPr/>
        </p:nvSpPr>
        <p:spPr>
          <a:xfrm>
            <a:off x="1014984" y="2450592"/>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LinkedIn</a:t>
            </a:r>
            <a:endParaRPr lang="en-US" sz="1250" dirty="0"/>
          </a:p>
        </p:txBody>
      </p:sp>
      <p:sp>
        <p:nvSpPr>
          <p:cNvPr id="14" name="Text 12"/>
          <p:cNvSpPr/>
          <p:nvPr/>
        </p:nvSpPr>
        <p:spPr>
          <a:xfrm>
            <a:off x="3154680" y="2450592"/>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Founder posts, market notes, commentary</a:t>
            </a:r>
            <a:endParaRPr lang="en-US" sz="1150" dirty="0"/>
          </a:p>
        </p:txBody>
      </p:sp>
      <p:sp>
        <p:nvSpPr>
          <p:cNvPr id="15" name="Text 13"/>
          <p:cNvSpPr/>
          <p:nvPr/>
        </p:nvSpPr>
        <p:spPr>
          <a:xfrm>
            <a:off x="7955280" y="2450592"/>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Reaches GCC employees — the real buyers</a:t>
            </a:r>
            <a:endParaRPr lang="en-US" sz="1150" dirty="0"/>
          </a:p>
        </p:txBody>
      </p:sp>
      <p:sp>
        <p:nvSpPr>
          <p:cNvPr id="16" name="Shape 14"/>
          <p:cNvSpPr/>
          <p:nvPr/>
        </p:nvSpPr>
        <p:spPr>
          <a:xfrm>
            <a:off x="777240" y="2880360"/>
            <a:ext cx="10637215" cy="384048"/>
          </a:xfrm>
          <a:prstGeom prst="rect">
            <a:avLst/>
          </a:prstGeom>
          <a:solidFill>
            <a:srgbClr val="FFFFFF"/>
          </a:solidFill>
          <a:ln/>
        </p:spPr>
      </p:sp>
      <p:sp>
        <p:nvSpPr>
          <p:cNvPr id="17" name="Text 15"/>
          <p:cNvSpPr/>
          <p:nvPr/>
        </p:nvSpPr>
        <p:spPr>
          <a:xfrm>
            <a:off x="1014984" y="2880360"/>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Search &amp; AI</a:t>
            </a:r>
            <a:endParaRPr lang="en-US" sz="1250" dirty="0"/>
          </a:p>
        </p:txBody>
      </p:sp>
      <p:sp>
        <p:nvSpPr>
          <p:cNvPr id="18" name="Text 16"/>
          <p:cNvSpPr/>
          <p:nvPr/>
        </p:nvSpPr>
        <p:spPr>
          <a:xfrm>
            <a:off x="3154680" y="2880360"/>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Guides, locality pages, comparisons written to be cited</a:t>
            </a:r>
            <a:endParaRPr lang="en-US" sz="1150" dirty="0"/>
          </a:p>
        </p:txBody>
      </p:sp>
      <p:sp>
        <p:nvSpPr>
          <p:cNvPr id="19" name="Text 17"/>
          <p:cNvSpPr/>
          <p:nvPr/>
        </p:nvSpPr>
        <p:spPr>
          <a:xfrm>
            <a:off x="7955280" y="2880360"/>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Free enquiries that compound monthly</a:t>
            </a:r>
            <a:endParaRPr lang="en-US" sz="1150" dirty="0"/>
          </a:p>
        </p:txBody>
      </p:sp>
      <p:sp>
        <p:nvSpPr>
          <p:cNvPr id="20" name="Shape 18"/>
          <p:cNvSpPr/>
          <p:nvPr/>
        </p:nvSpPr>
        <p:spPr>
          <a:xfrm>
            <a:off x="777240" y="3310128"/>
            <a:ext cx="10637215" cy="384048"/>
          </a:xfrm>
          <a:prstGeom prst="rect">
            <a:avLst/>
          </a:prstGeom>
          <a:solidFill>
            <a:srgbClr val="FFFFFF"/>
          </a:solidFill>
          <a:ln/>
        </p:spPr>
      </p:sp>
      <p:sp>
        <p:nvSpPr>
          <p:cNvPr id="21" name="Text 19"/>
          <p:cNvSpPr/>
          <p:nvPr/>
        </p:nvSpPr>
        <p:spPr>
          <a:xfrm>
            <a:off x="1014984" y="3310128"/>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Google Search ads</a:t>
            </a:r>
            <a:endParaRPr lang="en-US" sz="1250" dirty="0"/>
          </a:p>
        </p:txBody>
      </p:sp>
      <p:sp>
        <p:nvSpPr>
          <p:cNvPr id="22" name="Text 20"/>
          <p:cNvSpPr/>
          <p:nvPr/>
        </p:nvSpPr>
        <p:spPr>
          <a:xfrm>
            <a:off x="3154680" y="3310128"/>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Project names, locality and competitor terms</a:t>
            </a:r>
            <a:endParaRPr lang="en-US" sz="1150" dirty="0"/>
          </a:p>
        </p:txBody>
      </p:sp>
      <p:sp>
        <p:nvSpPr>
          <p:cNvPr id="23" name="Text 21"/>
          <p:cNvSpPr/>
          <p:nvPr/>
        </p:nvSpPr>
        <p:spPr>
          <a:xfrm>
            <a:off x="7955280" y="3310128"/>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Small budget, highest intent only</a:t>
            </a:r>
            <a:endParaRPr lang="en-US" sz="1150" dirty="0"/>
          </a:p>
        </p:txBody>
      </p:sp>
      <p:sp>
        <p:nvSpPr>
          <p:cNvPr id="24" name="Shape 22"/>
          <p:cNvSpPr/>
          <p:nvPr/>
        </p:nvSpPr>
        <p:spPr>
          <a:xfrm>
            <a:off x="777240" y="3739896"/>
            <a:ext cx="10637215" cy="384048"/>
          </a:xfrm>
          <a:prstGeom prst="rect">
            <a:avLst/>
          </a:prstGeom>
          <a:solidFill>
            <a:srgbClr val="FFFFFF"/>
          </a:solidFill>
          <a:ln/>
        </p:spPr>
      </p:sp>
      <p:sp>
        <p:nvSpPr>
          <p:cNvPr id="25" name="Text 23"/>
          <p:cNvSpPr/>
          <p:nvPr/>
        </p:nvSpPr>
        <p:spPr>
          <a:xfrm>
            <a:off x="1014984" y="3739896"/>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Meta retargeting</a:t>
            </a:r>
            <a:endParaRPr lang="en-US" sz="1250" dirty="0"/>
          </a:p>
        </p:txBody>
      </p:sp>
      <p:sp>
        <p:nvSpPr>
          <p:cNvPr id="26" name="Text 24"/>
          <p:cNvSpPr/>
          <p:nvPr/>
        </p:nvSpPr>
        <p:spPr>
          <a:xfrm>
            <a:off x="3154680" y="3739896"/>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People who watched a film or opened a project page</a:t>
            </a:r>
            <a:endParaRPr lang="en-US" sz="1150" dirty="0"/>
          </a:p>
        </p:txBody>
      </p:sp>
      <p:sp>
        <p:nvSpPr>
          <p:cNvPr id="27" name="Text 25"/>
          <p:cNvSpPr/>
          <p:nvPr/>
        </p:nvSpPr>
        <p:spPr>
          <a:xfrm>
            <a:off x="7955280" y="3739896"/>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Cheap re-engagement. No cold reach.</a:t>
            </a:r>
            <a:endParaRPr lang="en-US" sz="1150" dirty="0"/>
          </a:p>
        </p:txBody>
      </p:sp>
      <p:sp>
        <p:nvSpPr>
          <p:cNvPr id="28" name="Shape 26"/>
          <p:cNvSpPr/>
          <p:nvPr/>
        </p:nvSpPr>
        <p:spPr>
          <a:xfrm>
            <a:off x="777240" y="4169664"/>
            <a:ext cx="10637215" cy="384048"/>
          </a:xfrm>
          <a:prstGeom prst="rect">
            <a:avLst/>
          </a:prstGeom>
          <a:solidFill>
            <a:srgbClr val="FFFFFF"/>
          </a:solidFill>
          <a:ln/>
        </p:spPr>
      </p:sp>
      <p:sp>
        <p:nvSpPr>
          <p:cNvPr id="29" name="Text 27"/>
          <p:cNvSpPr/>
          <p:nvPr/>
        </p:nvSpPr>
        <p:spPr>
          <a:xfrm>
            <a:off x="1014984" y="4169664"/>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WhatsApp</a:t>
            </a:r>
            <a:endParaRPr lang="en-US" sz="1250" dirty="0"/>
          </a:p>
        </p:txBody>
      </p:sp>
      <p:sp>
        <p:nvSpPr>
          <p:cNvPr id="30" name="Text 28"/>
          <p:cNvSpPr/>
          <p:nvPr/>
        </p:nvSpPr>
        <p:spPr>
          <a:xfrm>
            <a:off x="3154680" y="4169664"/>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Opt-in updates, visit confirmations, conversations</a:t>
            </a:r>
            <a:endParaRPr lang="en-US" sz="1150" dirty="0"/>
          </a:p>
        </p:txBody>
      </p:sp>
      <p:sp>
        <p:nvSpPr>
          <p:cNvPr id="31" name="Text 29"/>
          <p:cNvSpPr/>
          <p:nvPr/>
        </p:nvSpPr>
        <p:spPr>
          <a:xfrm>
            <a:off x="7955280" y="4169664"/>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Highest open rate in this market</a:t>
            </a:r>
            <a:endParaRPr lang="en-US" sz="1150" dirty="0"/>
          </a:p>
        </p:txBody>
      </p:sp>
      <p:sp>
        <p:nvSpPr>
          <p:cNvPr id="32" name="Shape 30"/>
          <p:cNvSpPr/>
          <p:nvPr/>
        </p:nvSpPr>
        <p:spPr>
          <a:xfrm>
            <a:off x="777240" y="4599432"/>
            <a:ext cx="10637215" cy="384048"/>
          </a:xfrm>
          <a:prstGeom prst="rect">
            <a:avLst/>
          </a:prstGeom>
          <a:solidFill>
            <a:srgbClr val="FFFFFF"/>
          </a:solidFill>
          <a:ln/>
        </p:spPr>
      </p:sp>
      <p:sp>
        <p:nvSpPr>
          <p:cNvPr id="33" name="Text 31"/>
          <p:cNvSpPr/>
          <p:nvPr/>
        </p:nvSpPr>
        <p:spPr>
          <a:xfrm>
            <a:off x="1014984" y="4599432"/>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PR</a:t>
            </a:r>
            <a:endParaRPr lang="en-US" sz="1250" dirty="0"/>
          </a:p>
        </p:txBody>
      </p:sp>
      <p:sp>
        <p:nvSpPr>
          <p:cNvPr id="34" name="Text 32"/>
          <p:cNvSpPr/>
          <p:nvPr/>
        </p:nvSpPr>
        <p:spPr>
          <a:xfrm>
            <a:off x="3154680" y="4599432"/>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Market note pitched to Telangana Today, Deccan Chronicle, Siasat</a:t>
            </a:r>
            <a:endParaRPr lang="en-US" sz="1150" dirty="0"/>
          </a:p>
        </p:txBody>
      </p:sp>
      <p:sp>
        <p:nvSpPr>
          <p:cNvPr id="35" name="Text 33"/>
          <p:cNvSpPr/>
          <p:nvPr/>
        </p:nvSpPr>
        <p:spPr>
          <a:xfrm>
            <a:off x="7955280" y="4599432"/>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Third-party credibility, no media cost</a:t>
            </a:r>
            <a:endParaRPr lang="en-US" sz="1150" dirty="0"/>
          </a:p>
        </p:txBody>
      </p:sp>
      <p:sp>
        <p:nvSpPr>
          <p:cNvPr id="36" name="Shape 34"/>
          <p:cNvSpPr/>
          <p:nvPr/>
        </p:nvSpPr>
        <p:spPr>
          <a:xfrm>
            <a:off x="777240" y="5029200"/>
            <a:ext cx="10637215" cy="384048"/>
          </a:xfrm>
          <a:prstGeom prst="rect">
            <a:avLst/>
          </a:prstGeom>
          <a:solidFill>
            <a:srgbClr val="FFFFFF"/>
          </a:solidFill>
          <a:ln/>
        </p:spPr>
      </p:sp>
      <p:sp>
        <p:nvSpPr>
          <p:cNvPr id="37" name="Text 35"/>
          <p:cNvSpPr/>
          <p:nvPr/>
        </p:nvSpPr>
        <p:spPr>
          <a:xfrm>
            <a:off x="1014984" y="5029200"/>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Developers</a:t>
            </a:r>
            <a:endParaRPr lang="en-US" sz="1250" dirty="0"/>
          </a:p>
        </p:txBody>
      </p:sp>
      <p:sp>
        <p:nvSpPr>
          <p:cNvPr id="38" name="Text 36"/>
          <p:cNvSpPr/>
          <p:nvPr/>
        </p:nvSpPr>
        <p:spPr>
          <a:xfrm>
            <a:off x="3154680" y="5029200"/>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Co-marketing on mandate projects</a:t>
            </a:r>
            <a:endParaRPr lang="en-US" sz="1150" dirty="0"/>
          </a:p>
        </p:txBody>
      </p:sp>
      <p:sp>
        <p:nvSpPr>
          <p:cNvPr id="39" name="Text 37"/>
          <p:cNvSpPr/>
          <p:nvPr/>
        </p:nvSpPr>
        <p:spPr>
          <a:xfrm>
            <a:off x="7955280" y="5029200"/>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They fund reach we would otherwise buy</a:t>
            </a:r>
            <a:endParaRPr lang="en-US" sz="1150" dirty="0"/>
          </a:p>
        </p:txBody>
      </p:sp>
      <p:sp>
        <p:nvSpPr>
          <p:cNvPr id="40" name="Shape 38"/>
          <p:cNvSpPr/>
          <p:nvPr/>
        </p:nvSpPr>
        <p:spPr>
          <a:xfrm>
            <a:off x="777240" y="5458968"/>
            <a:ext cx="10637215" cy="384048"/>
          </a:xfrm>
          <a:prstGeom prst="rect">
            <a:avLst/>
          </a:prstGeom>
          <a:solidFill>
            <a:srgbClr val="FFFFFF"/>
          </a:solidFill>
          <a:ln/>
        </p:spPr>
      </p:sp>
      <p:sp>
        <p:nvSpPr>
          <p:cNvPr id="41" name="Text 39"/>
          <p:cNvSpPr/>
          <p:nvPr/>
        </p:nvSpPr>
        <p:spPr>
          <a:xfrm>
            <a:off x="1014984" y="5458968"/>
            <a:ext cx="2011680" cy="384048"/>
          </a:xfrm>
          <a:prstGeom prst="rect">
            <a:avLst/>
          </a:prstGeom>
          <a:noFill/>
          <a:ln/>
        </p:spPr>
        <p:txBody>
          <a:bodyPr wrap="square" lIns="0" tIns="0" rIns="0" bIns="0" rtlCol="0" anchor="ctr"/>
          <a:lstStyle/>
          <a:p>
            <a:pPr indent="0" marL="0">
              <a:buNone/>
            </a:pPr>
            <a:r>
              <a:rPr lang="en-US" sz="1250" b="1" dirty="0">
                <a:solidFill>
                  <a:srgbClr val="14181D"/>
                </a:solidFill>
                <a:latin typeface="Cambria" pitchFamily="34" charset="0"/>
                <a:ea typeface="Cambria" pitchFamily="34" charset="-122"/>
                <a:cs typeface="Cambria" pitchFamily="34" charset="-120"/>
              </a:rPr>
              <a:t>Portals</a:t>
            </a:r>
            <a:endParaRPr lang="en-US" sz="1250" dirty="0"/>
          </a:p>
        </p:txBody>
      </p:sp>
      <p:sp>
        <p:nvSpPr>
          <p:cNvPr id="42" name="Text 40"/>
          <p:cNvSpPr/>
          <p:nvPr/>
        </p:nvSpPr>
        <p:spPr>
          <a:xfrm>
            <a:off x="3154680" y="5458968"/>
            <a:ext cx="4663440" cy="384048"/>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Listings for coverage only</a:t>
            </a:r>
            <a:endParaRPr lang="en-US" sz="1150" dirty="0"/>
          </a:p>
        </p:txBody>
      </p:sp>
      <p:sp>
        <p:nvSpPr>
          <p:cNvPr id="43" name="Text 41"/>
          <p:cNvSpPr/>
          <p:nvPr/>
        </p:nvSpPr>
        <p:spPr>
          <a:xfrm>
            <a:off x="7955280" y="5458968"/>
            <a:ext cx="3230575" cy="384048"/>
          </a:xfrm>
          <a:prstGeom prst="rect">
            <a:avLst/>
          </a:prstGeom>
          <a:noFill/>
          <a:ln/>
        </p:spPr>
        <p:txBody>
          <a:bodyPr wrap="square" lIns="0" tIns="0" rIns="0" bIns="0" rtlCol="0" anchor="ctr"/>
          <a:lstStyle/>
          <a:p>
            <a:pPr indent="0" marL="0">
              <a:buNone/>
            </a:pPr>
            <a:r>
              <a:rPr lang="en-US" sz="1150" dirty="0">
                <a:solidFill>
                  <a:srgbClr val="27548F"/>
                </a:solidFill>
                <a:latin typeface="Calibri" pitchFamily="34" charset="0"/>
                <a:ea typeface="Calibri" pitchFamily="34" charset="-122"/>
                <a:cs typeface="Calibri" pitchFamily="34" charset="-120"/>
              </a:rPr>
              <a:t>Necessary, never the core</a:t>
            </a:r>
            <a:endParaRPr lang="en-US" sz="1150" dirty="0"/>
          </a:p>
        </p:txBody>
      </p:sp>
      <p:sp>
        <p:nvSpPr>
          <p:cNvPr id="44" name="Text 42"/>
          <p:cNvSpPr/>
          <p:nvPr/>
        </p:nvSpPr>
        <p:spPr>
          <a:xfrm>
            <a:off x="777240" y="6016752"/>
            <a:ext cx="10637215" cy="402336"/>
          </a:xfrm>
          <a:prstGeom prst="rect">
            <a:avLst/>
          </a:prstGeom>
          <a:noFill/>
          <a:ln/>
        </p:spPr>
        <p:txBody>
          <a:bodyPr wrap="square" lIns="0" tIns="0" rIns="0" bIns="0" rtlCol="0" anchor="ctr"/>
          <a:lstStyle/>
          <a:p>
            <a:pPr indent="0" marL="0">
              <a:buNone/>
            </a:pPr>
            <a:r>
              <a:rPr lang="en-US" sz="1400" b="1" dirty="0">
                <a:solidFill>
                  <a:srgbClr val="14181D"/>
                </a:solidFill>
                <a:latin typeface="Calibri" pitchFamily="34" charset="0"/>
                <a:ea typeface="Calibri" pitchFamily="34" charset="-122"/>
                <a:cs typeface="Calibri" pitchFamily="34" charset="-120"/>
              </a:rPr>
              <a:t>The free one that matters most: response time. A lead that waits four hours is gone.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11</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Budget</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Three levels. Start low, move up only when the numbers justify it.</a:t>
            </a:r>
            <a:endParaRPr lang="en-US" sz="1550" dirty="0"/>
          </a:p>
        </p:txBody>
      </p:sp>
      <p:sp>
        <p:nvSpPr>
          <p:cNvPr id="5" name="Shape 3"/>
          <p:cNvSpPr/>
          <p:nvPr/>
        </p:nvSpPr>
        <p:spPr>
          <a:xfrm>
            <a:off x="777240" y="2066544"/>
            <a:ext cx="3362858" cy="365760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6" name="Text 4"/>
          <p:cNvSpPr/>
          <p:nvPr/>
        </p:nvSpPr>
        <p:spPr>
          <a:xfrm>
            <a:off x="1051560" y="2304288"/>
            <a:ext cx="2814218" cy="256032"/>
          </a:xfrm>
          <a:prstGeom prst="rect">
            <a:avLst/>
          </a:prstGeom>
          <a:noFill/>
          <a:ln/>
        </p:spPr>
        <p:txBody>
          <a:bodyPr wrap="square" lIns="0" tIns="0" rIns="0" bIns="0" rtlCol="0" anchor="ctr"/>
          <a:lstStyle/>
          <a:p>
            <a:pPr indent="0" marL="0">
              <a:buNone/>
            </a:pPr>
            <a:r>
              <a:rPr lang="en-US" sz="850" b="1" spc="140" kern="0" dirty="0">
                <a:solidFill>
                  <a:srgbClr val="8A9099"/>
                </a:solidFill>
                <a:latin typeface="Calibri" pitchFamily="34" charset="0"/>
                <a:ea typeface="Calibri" pitchFamily="34" charset="-122"/>
                <a:cs typeface="Calibri" pitchFamily="34" charset="-120"/>
              </a:rPr>
              <a:t>LEVEL 1</a:t>
            </a:r>
            <a:endParaRPr lang="en-US" sz="850" dirty="0"/>
          </a:p>
        </p:txBody>
      </p:sp>
      <p:sp>
        <p:nvSpPr>
          <p:cNvPr id="7" name="Text 5"/>
          <p:cNvSpPr/>
          <p:nvPr/>
        </p:nvSpPr>
        <p:spPr>
          <a:xfrm>
            <a:off x="1051560" y="2596896"/>
            <a:ext cx="2814218" cy="365760"/>
          </a:xfrm>
          <a:prstGeom prst="rect">
            <a:avLst/>
          </a:prstGeom>
          <a:noFill/>
          <a:ln/>
        </p:spPr>
        <p:txBody>
          <a:bodyPr wrap="square" lIns="0" tIns="0" rIns="0" bIns="0" rtlCol="0" anchor="ctr"/>
          <a:lstStyle/>
          <a:p>
            <a:pPr indent="0" marL="0">
              <a:buNone/>
            </a:pPr>
            <a:r>
              <a:rPr lang="en-US" sz="1800" b="1" dirty="0">
                <a:solidFill>
                  <a:srgbClr val="14181D"/>
                </a:solidFill>
                <a:latin typeface="Cambria" pitchFamily="34" charset="0"/>
                <a:ea typeface="Cambria" pitchFamily="34" charset="-122"/>
                <a:cs typeface="Cambria" pitchFamily="34" charset="-120"/>
              </a:rPr>
              <a:t>Foundation</a:t>
            </a:r>
            <a:endParaRPr lang="en-US" sz="1800" dirty="0"/>
          </a:p>
        </p:txBody>
      </p:sp>
      <p:sp>
        <p:nvSpPr>
          <p:cNvPr id="8" name="Text 6"/>
          <p:cNvSpPr/>
          <p:nvPr/>
        </p:nvSpPr>
        <p:spPr>
          <a:xfrm>
            <a:off x="1051560" y="2999232"/>
            <a:ext cx="2814218" cy="713232"/>
          </a:xfrm>
          <a:prstGeom prst="rect">
            <a:avLst/>
          </a:prstGeom>
          <a:noFill/>
          <a:ln/>
        </p:spPr>
        <p:txBody>
          <a:bodyPr wrap="square" lIns="0" tIns="0" rIns="0" bIns="0" rtlCol="0" anchor="ctr"/>
          <a:lstStyle/>
          <a:p>
            <a:pPr indent="0" marL="0">
              <a:buNone/>
            </a:pPr>
            <a:r>
              <a:rPr lang="en-US" sz="4000" b="1" spc="-120" kern="0" dirty="0">
                <a:solidFill>
                  <a:srgbClr val="14181D"/>
                </a:solidFill>
                <a:latin typeface="Cambria" pitchFamily="34" charset="0"/>
                <a:ea typeface="Cambria" pitchFamily="34" charset="-122"/>
                <a:cs typeface="Cambria" pitchFamily="34" charset="-120"/>
              </a:rPr>
              <a:t>₹1.2L</a:t>
            </a:r>
            <a:endParaRPr lang="en-US" sz="4000" dirty="0"/>
          </a:p>
        </p:txBody>
      </p:sp>
      <p:sp>
        <p:nvSpPr>
          <p:cNvPr id="9" name="Text 7"/>
          <p:cNvSpPr/>
          <p:nvPr/>
        </p:nvSpPr>
        <p:spPr>
          <a:xfrm>
            <a:off x="1051560" y="3730752"/>
            <a:ext cx="2814218" cy="219456"/>
          </a:xfrm>
          <a:prstGeom prst="rect">
            <a:avLst/>
          </a:prstGeom>
          <a:noFill/>
          <a:ln/>
        </p:spPr>
        <p:txBody>
          <a:bodyPr wrap="square" lIns="0" tIns="0" rIns="0" bIns="0" rtlCol="0" anchor="ctr"/>
          <a:lstStyle/>
          <a:p>
            <a:pPr indent="0" marL="0">
              <a:buNone/>
            </a:pPr>
            <a:r>
              <a:rPr lang="en-US" sz="850" spc="140" kern="0" dirty="0">
                <a:solidFill>
                  <a:srgbClr val="8A9099"/>
                </a:solidFill>
                <a:latin typeface="Calibri" pitchFamily="34" charset="0"/>
                <a:ea typeface="Calibri" pitchFamily="34" charset="-122"/>
                <a:cs typeface="Calibri" pitchFamily="34" charset="-120"/>
              </a:rPr>
              <a:t>PER MONTH</a:t>
            </a:r>
            <a:endParaRPr lang="en-US" sz="850" dirty="0"/>
          </a:p>
        </p:txBody>
      </p:sp>
      <p:sp>
        <p:nvSpPr>
          <p:cNvPr id="10" name="Text 8"/>
          <p:cNvSpPr/>
          <p:nvPr/>
        </p:nvSpPr>
        <p:spPr>
          <a:xfrm>
            <a:off x="1051560" y="4078224"/>
            <a:ext cx="1737360" cy="274320"/>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Media spend</a:t>
            </a:r>
            <a:endParaRPr lang="en-US" sz="1150" dirty="0"/>
          </a:p>
        </p:txBody>
      </p:sp>
      <p:sp>
        <p:nvSpPr>
          <p:cNvPr id="11" name="Text 9"/>
          <p:cNvSpPr/>
          <p:nvPr/>
        </p:nvSpPr>
        <p:spPr>
          <a:xfrm>
            <a:off x="2677058" y="4078224"/>
            <a:ext cx="1188720" cy="274320"/>
          </a:xfrm>
          <a:prstGeom prst="rect">
            <a:avLst/>
          </a:prstGeom>
          <a:noFill/>
          <a:ln/>
        </p:spPr>
        <p:txBody>
          <a:bodyPr wrap="square" lIns="0" tIns="0" rIns="0" bIns="0" rtlCol="0" anchor="ctr"/>
          <a:lstStyle/>
          <a:p>
            <a:pPr algn="r" indent="0" marL="0">
              <a:buNone/>
            </a:pPr>
            <a:r>
              <a:rPr lang="en-US" sz="1150" b="1" dirty="0">
                <a:solidFill>
                  <a:srgbClr val="14181D"/>
                </a:solidFill>
                <a:latin typeface="Calibri" pitchFamily="34" charset="0"/>
                <a:ea typeface="Calibri" pitchFamily="34" charset="-122"/>
                <a:cs typeface="Calibri" pitchFamily="34" charset="-120"/>
              </a:rPr>
              <a:t>₹40,000</a:t>
            </a:r>
            <a:endParaRPr lang="en-US" sz="1150" dirty="0"/>
          </a:p>
        </p:txBody>
      </p:sp>
      <p:sp>
        <p:nvSpPr>
          <p:cNvPr id="12" name="Text 10"/>
          <p:cNvSpPr/>
          <p:nvPr/>
        </p:nvSpPr>
        <p:spPr>
          <a:xfrm>
            <a:off x="1051560" y="4389120"/>
            <a:ext cx="1737360" cy="274320"/>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Tools &amp; CRM</a:t>
            </a:r>
            <a:endParaRPr lang="en-US" sz="1150" dirty="0"/>
          </a:p>
        </p:txBody>
      </p:sp>
      <p:sp>
        <p:nvSpPr>
          <p:cNvPr id="13" name="Text 11"/>
          <p:cNvSpPr/>
          <p:nvPr/>
        </p:nvSpPr>
        <p:spPr>
          <a:xfrm>
            <a:off x="2677058" y="4389120"/>
            <a:ext cx="1188720" cy="274320"/>
          </a:xfrm>
          <a:prstGeom prst="rect">
            <a:avLst/>
          </a:prstGeom>
          <a:noFill/>
          <a:ln/>
        </p:spPr>
        <p:txBody>
          <a:bodyPr wrap="square" lIns="0" tIns="0" rIns="0" bIns="0" rtlCol="0" anchor="ctr"/>
          <a:lstStyle/>
          <a:p>
            <a:pPr algn="r" indent="0" marL="0">
              <a:buNone/>
            </a:pPr>
            <a:r>
              <a:rPr lang="en-US" sz="1150" b="1" dirty="0">
                <a:solidFill>
                  <a:srgbClr val="14181D"/>
                </a:solidFill>
                <a:latin typeface="Calibri" pitchFamily="34" charset="0"/>
                <a:ea typeface="Calibri" pitchFamily="34" charset="-122"/>
                <a:cs typeface="Calibri" pitchFamily="34" charset="-120"/>
              </a:rPr>
              <a:t>₹15,000</a:t>
            </a:r>
            <a:endParaRPr lang="en-US" sz="1150" dirty="0"/>
          </a:p>
        </p:txBody>
      </p:sp>
      <p:sp>
        <p:nvSpPr>
          <p:cNvPr id="14" name="Text 12"/>
          <p:cNvSpPr/>
          <p:nvPr/>
        </p:nvSpPr>
        <p:spPr>
          <a:xfrm>
            <a:off x="1051560" y="4700016"/>
            <a:ext cx="1737360" cy="274320"/>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Production X</a:t>
            </a:r>
            <a:endParaRPr lang="en-US" sz="1150" dirty="0"/>
          </a:p>
        </p:txBody>
      </p:sp>
      <p:sp>
        <p:nvSpPr>
          <p:cNvPr id="15" name="Text 13"/>
          <p:cNvSpPr/>
          <p:nvPr/>
        </p:nvSpPr>
        <p:spPr>
          <a:xfrm>
            <a:off x="2677058" y="4700016"/>
            <a:ext cx="1188720" cy="274320"/>
          </a:xfrm>
          <a:prstGeom prst="rect">
            <a:avLst/>
          </a:prstGeom>
          <a:noFill/>
          <a:ln/>
        </p:spPr>
        <p:txBody>
          <a:bodyPr wrap="square" lIns="0" tIns="0" rIns="0" bIns="0" rtlCol="0" anchor="ctr"/>
          <a:lstStyle/>
          <a:p>
            <a:pPr algn="r" indent="0" marL="0">
              <a:buNone/>
            </a:pPr>
            <a:r>
              <a:rPr lang="en-US" sz="1150" b="1" dirty="0">
                <a:solidFill>
                  <a:srgbClr val="14181D"/>
                </a:solidFill>
                <a:latin typeface="Calibri" pitchFamily="34" charset="0"/>
                <a:ea typeface="Calibri" pitchFamily="34" charset="-122"/>
                <a:cs typeface="Calibri" pitchFamily="34" charset="-120"/>
              </a:rPr>
              <a:t>₹65,000</a:t>
            </a:r>
            <a:endParaRPr lang="en-US" sz="1150" dirty="0"/>
          </a:p>
        </p:txBody>
      </p:sp>
      <p:sp>
        <p:nvSpPr>
          <p:cNvPr id="16" name="Text 14"/>
          <p:cNvSpPr/>
          <p:nvPr/>
        </p:nvSpPr>
        <p:spPr>
          <a:xfrm>
            <a:off x="1051560" y="5084064"/>
            <a:ext cx="2814218" cy="548640"/>
          </a:xfrm>
          <a:prstGeom prst="rect">
            <a:avLst/>
          </a:prstGeom>
          <a:noFill/>
          <a:ln/>
        </p:spPr>
        <p:txBody>
          <a:bodyPr wrap="square" lIns="0" tIns="0" rIns="0" bIns="0" rtlCol="0" anchor="ctr"/>
          <a:lstStyle/>
          <a:p>
            <a:pPr indent="0" marL="0">
              <a:lnSpc>
                <a:spcPts val="1500"/>
              </a:lnSpc>
              <a:buNone/>
            </a:pPr>
            <a:r>
              <a:rPr lang="en-US" sz="1050" dirty="0">
                <a:solidFill>
                  <a:srgbClr val="8A9099"/>
                </a:solidFill>
                <a:latin typeface="Calibri" pitchFamily="34" charset="0"/>
                <a:ea typeface="Calibri" pitchFamily="34" charset="-122"/>
                <a:cs typeface="Calibri" pitchFamily="34" charset="-120"/>
              </a:rPr>
              <a:t>Website live, podcast running, articles publishing. Paid limited to project-name search.</a:t>
            </a:r>
            <a:endParaRPr lang="en-US" sz="1050" dirty="0"/>
          </a:p>
        </p:txBody>
      </p:sp>
      <p:sp>
        <p:nvSpPr>
          <p:cNvPr id="17" name="Shape 15"/>
          <p:cNvSpPr/>
          <p:nvPr/>
        </p:nvSpPr>
        <p:spPr>
          <a:xfrm>
            <a:off x="4414418" y="2066544"/>
            <a:ext cx="3362858" cy="3657600"/>
          </a:xfrm>
          <a:prstGeom prst="rect">
            <a:avLst/>
          </a:prstGeom>
          <a:solidFill>
            <a:srgbClr val="14181D"/>
          </a:solidFill>
          <a:ln/>
        </p:spPr>
      </p:sp>
      <p:sp>
        <p:nvSpPr>
          <p:cNvPr id="18" name="Text 16"/>
          <p:cNvSpPr/>
          <p:nvPr/>
        </p:nvSpPr>
        <p:spPr>
          <a:xfrm>
            <a:off x="4688738" y="2304288"/>
            <a:ext cx="2814218" cy="256032"/>
          </a:xfrm>
          <a:prstGeom prst="rect">
            <a:avLst/>
          </a:prstGeom>
          <a:noFill/>
          <a:ln/>
        </p:spPr>
        <p:txBody>
          <a:bodyPr wrap="square" lIns="0" tIns="0" rIns="0" bIns="0" rtlCol="0" anchor="ctr"/>
          <a:lstStyle/>
          <a:p>
            <a:pPr indent="0" marL="0">
              <a:buNone/>
            </a:pPr>
            <a:r>
              <a:rPr lang="en-US" sz="850" b="1" spc="140" kern="0" dirty="0">
                <a:solidFill>
                  <a:srgbClr val="D9B061"/>
                </a:solidFill>
                <a:latin typeface="Calibri" pitchFamily="34" charset="0"/>
                <a:ea typeface="Calibri" pitchFamily="34" charset="-122"/>
                <a:cs typeface="Calibri" pitchFamily="34" charset="-120"/>
              </a:rPr>
              <a:t>LEVEL 2  ·  RECOMMENDED</a:t>
            </a:r>
            <a:endParaRPr lang="en-US" sz="850" dirty="0"/>
          </a:p>
        </p:txBody>
      </p:sp>
      <p:sp>
        <p:nvSpPr>
          <p:cNvPr id="19" name="Text 17"/>
          <p:cNvSpPr/>
          <p:nvPr/>
        </p:nvSpPr>
        <p:spPr>
          <a:xfrm>
            <a:off x="4688738" y="2596896"/>
            <a:ext cx="2814218"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Build</a:t>
            </a:r>
            <a:endParaRPr lang="en-US" sz="1800" dirty="0"/>
          </a:p>
        </p:txBody>
      </p:sp>
      <p:sp>
        <p:nvSpPr>
          <p:cNvPr id="20" name="Text 18"/>
          <p:cNvSpPr/>
          <p:nvPr/>
        </p:nvSpPr>
        <p:spPr>
          <a:xfrm>
            <a:off x="4688738" y="2999232"/>
            <a:ext cx="2814218" cy="713232"/>
          </a:xfrm>
          <a:prstGeom prst="rect">
            <a:avLst/>
          </a:prstGeom>
          <a:noFill/>
          <a:ln/>
        </p:spPr>
        <p:txBody>
          <a:bodyPr wrap="square" lIns="0" tIns="0" rIns="0" bIns="0" rtlCol="0" anchor="ctr"/>
          <a:lstStyle/>
          <a:p>
            <a:pPr indent="0" marL="0">
              <a:buNone/>
            </a:pPr>
            <a:r>
              <a:rPr lang="en-US" sz="4000" b="1" spc="-120" kern="0" dirty="0">
                <a:solidFill>
                  <a:srgbClr val="FFFFFF"/>
                </a:solidFill>
                <a:latin typeface="Cambria" pitchFamily="34" charset="0"/>
                <a:ea typeface="Cambria" pitchFamily="34" charset="-122"/>
                <a:cs typeface="Cambria" pitchFamily="34" charset="-120"/>
              </a:rPr>
              <a:t>₹2.5L</a:t>
            </a:r>
            <a:endParaRPr lang="en-US" sz="4000" dirty="0"/>
          </a:p>
        </p:txBody>
      </p:sp>
      <p:sp>
        <p:nvSpPr>
          <p:cNvPr id="21" name="Text 19"/>
          <p:cNvSpPr/>
          <p:nvPr/>
        </p:nvSpPr>
        <p:spPr>
          <a:xfrm>
            <a:off x="4688738" y="3730752"/>
            <a:ext cx="2814218" cy="219456"/>
          </a:xfrm>
          <a:prstGeom prst="rect">
            <a:avLst/>
          </a:prstGeom>
          <a:noFill/>
          <a:ln/>
        </p:spPr>
        <p:txBody>
          <a:bodyPr wrap="square" lIns="0" tIns="0" rIns="0" bIns="0" rtlCol="0" anchor="ctr"/>
          <a:lstStyle/>
          <a:p>
            <a:pPr indent="0" marL="0">
              <a:buNone/>
            </a:pPr>
            <a:r>
              <a:rPr lang="en-US" sz="850" spc="140" kern="0" dirty="0">
                <a:solidFill>
                  <a:srgbClr val="79818A"/>
                </a:solidFill>
                <a:latin typeface="Calibri" pitchFamily="34" charset="0"/>
                <a:ea typeface="Calibri" pitchFamily="34" charset="-122"/>
                <a:cs typeface="Calibri" pitchFamily="34" charset="-120"/>
              </a:rPr>
              <a:t>PER MONTH</a:t>
            </a:r>
            <a:endParaRPr lang="en-US" sz="850" dirty="0"/>
          </a:p>
        </p:txBody>
      </p:sp>
      <p:sp>
        <p:nvSpPr>
          <p:cNvPr id="22" name="Text 20"/>
          <p:cNvSpPr/>
          <p:nvPr/>
        </p:nvSpPr>
        <p:spPr>
          <a:xfrm>
            <a:off x="4688738" y="4078224"/>
            <a:ext cx="1737360" cy="274320"/>
          </a:xfrm>
          <a:prstGeom prst="rect">
            <a:avLst/>
          </a:prstGeom>
          <a:noFill/>
          <a:ln/>
        </p:spPr>
        <p:txBody>
          <a:bodyPr wrap="square" lIns="0" tIns="0" rIns="0" bIns="0" rtlCol="0" anchor="ctr"/>
          <a:lstStyle/>
          <a:p>
            <a:pPr indent="0" marL="0">
              <a:buNone/>
            </a:pPr>
            <a:r>
              <a:rPr lang="en-US" sz="1150" dirty="0">
                <a:solidFill>
                  <a:srgbClr val="B6BEC7"/>
                </a:solidFill>
                <a:latin typeface="Calibri" pitchFamily="34" charset="0"/>
                <a:ea typeface="Calibri" pitchFamily="34" charset="-122"/>
                <a:cs typeface="Calibri" pitchFamily="34" charset="-120"/>
              </a:rPr>
              <a:t>Media spend</a:t>
            </a:r>
            <a:endParaRPr lang="en-US" sz="1150" dirty="0"/>
          </a:p>
        </p:txBody>
      </p:sp>
      <p:sp>
        <p:nvSpPr>
          <p:cNvPr id="23" name="Text 21"/>
          <p:cNvSpPr/>
          <p:nvPr/>
        </p:nvSpPr>
        <p:spPr>
          <a:xfrm>
            <a:off x="6314237" y="4078224"/>
            <a:ext cx="1188720" cy="27432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₹1,00,000</a:t>
            </a:r>
            <a:endParaRPr lang="en-US" sz="1150" dirty="0"/>
          </a:p>
        </p:txBody>
      </p:sp>
      <p:sp>
        <p:nvSpPr>
          <p:cNvPr id="24" name="Text 22"/>
          <p:cNvSpPr/>
          <p:nvPr/>
        </p:nvSpPr>
        <p:spPr>
          <a:xfrm>
            <a:off x="4688738" y="4389120"/>
            <a:ext cx="1737360" cy="274320"/>
          </a:xfrm>
          <a:prstGeom prst="rect">
            <a:avLst/>
          </a:prstGeom>
          <a:noFill/>
          <a:ln/>
        </p:spPr>
        <p:txBody>
          <a:bodyPr wrap="square" lIns="0" tIns="0" rIns="0" bIns="0" rtlCol="0" anchor="ctr"/>
          <a:lstStyle/>
          <a:p>
            <a:pPr indent="0" marL="0">
              <a:buNone/>
            </a:pPr>
            <a:r>
              <a:rPr lang="en-US" sz="1150" dirty="0">
                <a:solidFill>
                  <a:srgbClr val="B6BEC7"/>
                </a:solidFill>
                <a:latin typeface="Calibri" pitchFamily="34" charset="0"/>
                <a:ea typeface="Calibri" pitchFamily="34" charset="-122"/>
                <a:cs typeface="Calibri" pitchFamily="34" charset="-120"/>
              </a:rPr>
              <a:t>Tools &amp; CRM</a:t>
            </a:r>
            <a:endParaRPr lang="en-US" sz="1150" dirty="0"/>
          </a:p>
        </p:txBody>
      </p:sp>
      <p:sp>
        <p:nvSpPr>
          <p:cNvPr id="25" name="Text 23"/>
          <p:cNvSpPr/>
          <p:nvPr/>
        </p:nvSpPr>
        <p:spPr>
          <a:xfrm>
            <a:off x="6314237" y="4389120"/>
            <a:ext cx="1188720" cy="27432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₹20,000</a:t>
            </a:r>
            <a:endParaRPr lang="en-US" sz="1150" dirty="0"/>
          </a:p>
        </p:txBody>
      </p:sp>
      <p:sp>
        <p:nvSpPr>
          <p:cNvPr id="26" name="Text 24"/>
          <p:cNvSpPr/>
          <p:nvPr/>
        </p:nvSpPr>
        <p:spPr>
          <a:xfrm>
            <a:off x="4688738" y="4700016"/>
            <a:ext cx="1737360" cy="274320"/>
          </a:xfrm>
          <a:prstGeom prst="rect">
            <a:avLst/>
          </a:prstGeom>
          <a:noFill/>
          <a:ln/>
        </p:spPr>
        <p:txBody>
          <a:bodyPr wrap="square" lIns="0" tIns="0" rIns="0" bIns="0" rtlCol="0" anchor="ctr"/>
          <a:lstStyle/>
          <a:p>
            <a:pPr indent="0" marL="0">
              <a:buNone/>
            </a:pPr>
            <a:r>
              <a:rPr lang="en-US" sz="1150" dirty="0">
                <a:solidFill>
                  <a:srgbClr val="B6BEC7"/>
                </a:solidFill>
                <a:latin typeface="Calibri" pitchFamily="34" charset="0"/>
                <a:ea typeface="Calibri" pitchFamily="34" charset="-122"/>
                <a:cs typeface="Calibri" pitchFamily="34" charset="-120"/>
              </a:rPr>
              <a:t>Production X</a:t>
            </a:r>
            <a:endParaRPr lang="en-US" sz="1150" dirty="0"/>
          </a:p>
        </p:txBody>
      </p:sp>
      <p:sp>
        <p:nvSpPr>
          <p:cNvPr id="27" name="Text 25"/>
          <p:cNvSpPr/>
          <p:nvPr/>
        </p:nvSpPr>
        <p:spPr>
          <a:xfrm>
            <a:off x="6314237" y="4700016"/>
            <a:ext cx="1188720" cy="274320"/>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₹1,30,000</a:t>
            </a:r>
            <a:endParaRPr lang="en-US" sz="1150" dirty="0"/>
          </a:p>
        </p:txBody>
      </p:sp>
      <p:sp>
        <p:nvSpPr>
          <p:cNvPr id="28" name="Text 26"/>
          <p:cNvSpPr/>
          <p:nvPr/>
        </p:nvSpPr>
        <p:spPr>
          <a:xfrm>
            <a:off x="4688738" y="5084064"/>
            <a:ext cx="2814218" cy="548640"/>
          </a:xfrm>
          <a:prstGeom prst="rect">
            <a:avLst/>
          </a:prstGeom>
          <a:noFill/>
          <a:ln/>
        </p:spPr>
        <p:txBody>
          <a:bodyPr wrap="square" lIns="0" tIns="0" rIns="0" bIns="0" rtlCol="0" anchor="ctr"/>
          <a:lstStyle/>
          <a:p>
            <a:pPr indent="0" marL="0">
              <a:lnSpc>
                <a:spcPts val="1500"/>
              </a:lnSpc>
              <a:buNone/>
            </a:pPr>
            <a:r>
              <a:rPr lang="en-US" sz="1050" dirty="0">
                <a:solidFill>
                  <a:srgbClr val="79818A"/>
                </a:solidFill>
                <a:latin typeface="Calibri" pitchFamily="34" charset="0"/>
                <a:ea typeface="Calibri" pitchFamily="34" charset="-122"/>
                <a:cs typeface="Calibri" pitchFamily="34" charset="-120"/>
              </a:rPr>
              <a:t>Full content calendar, two shoot days a month, search and retargeting live, portals active.</a:t>
            </a:r>
            <a:endParaRPr lang="en-US" sz="1050" dirty="0"/>
          </a:p>
        </p:txBody>
      </p:sp>
      <p:sp>
        <p:nvSpPr>
          <p:cNvPr id="29" name="Shape 27"/>
          <p:cNvSpPr/>
          <p:nvPr/>
        </p:nvSpPr>
        <p:spPr>
          <a:xfrm>
            <a:off x="8051597" y="2066544"/>
            <a:ext cx="3362858" cy="3657600"/>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30" name="Text 28"/>
          <p:cNvSpPr/>
          <p:nvPr/>
        </p:nvSpPr>
        <p:spPr>
          <a:xfrm>
            <a:off x="8325917" y="2304288"/>
            <a:ext cx="2814218" cy="256032"/>
          </a:xfrm>
          <a:prstGeom prst="rect">
            <a:avLst/>
          </a:prstGeom>
          <a:noFill/>
          <a:ln/>
        </p:spPr>
        <p:txBody>
          <a:bodyPr wrap="square" lIns="0" tIns="0" rIns="0" bIns="0" rtlCol="0" anchor="ctr"/>
          <a:lstStyle/>
          <a:p>
            <a:pPr indent="0" marL="0">
              <a:buNone/>
            </a:pPr>
            <a:r>
              <a:rPr lang="en-US" sz="850" b="1" spc="140" kern="0" dirty="0">
                <a:solidFill>
                  <a:srgbClr val="8A9099"/>
                </a:solidFill>
                <a:latin typeface="Calibri" pitchFamily="34" charset="0"/>
                <a:ea typeface="Calibri" pitchFamily="34" charset="-122"/>
                <a:cs typeface="Calibri" pitchFamily="34" charset="-120"/>
              </a:rPr>
              <a:t>LEVEL 3  ·  MONTH 7+</a:t>
            </a:r>
            <a:endParaRPr lang="en-US" sz="850" dirty="0"/>
          </a:p>
        </p:txBody>
      </p:sp>
      <p:sp>
        <p:nvSpPr>
          <p:cNvPr id="31" name="Text 29"/>
          <p:cNvSpPr/>
          <p:nvPr/>
        </p:nvSpPr>
        <p:spPr>
          <a:xfrm>
            <a:off x="8325917" y="2596896"/>
            <a:ext cx="2814218" cy="365760"/>
          </a:xfrm>
          <a:prstGeom prst="rect">
            <a:avLst/>
          </a:prstGeom>
          <a:noFill/>
          <a:ln/>
        </p:spPr>
        <p:txBody>
          <a:bodyPr wrap="square" lIns="0" tIns="0" rIns="0" bIns="0" rtlCol="0" anchor="ctr"/>
          <a:lstStyle/>
          <a:p>
            <a:pPr indent="0" marL="0">
              <a:buNone/>
            </a:pPr>
            <a:r>
              <a:rPr lang="en-US" sz="1800" b="1" dirty="0">
                <a:solidFill>
                  <a:srgbClr val="14181D"/>
                </a:solidFill>
                <a:latin typeface="Cambria" pitchFamily="34" charset="0"/>
                <a:ea typeface="Cambria" pitchFamily="34" charset="-122"/>
                <a:cs typeface="Cambria" pitchFamily="34" charset="-120"/>
              </a:rPr>
              <a:t>Scale</a:t>
            </a:r>
            <a:endParaRPr lang="en-US" sz="1800" dirty="0"/>
          </a:p>
        </p:txBody>
      </p:sp>
      <p:sp>
        <p:nvSpPr>
          <p:cNvPr id="32" name="Text 30"/>
          <p:cNvSpPr/>
          <p:nvPr/>
        </p:nvSpPr>
        <p:spPr>
          <a:xfrm>
            <a:off x="8325917" y="2999232"/>
            <a:ext cx="2814218" cy="713232"/>
          </a:xfrm>
          <a:prstGeom prst="rect">
            <a:avLst/>
          </a:prstGeom>
          <a:noFill/>
          <a:ln/>
        </p:spPr>
        <p:txBody>
          <a:bodyPr wrap="square" lIns="0" tIns="0" rIns="0" bIns="0" rtlCol="0" anchor="ctr"/>
          <a:lstStyle/>
          <a:p>
            <a:pPr indent="0" marL="0">
              <a:buNone/>
            </a:pPr>
            <a:r>
              <a:rPr lang="en-US" sz="4000" b="1" spc="-120" kern="0" dirty="0">
                <a:solidFill>
                  <a:srgbClr val="14181D"/>
                </a:solidFill>
                <a:latin typeface="Cambria" pitchFamily="34" charset="0"/>
                <a:ea typeface="Cambria" pitchFamily="34" charset="-122"/>
                <a:cs typeface="Cambria" pitchFamily="34" charset="-120"/>
              </a:rPr>
              <a:t>₹5L</a:t>
            </a:r>
            <a:endParaRPr lang="en-US" sz="4000" dirty="0"/>
          </a:p>
        </p:txBody>
      </p:sp>
      <p:sp>
        <p:nvSpPr>
          <p:cNvPr id="33" name="Text 31"/>
          <p:cNvSpPr/>
          <p:nvPr/>
        </p:nvSpPr>
        <p:spPr>
          <a:xfrm>
            <a:off x="8325917" y="3730752"/>
            <a:ext cx="2814218" cy="219456"/>
          </a:xfrm>
          <a:prstGeom prst="rect">
            <a:avLst/>
          </a:prstGeom>
          <a:noFill/>
          <a:ln/>
        </p:spPr>
        <p:txBody>
          <a:bodyPr wrap="square" lIns="0" tIns="0" rIns="0" bIns="0" rtlCol="0" anchor="ctr"/>
          <a:lstStyle/>
          <a:p>
            <a:pPr indent="0" marL="0">
              <a:buNone/>
            </a:pPr>
            <a:r>
              <a:rPr lang="en-US" sz="850" spc="140" kern="0" dirty="0">
                <a:solidFill>
                  <a:srgbClr val="8A9099"/>
                </a:solidFill>
                <a:latin typeface="Calibri" pitchFamily="34" charset="0"/>
                <a:ea typeface="Calibri" pitchFamily="34" charset="-122"/>
                <a:cs typeface="Calibri" pitchFamily="34" charset="-120"/>
              </a:rPr>
              <a:t>PER MONTH</a:t>
            </a:r>
            <a:endParaRPr lang="en-US" sz="850" dirty="0"/>
          </a:p>
        </p:txBody>
      </p:sp>
      <p:sp>
        <p:nvSpPr>
          <p:cNvPr id="34" name="Text 32"/>
          <p:cNvSpPr/>
          <p:nvPr/>
        </p:nvSpPr>
        <p:spPr>
          <a:xfrm>
            <a:off x="8325917" y="4078224"/>
            <a:ext cx="1737360" cy="274320"/>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Media spend</a:t>
            </a:r>
            <a:endParaRPr lang="en-US" sz="1150" dirty="0"/>
          </a:p>
        </p:txBody>
      </p:sp>
      <p:sp>
        <p:nvSpPr>
          <p:cNvPr id="35" name="Text 33"/>
          <p:cNvSpPr/>
          <p:nvPr/>
        </p:nvSpPr>
        <p:spPr>
          <a:xfrm>
            <a:off x="9951415" y="4078224"/>
            <a:ext cx="1188720" cy="274320"/>
          </a:xfrm>
          <a:prstGeom prst="rect">
            <a:avLst/>
          </a:prstGeom>
          <a:noFill/>
          <a:ln/>
        </p:spPr>
        <p:txBody>
          <a:bodyPr wrap="square" lIns="0" tIns="0" rIns="0" bIns="0" rtlCol="0" anchor="ctr"/>
          <a:lstStyle/>
          <a:p>
            <a:pPr algn="r" indent="0" marL="0">
              <a:buNone/>
            </a:pPr>
            <a:r>
              <a:rPr lang="en-US" sz="1150" b="1" dirty="0">
                <a:solidFill>
                  <a:srgbClr val="14181D"/>
                </a:solidFill>
                <a:latin typeface="Calibri" pitchFamily="34" charset="0"/>
                <a:ea typeface="Calibri" pitchFamily="34" charset="-122"/>
                <a:cs typeface="Calibri" pitchFamily="34" charset="-120"/>
              </a:rPr>
              <a:t>₹2,60,000</a:t>
            </a:r>
            <a:endParaRPr lang="en-US" sz="1150" dirty="0"/>
          </a:p>
        </p:txBody>
      </p:sp>
      <p:sp>
        <p:nvSpPr>
          <p:cNvPr id="36" name="Text 34"/>
          <p:cNvSpPr/>
          <p:nvPr/>
        </p:nvSpPr>
        <p:spPr>
          <a:xfrm>
            <a:off x="8325917" y="4389120"/>
            <a:ext cx="1737360" cy="274320"/>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Tools &amp; CRM</a:t>
            </a:r>
            <a:endParaRPr lang="en-US" sz="1150" dirty="0"/>
          </a:p>
        </p:txBody>
      </p:sp>
      <p:sp>
        <p:nvSpPr>
          <p:cNvPr id="37" name="Text 35"/>
          <p:cNvSpPr/>
          <p:nvPr/>
        </p:nvSpPr>
        <p:spPr>
          <a:xfrm>
            <a:off x="9951415" y="4389120"/>
            <a:ext cx="1188720" cy="274320"/>
          </a:xfrm>
          <a:prstGeom prst="rect">
            <a:avLst/>
          </a:prstGeom>
          <a:noFill/>
          <a:ln/>
        </p:spPr>
        <p:txBody>
          <a:bodyPr wrap="square" lIns="0" tIns="0" rIns="0" bIns="0" rtlCol="0" anchor="ctr"/>
          <a:lstStyle/>
          <a:p>
            <a:pPr algn="r" indent="0" marL="0">
              <a:buNone/>
            </a:pPr>
            <a:r>
              <a:rPr lang="en-US" sz="1150" b="1" dirty="0">
                <a:solidFill>
                  <a:srgbClr val="14181D"/>
                </a:solidFill>
                <a:latin typeface="Calibri" pitchFamily="34" charset="0"/>
                <a:ea typeface="Calibri" pitchFamily="34" charset="-122"/>
                <a:cs typeface="Calibri" pitchFamily="34" charset="-120"/>
              </a:rPr>
              <a:t>₹30,000</a:t>
            </a:r>
            <a:endParaRPr lang="en-US" sz="1150" dirty="0"/>
          </a:p>
        </p:txBody>
      </p:sp>
      <p:sp>
        <p:nvSpPr>
          <p:cNvPr id="38" name="Text 36"/>
          <p:cNvSpPr/>
          <p:nvPr/>
        </p:nvSpPr>
        <p:spPr>
          <a:xfrm>
            <a:off x="8325917" y="4700016"/>
            <a:ext cx="1737360" cy="274320"/>
          </a:xfrm>
          <a:prstGeom prst="rect">
            <a:avLst/>
          </a:prstGeom>
          <a:noFill/>
          <a:ln/>
        </p:spPr>
        <p:txBody>
          <a:bodyPr wrap="square" lIns="0" tIns="0" rIns="0" bIns="0" rtlCol="0" anchor="ctr"/>
          <a:lstStyle/>
          <a:p>
            <a:pPr indent="0" marL="0">
              <a:buNone/>
            </a:pPr>
            <a:r>
              <a:rPr lang="en-US" sz="1150" dirty="0">
                <a:solidFill>
                  <a:srgbClr val="555C64"/>
                </a:solidFill>
                <a:latin typeface="Calibri" pitchFamily="34" charset="0"/>
                <a:ea typeface="Calibri" pitchFamily="34" charset="-122"/>
                <a:cs typeface="Calibri" pitchFamily="34" charset="-120"/>
              </a:rPr>
              <a:t>Production X</a:t>
            </a:r>
            <a:endParaRPr lang="en-US" sz="1150" dirty="0"/>
          </a:p>
        </p:txBody>
      </p:sp>
      <p:sp>
        <p:nvSpPr>
          <p:cNvPr id="39" name="Text 37"/>
          <p:cNvSpPr/>
          <p:nvPr/>
        </p:nvSpPr>
        <p:spPr>
          <a:xfrm>
            <a:off x="9951415" y="4700016"/>
            <a:ext cx="1188720" cy="274320"/>
          </a:xfrm>
          <a:prstGeom prst="rect">
            <a:avLst/>
          </a:prstGeom>
          <a:noFill/>
          <a:ln/>
        </p:spPr>
        <p:txBody>
          <a:bodyPr wrap="square" lIns="0" tIns="0" rIns="0" bIns="0" rtlCol="0" anchor="ctr"/>
          <a:lstStyle/>
          <a:p>
            <a:pPr algn="r" indent="0" marL="0">
              <a:buNone/>
            </a:pPr>
            <a:r>
              <a:rPr lang="en-US" sz="1150" b="1" dirty="0">
                <a:solidFill>
                  <a:srgbClr val="14181D"/>
                </a:solidFill>
                <a:latin typeface="Calibri" pitchFamily="34" charset="0"/>
                <a:ea typeface="Calibri" pitchFamily="34" charset="-122"/>
                <a:cs typeface="Calibri" pitchFamily="34" charset="-120"/>
              </a:rPr>
              <a:t>₹2,10,000</a:t>
            </a:r>
            <a:endParaRPr lang="en-US" sz="1150" dirty="0"/>
          </a:p>
        </p:txBody>
      </p:sp>
      <p:sp>
        <p:nvSpPr>
          <p:cNvPr id="40" name="Text 38"/>
          <p:cNvSpPr/>
          <p:nvPr/>
        </p:nvSpPr>
        <p:spPr>
          <a:xfrm>
            <a:off x="8325917" y="5084064"/>
            <a:ext cx="2814218" cy="548640"/>
          </a:xfrm>
          <a:prstGeom prst="rect">
            <a:avLst/>
          </a:prstGeom>
          <a:noFill/>
          <a:ln/>
        </p:spPr>
        <p:txBody>
          <a:bodyPr wrap="square" lIns="0" tIns="0" rIns="0" bIns="0" rtlCol="0" anchor="ctr"/>
          <a:lstStyle/>
          <a:p>
            <a:pPr indent="0" marL="0">
              <a:lnSpc>
                <a:spcPts val="1500"/>
              </a:lnSpc>
              <a:buNone/>
            </a:pPr>
            <a:r>
              <a:rPr lang="en-US" sz="1050" dirty="0">
                <a:solidFill>
                  <a:srgbClr val="8A9099"/>
                </a:solidFill>
                <a:latin typeface="Calibri" pitchFamily="34" charset="0"/>
                <a:ea typeface="Calibri" pitchFamily="34" charset="-122"/>
                <a:cs typeface="Calibri" pitchFamily="34" charset="-120"/>
              </a:rPr>
              <a:t>Only once cost per booking is known and working. Adds Meta reach, YouTube ads and PR.</a:t>
            </a:r>
            <a:endParaRPr lang="en-US" sz="1050" dirty="0"/>
          </a:p>
        </p:txBody>
      </p:sp>
      <p:sp>
        <p:nvSpPr>
          <p:cNvPr id="41" name="Text 39"/>
          <p:cNvSpPr/>
          <p:nvPr/>
        </p:nvSpPr>
        <p:spPr>
          <a:xfrm>
            <a:off x="777240" y="5925312"/>
            <a:ext cx="10637215" cy="548640"/>
          </a:xfrm>
          <a:prstGeom prst="rect">
            <a:avLst/>
          </a:prstGeom>
          <a:noFill/>
          <a:ln/>
        </p:spPr>
        <p:txBody>
          <a:bodyPr wrap="square" lIns="0" tIns="0" rIns="0" bIns="0" rtlCol="0" anchor="ctr"/>
          <a:lstStyle/>
          <a:p>
            <a:pPr indent="0" marL="0">
              <a:lnSpc>
                <a:spcPts val="2100"/>
              </a:lnSpc>
              <a:buNone/>
            </a:pPr>
            <a:r>
              <a:rPr lang="en-US" sz="1400" dirty="0">
                <a:solidFill>
                  <a:srgbClr val="14181D"/>
                </a:solidFill>
                <a:latin typeface="Calibri" pitchFamily="34" charset="0"/>
                <a:ea typeface="Calibri" pitchFamily="34" charset="-122"/>
                <a:cs typeface="Calibri" pitchFamily="34" charset="-120"/>
              </a:rPr>
              <a:t>Media is the part that scales. Production and management stay roughly flat, because the content engine runs on the same two shoot days whatever the ad budget is.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11</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it costs to start</a:t>
            </a:r>
            <a:endParaRPr lang="en-US" sz="3800" dirty="0"/>
          </a:p>
        </p:txBody>
      </p:sp>
      <p:sp>
        <p:nvSpPr>
          <p:cNvPr id="4" name="Shape 2"/>
          <p:cNvSpPr/>
          <p:nvPr/>
        </p:nvSpPr>
        <p:spPr>
          <a:xfrm>
            <a:off x="777240" y="1591056"/>
            <a:ext cx="10637215" cy="786384"/>
          </a:xfrm>
          <a:prstGeom prst="rect">
            <a:avLst/>
          </a:prstGeom>
          <a:solidFill>
            <a:srgbClr val="FFFFFF"/>
          </a:solidFill>
          <a:ln/>
        </p:spPr>
      </p:sp>
      <p:sp>
        <p:nvSpPr>
          <p:cNvPr id="5" name="Text 3"/>
          <p:cNvSpPr/>
          <p:nvPr/>
        </p:nvSpPr>
        <p:spPr>
          <a:xfrm>
            <a:off x="1069848" y="1591056"/>
            <a:ext cx="3566160" cy="786384"/>
          </a:xfrm>
          <a:prstGeom prst="rect">
            <a:avLst/>
          </a:prstGeom>
          <a:noFill/>
          <a:ln/>
        </p:spPr>
        <p:txBody>
          <a:bodyPr wrap="square" lIns="0" tIns="0" rIns="0" bIns="0" rtlCol="0" anchor="ctr"/>
          <a:lstStyle/>
          <a:p>
            <a:pPr indent="0" marL="0">
              <a:lnSpc>
                <a:spcPts val="1900"/>
              </a:lnSpc>
              <a:buNone/>
            </a:pPr>
            <a:r>
              <a:rPr lang="en-US" sz="1400" b="1" dirty="0">
                <a:solidFill>
                  <a:srgbClr val="14181D"/>
                </a:solidFill>
                <a:latin typeface="Cambria" pitchFamily="34" charset="0"/>
                <a:ea typeface="Cambria" pitchFamily="34" charset="-122"/>
                <a:cs typeface="Cambria" pitchFamily="34" charset="-120"/>
              </a:rPr>
              <a:t>Website and comparison engine v1</a:t>
            </a:r>
            <a:endParaRPr lang="en-US" sz="1400" dirty="0"/>
          </a:p>
        </p:txBody>
      </p:sp>
      <p:sp>
        <p:nvSpPr>
          <p:cNvPr id="6" name="Text 4"/>
          <p:cNvSpPr/>
          <p:nvPr/>
        </p:nvSpPr>
        <p:spPr>
          <a:xfrm>
            <a:off x="4800600" y="1591056"/>
            <a:ext cx="4876495" cy="786384"/>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9 project pages, comparison tool, real-rate calculator, guides, visit booking, CRM connected</a:t>
            </a:r>
            <a:endParaRPr lang="en-US" sz="1200" dirty="0"/>
          </a:p>
        </p:txBody>
      </p:sp>
      <p:sp>
        <p:nvSpPr>
          <p:cNvPr id="7" name="Text 5"/>
          <p:cNvSpPr/>
          <p:nvPr/>
        </p:nvSpPr>
        <p:spPr>
          <a:xfrm>
            <a:off x="9750247" y="1591056"/>
            <a:ext cx="1371600" cy="786384"/>
          </a:xfrm>
          <a:prstGeom prst="rect">
            <a:avLst/>
          </a:prstGeom>
          <a:noFill/>
          <a:ln/>
        </p:spPr>
        <p:txBody>
          <a:bodyPr wrap="square" lIns="0" tIns="0" rIns="0" bIns="0" rtlCol="0" anchor="ctr"/>
          <a:lstStyle/>
          <a:p>
            <a:pPr algn="r" indent="0" marL="0">
              <a:buNone/>
            </a:pPr>
            <a:r>
              <a:rPr lang="en-US" sz="1700" b="1" dirty="0">
                <a:solidFill>
                  <a:srgbClr val="14181D"/>
                </a:solidFill>
                <a:latin typeface="Cambria" pitchFamily="34" charset="0"/>
                <a:ea typeface="Cambria" pitchFamily="34" charset="-122"/>
                <a:cs typeface="Cambria" pitchFamily="34" charset="-120"/>
              </a:rPr>
              <a:t>₹2–3L</a:t>
            </a:r>
            <a:endParaRPr lang="en-US" sz="1700" dirty="0"/>
          </a:p>
        </p:txBody>
      </p:sp>
      <p:sp>
        <p:nvSpPr>
          <p:cNvPr id="8" name="Shape 6"/>
          <p:cNvSpPr/>
          <p:nvPr/>
        </p:nvSpPr>
        <p:spPr>
          <a:xfrm>
            <a:off x="777240" y="2441448"/>
            <a:ext cx="10637215" cy="786384"/>
          </a:xfrm>
          <a:prstGeom prst="rect">
            <a:avLst/>
          </a:prstGeom>
          <a:solidFill>
            <a:srgbClr val="FFFFFF"/>
          </a:solidFill>
          <a:ln/>
        </p:spPr>
      </p:sp>
      <p:sp>
        <p:nvSpPr>
          <p:cNvPr id="9" name="Text 7"/>
          <p:cNvSpPr/>
          <p:nvPr/>
        </p:nvSpPr>
        <p:spPr>
          <a:xfrm>
            <a:off x="1069848" y="2441448"/>
            <a:ext cx="3566160" cy="786384"/>
          </a:xfrm>
          <a:prstGeom prst="rect">
            <a:avLst/>
          </a:prstGeom>
          <a:noFill/>
          <a:ln/>
        </p:spPr>
        <p:txBody>
          <a:bodyPr wrap="square" lIns="0" tIns="0" rIns="0" bIns="0" rtlCol="0" anchor="ctr"/>
          <a:lstStyle/>
          <a:p>
            <a:pPr indent="0" marL="0">
              <a:lnSpc>
                <a:spcPts val="1900"/>
              </a:lnSpc>
              <a:buNone/>
            </a:pPr>
            <a:r>
              <a:rPr lang="en-US" sz="1400" b="1" dirty="0">
                <a:solidFill>
                  <a:srgbClr val="14181D"/>
                </a:solidFill>
                <a:latin typeface="Cambria" pitchFamily="34" charset="0"/>
                <a:ea typeface="Cambria" pitchFamily="34" charset="-122"/>
                <a:cs typeface="Cambria" pitchFamily="34" charset="-120"/>
              </a:rPr>
              <a:t>Podcast setup</a:t>
            </a:r>
            <a:endParaRPr lang="en-US" sz="1400" dirty="0"/>
          </a:p>
        </p:txBody>
      </p:sp>
      <p:sp>
        <p:nvSpPr>
          <p:cNvPr id="10" name="Text 8"/>
          <p:cNvSpPr/>
          <p:nvPr/>
        </p:nvSpPr>
        <p:spPr>
          <a:xfrm>
            <a:off x="4800600" y="2441448"/>
            <a:ext cx="4876495" cy="786384"/>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We already own the cameras. This is set dressing and sound only.</a:t>
            </a:r>
            <a:endParaRPr lang="en-US" sz="1200" dirty="0"/>
          </a:p>
        </p:txBody>
      </p:sp>
      <p:sp>
        <p:nvSpPr>
          <p:cNvPr id="11" name="Text 9"/>
          <p:cNvSpPr/>
          <p:nvPr/>
        </p:nvSpPr>
        <p:spPr>
          <a:xfrm>
            <a:off x="9750247" y="2441448"/>
            <a:ext cx="1371600" cy="786384"/>
          </a:xfrm>
          <a:prstGeom prst="rect">
            <a:avLst/>
          </a:prstGeom>
          <a:noFill/>
          <a:ln/>
        </p:spPr>
        <p:txBody>
          <a:bodyPr wrap="square" lIns="0" tIns="0" rIns="0" bIns="0" rtlCol="0" anchor="ctr"/>
          <a:lstStyle/>
          <a:p>
            <a:pPr algn="r" indent="0" marL="0">
              <a:buNone/>
            </a:pPr>
            <a:r>
              <a:rPr lang="en-US" sz="1700" b="1" dirty="0">
                <a:solidFill>
                  <a:srgbClr val="14181D"/>
                </a:solidFill>
                <a:latin typeface="Cambria" pitchFamily="34" charset="0"/>
                <a:ea typeface="Cambria" pitchFamily="34" charset="-122"/>
                <a:cs typeface="Cambria" pitchFamily="34" charset="-120"/>
              </a:rPr>
              <a:t>₹30–50k</a:t>
            </a:r>
            <a:endParaRPr lang="en-US" sz="1700" dirty="0"/>
          </a:p>
        </p:txBody>
      </p:sp>
      <p:sp>
        <p:nvSpPr>
          <p:cNvPr id="12" name="Shape 10"/>
          <p:cNvSpPr/>
          <p:nvPr/>
        </p:nvSpPr>
        <p:spPr>
          <a:xfrm>
            <a:off x="777240" y="3291840"/>
            <a:ext cx="10637215" cy="786384"/>
          </a:xfrm>
          <a:prstGeom prst="rect">
            <a:avLst/>
          </a:prstGeom>
          <a:solidFill>
            <a:srgbClr val="FFFFFF"/>
          </a:solidFill>
          <a:ln/>
        </p:spPr>
      </p:sp>
      <p:sp>
        <p:nvSpPr>
          <p:cNvPr id="13" name="Text 11"/>
          <p:cNvSpPr/>
          <p:nvPr/>
        </p:nvSpPr>
        <p:spPr>
          <a:xfrm>
            <a:off x="1069848" y="3291840"/>
            <a:ext cx="3566160" cy="786384"/>
          </a:xfrm>
          <a:prstGeom prst="rect">
            <a:avLst/>
          </a:prstGeom>
          <a:noFill/>
          <a:ln/>
        </p:spPr>
        <p:txBody>
          <a:bodyPr wrap="square" lIns="0" tIns="0" rIns="0" bIns="0" rtlCol="0" anchor="ctr"/>
          <a:lstStyle/>
          <a:p>
            <a:pPr indent="0" marL="0">
              <a:lnSpc>
                <a:spcPts val="1900"/>
              </a:lnSpc>
              <a:buNone/>
            </a:pPr>
            <a:r>
              <a:rPr lang="en-US" sz="1400" b="1" dirty="0">
                <a:solidFill>
                  <a:srgbClr val="14181D"/>
                </a:solidFill>
                <a:latin typeface="Cambria" pitchFamily="34" charset="0"/>
                <a:ea typeface="Cambria" pitchFamily="34" charset="-122"/>
                <a:cs typeface="Cambria" pitchFamily="34" charset="-120"/>
              </a:rPr>
              <a:t>Brand kit</a:t>
            </a:r>
            <a:endParaRPr lang="en-US" sz="1400" dirty="0"/>
          </a:p>
        </p:txBody>
      </p:sp>
      <p:sp>
        <p:nvSpPr>
          <p:cNvPr id="14" name="Text 12"/>
          <p:cNvSpPr/>
          <p:nvPr/>
        </p:nvSpPr>
        <p:spPr>
          <a:xfrm>
            <a:off x="4800600" y="3291840"/>
            <a:ext cx="4876495" cy="786384"/>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Logo application, templates, partner collateral, ad templates with RERA number built in</a:t>
            </a:r>
            <a:endParaRPr lang="en-US" sz="1200" dirty="0"/>
          </a:p>
        </p:txBody>
      </p:sp>
      <p:sp>
        <p:nvSpPr>
          <p:cNvPr id="15" name="Text 13"/>
          <p:cNvSpPr/>
          <p:nvPr/>
        </p:nvSpPr>
        <p:spPr>
          <a:xfrm>
            <a:off x="9750247" y="3291840"/>
            <a:ext cx="1371600" cy="786384"/>
          </a:xfrm>
          <a:prstGeom prst="rect">
            <a:avLst/>
          </a:prstGeom>
          <a:noFill/>
          <a:ln/>
        </p:spPr>
        <p:txBody>
          <a:bodyPr wrap="square" lIns="0" tIns="0" rIns="0" bIns="0" rtlCol="0" anchor="ctr"/>
          <a:lstStyle/>
          <a:p>
            <a:pPr algn="r" indent="0" marL="0">
              <a:buNone/>
            </a:pPr>
            <a:r>
              <a:rPr lang="en-US" sz="1700" b="1" dirty="0">
                <a:solidFill>
                  <a:srgbClr val="14181D"/>
                </a:solidFill>
                <a:latin typeface="Cambria" pitchFamily="34" charset="0"/>
                <a:ea typeface="Cambria" pitchFamily="34" charset="-122"/>
                <a:cs typeface="Cambria" pitchFamily="34" charset="-120"/>
              </a:rPr>
              <a:t>₹40–60k</a:t>
            </a:r>
            <a:endParaRPr lang="en-US" sz="1700" dirty="0"/>
          </a:p>
        </p:txBody>
      </p:sp>
      <p:sp>
        <p:nvSpPr>
          <p:cNvPr id="16" name="Shape 14"/>
          <p:cNvSpPr/>
          <p:nvPr/>
        </p:nvSpPr>
        <p:spPr>
          <a:xfrm>
            <a:off x="777240" y="4142232"/>
            <a:ext cx="10637215" cy="786384"/>
          </a:xfrm>
          <a:prstGeom prst="rect">
            <a:avLst/>
          </a:prstGeom>
          <a:solidFill>
            <a:srgbClr val="14181D"/>
          </a:solidFill>
          <a:ln/>
        </p:spPr>
      </p:sp>
      <p:sp>
        <p:nvSpPr>
          <p:cNvPr id="17" name="Text 15"/>
          <p:cNvSpPr/>
          <p:nvPr/>
        </p:nvSpPr>
        <p:spPr>
          <a:xfrm>
            <a:off x="1069848" y="4142232"/>
            <a:ext cx="5486400" cy="78638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Total setup, before launch</a:t>
            </a:r>
            <a:endParaRPr lang="en-US" sz="1500" dirty="0"/>
          </a:p>
        </p:txBody>
      </p:sp>
      <p:sp>
        <p:nvSpPr>
          <p:cNvPr id="18" name="Text 16"/>
          <p:cNvSpPr/>
          <p:nvPr/>
        </p:nvSpPr>
        <p:spPr>
          <a:xfrm>
            <a:off x="9037015" y="4142232"/>
            <a:ext cx="2084832" cy="786384"/>
          </a:xfrm>
          <a:prstGeom prst="rect">
            <a:avLst/>
          </a:prstGeom>
          <a:noFill/>
          <a:ln/>
        </p:spPr>
        <p:txBody>
          <a:bodyPr wrap="square" lIns="0" tIns="0" rIns="0" bIns="0" rtlCol="0" anchor="ctr"/>
          <a:lstStyle/>
          <a:p>
            <a:pPr algn="r" indent="0" marL="0">
              <a:buNone/>
            </a:pPr>
            <a:r>
              <a:rPr lang="en-US" sz="2300" b="1" spc="-50" kern="0" dirty="0">
                <a:solidFill>
                  <a:srgbClr val="D9B061"/>
                </a:solidFill>
                <a:latin typeface="Cambria" pitchFamily="34" charset="0"/>
                <a:ea typeface="Cambria" pitchFamily="34" charset="-122"/>
                <a:cs typeface="Cambria" pitchFamily="34" charset="-120"/>
              </a:rPr>
              <a:t>₹2.7–4.1L</a:t>
            </a:r>
            <a:endParaRPr lang="en-US" sz="2300" dirty="0"/>
          </a:p>
        </p:txBody>
      </p:sp>
      <p:sp>
        <p:nvSpPr>
          <p:cNvPr id="19" name="Text 17"/>
          <p:cNvSpPr/>
          <p:nvPr/>
        </p:nvSpPr>
        <p:spPr>
          <a:xfrm>
            <a:off x="777240" y="5111496"/>
            <a:ext cx="10637215" cy="365760"/>
          </a:xfrm>
          <a:prstGeom prst="rect">
            <a:avLst/>
          </a:prstGeom>
          <a:noFill/>
          <a:ln/>
        </p:spPr>
        <p:txBody>
          <a:bodyPr wrap="square" lIns="0" tIns="0" rIns="0" bIns="0" rtlCol="0" anchor="ctr"/>
          <a:lstStyle/>
          <a:p>
            <a:pPr indent="0" marL="0">
              <a:buNone/>
            </a:pPr>
            <a:r>
              <a:rPr lang="en-US" sz="1450" b="1" dirty="0">
                <a:solidFill>
                  <a:srgbClr val="14181D"/>
                </a:solidFill>
                <a:latin typeface="Calibri" pitchFamily="34" charset="0"/>
                <a:ea typeface="Calibri" pitchFamily="34" charset="-122"/>
                <a:cs typeface="Calibri" pitchFamily="34" charset="-120"/>
              </a:rPr>
              <a:t>Built once, reused on every project after Neopolis. Only the shoots repeat.</a:t>
            </a:r>
            <a:endParaRPr lang="en-US" sz="1450" dirty="0"/>
          </a:p>
        </p:txBody>
      </p:sp>
      <p:sp>
        <p:nvSpPr>
          <p:cNvPr id="20" name="Text 18"/>
          <p:cNvSpPr/>
          <p:nvPr/>
        </p:nvSpPr>
        <p:spPr>
          <a:xfrm>
            <a:off x="777240" y="5513832"/>
            <a:ext cx="10637215" cy="777240"/>
          </a:xfrm>
          <a:prstGeom prst="rect">
            <a:avLst/>
          </a:prstGeom>
          <a:noFill/>
          <a:ln/>
        </p:spPr>
        <p:txBody>
          <a:bodyPr wrap="square" lIns="0" tIns="0" rIns="0" bIns="0" rtlCol="0" anchor="ctr"/>
          <a:lstStyle/>
          <a:p>
            <a:pPr indent="0" marL="0">
              <a:lnSpc>
                <a:spcPts val="1900"/>
              </a:lnSpc>
              <a:buNone/>
            </a:pPr>
            <a:r>
              <a:rPr lang="en-US" sz="1300" i="1" dirty="0">
                <a:solidFill>
                  <a:srgbClr val="8A9099"/>
                </a:solidFill>
                <a:latin typeface="Calibri" pitchFamily="34" charset="0"/>
                <a:ea typeface="Calibri" pitchFamily="34" charset="-122"/>
                <a:cs typeface="Calibri" pitchFamily="34" charset="-120"/>
              </a:rPr>
              <a:t>One honest caveat: version one of the comparison engine is hand-built data for 10–15 projects. Automating it — pulling RERA and registration records directly — is a Layer 2 engineering cost we'd scope properly once we know the data is worth automating.</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we measure</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Reported from the first week of spend. These are counted, not estimated.</a:t>
            </a:r>
            <a:endParaRPr lang="en-US" sz="1550" dirty="0"/>
          </a:p>
        </p:txBody>
      </p:sp>
      <p:sp>
        <p:nvSpPr>
          <p:cNvPr id="5" name="Shape 3"/>
          <p:cNvSpPr/>
          <p:nvPr/>
        </p:nvSpPr>
        <p:spPr>
          <a:xfrm>
            <a:off x="777240" y="2066544"/>
            <a:ext cx="10637215" cy="420624"/>
          </a:xfrm>
          <a:prstGeom prst="rect">
            <a:avLst/>
          </a:prstGeom>
          <a:solidFill>
            <a:srgbClr val="FFFFFF"/>
          </a:solidFill>
          <a:ln/>
        </p:spPr>
      </p:sp>
      <p:sp>
        <p:nvSpPr>
          <p:cNvPr id="6" name="Shape 4"/>
          <p:cNvSpPr/>
          <p:nvPr/>
        </p:nvSpPr>
        <p:spPr>
          <a:xfrm>
            <a:off x="1051560" y="2217420"/>
            <a:ext cx="118872" cy="118872"/>
          </a:xfrm>
          <a:prstGeom prst="ellipse">
            <a:avLst/>
          </a:prstGeom>
          <a:solidFill>
            <a:srgbClr val="9A7A25"/>
          </a:solidFill>
          <a:ln/>
        </p:spPr>
      </p:sp>
      <p:sp>
        <p:nvSpPr>
          <p:cNvPr id="7" name="Text 5"/>
          <p:cNvSpPr/>
          <p:nvPr/>
        </p:nvSpPr>
        <p:spPr>
          <a:xfrm>
            <a:off x="1344168" y="2066544"/>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Brand search visibility</a:t>
            </a:r>
            <a:endParaRPr lang="en-US" sz="1300" dirty="0"/>
          </a:p>
        </p:txBody>
      </p:sp>
      <p:sp>
        <p:nvSpPr>
          <p:cNvPr id="8" name="Text 6"/>
          <p:cNvSpPr/>
          <p:nvPr/>
        </p:nvSpPr>
        <p:spPr>
          <a:xfrm>
            <a:off x="4754880" y="2066544"/>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Whether OTHO appears when someone looks for it</a:t>
            </a:r>
            <a:endParaRPr lang="en-US" sz="1200" dirty="0"/>
          </a:p>
        </p:txBody>
      </p:sp>
      <p:sp>
        <p:nvSpPr>
          <p:cNvPr id="9" name="Text 7"/>
          <p:cNvSpPr/>
          <p:nvPr/>
        </p:nvSpPr>
        <p:spPr>
          <a:xfrm>
            <a:off x="10207447" y="2066544"/>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Monthly</a:t>
            </a:r>
            <a:endParaRPr lang="en-US" sz="1050" dirty="0"/>
          </a:p>
        </p:txBody>
      </p:sp>
      <p:sp>
        <p:nvSpPr>
          <p:cNvPr id="10" name="Shape 8"/>
          <p:cNvSpPr/>
          <p:nvPr/>
        </p:nvSpPr>
        <p:spPr>
          <a:xfrm>
            <a:off x="777240" y="2532888"/>
            <a:ext cx="10637215" cy="420624"/>
          </a:xfrm>
          <a:prstGeom prst="rect">
            <a:avLst/>
          </a:prstGeom>
          <a:solidFill>
            <a:srgbClr val="FFFFFF"/>
          </a:solidFill>
          <a:ln/>
        </p:spPr>
      </p:sp>
      <p:sp>
        <p:nvSpPr>
          <p:cNvPr id="11" name="Shape 9"/>
          <p:cNvSpPr/>
          <p:nvPr/>
        </p:nvSpPr>
        <p:spPr>
          <a:xfrm>
            <a:off x="1051560" y="2683764"/>
            <a:ext cx="118872" cy="118872"/>
          </a:xfrm>
          <a:prstGeom prst="ellipse">
            <a:avLst/>
          </a:prstGeom>
          <a:solidFill>
            <a:srgbClr val="9A7A25"/>
          </a:solidFill>
          <a:ln/>
        </p:spPr>
      </p:sp>
      <p:sp>
        <p:nvSpPr>
          <p:cNvPr id="12" name="Text 10"/>
          <p:cNvSpPr/>
          <p:nvPr/>
        </p:nvSpPr>
        <p:spPr>
          <a:xfrm>
            <a:off x="1344168" y="2532888"/>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Podcast views and watch time</a:t>
            </a:r>
            <a:endParaRPr lang="en-US" sz="1300" dirty="0"/>
          </a:p>
        </p:txBody>
      </p:sp>
      <p:sp>
        <p:nvSpPr>
          <p:cNvPr id="13" name="Text 11"/>
          <p:cNvSpPr/>
          <p:nvPr/>
        </p:nvSpPr>
        <p:spPr>
          <a:xfrm>
            <a:off x="4754880" y="2532888"/>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Whether the authority play is landing</a:t>
            </a:r>
            <a:endParaRPr lang="en-US" sz="1200" dirty="0"/>
          </a:p>
        </p:txBody>
      </p:sp>
      <p:sp>
        <p:nvSpPr>
          <p:cNvPr id="14" name="Text 12"/>
          <p:cNvSpPr/>
          <p:nvPr/>
        </p:nvSpPr>
        <p:spPr>
          <a:xfrm>
            <a:off x="10207447" y="2532888"/>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Monthly</a:t>
            </a:r>
            <a:endParaRPr lang="en-US" sz="1050" dirty="0"/>
          </a:p>
        </p:txBody>
      </p:sp>
      <p:sp>
        <p:nvSpPr>
          <p:cNvPr id="15" name="Shape 13"/>
          <p:cNvSpPr/>
          <p:nvPr/>
        </p:nvSpPr>
        <p:spPr>
          <a:xfrm>
            <a:off x="777240" y="2999232"/>
            <a:ext cx="10637215" cy="420624"/>
          </a:xfrm>
          <a:prstGeom prst="rect">
            <a:avLst/>
          </a:prstGeom>
          <a:solidFill>
            <a:srgbClr val="FFFFFF"/>
          </a:solidFill>
          <a:ln/>
        </p:spPr>
      </p:sp>
      <p:sp>
        <p:nvSpPr>
          <p:cNvPr id="16" name="Shape 14"/>
          <p:cNvSpPr/>
          <p:nvPr/>
        </p:nvSpPr>
        <p:spPr>
          <a:xfrm>
            <a:off x="1051560" y="3150108"/>
            <a:ext cx="118872" cy="118872"/>
          </a:xfrm>
          <a:prstGeom prst="ellipse">
            <a:avLst/>
          </a:prstGeom>
          <a:solidFill>
            <a:srgbClr val="27548F"/>
          </a:solidFill>
          <a:ln/>
        </p:spPr>
      </p:sp>
      <p:sp>
        <p:nvSpPr>
          <p:cNvPr id="17" name="Text 15"/>
          <p:cNvSpPr/>
          <p:nvPr/>
        </p:nvSpPr>
        <p:spPr>
          <a:xfrm>
            <a:off x="1344168" y="2999232"/>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Enquiries by source</a:t>
            </a:r>
            <a:endParaRPr lang="en-US" sz="1300" dirty="0"/>
          </a:p>
        </p:txBody>
      </p:sp>
      <p:sp>
        <p:nvSpPr>
          <p:cNvPr id="18" name="Text 16"/>
          <p:cNvSpPr/>
          <p:nvPr/>
        </p:nvSpPr>
        <p:spPr>
          <a:xfrm>
            <a:off x="4754880" y="2999232"/>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Which channels produce — free and paid counted separately</a:t>
            </a:r>
            <a:endParaRPr lang="en-US" sz="1200" dirty="0"/>
          </a:p>
        </p:txBody>
      </p:sp>
      <p:sp>
        <p:nvSpPr>
          <p:cNvPr id="19" name="Text 17"/>
          <p:cNvSpPr/>
          <p:nvPr/>
        </p:nvSpPr>
        <p:spPr>
          <a:xfrm>
            <a:off x="10207447" y="2999232"/>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Weekly</a:t>
            </a:r>
            <a:endParaRPr lang="en-US" sz="1050" dirty="0"/>
          </a:p>
        </p:txBody>
      </p:sp>
      <p:sp>
        <p:nvSpPr>
          <p:cNvPr id="20" name="Shape 18"/>
          <p:cNvSpPr/>
          <p:nvPr/>
        </p:nvSpPr>
        <p:spPr>
          <a:xfrm>
            <a:off x="777240" y="3465576"/>
            <a:ext cx="10637215" cy="420624"/>
          </a:xfrm>
          <a:prstGeom prst="rect">
            <a:avLst/>
          </a:prstGeom>
          <a:solidFill>
            <a:srgbClr val="FFFFFF"/>
          </a:solidFill>
          <a:ln/>
        </p:spPr>
      </p:sp>
      <p:sp>
        <p:nvSpPr>
          <p:cNvPr id="21" name="Shape 19"/>
          <p:cNvSpPr/>
          <p:nvPr/>
        </p:nvSpPr>
        <p:spPr>
          <a:xfrm>
            <a:off x="1051560" y="3616452"/>
            <a:ext cx="118872" cy="118872"/>
          </a:xfrm>
          <a:prstGeom prst="ellipse">
            <a:avLst/>
          </a:prstGeom>
          <a:solidFill>
            <a:srgbClr val="27548F"/>
          </a:solidFill>
          <a:ln/>
        </p:spPr>
      </p:sp>
      <p:sp>
        <p:nvSpPr>
          <p:cNvPr id="22" name="Text 20"/>
          <p:cNvSpPr/>
          <p:nvPr/>
        </p:nvSpPr>
        <p:spPr>
          <a:xfrm>
            <a:off x="1344168" y="3465576"/>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Cost per enquiry</a:t>
            </a:r>
            <a:endParaRPr lang="en-US" sz="1300" dirty="0"/>
          </a:p>
        </p:txBody>
      </p:sp>
      <p:sp>
        <p:nvSpPr>
          <p:cNvPr id="23" name="Text 21"/>
          <p:cNvSpPr/>
          <p:nvPr/>
        </p:nvSpPr>
        <p:spPr>
          <a:xfrm>
            <a:off x="4754880" y="3465576"/>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Whether paid media is getting cheaper or dearer</a:t>
            </a:r>
            <a:endParaRPr lang="en-US" sz="1200" dirty="0"/>
          </a:p>
        </p:txBody>
      </p:sp>
      <p:sp>
        <p:nvSpPr>
          <p:cNvPr id="24" name="Text 22"/>
          <p:cNvSpPr/>
          <p:nvPr/>
        </p:nvSpPr>
        <p:spPr>
          <a:xfrm>
            <a:off x="10207447" y="3465576"/>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Weekly</a:t>
            </a:r>
            <a:endParaRPr lang="en-US" sz="1050" dirty="0"/>
          </a:p>
        </p:txBody>
      </p:sp>
      <p:sp>
        <p:nvSpPr>
          <p:cNvPr id="25" name="Shape 23"/>
          <p:cNvSpPr/>
          <p:nvPr/>
        </p:nvSpPr>
        <p:spPr>
          <a:xfrm>
            <a:off x="777240" y="3931920"/>
            <a:ext cx="10637215" cy="420624"/>
          </a:xfrm>
          <a:prstGeom prst="rect">
            <a:avLst/>
          </a:prstGeom>
          <a:solidFill>
            <a:srgbClr val="FFFFFF"/>
          </a:solidFill>
          <a:ln/>
        </p:spPr>
      </p:sp>
      <p:sp>
        <p:nvSpPr>
          <p:cNvPr id="26" name="Shape 24"/>
          <p:cNvSpPr/>
          <p:nvPr/>
        </p:nvSpPr>
        <p:spPr>
          <a:xfrm>
            <a:off x="1051560" y="4082796"/>
            <a:ext cx="118872" cy="118872"/>
          </a:xfrm>
          <a:prstGeom prst="ellipse">
            <a:avLst/>
          </a:prstGeom>
          <a:solidFill>
            <a:srgbClr val="27548F"/>
          </a:solidFill>
          <a:ln/>
        </p:spPr>
      </p:sp>
      <p:sp>
        <p:nvSpPr>
          <p:cNvPr id="27" name="Text 25"/>
          <p:cNvSpPr/>
          <p:nvPr/>
        </p:nvSpPr>
        <p:spPr>
          <a:xfrm>
            <a:off x="1344168" y="3931920"/>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Response time</a:t>
            </a:r>
            <a:endParaRPr lang="en-US" sz="1300" dirty="0"/>
          </a:p>
        </p:txBody>
      </p:sp>
      <p:sp>
        <p:nvSpPr>
          <p:cNvPr id="28" name="Text 26"/>
          <p:cNvSpPr/>
          <p:nvPr/>
        </p:nvSpPr>
        <p:spPr>
          <a:xfrm>
            <a:off x="4754880" y="3931920"/>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How long a buyer waits before a human replies</a:t>
            </a:r>
            <a:endParaRPr lang="en-US" sz="1200" dirty="0"/>
          </a:p>
        </p:txBody>
      </p:sp>
      <p:sp>
        <p:nvSpPr>
          <p:cNvPr id="29" name="Text 27"/>
          <p:cNvSpPr/>
          <p:nvPr/>
        </p:nvSpPr>
        <p:spPr>
          <a:xfrm>
            <a:off x="10207447" y="3931920"/>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Weekly</a:t>
            </a:r>
            <a:endParaRPr lang="en-US" sz="1050" dirty="0"/>
          </a:p>
        </p:txBody>
      </p:sp>
      <p:sp>
        <p:nvSpPr>
          <p:cNvPr id="30" name="Shape 28"/>
          <p:cNvSpPr/>
          <p:nvPr/>
        </p:nvSpPr>
        <p:spPr>
          <a:xfrm>
            <a:off x="777240" y="4398264"/>
            <a:ext cx="10637215" cy="420624"/>
          </a:xfrm>
          <a:prstGeom prst="rect">
            <a:avLst/>
          </a:prstGeom>
          <a:solidFill>
            <a:srgbClr val="FFFFFF"/>
          </a:solidFill>
          <a:ln/>
        </p:spPr>
      </p:sp>
      <p:sp>
        <p:nvSpPr>
          <p:cNvPr id="31" name="Shape 29"/>
          <p:cNvSpPr/>
          <p:nvPr/>
        </p:nvSpPr>
        <p:spPr>
          <a:xfrm>
            <a:off x="1051560" y="4549140"/>
            <a:ext cx="118872" cy="118872"/>
          </a:xfrm>
          <a:prstGeom prst="ellipse">
            <a:avLst/>
          </a:prstGeom>
          <a:solidFill>
            <a:srgbClr val="27548F"/>
          </a:solidFill>
          <a:ln/>
        </p:spPr>
      </p:sp>
      <p:sp>
        <p:nvSpPr>
          <p:cNvPr id="32" name="Text 30"/>
          <p:cNvSpPr/>
          <p:nvPr/>
        </p:nvSpPr>
        <p:spPr>
          <a:xfrm>
            <a:off x="1344168" y="4398264"/>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Site visits booked vs held</a:t>
            </a:r>
            <a:endParaRPr lang="en-US" sz="1300" dirty="0"/>
          </a:p>
        </p:txBody>
      </p:sp>
      <p:sp>
        <p:nvSpPr>
          <p:cNvPr id="33" name="Text 31"/>
          <p:cNvSpPr/>
          <p:nvPr/>
        </p:nvSpPr>
        <p:spPr>
          <a:xfrm>
            <a:off x="4754880" y="4398264"/>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Whether we bring serious people or curious ones</a:t>
            </a:r>
            <a:endParaRPr lang="en-US" sz="1200" dirty="0"/>
          </a:p>
        </p:txBody>
      </p:sp>
      <p:sp>
        <p:nvSpPr>
          <p:cNvPr id="34" name="Text 32"/>
          <p:cNvSpPr/>
          <p:nvPr/>
        </p:nvSpPr>
        <p:spPr>
          <a:xfrm>
            <a:off x="10207447" y="4398264"/>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Weekly</a:t>
            </a:r>
            <a:endParaRPr lang="en-US" sz="1050" dirty="0"/>
          </a:p>
        </p:txBody>
      </p:sp>
      <p:sp>
        <p:nvSpPr>
          <p:cNvPr id="35" name="Shape 33"/>
          <p:cNvSpPr/>
          <p:nvPr/>
        </p:nvSpPr>
        <p:spPr>
          <a:xfrm>
            <a:off x="777240" y="4864608"/>
            <a:ext cx="10637215" cy="420624"/>
          </a:xfrm>
          <a:prstGeom prst="rect">
            <a:avLst/>
          </a:prstGeom>
          <a:solidFill>
            <a:srgbClr val="FFFFFF"/>
          </a:solidFill>
          <a:ln/>
        </p:spPr>
      </p:sp>
      <p:sp>
        <p:nvSpPr>
          <p:cNvPr id="36" name="Shape 34"/>
          <p:cNvSpPr/>
          <p:nvPr/>
        </p:nvSpPr>
        <p:spPr>
          <a:xfrm>
            <a:off x="1051560" y="5015484"/>
            <a:ext cx="118872" cy="118872"/>
          </a:xfrm>
          <a:prstGeom prst="ellipse">
            <a:avLst/>
          </a:prstGeom>
          <a:solidFill>
            <a:srgbClr val="2E7150"/>
          </a:solidFill>
          <a:ln/>
        </p:spPr>
      </p:sp>
      <p:sp>
        <p:nvSpPr>
          <p:cNvPr id="37" name="Text 35"/>
          <p:cNvSpPr/>
          <p:nvPr/>
        </p:nvSpPr>
        <p:spPr>
          <a:xfrm>
            <a:off x="1344168" y="4864608"/>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Bookings by source</a:t>
            </a:r>
            <a:endParaRPr lang="en-US" sz="1300" dirty="0"/>
          </a:p>
        </p:txBody>
      </p:sp>
      <p:sp>
        <p:nvSpPr>
          <p:cNvPr id="38" name="Text 36"/>
          <p:cNvSpPr/>
          <p:nvPr/>
        </p:nvSpPr>
        <p:spPr>
          <a:xfrm>
            <a:off x="4754880" y="4864608"/>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The number that finally matters</a:t>
            </a:r>
            <a:endParaRPr lang="en-US" sz="1200" dirty="0"/>
          </a:p>
        </p:txBody>
      </p:sp>
      <p:sp>
        <p:nvSpPr>
          <p:cNvPr id="39" name="Text 37"/>
          <p:cNvSpPr/>
          <p:nvPr/>
        </p:nvSpPr>
        <p:spPr>
          <a:xfrm>
            <a:off x="10207447" y="4864608"/>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Monthly</a:t>
            </a:r>
            <a:endParaRPr lang="en-US" sz="1050" dirty="0"/>
          </a:p>
        </p:txBody>
      </p:sp>
      <p:sp>
        <p:nvSpPr>
          <p:cNvPr id="40" name="Shape 38"/>
          <p:cNvSpPr/>
          <p:nvPr/>
        </p:nvSpPr>
        <p:spPr>
          <a:xfrm>
            <a:off x="777240" y="5330952"/>
            <a:ext cx="10637215" cy="420624"/>
          </a:xfrm>
          <a:prstGeom prst="rect">
            <a:avLst/>
          </a:prstGeom>
          <a:solidFill>
            <a:srgbClr val="FFFFFF"/>
          </a:solidFill>
          <a:ln/>
        </p:spPr>
      </p:sp>
      <p:sp>
        <p:nvSpPr>
          <p:cNvPr id="41" name="Shape 39"/>
          <p:cNvSpPr/>
          <p:nvPr/>
        </p:nvSpPr>
        <p:spPr>
          <a:xfrm>
            <a:off x="1051560" y="5481828"/>
            <a:ext cx="118872" cy="118872"/>
          </a:xfrm>
          <a:prstGeom prst="ellipse">
            <a:avLst/>
          </a:prstGeom>
          <a:solidFill>
            <a:srgbClr val="2E7150"/>
          </a:solidFill>
          <a:ln/>
        </p:spPr>
      </p:sp>
      <p:sp>
        <p:nvSpPr>
          <p:cNvPr id="42" name="Text 40"/>
          <p:cNvSpPr/>
          <p:nvPr/>
        </p:nvSpPr>
        <p:spPr>
          <a:xfrm>
            <a:off x="1344168" y="5330952"/>
            <a:ext cx="3200400" cy="420624"/>
          </a:xfrm>
          <a:prstGeom prst="rect">
            <a:avLst/>
          </a:prstGeom>
          <a:noFill/>
          <a:ln/>
        </p:spPr>
        <p:txBody>
          <a:bodyPr wrap="square" lIns="0" tIns="0" rIns="0" bIns="0" rtlCol="0" anchor="ctr"/>
          <a:lstStyle/>
          <a:p>
            <a:pPr indent="0" marL="0">
              <a:buNone/>
            </a:pPr>
            <a:r>
              <a:rPr lang="en-US" sz="1300" b="1" dirty="0">
                <a:solidFill>
                  <a:srgbClr val="14181D"/>
                </a:solidFill>
                <a:latin typeface="Cambria" pitchFamily="34" charset="0"/>
                <a:ea typeface="Cambria" pitchFamily="34" charset="-122"/>
                <a:cs typeface="Cambria" pitchFamily="34" charset="-120"/>
              </a:rPr>
              <a:t>Cost per booking</a:t>
            </a:r>
            <a:endParaRPr lang="en-US" sz="1300" dirty="0"/>
          </a:p>
        </p:txBody>
      </p:sp>
      <p:sp>
        <p:nvSpPr>
          <p:cNvPr id="43" name="Text 41"/>
          <p:cNvSpPr/>
          <p:nvPr/>
        </p:nvSpPr>
        <p:spPr>
          <a:xfrm>
            <a:off x="4754880" y="5330952"/>
            <a:ext cx="5379415" cy="420624"/>
          </a:xfrm>
          <a:prstGeom prst="rect">
            <a:avLst/>
          </a:prstGeom>
          <a:noFill/>
          <a:ln/>
        </p:spPr>
        <p:txBody>
          <a:bodyPr wrap="square" lIns="0" tIns="0" rIns="0" bIns="0" rtlCol="0" anchor="ctr"/>
          <a:lstStyle/>
          <a:p>
            <a:pPr indent="0" marL="0">
              <a:buNone/>
            </a:pPr>
            <a:r>
              <a:rPr lang="en-US" sz="1200" dirty="0">
                <a:solidFill>
                  <a:srgbClr val="555C64"/>
                </a:solidFill>
                <a:latin typeface="Calibri" pitchFamily="34" charset="0"/>
                <a:ea typeface="Calibri" pitchFamily="34" charset="-122"/>
                <a:cs typeface="Calibri" pitchFamily="34" charset="-120"/>
              </a:rPr>
              <a:t>What it costs to sell one home through marketing</a:t>
            </a:r>
            <a:endParaRPr lang="en-US" sz="1200" dirty="0"/>
          </a:p>
        </p:txBody>
      </p:sp>
      <p:sp>
        <p:nvSpPr>
          <p:cNvPr id="44" name="Text 42"/>
          <p:cNvSpPr/>
          <p:nvPr/>
        </p:nvSpPr>
        <p:spPr>
          <a:xfrm>
            <a:off x="10207447" y="5330952"/>
            <a:ext cx="932688" cy="420624"/>
          </a:xfrm>
          <a:prstGeom prst="rect">
            <a:avLst/>
          </a:prstGeom>
          <a:noFill/>
          <a:ln/>
        </p:spPr>
        <p:txBody>
          <a:bodyPr wrap="square" lIns="0" tIns="0" rIns="0" bIns="0" rtlCol="0" anchor="ctr"/>
          <a:lstStyle/>
          <a:p>
            <a:pPr algn="r" indent="0" marL="0">
              <a:buNone/>
            </a:pPr>
            <a:r>
              <a:rPr lang="en-US" sz="1050" b="1" dirty="0">
                <a:solidFill>
                  <a:srgbClr val="8A9099"/>
                </a:solidFill>
                <a:latin typeface="Calibri" pitchFamily="34" charset="0"/>
                <a:ea typeface="Calibri" pitchFamily="34" charset="-122"/>
                <a:cs typeface="Calibri" pitchFamily="34" charset="-120"/>
              </a:rPr>
              <a:t>Monthly</a:t>
            </a:r>
            <a:endParaRPr lang="en-US" sz="1050" dirty="0"/>
          </a:p>
        </p:txBody>
      </p:sp>
      <p:sp>
        <p:nvSpPr>
          <p:cNvPr id="45" name="Text 43"/>
          <p:cNvSpPr/>
          <p:nvPr/>
        </p:nvSpPr>
        <p:spPr>
          <a:xfrm>
            <a:off x="777240" y="5980176"/>
            <a:ext cx="10637215" cy="640080"/>
          </a:xfrm>
          <a:prstGeom prst="rect">
            <a:avLst/>
          </a:prstGeom>
          <a:noFill/>
          <a:ln/>
        </p:spPr>
        <p:txBody>
          <a:bodyPr wrap="square" lIns="0" tIns="0" rIns="0" bIns="0" rtlCol="0" anchor="ctr"/>
          <a:lstStyle/>
          <a:p>
            <a:pPr indent="0" marL="0">
              <a:lnSpc>
                <a:spcPts val="2100"/>
              </a:lnSpc>
              <a:buNone/>
            </a:pPr>
            <a:r>
              <a:rPr lang="en-US" sz="1400" dirty="0">
                <a:solidFill>
                  <a:srgbClr val="14181D"/>
                </a:solidFill>
                <a:latin typeface="Calibri" pitchFamily="34" charset="0"/>
                <a:ea typeface="Calibri" pitchFamily="34" charset="-122"/>
                <a:cs typeface="Calibri" pitchFamily="34" charset="-120"/>
              </a:rPr>
              <a:t>How this helps: these decide the budget. If cost per enquiry falls and site visits convert, we move up a level. If they don't, we stop and fix the funnel before spending more.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it takes to break even</a:t>
            </a:r>
            <a:endParaRPr lang="en-US" sz="3800" dirty="0"/>
          </a:p>
        </p:txBody>
      </p:sp>
      <p:sp>
        <p:nvSpPr>
          <p:cNvPr id="4" name="Text 2"/>
          <p:cNvSpPr/>
          <p:nvPr/>
        </p:nvSpPr>
        <p:spPr>
          <a:xfrm>
            <a:off x="777240" y="1463040"/>
            <a:ext cx="9539935" cy="457200"/>
          </a:xfrm>
          <a:prstGeom prst="rect">
            <a:avLst/>
          </a:prstGeom>
          <a:noFill/>
          <a:ln/>
        </p:spPr>
        <p:txBody>
          <a:bodyPr wrap="square" lIns="0" tIns="0" rIns="0" bIns="0" rtlCol="0" anchor="t"/>
          <a:lstStyle/>
          <a:p>
            <a:pPr indent="0" marL="0">
              <a:lnSpc>
                <a:spcPts val="2200"/>
              </a:lnSpc>
              <a:buNone/>
            </a:pPr>
            <a:r>
              <a:rPr lang="en-US" sz="1550" dirty="0">
                <a:solidFill>
                  <a:srgbClr val="555C64"/>
                </a:solidFill>
                <a:latin typeface="Calibri" pitchFamily="34" charset="0"/>
                <a:ea typeface="Calibri" pitchFamily="34" charset="-122"/>
                <a:cs typeface="Calibri" pitchFamily="34" charset="-120"/>
              </a:rPr>
              <a:t>At this budget the useful question isn't return multiples — it's how little has to happen before this pays for itself.</a:t>
            </a:r>
            <a:endParaRPr lang="en-US" sz="1550" dirty="0"/>
          </a:p>
        </p:txBody>
      </p:sp>
      <p:sp>
        <p:nvSpPr>
          <p:cNvPr id="5" name="Shape 3"/>
          <p:cNvSpPr/>
          <p:nvPr/>
        </p:nvSpPr>
        <p:spPr>
          <a:xfrm>
            <a:off x="777240" y="2066544"/>
            <a:ext cx="4144975" cy="429768"/>
          </a:xfrm>
          <a:prstGeom prst="rect">
            <a:avLst/>
          </a:prstGeom>
          <a:solidFill>
            <a:srgbClr val="14181D"/>
          </a:solidFill>
          <a:ln/>
        </p:spPr>
      </p:sp>
      <p:sp>
        <p:nvSpPr>
          <p:cNvPr id="6" name="Text 4"/>
          <p:cNvSpPr/>
          <p:nvPr/>
        </p:nvSpPr>
        <p:spPr>
          <a:xfrm>
            <a:off x="1014984" y="2066544"/>
            <a:ext cx="3733495" cy="429768"/>
          </a:xfrm>
          <a:prstGeom prst="rect">
            <a:avLst/>
          </a:prstGeom>
          <a:noFill/>
          <a:ln/>
        </p:spPr>
        <p:txBody>
          <a:bodyPr wrap="square" lIns="0" tIns="0" rIns="0" bIns="0" rtlCol="0" anchor="ctr"/>
          <a:lstStyle/>
          <a:p>
            <a:pPr indent="0" marL="0">
              <a:buNone/>
            </a:pPr>
            <a:endParaRPr lang="en-US" sz="1250" dirty="0"/>
          </a:p>
        </p:txBody>
      </p:sp>
      <p:sp>
        <p:nvSpPr>
          <p:cNvPr id="7" name="Shape 5"/>
          <p:cNvSpPr/>
          <p:nvPr/>
        </p:nvSpPr>
        <p:spPr>
          <a:xfrm>
            <a:off x="4967935" y="2066544"/>
            <a:ext cx="2240280" cy="429768"/>
          </a:xfrm>
          <a:prstGeom prst="rect">
            <a:avLst/>
          </a:prstGeom>
          <a:solidFill>
            <a:srgbClr val="14181D"/>
          </a:solidFill>
          <a:ln/>
        </p:spPr>
      </p:sp>
      <p:sp>
        <p:nvSpPr>
          <p:cNvPr id="8" name="Text 6"/>
          <p:cNvSpPr/>
          <p:nvPr/>
        </p:nvSpPr>
        <p:spPr>
          <a:xfrm>
            <a:off x="4967935" y="2066544"/>
            <a:ext cx="2240280" cy="42976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Foundation</a:t>
            </a:r>
            <a:endParaRPr lang="en-US" sz="1150" dirty="0"/>
          </a:p>
        </p:txBody>
      </p:sp>
      <p:sp>
        <p:nvSpPr>
          <p:cNvPr id="9" name="Shape 7"/>
          <p:cNvSpPr/>
          <p:nvPr/>
        </p:nvSpPr>
        <p:spPr>
          <a:xfrm>
            <a:off x="7253935" y="2066544"/>
            <a:ext cx="2240280" cy="429768"/>
          </a:xfrm>
          <a:prstGeom prst="rect">
            <a:avLst/>
          </a:prstGeom>
          <a:solidFill>
            <a:srgbClr val="14181D"/>
          </a:solidFill>
          <a:ln/>
        </p:spPr>
      </p:sp>
      <p:sp>
        <p:nvSpPr>
          <p:cNvPr id="10" name="Text 8"/>
          <p:cNvSpPr/>
          <p:nvPr/>
        </p:nvSpPr>
        <p:spPr>
          <a:xfrm>
            <a:off x="7253935" y="2066544"/>
            <a:ext cx="2240280" cy="42976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Build</a:t>
            </a:r>
            <a:endParaRPr lang="en-US" sz="1150" dirty="0"/>
          </a:p>
        </p:txBody>
      </p:sp>
      <p:sp>
        <p:nvSpPr>
          <p:cNvPr id="11" name="Shape 9"/>
          <p:cNvSpPr/>
          <p:nvPr/>
        </p:nvSpPr>
        <p:spPr>
          <a:xfrm>
            <a:off x="9539935" y="2066544"/>
            <a:ext cx="1874520" cy="429768"/>
          </a:xfrm>
          <a:prstGeom prst="rect">
            <a:avLst/>
          </a:prstGeom>
          <a:solidFill>
            <a:srgbClr val="14181D"/>
          </a:solidFill>
          <a:ln/>
        </p:spPr>
      </p:sp>
      <p:sp>
        <p:nvSpPr>
          <p:cNvPr id="12" name="Text 10"/>
          <p:cNvSpPr/>
          <p:nvPr/>
        </p:nvSpPr>
        <p:spPr>
          <a:xfrm>
            <a:off x="9686239" y="2066544"/>
            <a:ext cx="1581912" cy="429768"/>
          </a:xfrm>
          <a:prstGeom prst="rect">
            <a:avLst/>
          </a:prstGeom>
          <a:noFill/>
          <a:ln/>
        </p:spPr>
        <p:txBody>
          <a:bodyPr wrap="square" lIns="0" tIns="0" rIns="0" bIns="0" rtlCol="0" anchor="ctr"/>
          <a:lstStyle/>
          <a:p>
            <a:pPr indent="0" marL="0">
              <a:buNone/>
            </a:pPr>
            <a:endParaRPr lang="en-US" sz="1050" dirty="0"/>
          </a:p>
        </p:txBody>
      </p:sp>
      <p:sp>
        <p:nvSpPr>
          <p:cNvPr id="13" name="Shape 11"/>
          <p:cNvSpPr/>
          <p:nvPr/>
        </p:nvSpPr>
        <p:spPr>
          <a:xfrm>
            <a:off x="777240" y="2542032"/>
            <a:ext cx="4144975" cy="429768"/>
          </a:xfrm>
          <a:prstGeom prst="rect">
            <a:avLst/>
          </a:prstGeom>
          <a:solidFill>
            <a:srgbClr val="FFFFFF"/>
          </a:solidFill>
          <a:ln/>
        </p:spPr>
      </p:sp>
      <p:sp>
        <p:nvSpPr>
          <p:cNvPr id="14" name="Text 12"/>
          <p:cNvSpPr/>
          <p:nvPr/>
        </p:nvSpPr>
        <p:spPr>
          <a:xfrm>
            <a:off x="1014984" y="2542032"/>
            <a:ext cx="3733495" cy="42976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Monthly cost, all in</a:t>
            </a:r>
            <a:endParaRPr lang="en-US" sz="1250" dirty="0"/>
          </a:p>
        </p:txBody>
      </p:sp>
      <p:sp>
        <p:nvSpPr>
          <p:cNvPr id="15" name="Shape 13"/>
          <p:cNvSpPr/>
          <p:nvPr/>
        </p:nvSpPr>
        <p:spPr>
          <a:xfrm>
            <a:off x="4967935" y="2542032"/>
            <a:ext cx="2240280" cy="429768"/>
          </a:xfrm>
          <a:prstGeom prst="rect">
            <a:avLst/>
          </a:prstGeom>
          <a:solidFill>
            <a:srgbClr val="FFFFFF"/>
          </a:solidFill>
          <a:ln/>
        </p:spPr>
      </p:sp>
      <p:sp>
        <p:nvSpPr>
          <p:cNvPr id="16" name="Text 14"/>
          <p:cNvSpPr/>
          <p:nvPr/>
        </p:nvSpPr>
        <p:spPr>
          <a:xfrm>
            <a:off x="4967935" y="2542032"/>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₹1.2L</a:t>
            </a:r>
            <a:endParaRPr lang="en-US" sz="1350" dirty="0"/>
          </a:p>
        </p:txBody>
      </p:sp>
      <p:sp>
        <p:nvSpPr>
          <p:cNvPr id="17" name="Shape 15"/>
          <p:cNvSpPr/>
          <p:nvPr/>
        </p:nvSpPr>
        <p:spPr>
          <a:xfrm>
            <a:off x="7253935" y="2542032"/>
            <a:ext cx="2240280" cy="429768"/>
          </a:xfrm>
          <a:prstGeom prst="rect">
            <a:avLst/>
          </a:prstGeom>
          <a:solidFill>
            <a:srgbClr val="FFFFFF"/>
          </a:solidFill>
          <a:ln/>
        </p:spPr>
      </p:sp>
      <p:sp>
        <p:nvSpPr>
          <p:cNvPr id="18" name="Text 16"/>
          <p:cNvSpPr/>
          <p:nvPr/>
        </p:nvSpPr>
        <p:spPr>
          <a:xfrm>
            <a:off x="7253935" y="2542032"/>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₹2.5L</a:t>
            </a:r>
            <a:endParaRPr lang="en-US" sz="1350" dirty="0"/>
          </a:p>
        </p:txBody>
      </p:sp>
      <p:sp>
        <p:nvSpPr>
          <p:cNvPr id="19" name="Shape 17"/>
          <p:cNvSpPr/>
          <p:nvPr/>
        </p:nvSpPr>
        <p:spPr>
          <a:xfrm>
            <a:off x="9539935" y="2542032"/>
            <a:ext cx="1874520" cy="429768"/>
          </a:xfrm>
          <a:prstGeom prst="rect">
            <a:avLst/>
          </a:prstGeom>
          <a:solidFill>
            <a:srgbClr val="FFFFFF"/>
          </a:solidFill>
          <a:ln/>
        </p:spPr>
      </p:sp>
      <p:sp>
        <p:nvSpPr>
          <p:cNvPr id="20" name="Text 18"/>
          <p:cNvSpPr/>
          <p:nvPr/>
        </p:nvSpPr>
        <p:spPr>
          <a:xfrm>
            <a:off x="9686239" y="2542032"/>
            <a:ext cx="1581912" cy="429768"/>
          </a:xfrm>
          <a:prstGeom prst="rect">
            <a:avLst/>
          </a:prstGeom>
          <a:noFill/>
          <a:ln/>
        </p:spPr>
        <p:txBody>
          <a:bodyPr wrap="square" lIns="0" tIns="0" rIns="0" bIns="0" rtlCol="0" anchor="ctr"/>
          <a:lstStyle/>
          <a:p>
            <a:pPr indent="0" marL="0">
              <a:buNone/>
            </a:pPr>
            <a:r>
              <a:rPr lang="en-US" sz="1050" dirty="0">
                <a:solidFill>
                  <a:srgbClr val="8A9099"/>
                </a:solidFill>
                <a:latin typeface="Calibri" pitchFamily="34" charset="0"/>
                <a:ea typeface="Calibri" pitchFamily="34" charset="-122"/>
                <a:cs typeface="Calibri" pitchFamily="34" charset="-120"/>
              </a:rPr>
              <a:t>From section 11</a:t>
            </a:r>
            <a:endParaRPr lang="en-US" sz="1050" dirty="0"/>
          </a:p>
        </p:txBody>
      </p:sp>
      <p:sp>
        <p:nvSpPr>
          <p:cNvPr id="21" name="Shape 19"/>
          <p:cNvSpPr/>
          <p:nvPr/>
        </p:nvSpPr>
        <p:spPr>
          <a:xfrm>
            <a:off x="777240" y="3017520"/>
            <a:ext cx="4144975" cy="429768"/>
          </a:xfrm>
          <a:prstGeom prst="rect">
            <a:avLst/>
          </a:prstGeom>
          <a:solidFill>
            <a:srgbClr val="FFFFFF"/>
          </a:solidFill>
          <a:ln/>
        </p:spPr>
      </p:sp>
      <p:sp>
        <p:nvSpPr>
          <p:cNvPr id="22" name="Text 20"/>
          <p:cNvSpPr/>
          <p:nvPr/>
        </p:nvSpPr>
        <p:spPr>
          <a:xfrm>
            <a:off x="1014984" y="3017520"/>
            <a:ext cx="3733495" cy="42976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Average unit value</a:t>
            </a:r>
            <a:endParaRPr lang="en-US" sz="1250" dirty="0"/>
          </a:p>
        </p:txBody>
      </p:sp>
      <p:sp>
        <p:nvSpPr>
          <p:cNvPr id="23" name="Shape 21"/>
          <p:cNvSpPr/>
          <p:nvPr/>
        </p:nvSpPr>
        <p:spPr>
          <a:xfrm>
            <a:off x="4967935" y="3017520"/>
            <a:ext cx="2240280" cy="429768"/>
          </a:xfrm>
          <a:prstGeom prst="rect">
            <a:avLst/>
          </a:prstGeom>
          <a:solidFill>
            <a:srgbClr val="FFFFFF"/>
          </a:solidFill>
          <a:ln/>
        </p:spPr>
      </p:sp>
      <p:sp>
        <p:nvSpPr>
          <p:cNvPr id="24" name="Text 22"/>
          <p:cNvSpPr/>
          <p:nvPr/>
        </p:nvSpPr>
        <p:spPr>
          <a:xfrm>
            <a:off x="4967935" y="3017520"/>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₹2.5 Cr</a:t>
            </a:r>
            <a:endParaRPr lang="en-US" sz="1350" dirty="0"/>
          </a:p>
        </p:txBody>
      </p:sp>
      <p:sp>
        <p:nvSpPr>
          <p:cNvPr id="25" name="Shape 23"/>
          <p:cNvSpPr/>
          <p:nvPr/>
        </p:nvSpPr>
        <p:spPr>
          <a:xfrm>
            <a:off x="7253935" y="3017520"/>
            <a:ext cx="2240280" cy="429768"/>
          </a:xfrm>
          <a:prstGeom prst="rect">
            <a:avLst/>
          </a:prstGeom>
          <a:solidFill>
            <a:srgbClr val="FFFFFF"/>
          </a:solidFill>
          <a:ln/>
        </p:spPr>
      </p:sp>
      <p:sp>
        <p:nvSpPr>
          <p:cNvPr id="26" name="Text 24"/>
          <p:cNvSpPr/>
          <p:nvPr/>
        </p:nvSpPr>
        <p:spPr>
          <a:xfrm>
            <a:off x="7253935" y="3017520"/>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₹2.5 Cr</a:t>
            </a:r>
            <a:endParaRPr lang="en-US" sz="1350" dirty="0"/>
          </a:p>
        </p:txBody>
      </p:sp>
      <p:sp>
        <p:nvSpPr>
          <p:cNvPr id="27" name="Shape 25"/>
          <p:cNvSpPr/>
          <p:nvPr/>
        </p:nvSpPr>
        <p:spPr>
          <a:xfrm>
            <a:off x="9539935" y="3017520"/>
            <a:ext cx="1874520" cy="429768"/>
          </a:xfrm>
          <a:prstGeom prst="rect">
            <a:avLst/>
          </a:prstGeom>
          <a:solidFill>
            <a:srgbClr val="FFFFFF"/>
          </a:solidFill>
          <a:ln/>
        </p:spPr>
      </p:sp>
      <p:sp>
        <p:nvSpPr>
          <p:cNvPr id="28" name="Shape 26"/>
          <p:cNvSpPr/>
          <p:nvPr/>
        </p:nvSpPr>
        <p:spPr>
          <a:xfrm>
            <a:off x="9686239" y="3131820"/>
            <a:ext cx="1581912" cy="201168"/>
          </a:xfrm>
          <a:prstGeom prst="rect">
            <a:avLst/>
          </a:prstGeom>
          <a:solidFill>
            <a:srgbClr val="F6EEDA"/>
          </a:solidFill>
          <a:ln/>
        </p:spPr>
      </p:sp>
      <p:sp>
        <p:nvSpPr>
          <p:cNvPr id="29" name="Text 27"/>
          <p:cNvSpPr/>
          <p:nvPr/>
        </p:nvSpPr>
        <p:spPr>
          <a:xfrm>
            <a:off x="9686239" y="3131820"/>
            <a:ext cx="1581912" cy="201168"/>
          </a:xfrm>
          <a:prstGeom prst="rect">
            <a:avLst/>
          </a:prstGeom>
          <a:noFill/>
          <a:ln/>
        </p:spPr>
        <p:txBody>
          <a:bodyPr wrap="square" lIns="0" tIns="0" rIns="0" bIns="0" rtlCol="0" anchor="ctr"/>
          <a:lstStyle/>
          <a:p>
            <a:pPr algn="ctr" indent="0" marL="0">
              <a:buNone/>
            </a:pPr>
            <a:r>
              <a:rPr lang="en-US" sz="800" b="1" spc="60" kern="0" dirty="0">
                <a:solidFill>
                  <a:srgbClr val="9A7A25"/>
                </a:solidFill>
                <a:latin typeface="Calibri" pitchFamily="34" charset="0"/>
                <a:ea typeface="Calibri" pitchFamily="34" charset="-122"/>
                <a:cs typeface="Calibri" pitchFamily="34" charset="-120"/>
              </a:rPr>
              <a:t>OUR ASSUMPTION</a:t>
            </a:r>
            <a:endParaRPr lang="en-US" sz="800" dirty="0"/>
          </a:p>
        </p:txBody>
      </p:sp>
      <p:sp>
        <p:nvSpPr>
          <p:cNvPr id="30" name="Shape 28"/>
          <p:cNvSpPr/>
          <p:nvPr/>
        </p:nvSpPr>
        <p:spPr>
          <a:xfrm>
            <a:off x="777240" y="3493008"/>
            <a:ext cx="4144975" cy="429768"/>
          </a:xfrm>
          <a:prstGeom prst="rect">
            <a:avLst/>
          </a:prstGeom>
          <a:solidFill>
            <a:srgbClr val="FFFFFF"/>
          </a:solidFill>
          <a:ln/>
        </p:spPr>
      </p:sp>
      <p:sp>
        <p:nvSpPr>
          <p:cNvPr id="31" name="Text 29"/>
          <p:cNvSpPr/>
          <p:nvPr/>
        </p:nvSpPr>
        <p:spPr>
          <a:xfrm>
            <a:off x="1014984" y="3493008"/>
            <a:ext cx="3733495" cy="42976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OTHO commission</a:t>
            </a:r>
            <a:endParaRPr lang="en-US" sz="1250" dirty="0"/>
          </a:p>
        </p:txBody>
      </p:sp>
      <p:sp>
        <p:nvSpPr>
          <p:cNvPr id="32" name="Shape 30"/>
          <p:cNvSpPr/>
          <p:nvPr/>
        </p:nvSpPr>
        <p:spPr>
          <a:xfrm>
            <a:off x="4967935" y="3493008"/>
            <a:ext cx="2240280" cy="429768"/>
          </a:xfrm>
          <a:prstGeom prst="rect">
            <a:avLst/>
          </a:prstGeom>
          <a:solidFill>
            <a:srgbClr val="FFFFFF"/>
          </a:solidFill>
          <a:ln/>
        </p:spPr>
      </p:sp>
      <p:sp>
        <p:nvSpPr>
          <p:cNvPr id="33" name="Text 31"/>
          <p:cNvSpPr/>
          <p:nvPr/>
        </p:nvSpPr>
        <p:spPr>
          <a:xfrm>
            <a:off x="4967935" y="3493008"/>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2%</a:t>
            </a:r>
            <a:endParaRPr lang="en-US" sz="1350" dirty="0"/>
          </a:p>
        </p:txBody>
      </p:sp>
      <p:sp>
        <p:nvSpPr>
          <p:cNvPr id="34" name="Shape 32"/>
          <p:cNvSpPr/>
          <p:nvPr/>
        </p:nvSpPr>
        <p:spPr>
          <a:xfrm>
            <a:off x="7253935" y="3493008"/>
            <a:ext cx="2240280" cy="429768"/>
          </a:xfrm>
          <a:prstGeom prst="rect">
            <a:avLst/>
          </a:prstGeom>
          <a:solidFill>
            <a:srgbClr val="FFFFFF"/>
          </a:solidFill>
          <a:ln/>
        </p:spPr>
      </p:sp>
      <p:sp>
        <p:nvSpPr>
          <p:cNvPr id="35" name="Text 33"/>
          <p:cNvSpPr/>
          <p:nvPr/>
        </p:nvSpPr>
        <p:spPr>
          <a:xfrm>
            <a:off x="7253935" y="3493008"/>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2%</a:t>
            </a:r>
            <a:endParaRPr lang="en-US" sz="1350" dirty="0"/>
          </a:p>
        </p:txBody>
      </p:sp>
      <p:sp>
        <p:nvSpPr>
          <p:cNvPr id="36" name="Shape 34"/>
          <p:cNvSpPr/>
          <p:nvPr/>
        </p:nvSpPr>
        <p:spPr>
          <a:xfrm>
            <a:off x="9539935" y="3493008"/>
            <a:ext cx="1874520" cy="429768"/>
          </a:xfrm>
          <a:prstGeom prst="rect">
            <a:avLst/>
          </a:prstGeom>
          <a:solidFill>
            <a:srgbClr val="FFFFFF"/>
          </a:solidFill>
          <a:ln/>
        </p:spPr>
      </p:sp>
      <p:sp>
        <p:nvSpPr>
          <p:cNvPr id="37" name="Shape 35"/>
          <p:cNvSpPr/>
          <p:nvPr/>
        </p:nvSpPr>
        <p:spPr>
          <a:xfrm>
            <a:off x="9686239" y="3607308"/>
            <a:ext cx="1581912" cy="201168"/>
          </a:xfrm>
          <a:prstGeom prst="rect">
            <a:avLst/>
          </a:prstGeom>
          <a:solidFill>
            <a:srgbClr val="F6EEDA"/>
          </a:solidFill>
          <a:ln/>
        </p:spPr>
      </p:sp>
      <p:sp>
        <p:nvSpPr>
          <p:cNvPr id="38" name="Text 36"/>
          <p:cNvSpPr/>
          <p:nvPr/>
        </p:nvSpPr>
        <p:spPr>
          <a:xfrm>
            <a:off x="9686239" y="3607308"/>
            <a:ext cx="1581912" cy="201168"/>
          </a:xfrm>
          <a:prstGeom prst="rect">
            <a:avLst/>
          </a:prstGeom>
          <a:noFill/>
          <a:ln/>
        </p:spPr>
        <p:txBody>
          <a:bodyPr wrap="square" lIns="0" tIns="0" rIns="0" bIns="0" rtlCol="0" anchor="ctr"/>
          <a:lstStyle/>
          <a:p>
            <a:pPr algn="ctr" indent="0" marL="0">
              <a:buNone/>
            </a:pPr>
            <a:r>
              <a:rPr lang="en-US" sz="800" b="1" spc="60" kern="0" dirty="0">
                <a:solidFill>
                  <a:srgbClr val="9A7A25"/>
                </a:solidFill>
                <a:latin typeface="Calibri" pitchFamily="34" charset="0"/>
                <a:ea typeface="Calibri" pitchFamily="34" charset="-122"/>
                <a:cs typeface="Calibri" pitchFamily="34" charset="-120"/>
              </a:rPr>
              <a:t>OUR ASSUMPTION</a:t>
            </a:r>
            <a:endParaRPr lang="en-US" sz="800" dirty="0"/>
          </a:p>
        </p:txBody>
      </p:sp>
      <p:sp>
        <p:nvSpPr>
          <p:cNvPr id="39" name="Shape 37"/>
          <p:cNvSpPr/>
          <p:nvPr/>
        </p:nvSpPr>
        <p:spPr>
          <a:xfrm>
            <a:off x="777240" y="3968496"/>
            <a:ext cx="4144975" cy="429768"/>
          </a:xfrm>
          <a:prstGeom prst="rect">
            <a:avLst/>
          </a:prstGeom>
          <a:solidFill>
            <a:srgbClr val="FFFFFF"/>
          </a:solidFill>
          <a:ln/>
        </p:spPr>
      </p:sp>
      <p:sp>
        <p:nvSpPr>
          <p:cNvPr id="40" name="Text 38"/>
          <p:cNvSpPr/>
          <p:nvPr/>
        </p:nvSpPr>
        <p:spPr>
          <a:xfrm>
            <a:off x="1014984" y="3968496"/>
            <a:ext cx="3733495" cy="429768"/>
          </a:xfrm>
          <a:prstGeom prst="rect">
            <a:avLst/>
          </a:prstGeom>
          <a:noFill/>
          <a:ln/>
        </p:spPr>
        <p:txBody>
          <a:bodyPr wrap="square" lIns="0" tIns="0" rIns="0" bIns="0" rtlCol="0" anchor="ctr"/>
          <a:lstStyle/>
          <a:p>
            <a:pPr indent="0" marL="0">
              <a:buNone/>
            </a:pPr>
            <a:r>
              <a:rPr lang="en-US" sz="1250" dirty="0">
                <a:solidFill>
                  <a:srgbClr val="14181D"/>
                </a:solidFill>
                <a:latin typeface="Calibri" pitchFamily="34" charset="0"/>
                <a:ea typeface="Calibri" pitchFamily="34" charset="-122"/>
                <a:cs typeface="Calibri" pitchFamily="34" charset="-120"/>
              </a:rPr>
              <a:t>Revenue per booking</a:t>
            </a:r>
            <a:endParaRPr lang="en-US" sz="1250" dirty="0"/>
          </a:p>
        </p:txBody>
      </p:sp>
      <p:sp>
        <p:nvSpPr>
          <p:cNvPr id="41" name="Shape 39"/>
          <p:cNvSpPr/>
          <p:nvPr/>
        </p:nvSpPr>
        <p:spPr>
          <a:xfrm>
            <a:off x="4967935" y="3968496"/>
            <a:ext cx="2240280" cy="429768"/>
          </a:xfrm>
          <a:prstGeom prst="rect">
            <a:avLst/>
          </a:prstGeom>
          <a:solidFill>
            <a:srgbClr val="FFFFFF"/>
          </a:solidFill>
          <a:ln/>
        </p:spPr>
      </p:sp>
      <p:sp>
        <p:nvSpPr>
          <p:cNvPr id="42" name="Text 40"/>
          <p:cNvSpPr/>
          <p:nvPr/>
        </p:nvSpPr>
        <p:spPr>
          <a:xfrm>
            <a:off x="4967935" y="3968496"/>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₹5L</a:t>
            </a:r>
            <a:endParaRPr lang="en-US" sz="1350" dirty="0"/>
          </a:p>
        </p:txBody>
      </p:sp>
      <p:sp>
        <p:nvSpPr>
          <p:cNvPr id="43" name="Shape 41"/>
          <p:cNvSpPr/>
          <p:nvPr/>
        </p:nvSpPr>
        <p:spPr>
          <a:xfrm>
            <a:off x="7253935" y="3968496"/>
            <a:ext cx="2240280" cy="429768"/>
          </a:xfrm>
          <a:prstGeom prst="rect">
            <a:avLst/>
          </a:prstGeom>
          <a:solidFill>
            <a:srgbClr val="FFFFFF"/>
          </a:solidFill>
          <a:ln/>
        </p:spPr>
      </p:sp>
      <p:sp>
        <p:nvSpPr>
          <p:cNvPr id="44" name="Text 42"/>
          <p:cNvSpPr/>
          <p:nvPr/>
        </p:nvSpPr>
        <p:spPr>
          <a:xfrm>
            <a:off x="7253935" y="3968496"/>
            <a:ext cx="2240280" cy="429768"/>
          </a:xfrm>
          <a:prstGeom prst="rect">
            <a:avLst/>
          </a:prstGeom>
          <a:noFill/>
          <a:ln/>
        </p:spPr>
        <p:txBody>
          <a:bodyPr wrap="square" lIns="0" tIns="0" rIns="0" bIns="0" rtlCol="0" anchor="ctr"/>
          <a:lstStyle/>
          <a:p>
            <a:pPr algn="ctr" indent="0" marL="0">
              <a:buNone/>
            </a:pPr>
            <a:r>
              <a:rPr lang="en-US" sz="1350" b="1" dirty="0">
                <a:solidFill>
                  <a:srgbClr val="14181D"/>
                </a:solidFill>
                <a:latin typeface="Cambria" pitchFamily="34" charset="0"/>
                <a:ea typeface="Cambria" pitchFamily="34" charset="-122"/>
                <a:cs typeface="Cambria" pitchFamily="34" charset="-120"/>
              </a:rPr>
              <a:t>₹5L</a:t>
            </a:r>
            <a:endParaRPr lang="en-US" sz="1350" dirty="0"/>
          </a:p>
        </p:txBody>
      </p:sp>
      <p:sp>
        <p:nvSpPr>
          <p:cNvPr id="45" name="Shape 43"/>
          <p:cNvSpPr/>
          <p:nvPr/>
        </p:nvSpPr>
        <p:spPr>
          <a:xfrm>
            <a:off x="9539935" y="3968496"/>
            <a:ext cx="1874520" cy="429768"/>
          </a:xfrm>
          <a:prstGeom prst="rect">
            <a:avLst/>
          </a:prstGeom>
          <a:solidFill>
            <a:srgbClr val="FFFFFF"/>
          </a:solidFill>
          <a:ln/>
        </p:spPr>
      </p:sp>
      <p:sp>
        <p:nvSpPr>
          <p:cNvPr id="46" name="Text 44"/>
          <p:cNvSpPr/>
          <p:nvPr/>
        </p:nvSpPr>
        <p:spPr>
          <a:xfrm>
            <a:off x="9686239" y="3968496"/>
            <a:ext cx="1581912" cy="429768"/>
          </a:xfrm>
          <a:prstGeom prst="rect">
            <a:avLst/>
          </a:prstGeom>
          <a:noFill/>
          <a:ln/>
        </p:spPr>
        <p:txBody>
          <a:bodyPr wrap="square" lIns="0" tIns="0" rIns="0" bIns="0" rtlCol="0" anchor="ctr"/>
          <a:lstStyle/>
          <a:p>
            <a:pPr indent="0" marL="0">
              <a:buNone/>
            </a:pPr>
            <a:r>
              <a:rPr lang="en-US" sz="1050" dirty="0">
                <a:solidFill>
                  <a:srgbClr val="8A9099"/>
                </a:solidFill>
                <a:latin typeface="Calibri" pitchFamily="34" charset="0"/>
                <a:ea typeface="Calibri" pitchFamily="34" charset="-122"/>
                <a:cs typeface="Calibri" pitchFamily="34" charset="-120"/>
              </a:rPr>
              <a:t>Calculated</a:t>
            </a:r>
            <a:endParaRPr lang="en-US" sz="1050" dirty="0"/>
          </a:p>
        </p:txBody>
      </p:sp>
      <p:sp>
        <p:nvSpPr>
          <p:cNvPr id="47" name="Shape 45"/>
          <p:cNvSpPr/>
          <p:nvPr/>
        </p:nvSpPr>
        <p:spPr>
          <a:xfrm>
            <a:off x="777240" y="4443984"/>
            <a:ext cx="4144975" cy="429768"/>
          </a:xfrm>
          <a:prstGeom prst="rect">
            <a:avLst/>
          </a:prstGeom>
          <a:solidFill>
            <a:srgbClr val="F1F1ED"/>
          </a:solidFill>
          <a:ln/>
        </p:spPr>
      </p:sp>
      <p:sp>
        <p:nvSpPr>
          <p:cNvPr id="48" name="Text 46"/>
          <p:cNvSpPr/>
          <p:nvPr/>
        </p:nvSpPr>
        <p:spPr>
          <a:xfrm>
            <a:off x="1014984" y="4443984"/>
            <a:ext cx="3733495" cy="429768"/>
          </a:xfrm>
          <a:prstGeom prst="rect">
            <a:avLst/>
          </a:prstGeom>
          <a:noFill/>
          <a:ln/>
        </p:spPr>
        <p:txBody>
          <a:bodyPr wrap="square" lIns="0" tIns="0" rIns="0" bIns="0" rtlCol="0" anchor="ctr"/>
          <a:lstStyle/>
          <a:p>
            <a:pPr indent="0" marL="0">
              <a:buNone/>
            </a:pPr>
            <a:r>
              <a:rPr lang="en-US" sz="1250" b="1" dirty="0">
                <a:solidFill>
                  <a:srgbClr val="14181D"/>
                </a:solidFill>
                <a:latin typeface="Calibri" pitchFamily="34" charset="0"/>
                <a:ea typeface="Calibri" pitchFamily="34" charset="-122"/>
                <a:cs typeface="Calibri" pitchFamily="34" charset="-120"/>
              </a:rPr>
              <a:t>Bookings needed to break even</a:t>
            </a:r>
            <a:endParaRPr lang="en-US" sz="1250" dirty="0"/>
          </a:p>
        </p:txBody>
      </p:sp>
      <p:sp>
        <p:nvSpPr>
          <p:cNvPr id="49" name="Shape 47"/>
          <p:cNvSpPr/>
          <p:nvPr/>
        </p:nvSpPr>
        <p:spPr>
          <a:xfrm>
            <a:off x="4967935" y="4443984"/>
            <a:ext cx="2240280" cy="429768"/>
          </a:xfrm>
          <a:prstGeom prst="rect">
            <a:avLst/>
          </a:prstGeom>
          <a:solidFill>
            <a:srgbClr val="F1F1ED"/>
          </a:solidFill>
          <a:ln/>
        </p:spPr>
      </p:sp>
      <p:sp>
        <p:nvSpPr>
          <p:cNvPr id="50" name="Text 48"/>
          <p:cNvSpPr/>
          <p:nvPr/>
        </p:nvSpPr>
        <p:spPr>
          <a:xfrm>
            <a:off x="4967935" y="4443984"/>
            <a:ext cx="2240280" cy="42976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1 in 4 months</a:t>
            </a:r>
            <a:endParaRPr lang="en-US" sz="1350" dirty="0"/>
          </a:p>
        </p:txBody>
      </p:sp>
      <p:sp>
        <p:nvSpPr>
          <p:cNvPr id="51" name="Shape 49"/>
          <p:cNvSpPr/>
          <p:nvPr/>
        </p:nvSpPr>
        <p:spPr>
          <a:xfrm>
            <a:off x="7253935" y="4443984"/>
            <a:ext cx="2240280" cy="429768"/>
          </a:xfrm>
          <a:prstGeom prst="rect">
            <a:avLst/>
          </a:prstGeom>
          <a:solidFill>
            <a:srgbClr val="F1F1ED"/>
          </a:solidFill>
          <a:ln/>
        </p:spPr>
      </p:sp>
      <p:sp>
        <p:nvSpPr>
          <p:cNvPr id="52" name="Text 50"/>
          <p:cNvSpPr/>
          <p:nvPr/>
        </p:nvSpPr>
        <p:spPr>
          <a:xfrm>
            <a:off x="7253935" y="4443984"/>
            <a:ext cx="2240280" cy="42976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1 in 2 months</a:t>
            </a:r>
            <a:endParaRPr lang="en-US" sz="1350" dirty="0"/>
          </a:p>
        </p:txBody>
      </p:sp>
      <p:sp>
        <p:nvSpPr>
          <p:cNvPr id="53" name="Shape 51"/>
          <p:cNvSpPr/>
          <p:nvPr/>
        </p:nvSpPr>
        <p:spPr>
          <a:xfrm>
            <a:off x="9539935" y="4443984"/>
            <a:ext cx="1874520" cy="429768"/>
          </a:xfrm>
          <a:prstGeom prst="rect">
            <a:avLst/>
          </a:prstGeom>
          <a:solidFill>
            <a:srgbClr val="F1F1ED"/>
          </a:solidFill>
          <a:ln/>
        </p:spPr>
      </p:sp>
      <p:sp>
        <p:nvSpPr>
          <p:cNvPr id="54" name="Text 52"/>
          <p:cNvSpPr/>
          <p:nvPr/>
        </p:nvSpPr>
        <p:spPr>
          <a:xfrm>
            <a:off x="9686239" y="4443984"/>
            <a:ext cx="1581912" cy="429768"/>
          </a:xfrm>
          <a:prstGeom prst="rect">
            <a:avLst/>
          </a:prstGeom>
          <a:noFill/>
          <a:ln/>
        </p:spPr>
        <p:txBody>
          <a:bodyPr wrap="square" lIns="0" tIns="0" rIns="0" bIns="0" rtlCol="0" anchor="ctr"/>
          <a:lstStyle/>
          <a:p>
            <a:pPr indent="0" marL="0">
              <a:buNone/>
            </a:pPr>
            <a:r>
              <a:rPr lang="en-US" sz="1050" dirty="0">
                <a:solidFill>
                  <a:srgbClr val="8A9099"/>
                </a:solidFill>
                <a:latin typeface="Calibri" pitchFamily="34" charset="0"/>
                <a:ea typeface="Calibri" pitchFamily="34" charset="-122"/>
                <a:cs typeface="Calibri" pitchFamily="34" charset="-120"/>
              </a:rPr>
              <a:t>Calculated</a:t>
            </a:r>
            <a:endParaRPr lang="en-US" sz="1050" dirty="0"/>
          </a:p>
        </p:txBody>
      </p:sp>
      <p:sp>
        <p:nvSpPr>
          <p:cNvPr id="55" name="Shape 53"/>
          <p:cNvSpPr/>
          <p:nvPr/>
        </p:nvSpPr>
        <p:spPr>
          <a:xfrm>
            <a:off x="777240" y="4919472"/>
            <a:ext cx="4144975" cy="429768"/>
          </a:xfrm>
          <a:prstGeom prst="rect">
            <a:avLst/>
          </a:prstGeom>
          <a:solidFill>
            <a:srgbClr val="F1F1ED"/>
          </a:solidFill>
          <a:ln/>
        </p:spPr>
      </p:sp>
      <p:sp>
        <p:nvSpPr>
          <p:cNvPr id="56" name="Text 54"/>
          <p:cNvSpPr/>
          <p:nvPr/>
        </p:nvSpPr>
        <p:spPr>
          <a:xfrm>
            <a:off x="1014984" y="4919472"/>
            <a:ext cx="3733495" cy="429768"/>
          </a:xfrm>
          <a:prstGeom prst="rect">
            <a:avLst/>
          </a:prstGeom>
          <a:noFill/>
          <a:ln/>
        </p:spPr>
        <p:txBody>
          <a:bodyPr wrap="square" lIns="0" tIns="0" rIns="0" bIns="0" rtlCol="0" anchor="ctr"/>
          <a:lstStyle/>
          <a:p>
            <a:pPr indent="0" marL="0">
              <a:buNone/>
            </a:pPr>
            <a:r>
              <a:rPr lang="en-US" sz="1250" b="1" dirty="0">
                <a:solidFill>
                  <a:srgbClr val="14181D"/>
                </a:solidFill>
                <a:latin typeface="Calibri" pitchFamily="34" charset="0"/>
                <a:ea typeface="Calibri" pitchFamily="34" charset="-122"/>
                <a:cs typeface="Calibri" pitchFamily="34" charset="-120"/>
              </a:rPr>
              <a:t>Return at 1 booking a month</a:t>
            </a:r>
            <a:endParaRPr lang="en-US" sz="1250" dirty="0"/>
          </a:p>
        </p:txBody>
      </p:sp>
      <p:sp>
        <p:nvSpPr>
          <p:cNvPr id="57" name="Shape 55"/>
          <p:cNvSpPr/>
          <p:nvPr/>
        </p:nvSpPr>
        <p:spPr>
          <a:xfrm>
            <a:off x="4967935" y="4919472"/>
            <a:ext cx="2240280" cy="429768"/>
          </a:xfrm>
          <a:prstGeom prst="rect">
            <a:avLst/>
          </a:prstGeom>
          <a:solidFill>
            <a:srgbClr val="F1F1ED"/>
          </a:solidFill>
          <a:ln/>
        </p:spPr>
      </p:sp>
      <p:sp>
        <p:nvSpPr>
          <p:cNvPr id="58" name="Text 56"/>
          <p:cNvSpPr/>
          <p:nvPr/>
        </p:nvSpPr>
        <p:spPr>
          <a:xfrm>
            <a:off x="4967935" y="4919472"/>
            <a:ext cx="2240280" cy="42976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4.2×</a:t>
            </a:r>
            <a:endParaRPr lang="en-US" sz="1350" dirty="0"/>
          </a:p>
        </p:txBody>
      </p:sp>
      <p:sp>
        <p:nvSpPr>
          <p:cNvPr id="59" name="Shape 57"/>
          <p:cNvSpPr/>
          <p:nvPr/>
        </p:nvSpPr>
        <p:spPr>
          <a:xfrm>
            <a:off x="7253935" y="4919472"/>
            <a:ext cx="2240280" cy="429768"/>
          </a:xfrm>
          <a:prstGeom prst="rect">
            <a:avLst/>
          </a:prstGeom>
          <a:solidFill>
            <a:srgbClr val="F1F1ED"/>
          </a:solidFill>
          <a:ln/>
        </p:spPr>
      </p:sp>
      <p:sp>
        <p:nvSpPr>
          <p:cNvPr id="60" name="Text 58"/>
          <p:cNvSpPr/>
          <p:nvPr/>
        </p:nvSpPr>
        <p:spPr>
          <a:xfrm>
            <a:off x="7253935" y="4919472"/>
            <a:ext cx="2240280" cy="42976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2.0×</a:t>
            </a:r>
            <a:endParaRPr lang="en-US" sz="1350" dirty="0"/>
          </a:p>
        </p:txBody>
      </p:sp>
      <p:sp>
        <p:nvSpPr>
          <p:cNvPr id="61" name="Shape 59"/>
          <p:cNvSpPr/>
          <p:nvPr/>
        </p:nvSpPr>
        <p:spPr>
          <a:xfrm>
            <a:off x="9539935" y="4919472"/>
            <a:ext cx="1874520" cy="429768"/>
          </a:xfrm>
          <a:prstGeom prst="rect">
            <a:avLst/>
          </a:prstGeom>
          <a:solidFill>
            <a:srgbClr val="F1F1ED"/>
          </a:solidFill>
          <a:ln/>
        </p:spPr>
      </p:sp>
      <p:sp>
        <p:nvSpPr>
          <p:cNvPr id="62" name="Text 60"/>
          <p:cNvSpPr/>
          <p:nvPr/>
        </p:nvSpPr>
        <p:spPr>
          <a:xfrm>
            <a:off x="9686239" y="4919472"/>
            <a:ext cx="1581912" cy="429768"/>
          </a:xfrm>
          <a:prstGeom prst="rect">
            <a:avLst/>
          </a:prstGeom>
          <a:noFill/>
          <a:ln/>
        </p:spPr>
        <p:txBody>
          <a:bodyPr wrap="square" lIns="0" tIns="0" rIns="0" bIns="0" rtlCol="0" anchor="ctr"/>
          <a:lstStyle/>
          <a:p>
            <a:pPr indent="0" marL="0">
              <a:buNone/>
            </a:pPr>
            <a:r>
              <a:rPr lang="en-US" sz="1050" dirty="0">
                <a:solidFill>
                  <a:srgbClr val="8A9099"/>
                </a:solidFill>
                <a:latin typeface="Calibri" pitchFamily="34" charset="0"/>
                <a:ea typeface="Calibri" pitchFamily="34" charset="-122"/>
                <a:cs typeface="Calibri" pitchFamily="34" charset="-120"/>
              </a:rPr>
              <a:t>Calculated</a:t>
            </a:r>
            <a:endParaRPr lang="en-US" sz="1050" dirty="0"/>
          </a:p>
        </p:txBody>
      </p:sp>
      <p:sp>
        <p:nvSpPr>
          <p:cNvPr id="63" name="Shape 61"/>
          <p:cNvSpPr/>
          <p:nvPr/>
        </p:nvSpPr>
        <p:spPr>
          <a:xfrm>
            <a:off x="777240" y="5394960"/>
            <a:ext cx="4144975" cy="429768"/>
          </a:xfrm>
          <a:prstGeom prst="rect">
            <a:avLst/>
          </a:prstGeom>
          <a:solidFill>
            <a:srgbClr val="F1F1ED"/>
          </a:solidFill>
          <a:ln/>
        </p:spPr>
      </p:sp>
      <p:sp>
        <p:nvSpPr>
          <p:cNvPr id="64" name="Text 62"/>
          <p:cNvSpPr/>
          <p:nvPr/>
        </p:nvSpPr>
        <p:spPr>
          <a:xfrm>
            <a:off x="1014984" y="5394960"/>
            <a:ext cx="3733495" cy="429768"/>
          </a:xfrm>
          <a:prstGeom prst="rect">
            <a:avLst/>
          </a:prstGeom>
          <a:noFill/>
          <a:ln/>
        </p:spPr>
        <p:txBody>
          <a:bodyPr wrap="square" lIns="0" tIns="0" rIns="0" bIns="0" rtlCol="0" anchor="ctr"/>
          <a:lstStyle/>
          <a:p>
            <a:pPr indent="0" marL="0">
              <a:buNone/>
            </a:pPr>
            <a:r>
              <a:rPr lang="en-US" sz="1250" b="1" dirty="0">
                <a:solidFill>
                  <a:srgbClr val="14181D"/>
                </a:solidFill>
                <a:latin typeface="Calibri" pitchFamily="34" charset="0"/>
                <a:ea typeface="Calibri" pitchFamily="34" charset="-122"/>
                <a:cs typeface="Calibri" pitchFamily="34" charset="-120"/>
              </a:rPr>
              <a:t>Return at 2 bookings a month</a:t>
            </a:r>
            <a:endParaRPr lang="en-US" sz="1250" dirty="0"/>
          </a:p>
        </p:txBody>
      </p:sp>
      <p:sp>
        <p:nvSpPr>
          <p:cNvPr id="65" name="Shape 63"/>
          <p:cNvSpPr/>
          <p:nvPr/>
        </p:nvSpPr>
        <p:spPr>
          <a:xfrm>
            <a:off x="4967935" y="5394960"/>
            <a:ext cx="2240280" cy="429768"/>
          </a:xfrm>
          <a:prstGeom prst="rect">
            <a:avLst/>
          </a:prstGeom>
          <a:solidFill>
            <a:srgbClr val="F1F1ED"/>
          </a:solidFill>
          <a:ln/>
        </p:spPr>
      </p:sp>
      <p:sp>
        <p:nvSpPr>
          <p:cNvPr id="66" name="Text 64"/>
          <p:cNvSpPr/>
          <p:nvPr/>
        </p:nvSpPr>
        <p:spPr>
          <a:xfrm>
            <a:off x="4967935" y="5394960"/>
            <a:ext cx="2240280" cy="42976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8.3×</a:t>
            </a:r>
            <a:endParaRPr lang="en-US" sz="1350" dirty="0"/>
          </a:p>
        </p:txBody>
      </p:sp>
      <p:sp>
        <p:nvSpPr>
          <p:cNvPr id="67" name="Shape 65"/>
          <p:cNvSpPr/>
          <p:nvPr/>
        </p:nvSpPr>
        <p:spPr>
          <a:xfrm>
            <a:off x="7253935" y="5394960"/>
            <a:ext cx="2240280" cy="429768"/>
          </a:xfrm>
          <a:prstGeom prst="rect">
            <a:avLst/>
          </a:prstGeom>
          <a:solidFill>
            <a:srgbClr val="F1F1ED"/>
          </a:solidFill>
          <a:ln/>
        </p:spPr>
      </p:sp>
      <p:sp>
        <p:nvSpPr>
          <p:cNvPr id="68" name="Text 66"/>
          <p:cNvSpPr/>
          <p:nvPr/>
        </p:nvSpPr>
        <p:spPr>
          <a:xfrm>
            <a:off x="7253935" y="5394960"/>
            <a:ext cx="2240280" cy="429768"/>
          </a:xfrm>
          <a:prstGeom prst="rect">
            <a:avLst/>
          </a:prstGeom>
          <a:noFill/>
          <a:ln/>
        </p:spPr>
        <p:txBody>
          <a:bodyPr wrap="square" lIns="0" tIns="0" rIns="0" bIns="0" rtlCol="0" anchor="ctr"/>
          <a:lstStyle/>
          <a:p>
            <a:pPr algn="ctr" indent="0" marL="0">
              <a:buNone/>
            </a:pPr>
            <a:r>
              <a:rPr lang="en-US" sz="1350" b="1" dirty="0">
                <a:solidFill>
                  <a:srgbClr val="2E7150"/>
                </a:solidFill>
                <a:latin typeface="Cambria" pitchFamily="34" charset="0"/>
                <a:ea typeface="Cambria" pitchFamily="34" charset="-122"/>
                <a:cs typeface="Cambria" pitchFamily="34" charset="-120"/>
              </a:rPr>
              <a:t>4.0×</a:t>
            </a:r>
            <a:endParaRPr lang="en-US" sz="1350" dirty="0"/>
          </a:p>
        </p:txBody>
      </p:sp>
      <p:sp>
        <p:nvSpPr>
          <p:cNvPr id="69" name="Shape 67"/>
          <p:cNvSpPr/>
          <p:nvPr/>
        </p:nvSpPr>
        <p:spPr>
          <a:xfrm>
            <a:off x="9539935" y="5394960"/>
            <a:ext cx="1874520" cy="429768"/>
          </a:xfrm>
          <a:prstGeom prst="rect">
            <a:avLst/>
          </a:prstGeom>
          <a:solidFill>
            <a:srgbClr val="F1F1ED"/>
          </a:solidFill>
          <a:ln/>
        </p:spPr>
      </p:sp>
      <p:sp>
        <p:nvSpPr>
          <p:cNvPr id="70" name="Text 68"/>
          <p:cNvSpPr/>
          <p:nvPr/>
        </p:nvSpPr>
        <p:spPr>
          <a:xfrm>
            <a:off x="9686239" y="5394960"/>
            <a:ext cx="1581912" cy="429768"/>
          </a:xfrm>
          <a:prstGeom prst="rect">
            <a:avLst/>
          </a:prstGeom>
          <a:noFill/>
          <a:ln/>
        </p:spPr>
        <p:txBody>
          <a:bodyPr wrap="square" lIns="0" tIns="0" rIns="0" bIns="0" rtlCol="0" anchor="ctr"/>
          <a:lstStyle/>
          <a:p>
            <a:pPr indent="0" marL="0">
              <a:buNone/>
            </a:pPr>
            <a:r>
              <a:rPr lang="en-US" sz="1050" dirty="0">
                <a:solidFill>
                  <a:srgbClr val="8A9099"/>
                </a:solidFill>
                <a:latin typeface="Calibri" pitchFamily="34" charset="0"/>
                <a:ea typeface="Calibri" pitchFamily="34" charset="-122"/>
                <a:cs typeface="Calibri" pitchFamily="34" charset="-120"/>
              </a:rPr>
              <a:t>Calculated</a:t>
            </a:r>
            <a:endParaRPr lang="en-US" sz="1050" dirty="0"/>
          </a:p>
        </p:txBody>
      </p:sp>
      <p:sp>
        <p:nvSpPr>
          <p:cNvPr id="71" name="Text 69"/>
          <p:cNvSpPr/>
          <p:nvPr/>
        </p:nvSpPr>
        <p:spPr>
          <a:xfrm>
            <a:off x="777240" y="6016752"/>
            <a:ext cx="10637215" cy="731520"/>
          </a:xfrm>
          <a:prstGeom prst="rect">
            <a:avLst/>
          </a:prstGeom>
          <a:noFill/>
          <a:ln/>
        </p:spPr>
        <p:txBody>
          <a:bodyPr wrap="square" lIns="0" tIns="0" rIns="0" bIns="0" rtlCol="0" anchor="ctr"/>
          <a:lstStyle/>
          <a:p>
            <a:pPr indent="0" marL="0">
              <a:lnSpc>
                <a:spcPts val="1800"/>
              </a:lnSpc>
              <a:buNone/>
            </a:pPr>
            <a:r>
              <a:rPr lang="en-US" sz="1250" i="1" dirty="0">
                <a:solidFill>
                  <a:srgbClr val="8A9099"/>
                </a:solidFill>
                <a:latin typeface="Calibri" pitchFamily="34" charset="0"/>
                <a:ea typeface="Calibri" pitchFamily="34" charset="-122"/>
                <a:cs typeface="Calibri" pitchFamily="34" charset="-120"/>
              </a:rPr>
              <a:t>The two amber rows are ours. Give us your real unit value and commission and this table updates in front of you — it's the only part of the plan we're guessing at. Note too that commission pays on registration, so cash lands three to six months behind the spend.</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2057400"/>
            <a:ext cx="1097280" cy="365760"/>
          </a:xfrm>
          <a:prstGeom prst="rect">
            <a:avLst/>
          </a:prstGeom>
          <a:noFill/>
          <a:ln/>
        </p:spPr>
        <p:txBody>
          <a:bodyPr wrap="square" lIns="0" tIns="0" rIns="0" bIns="0" rtlCol="0" anchor="ctr"/>
          <a:lstStyle/>
          <a:p>
            <a:pPr indent="0" marL="0">
              <a:buNone/>
            </a:pPr>
            <a:r>
              <a:rPr lang="en-US" sz="1100" b="1" spc="260" kern="0" dirty="0">
                <a:solidFill>
                  <a:srgbClr val="D9B061"/>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777240" y="2514600"/>
            <a:ext cx="9601200" cy="1188720"/>
          </a:xfrm>
          <a:prstGeom prst="rect">
            <a:avLst/>
          </a:prstGeom>
          <a:noFill/>
          <a:ln/>
        </p:spPr>
        <p:txBody>
          <a:bodyPr wrap="square" lIns="0" tIns="0" rIns="0" bIns="0" rtlCol="0" anchor="ctr"/>
          <a:lstStyle/>
          <a:p>
            <a:pPr indent="0" marL="0">
              <a:buNone/>
            </a:pPr>
            <a:r>
              <a:rPr lang="en-US" sz="5400" b="1" spc="-140" kern="0" dirty="0">
                <a:solidFill>
                  <a:srgbClr val="FFFFFF"/>
                </a:solidFill>
                <a:latin typeface="Cambria" pitchFamily="34" charset="0"/>
                <a:ea typeface="Cambria" pitchFamily="34" charset="-122"/>
                <a:cs typeface="Cambria" pitchFamily="34" charset="-120"/>
              </a:rPr>
              <a:t>The first 90 days</a:t>
            </a:r>
            <a:endParaRPr lang="en-US" sz="5400" dirty="0"/>
          </a:p>
        </p:txBody>
      </p:sp>
      <p:sp>
        <p:nvSpPr>
          <p:cNvPr id="4" name="Text 2"/>
          <p:cNvSpPr/>
          <p:nvPr/>
        </p:nvSpPr>
        <p:spPr>
          <a:xfrm>
            <a:off x="777240" y="3886200"/>
            <a:ext cx="8686800" cy="548640"/>
          </a:xfrm>
          <a:prstGeom prst="rect">
            <a:avLst/>
          </a:prstGeom>
          <a:noFill/>
          <a:ln/>
        </p:spPr>
        <p:txBody>
          <a:bodyPr wrap="square" lIns="0" tIns="0" rIns="0" bIns="0" rtlCol="0" anchor="ctr"/>
          <a:lstStyle/>
          <a:p>
            <a:pPr indent="0" marL="0">
              <a:buNone/>
            </a:pPr>
            <a:r>
              <a:rPr lang="en-US" sz="1750" dirty="0">
                <a:solidFill>
                  <a:srgbClr val="B6BEC7"/>
                </a:solidFill>
                <a:latin typeface="Calibri" pitchFamily="34" charset="0"/>
                <a:ea typeface="Calibri" pitchFamily="34" charset="-122"/>
                <a:cs typeface="Calibri" pitchFamily="34" charset="-120"/>
              </a:rPr>
              <a:t>One project — Neopolis — used to build and prove the whole system.</a:t>
            </a:r>
            <a:endParaRPr lang="en-US" sz="1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Days 1–30  ·  Foundation</a:t>
            </a:r>
            <a:endParaRPr lang="en-US" sz="3800" dirty="0"/>
          </a:p>
        </p:txBody>
      </p:sp>
      <p:sp>
        <p:nvSpPr>
          <p:cNvPr id="4" name="Text 2"/>
          <p:cNvSpPr/>
          <p:nvPr/>
        </p:nvSpPr>
        <p:spPr>
          <a:xfrm>
            <a:off x="777240" y="1536192"/>
            <a:ext cx="10637215" cy="438912"/>
          </a:xfrm>
          <a:prstGeom prst="rect">
            <a:avLst/>
          </a:prstGeom>
          <a:noFill/>
          <a:ln/>
        </p:spPr>
        <p:txBody>
          <a:bodyPr wrap="square" lIns="0" tIns="0" rIns="0" bIns="0" rtlCol="0" anchor="ctr"/>
          <a:lstStyle/>
          <a:p>
            <a:pPr indent="0" marL="0">
              <a:buNone/>
            </a:pPr>
            <a:r>
              <a:rPr lang="en-US" sz="2000" b="1" dirty="0">
                <a:solidFill>
                  <a:srgbClr val="9A7A25"/>
                </a:solidFill>
                <a:latin typeface="Cambria" pitchFamily="34" charset="0"/>
                <a:ea typeface="Cambria" pitchFamily="34" charset="-122"/>
                <a:cs typeface="Cambria" pitchFamily="34" charset="-120"/>
              </a:rPr>
              <a:t>Identity, plumbing, first content</a:t>
            </a:r>
            <a:endParaRPr lang="en-US" sz="2000" dirty="0"/>
          </a:p>
        </p:txBody>
      </p:sp>
      <p:sp>
        <p:nvSpPr>
          <p:cNvPr id="5" name="Shape 3"/>
          <p:cNvSpPr/>
          <p:nvPr/>
        </p:nvSpPr>
        <p:spPr>
          <a:xfrm>
            <a:off x="777240" y="2139696"/>
            <a:ext cx="10637215" cy="512064"/>
          </a:xfrm>
          <a:prstGeom prst="rect">
            <a:avLst/>
          </a:prstGeom>
          <a:solidFill>
            <a:srgbClr val="FFFFFF"/>
          </a:solidFill>
          <a:ln/>
        </p:spPr>
      </p:sp>
      <p:sp>
        <p:nvSpPr>
          <p:cNvPr id="6" name="Shape 4"/>
          <p:cNvSpPr/>
          <p:nvPr/>
        </p:nvSpPr>
        <p:spPr>
          <a:xfrm>
            <a:off x="1069848" y="2336292"/>
            <a:ext cx="118872" cy="118872"/>
          </a:xfrm>
          <a:prstGeom prst="ellipse">
            <a:avLst/>
          </a:prstGeom>
          <a:solidFill>
            <a:srgbClr val="9A7A25"/>
          </a:solidFill>
          <a:ln/>
        </p:spPr>
      </p:sp>
      <p:sp>
        <p:nvSpPr>
          <p:cNvPr id="7" name="Text 5"/>
          <p:cNvSpPr/>
          <p:nvPr/>
        </p:nvSpPr>
        <p:spPr>
          <a:xfrm>
            <a:off x="1399032" y="2139696"/>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OTHO brand applied properly — logo, templates, tone; the Propertunity change completed everywhere</a:t>
            </a:r>
            <a:endParaRPr lang="en-US" sz="1350" dirty="0"/>
          </a:p>
        </p:txBody>
      </p:sp>
      <p:sp>
        <p:nvSpPr>
          <p:cNvPr id="8" name="Shape 6"/>
          <p:cNvSpPr/>
          <p:nvPr/>
        </p:nvSpPr>
        <p:spPr>
          <a:xfrm>
            <a:off x="777240" y="2697480"/>
            <a:ext cx="10637215" cy="512064"/>
          </a:xfrm>
          <a:prstGeom prst="rect">
            <a:avLst/>
          </a:prstGeom>
          <a:solidFill>
            <a:srgbClr val="FFFFFF"/>
          </a:solidFill>
          <a:ln/>
        </p:spPr>
      </p:sp>
      <p:sp>
        <p:nvSpPr>
          <p:cNvPr id="9" name="Shape 7"/>
          <p:cNvSpPr/>
          <p:nvPr/>
        </p:nvSpPr>
        <p:spPr>
          <a:xfrm>
            <a:off x="1069848" y="2894076"/>
            <a:ext cx="118872" cy="118872"/>
          </a:xfrm>
          <a:prstGeom prst="ellipse">
            <a:avLst/>
          </a:prstGeom>
          <a:solidFill>
            <a:srgbClr val="9A7A25"/>
          </a:solidFill>
          <a:ln/>
        </p:spPr>
      </p:sp>
      <p:sp>
        <p:nvSpPr>
          <p:cNvPr id="10" name="Text 8"/>
          <p:cNvSpPr/>
          <p:nvPr/>
        </p:nvSpPr>
        <p:spPr>
          <a:xfrm>
            <a:off x="1399032" y="2697480"/>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Hosting, analytics and CRM live on the domain you've secured, with routing and a response clock</a:t>
            </a:r>
            <a:endParaRPr lang="en-US" sz="1350" dirty="0"/>
          </a:p>
        </p:txBody>
      </p:sp>
      <p:sp>
        <p:nvSpPr>
          <p:cNvPr id="11" name="Shape 9"/>
          <p:cNvSpPr/>
          <p:nvPr/>
        </p:nvSpPr>
        <p:spPr>
          <a:xfrm>
            <a:off x="777240" y="3255264"/>
            <a:ext cx="10637215" cy="512064"/>
          </a:xfrm>
          <a:prstGeom prst="rect">
            <a:avLst/>
          </a:prstGeom>
          <a:solidFill>
            <a:srgbClr val="FFFFFF"/>
          </a:solidFill>
          <a:ln/>
        </p:spPr>
      </p:sp>
      <p:sp>
        <p:nvSpPr>
          <p:cNvPr id="12" name="Shape 10"/>
          <p:cNvSpPr/>
          <p:nvPr/>
        </p:nvSpPr>
        <p:spPr>
          <a:xfrm>
            <a:off x="1069848" y="3451860"/>
            <a:ext cx="118872" cy="118872"/>
          </a:xfrm>
          <a:prstGeom prst="ellipse">
            <a:avLst/>
          </a:prstGeom>
          <a:solidFill>
            <a:srgbClr val="9A7A25"/>
          </a:solidFill>
          <a:ln/>
        </p:spPr>
      </p:sp>
      <p:sp>
        <p:nvSpPr>
          <p:cNvPr id="13" name="Text 11"/>
          <p:cNvSpPr/>
          <p:nvPr/>
        </p:nvSpPr>
        <p:spPr>
          <a:xfrm>
            <a:off x="1399032" y="3255264"/>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The social accounts you've created completed and activated — bios, links, first posts</a:t>
            </a:r>
            <a:endParaRPr lang="en-US" sz="1350" dirty="0"/>
          </a:p>
        </p:txBody>
      </p:sp>
      <p:sp>
        <p:nvSpPr>
          <p:cNvPr id="14" name="Shape 12"/>
          <p:cNvSpPr/>
          <p:nvPr/>
        </p:nvSpPr>
        <p:spPr>
          <a:xfrm>
            <a:off x="777240" y="3813048"/>
            <a:ext cx="10637215" cy="512064"/>
          </a:xfrm>
          <a:prstGeom prst="rect">
            <a:avLst/>
          </a:prstGeom>
          <a:solidFill>
            <a:srgbClr val="FFFFFF"/>
          </a:solidFill>
          <a:ln/>
        </p:spPr>
      </p:sp>
      <p:sp>
        <p:nvSpPr>
          <p:cNvPr id="15" name="Shape 13"/>
          <p:cNvSpPr/>
          <p:nvPr/>
        </p:nvSpPr>
        <p:spPr>
          <a:xfrm>
            <a:off x="1069848" y="4009644"/>
            <a:ext cx="118872" cy="118872"/>
          </a:xfrm>
          <a:prstGeom prst="ellipse">
            <a:avLst/>
          </a:prstGeom>
          <a:solidFill>
            <a:srgbClr val="9A7A25"/>
          </a:solidFill>
          <a:ln/>
        </p:spPr>
      </p:sp>
      <p:sp>
        <p:nvSpPr>
          <p:cNvPr id="16" name="Text 14"/>
          <p:cNvSpPr/>
          <p:nvPr/>
        </p:nvSpPr>
        <p:spPr>
          <a:xfrm>
            <a:off x="1399032" y="3813048"/>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Website design signed off; comparison engine specified</a:t>
            </a:r>
            <a:endParaRPr lang="en-US" sz="1350" dirty="0"/>
          </a:p>
        </p:txBody>
      </p:sp>
      <p:sp>
        <p:nvSpPr>
          <p:cNvPr id="17" name="Shape 15"/>
          <p:cNvSpPr/>
          <p:nvPr/>
        </p:nvSpPr>
        <p:spPr>
          <a:xfrm>
            <a:off x="777240" y="4370832"/>
            <a:ext cx="10637215" cy="512064"/>
          </a:xfrm>
          <a:prstGeom prst="rect">
            <a:avLst/>
          </a:prstGeom>
          <a:solidFill>
            <a:srgbClr val="FFFFFF"/>
          </a:solidFill>
          <a:ln/>
        </p:spPr>
      </p:sp>
      <p:sp>
        <p:nvSpPr>
          <p:cNvPr id="18" name="Shape 16"/>
          <p:cNvSpPr/>
          <p:nvPr/>
        </p:nvSpPr>
        <p:spPr>
          <a:xfrm>
            <a:off x="1069848" y="4567428"/>
            <a:ext cx="118872" cy="118872"/>
          </a:xfrm>
          <a:prstGeom prst="ellipse">
            <a:avLst/>
          </a:prstGeom>
          <a:solidFill>
            <a:srgbClr val="9A7A25"/>
          </a:solidFill>
          <a:ln/>
        </p:spPr>
      </p:sp>
      <p:sp>
        <p:nvSpPr>
          <p:cNvPr id="19" name="Text 17"/>
          <p:cNvSpPr/>
          <p:nvPr/>
        </p:nvSpPr>
        <p:spPr>
          <a:xfrm>
            <a:off x="1399032" y="4370832"/>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Sit with sales: what buyers ask, where they walk away</a:t>
            </a:r>
            <a:endParaRPr lang="en-US" sz="1350" dirty="0"/>
          </a:p>
        </p:txBody>
      </p:sp>
      <p:sp>
        <p:nvSpPr>
          <p:cNvPr id="20" name="Shape 18"/>
          <p:cNvSpPr/>
          <p:nvPr/>
        </p:nvSpPr>
        <p:spPr>
          <a:xfrm>
            <a:off x="777240" y="4928616"/>
            <a:ext cx="10637215" cy="512064"/>
          </a:xfrm>
          <a:prstGeom prst="rect">
            <a:avLst/>
          </a:prstGeom>
          <a:solidFill>
            <a:srgbClr val="FFFFFF"/>
          </a:solidFill>
          <a:ln/>
        </p:spPr>
      </p:sp>
      <p:sp>
        <p:nvSpPr>
          <p:cNvPr id="21" name="Shape 19"/>
          <p:cNvSpPr/>
          <p:nvPr/>
        </p:nvSpPr>
        <p:spPr>
          <a:xfrm>
            <a:off x="1069848" y="5125212"/>
            <a:ext cx="118872" cy="118872"/>
          </a:xfrm>
          <a:prstGeom prst="ellipse">
            <a:avLst/>
          </a:prstGeom>
          <a:solidFill>
            <a:srgbClr val="9A7A25"/>
          </a:solidFill>
          <a:ln/>
        </p:spPr>
      </p:sp>
      <p:sp>
        <p:nvSpPr>
          <p:cNvPr id="22" name="Text 20"/>
          <p:cNvSpPr/>
          <p:nvPr/>
        </p:nvSpPr>
        <p:spPr>
          <a:xfrm>
            <a:off x="1399032" y="4928616"/>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First studio day — two podcast episodes, founder pieces to camera</a:t>
            </a:r>
            <a:endParaRPr lang="en-US" sz="1350" dirty="0"/>
          </a:p>
        </p:txBody>
      </p:sp>
      <p:sp>
        <p:nvSpPr>
          <p:cNvPr id="23" name="Shape 21"/>
          <p:cNvSpPr/>
          <p:nvPr/>
        </p:nvSpPr>
        <p:spPr>
          <a:xfrm>
            <a:off x="777240" y="5577840"/>
            <a:ext cx="10637215" cy="658368"/>
          </a:xfrm>
          <a:prstGeom prst="rect">
            <a:avLst/>
          </a:prstGeom>
          <a:solidFill>
            <a:srgbClr val="14181D"/>
          </a:solidFill>
          <a:ln/>
        </p:spPr>
      </p:sp>
      <p:sp>
        <p:nvSpPr>
          <p:cNvPr id="24" name="Text 22"/>
          <p:cNvSpPr/>
          <p:nvPr/>
        </p:nvSpPr>
        <p:spPr>
          <a:xfrm>
            <a:off x="1069848" y="5577840"/>
            <a:ext cx="2194560" cy="658368"/>
          </a:xfrm>
          <a:prstGeom prst="rect">
            <a:avLst/>
          </a:prstGeom>
          <a:noFill/>
          <a:ln/>
        </p:spPr>
        <p:txBody>
          <a:bodyPr wrap="square" lIns="0" tIns="0" rIns="0" bIns="0" rtlCol="0" anchor="ctr"/>
          <a:lstStyle/>
          <a:p>
            <a:pPr indent="0" marL="0">
              <a:buNone/>
            </a:pPr>
            <a:r>
              <a:rPr lang="en-US" sz="900" b="1" spc="160" kern="0" dirty="0">
                <a:solidFill>
                  <a:srgbClr val="D9B061"/>
                </a:solidFill>
                <a:latin typeface="Calibri" pitchFamily="34" charset="0"/>
                <a:ea typeface="Calibri" pitchFamily="34" charset="-122"/>
                <a:cs typeface="Calibri" pitchFamily="34" charset="-120"/>
              </a:rPr>
              <a:t>END OF MONTH 1</a:t>
            </a:r>
            <a:endParaRPr lang="en-US" sz="900" dirty="0"/>
          </a:p>
        </p:txBody>
      </p:sp>
      <p:sp>
        <p:nvSpPr>
          <p:cNvPr id="25" name="Text 23"/>
          <p:cNvSpPr/>
          <p:nvPr/>
        </p:nvSpPr>
        <p:spPr>
          <a:xfrm>
            <a:off x="3520440" y="5577840"/>
            <a:ext cx="7619695" cy="65836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OTHO exists online, CRM works, two episodes in hand</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Days 31–60  ·  Launch</a:t>
            </a:r>
            <a:endParaRPr lang="en-US" sz="3800" dirty="0"/>
          </a:p>
        </p:txBody>
      </p:sp>
      <p:sp>
        <p:nvSpPr>
          <p:cNvPr id="4" name="Text 2"/>
          <p:cNvSpPr/>
          <p:nvPr/>
        </p:nvSpPr>
        <p:spPr>
          <a:xfrm>
            <a:off x="777240" y="1536192"/>
            <a:ext cx="10637215" cy="438912"/>
          </a:xfrm>
          <a:prstGeom prst="rect">
            <a:avLst/>
          </a:prstGeom>
          <a:noFill/>
          <a:ln/>
        </p:spPr>
        <p:txBody>
          <a:bodyPr wrap="square" lIns="0" tIns="0" rIns="0" bIns="0" rtlCol="0" anchor="ctr"/>
          <a:lstStyle/>
          <a:p>
            <a:pPr indent="0" marL="0">
              <a:buNone/>
            </a:pPr>
            <a:r>
              <a:rPr lang="en-US" sz="2000" b="1" dirty="0">
                <a:solidFill>
                  <a:srgbClr val="9A7A25"/>
                </a:solidFill>
                <a:latin typeface="Cambria" pitchFamily="34" charset="0"/>
                <a:ea typeface="Cambria" pitchFamily="34" charset="-122"/>
                <a:cs typeface="Cambria" pitchFamily="34" charset="-120"/>
              </a:rPr>
              <a:t>Website live, publishing starts</a:t>
            </a:r>
            <a:endParaRPr lang="en-US" sz="2000" dirty="0"/>
          </a:p>
        </p:txBody>
      </p:sp>
      <p:sp>
        <p:nvSpPr>
          <p:cNvPr id="5" name="Shape 3"/>
          <p:cNvSpPr/>
          <p:nvPr/>
        </p:nvSpPr>
        <p:spPr>
          <a:xfrm>
            <a:off x="777240" y="2139696"/>
            <a:ext cx="10637215" cy="512064"/>
          </a:xfrm>
          <a:prstGeom prst="rect">
            <a:avLst/>
          </a:prstGeom>
          <a:solidFill>
            <a:srgbClr val="FFFFFF"/>
          </a:solidFill>
          <a:ln/>
        </p:spPr>
      </p:sp>
      <p:sp>
        <p:nvSpPr>
          <p:cNvPr id="6" name="Shape 4"/>
          <p:cNvSpPr/>
          <p:nvPr/>
        </p:nvSpPr>
        <p:spPr>
          <a:xfrm>
            <a:off x="1069848" y="2336292"/>
            <a:ext cx="118872" cy="118872"/>
          </a:xfrm>
          <a:prstGeom prst="ellipse">
            <a:avLst/>
          </a:prstGeom>
          <a:solidFill>
            <a:srgbClr val="9A7A25"/>
          </a:solidFill>
          <a:ln/>
        </p:spPr>
      </p:sp>
      <p:sp>
        <p:nvSpPr>
          <p:cNvPr id="7" name="Text 5"/>
          <p:cNvSpPr/>
          <p:nvPr/>
        </p:nvSpPr>
        <p:spPr>
          <a:xfrm>
            <a:off x="1399032" y="2139696"/>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Website live — Neopolis project page, comparison engine, real rate calculator, guides, visit booking</a:t>
            </a:r>
            <a:endParaRPr lang="en-US" sz="1350" dirty="0"/>
          </a:p>
        </p:txBody>
      </p:sp>
      <p:sp>
        <p:nvSpPr>
          <p:cNvPr id="8" name="Shape 6"/>
          <p:cNvSpPr/>
          <p:nvPr/>
        </p:nvSpPr>
        <p:spPr>
          <a:xfrm>
            <a:off x="777240" y="2697480"/>
            <a:ext cx="10637215" cy="512064"/>
          </a:xfrm>
          <a:prstGeom prst="rect">
            <a:avLst/>
          </a:prstGeom>
          <a:solidFill>
            <a:srgbClr val="FFFFFF"/>
          </a:solidFill>
          <a:ln/>
        </p:spPr>
      </p:sp>
      <p:sp>
        <p:nvSpPr>
          <p:cNvPr id="9" name="Shape 7"/>
          <p:cNvSpPr/>
          <p:nvPr/>
        </p:nvSpPr>
        <p:spPr>
          <a:xfrm>
            <a:off x="1069848" y="2894076"/>
            <a:ext cx="118872" cy="118872"/>
          </a:xfrm>
          <a:prstGeom prst="ellipse">
            <a:avLst/>
          </a:prstGeom>
          <a:solidFill>
            <a:srgbClr val="9A7A25"/>
          </a:solidFill>
          <a:ln/>
        </p:spPr>
      </p:sp>
      <p:sp>
        <p:nvSpPr>
          <p:cNvPr id="10" name="Text 8"/>
          <p:cNvSpPr/>
          <p:nvPr/>
        </p:nvSpPr>
        <p:spPr>
          <a:xfrm>
            <a:off x="1399032" y="2697480"/>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Podcast launches, fortnightly from here</a:t>
            </a:r>
            <a:endParaRPr lang="en-US" sz="1350" dirty="0"/>
          </a:p>
        </p:txBody>
      </p:sp>
      <p:sp>
        <p:nvSpPr>
          <p:cNvPr id="11" name="Shape 9"/>
          <p:cNvSpPr/>
          <p:nvPr/>
        </p:nvSpPr>
        <p:spPr>
          <a:xfrm>
            <a:off x="777240" y="3255264"/>
            <a:ext cx="10637215" cy="512064"/>
          </a:xfrm>
          <a:prstGeom prst="rect">
            <a:avLst/>
          </a:prstGeom>
          <a:solidFill>
            <a:srgbClr val="FFFFFF"/>
          </a:solidFill>
          <a:ln/>
        </p:spPr>
      </p:sp>
      <p:sp>
        <p:nvSpPr>
          <p:cNvPr id="12" name="Shape 10"/>
          <p:cNvSpPr/>
          <p:nvPr/>
        </p:nvSpPr>
        <p:spPr>
          <a:xfrm>
            <a:off x="1069848" y="3451860"/>
            <a:ext cx="118872" cy="118872"/>
          </a:xfrm>
          <a:prstGeom prst="ellipse">
            <a:avLst/>
          </a:prstGeom>
          <a:solidFill>
            <a:srgbClr val="9A7A25"/>
          </a:solidFill>
          <a:ln/>
        </p:spPr>
      </p:sp>
      <p:sp>
        <p:nvSpPr>
          <p:cNvPr id="13" name="Text 11"/>
          <p:cNvSpPr/>
          <p:nvPr/>
        </p:nvSpPr>
        <p:spPr>
          <a:xfrm>
            <a:off x="1399032" y="3255264"/>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First project review film and first comparison film published</a:t>
            </a:r>
            <a:endParaRPr lang="en-US" sz="1350" dirty="0"/>
          </a:p>
        </p:txBody>
      </p:sp>
      <p:sp>
        <p:nvSpPr>
          <p:cNvPr id="14" name="Shape 12"/>
          <p:cNvSpPr/>
          <p:nvPr/>
        </p:nvSpPr>
        <p:spPr>
          <a:xfrm>
            <a:off x="777240" y="3813048"/>
            <a:ext cx="10637215" cy="512064"/>
          </a:xfrm>
          <a:prstGeom prst="rect">
            <a:avLst/>
          </a:prstGeom>
          <a:solidFill>
            <a:srgbClr val="FFFFFF"/>
          </a:solidFill>
          <a:ln/>
        </p:spPr>
      </p:sp>
      <p:sp>
        <p:nvSpPr>
          <p:cNvPr id="15" name="Shape 13"/>
          <p:cNvSpPr/>
          <p:nvPr/>
        </p:nvSpPr>
        <p:spPr>
          <a:xfrm>
            <a:off x="1069848" y="4009644"/>
            <a:ext cx="118872" cy="118872"/>
          </a:xfrm>
          <a:prstGeom prst="ellipse">
            <a:avLst/>
          </a:prstGeom>
          <a:solidFill>
            <a:srgbClr val="9A7A25"/>
          </a:solidFill>
          <a:ln/>
        </p:spPr>
      </p:sp>
      <p:sp>
        <p:nvSpPr>
          <p:cNvPr id="16" name="Text 14"/>
          <p:cNvSpPr/>
          <p:nvPr/>
        </p:nvSpPr>
        <p:spPr>
          <a:xfrm>
            <a:off x="1399032" y="3813048"/>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Guides and locality pages start publishing weekly</a:t>
            </a:r>
            <a:endParaRPr lang="en-US" sz="1350" dirty="0"/>
          </a:p>
        </p:txBody>
      </p:sp>
      <p:sp>
        <p:nvSpPr>
          <p:cNvPr id="17" name="Shape 15"/>
          <p:cNvSpPr/>
          <p:nvPr/>
        </p:nvSpPr>
        <p:spPr>
          <a:xfrm>
            <a:off x="777240" y="4370832"/>
            <a:ext cx="10637215" cy="512064"/>
          </a:xfrm>
          <a:prstGeom prst="rect">
            <a:avLst/>
          </a:prstGeom>
          <a:solidFill>
            <a:srgbClr val="FFFFFF"/>
          </a:solidFill>
          <a:ln/>
        </p:spPr>
      </p:sp>
      <p:sp>
        <p:nvSpPr>
          <p:cNvPr id="18" name="Shape 16"/>
          <p:cNvSpPr/>
          <p:nvPr/>
        </p:nvSpPr>
        <p:spPr>
          <a:xfrm>
            <a:off x="1069848" y="4567428"/>
            <a:ext cx="118872" cy="118872"/>
          </a:xfrm>
          <a:prstGeom prst="ellipse">
            <a:avLst/>
          </a:prstGeom>
          <a:solidFill>
            <a:srgbClr val="9A7A25"/>
          </a:solidFill>
          <a:ln/>
        </p:spPr>
      </p:sp>
      <p:sp>
        <p:nvSpPr>
          <p:cNvPr id="19" name="Text 17"/>
          <p:cNvSpPr/>
          <p:nvPr/>
        </p:nvSpPr>
        <p:spPr>
          <a:xfrm>
            <a:off x="1399032" y="4370832"/>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Google Search on project terms; portal listings up</a:t>
            </a:r>
            <a:endParaRPr lang="en-US" sz="1350" dirty="0"/>
          </a:p>
        </p:txBody>
      </p:sp>
      <p:sp>
        <p:nvSpPr>
          <p:cNvPr id="20" name="Shape 18"/>
          <p:cNvSpPr/>
          <p:nvPr/>
        </p:nvSpPr>
        <p:spPr>
          <a:xfrm>
            <a:off x="777240" y="4928616"/>
            <a:ext cx="10637215" cy="512064"/>
          </a:xfrm>
          <a:prstGeom prst="rect">
            <a:avLst/>
          </a:prstGeom>
          <a:solidFill>
            <a:srgbClr val="FFFFFF"/>
          </a:solidFill>
          <a:ln/>
        </p:spPr>
      </p:sp>
      <p:sp>
        <p:nvSpPr>
          <p:cNvPr id="21" name="Shape 19"/>
          <p:cNvSpPr/>
          <p:nvPr/>
        </p:nvSpPr>
        <p:spPr>
          <a:xfrm>
            <a:off x="1069848" y="5125212"/>
            <a:ext cx="118872" cy="118872"/>
          </a:xfrm>
          <a:prstGeom prst="ellipse">
            <a:avLst/>
          </a:prstGeom>
          <a:solidFill>
            <a:srgbClr val="9A7A25"/>
          </a:solidFill>
          <a:ln/>
        </p:spPr>
      </p:sp>
      <p:sp>
        <p:nvSpPr>
          <p:cNvPr id="22" name="Text 20"/>
          <p:cNvSpPr/>
          <p:nvPr/>
        </p:nvSpPr>
        <p:spPr>
          <a:xfrm>
            <a:off x="1399032" y="4928616"/>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Site shoot — walkthrough, drone, progress, location drive</a:t>
            </a:r>
            <a:endParaRPr lang="en-US" sz="1350" dirty="0"/>
          </a:p>
        </p:txBody>
      </p:sp>
      <p:sp>
        <p:nvSpPr>
          <p:cNvPr id="23" name="Shape 21"/>
          <p:cNvSpPr/>
          <p:nvPr/>
        </p:nvSpPr>
        <p:spPr>
          <a:xfrm>
            <a:off x="777240" y="5577840"/>
            <a:ext cx="10637215" cy="658368"/>
          </a:xfrm>
          <a:prstGeom prst="rect">
            <a:avLst/>
          </a:prstGeom>
          <a:solidFill>
            <a:srgbClr val="14181D"/>
          </a:solidFill>
          <a:ln/>
        </p:spPr>
      </p:sp>
      <p:sp>
        <p:nvSpPr>
          <p:cNvPr id="24" name="Text 22"/>
          <p:cNvSpPr/>
          <p:nvPr/>
        </p:nvSpPr>
        <p:spPr>
          <a:xfrm>
            <a:off x="1069848" y="5577840"/>
            <a:ext cx="2194560" cy="658368"/>
          </a:xfrm>
          <a:prstGeom prst="rect">
            <a:avLst/>
          </a:prstGeom>
          <a:noFill/>
          <a:ln/>
        </p:spPr>
        <p:txBody>
          <a:bodyPr wrap="square" lIns="0" tIns="0" rIns="0" bIns="0" rtlCol="0" anchor="ctr"/>
          <a:lstStyle/>
          <a:p>
            <a:pPr indent="0" marL="0">
              <a:buNone/>
            </a:pPr>
            <a:r>
              <a:rPr lang="en-US" sz="900" b="1" spc="160" kern="0" dirty="0">
                <a:solidFill>
                  <a:srgbClr val="D9B061"/>
                </a:solidFill>
                <a:latin typeface="Calibri" pitchFamily="34" charset="0"/>
                <a:ea typeface="Calibri" pitchFamily="34" charset="-122"/>
                <a:cs typeface="Calibri" pitchFamily="34" charset="-120"/>
              </a:rPr>
              <a:t>END OF MONTH 2</a:t>
            </a:r>
            <a:endParaRPr lang="en-US" sz="900" dirty="0"/>
          </a:p>
        </p:txBody>
      </p:sp>
      <p:sp>
        <p:nvSpPr>
          <p:cNvPr id="25" name="Text 23"/>
          <p:cNvSpPr/>
          <p:nvPr/>
        </p:nvSpPr>
        <p:spPr>
          <a:xfrm>
            <a:off x="3520440" y="5577840"/>
            <a:ext cx="7619695" cy="65836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Platform live, first tracked enquiries, search indexing</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Days 61–90  ·  Prove</a:t>
            </a:r>
            <a:endParaRPr lang="en-US" sz="3800" dirty="0"/>
          </a:p>
        </p:txBody>
      </p:sp>
      <p:sp>
        <p:nvSpPr>
          <p:cNvPr id="4" name="Text 2"/>
          <p:cNvSpPr/>
          <p:nvPr/>
        </p:nvSpPr>
        <p:spPr>
          <a:xfrm>
            <a:off x="777240" y="1536192"/>
            <a:ext cx="10637215" cy="438912"/>
          </a:xfrm>
          <a:prstGeom prst="rect">
            <a:avLst/>
          </a:prstGeom>
          <a:noFill/>
          <a:ln/>
        </p:spPr>
        <p:txBody>
          <a:bodyPr wrap="square" lIns="0" tIns="0" rIns="0" bIns="0" rtlCol="0" anchor="ctr"/>
          <a:lstStyle/>
          <a:p>
            <a:pPr indent="0" marL="0">
              <a:buNone/>
            </a:pPr>
            <a:r>
              <a:rPr lang="en-US" sz="2000" b="1" dirty="0">
                <a:solidFill>
                  <a:srgbClr val="9A7A25"/>
                </a:solidFill>
                <a:latin typeface="Cambria" pitchFamily="34" charset="0"/>
                <a:ea typeface="Cambria" pitchFamily="34" charset="-122"/>
                <a:cs typeface="Cambria" pitchFamily="34" charset="-120"/>
              </a:rPr>
              <a:t>Widen, measure, decide</a:t>
            </a:r>
            <a:endParaRPr lang="en-US" sz="2000" dirty="0"/>
          </a:p>
        </p:txBody>
      </p:sp>
      <p:sp>
        <p:nvSpPr>
          <p:cNvPr id="5" name="Shape 3"/>
          <p:cNvSpPr/>
          <p:nvPr/>
        </p:nvSpPr>
        <p:spPr>
          <a:xfrm>
            <a:off x="777240" y="2139696"/>
            <a:ext cx="10637215" cy="512064"/>
          </a:xfrm>
          <a:prstGeom prst="rect">
            <a:avLst/>
          </a:prstGeom>
          <a:solidFill>
            <a:srgbClr val="FFFFFF"/>
          </a:solidFill>
          <a:ln/>
        </p:spPr>
      </p:sp>
      <p:sp>
        <p:nvSpPr>
          <p:cNvPr id="6" name="Shape 4"/>
          <p:cNvSpPr/>
          <p:nvPr/>
        </p:nvSpPr>
        <p:spPr>
          <a:xfrm>
            <a:off x="1069848" y="2336292"/>
            <a:ext cx="118872" cy="118872"/>
          </a:xfrm>
          <a:prstGeom prst="ellipse">
            <a:avLst/>
          </a:prstGeom>
          <a:solidFill>
            <a:srgbClr val="9A7A25"/>
          </a:solidFill>
          <a:ln/>
        </p:spPr>
      </p:sp>
      <p:sp>
        <p:nvSpPr>
          <p:cNvPr id="7" name="Text 5"/>
          <p:cNvSpPr/>
          <p:nvPr/>
        </p:nvSpPr>
        <p:spPr>
          <a:xfrm>
            <a:off x="1399032" y="2139696"/>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Meta retargeting on, now there's an audience to retarget</a:t>
            </a:r>
            <a:endParaRPr lang="en-US" sz="1350" dirty="0"/>
          </a:p>
        </p:txBody>
      </p:sp>
      <p:sp>
        <p:nvSpPr>
          <p:cNvPr id="8" name="Shape 6"/>
          <p:cNvSpPr/>
          <p:nvPr/>
        </p:nvSpPr>
        <p:spPr>
          <a:xfrm>
            <a:off x="777240" y="2697480"/>
            <a:ext cx="10637215" cy="512064"/>
          </a:xfrm>
          <a:prstGeom prst="rect">
            <a:avLst/>
          </a:prstGeom>
          <a:solidFill>
            <a:srgbClr val="FFFFFF"/>
          </a:solidFill>
          <a:ln/>
        </p:spPr>
      </p:sp>
      <p:sp>
        <p:nvSpPr>
          <p:cNvPr id="9" name="Shape 7"/>
          <p:cNvSpPr/>
          <p:nvPr/>
        </p:nvSpPr>
        <p:spPr>
          <a:xfrm>
            <a:off x="1069848" y="2894076"/>
            <a:ext cx="118872" cy="118872"/>
          </a:xfrm>
          <a:prstGeom prst="ellipse">
            <a:avLst/>
          </a:prstGeom>
          <a:solidFill>
            <a:srgbClr val="9A7A25"/>
          </a:solidFill>
          <a:ln/>
        </p:spPr>
      </p:sp>
      <p:sp>
        <p:nvSpPr>
          <p:cNvPr id="10" name="Text 8"/>
          <p:cNvSpPr/>
          <p:nvPr/>
        </p:nvSpPr>
        <p:spPr>
          <a:xfrm>
            <a:off x="1399032" y="2697480"/>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Second and third project reviews — the library starts</a:t>
            </a:r>
            <a:endParaRPr lang="en-US" sz="1350" dirty="0"/>
          </a:p>
        </p:txBody>
      </p:sp>
      <p:sp>
        <p:nvSpPr>
          <p:cNvPr id="11" name="Shape 9"/>
          <p:cNvSpPr/>
          <p:nvPr/>
        </p:nvSpPr>
        <p:spPr>
          <a:xfrm>
            <a:off x="777240" y="3255264"/>
            <a:ext cx="10637215" cy="512064"/>
          </a:xfrm>
          <a:prstGeom prst="rect">
            <a:avLst/>
          </a:prstGeom>
          <a:solidFill>
            <a:srgbClr val="FFFFFF"/>
          </a:solidFill>
          <a:ln/>
        </p:spPr>
      </p:sp>
      <p:sp>
        <p:nvSpPr>
          <p:cNvPr id="12" name="Shape 10"/>
          <p:cNvSpPr/>
          <p:nvPr/>
        </p:nvSpPr>
        <p:spPr>
          <a:xfrm>
            <a:off x="1069848" y="3451860"/>
            <a:ext cx="118872" cy="118872"/>
          </a:xfrm>
          <a:prstGeom prst="ellipse">
            <a:avLst/>
          </a:prstGeom>
          <a:solidFill>
            <a:srgbClr val="9A7A25"/>
          </a:solidFill>
          <a:ln/>
        </p:spPr>
      </p:sp>
      <p:sp>
        <p:nvSpPr>
          <p:cNvPr id="13" name="Text 11"/>
          <p:cNvSpPr/>
          <p:nvPr/>
        </p:nvSpPr>
        <p:spPr>
          <a:xfrm>
            <a:off x="1399032" y="3255264"/>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First monthly market note published and pitched to press</a:t>
            </a:r>
            <a:endParaRPr lang="en-US" sz="1350" dirty="0"/>
          </a:p>
        </p:txBody>
      </p:sp>
      <p:sp>
        <p:nvSpPr>
          <p:cNvPr id="14" name="Shape 12"/>
          <p:cNvSpPr/>
          <p:nvPr/>
        </p:nvSpPr>
        <p:spPr>
          <a:xfrm>
            <a:off x="777240" y="3813048"/>
            <a:ext cx="10637215" cy="512064"/>
          </a:xfrm>
          <a:prstGeom prst="rect">
            <a:avLst/>
          </a:prstGeom>
          <a:solidFill>
            <a:srgbClr val="FFFFFF"/>
          </a:solidFill>
          <a:ln/>
        </p:spPr>
      </p:sp>
      <p:sp>
        <p:nvSpPr>
          <p:cNvPr id="15" name="Shape 13"/>
          <p:cNvSpPr/>
          <p:nvPr/>
        </p:nvSpPr>
        <p:spPr>
          <a:xfrm>
            <a:off x="1069848" y="4009644"/>
            <a:ext cx="118872" cy="118872"/>
          </a:xfrm>
          <a:prstGeom prst="ellipse">
            <a:avLst/>
          </a:prstGeom>
          <a:solidFill>
            <a:srgbClr val="9A7A25"/>
          </a:solidFill>
          <a:ln/>
        </p:spPr>
      </p:sp>
      <p:sp>
        <p:nvSpPr>
          <p:cNvPr id="16" name="Text 14"/>
          <p:cNvSpPr/>
          <p:nvPr/>
        </p:nvSpPr>
        <p:spPr>
          <a:xfrm>
            <a:off x="1399032" y="3813048"/>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Channel partner kit with per-partner tracking links</a:t>
            </a:r>
            <a:endParaRPr lang="en-US" sz="1350" dirty="0"/>
          </a:p>
        </p:txBody>
      </p:sp>
      <p:sp>
        <p:nvSpPr>
          <p:cNvPr id="17" name="Shape 15"/>
          <p:cNvSpPr/>
          <p:nvPr/>
        </p:nvSpPr>
        <p:spPr>
          <a:xfrm>
            <a:off x="777240" y="4370832"/>
            <a:ext cx="10637215" cy="512064"/>
          </a:xfrm>
          <a:prstGeom prst="rect">
            <a:avLst/>
          </a:prstGeom>
          <a:solidFill>
            <a:srgbClr val="FFFFFF"/>
          </a:solidFill>
          <a:ln/>
        </p:spPr>
      </p:sp>
      <p:sp>
        <p:nvSpPr>
          <p:cNvPr id="18" name="Shape 16"/>
          <p:cNvSpPr/>
          <p:nvPr/>
        </p:nvSpPr>
        <p:spPr>
          <a:xfrm>
            <a:off x="1069848" y="4567428"/>
            <a:ext cx="118872" cy="118872"/>
          </a:xfrm>
          <a:prstGeom prst="ellipse">
            <a:avLst/>
          </a:prstGeom>
          <a:solidFill>
            <a:srgbClr val="9A7A25"/>
          </a:solidFill>
          <a:ln/>
        </p:spPr>
      </p:sp>
      <p:sp>
        <p:nvSpPr>
          <p:cNvPr id="19" name="Text 17"/>
          <p:cNvSpPr/>
          <p:nvPr/>
        </p:nvSpPr>
        <p:spPr>
          <a:xfrm>
            <a:off x="1399032" y="4370832"/>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Full funnel report from real numbers — targets set here, not before</a:t>
            </a:r>
            <a:endParaRPr lang="en-US" sz="1350" dirty="0"/>
          </a:p>
        </p:txBody>
      </p:sp>
      <p:sp>
        <p:nvSpPr>
          <p:cNvPr id="20" name="Shape 18"/>
          <p:cNvSpPr/>
          <p:nvPr/>
        </p:nvSpPr>
        <p:spPr>
          <a:xfrm>
            <a:off x="777240" y="4928616"/>
            <a:ext cx="10637215" cy="512064"/>
          </a:xfrm>
          <a:prstGeom prst="rect">
            <a:avLst/>
          </a:prstGeom>
          <a:solidFill>
            <a:srgbClr val="FFFFFF"/>
          </a:solidFill>
          <a:ln/>
        </p:spPr>
      </p:sp>
      <p:sp>
        <p:nvSpPr>
          <p:cNvPr id="21" name="Shape 19"/>
          <p:cNvSpPr/>
          <p:nvPr/>
        </p:nvSpPr>
        <p:spPr>
          <a:xfrm>
            <a:off x="1069848" y="5125212"/>
            <a:ext cx="118872" cy="118872"/>
          </a:xfrm>
          <a:prstGeom prst="ellipse">
            <a:avLst/>
          </a:prstGeom>
          <a:solidFill>
            <a:srgbClr val="9A7A25"/>
          </a:solidFill>
          <a:ln/>
        </p:spPr>
      </p:sp>
      <p:sp>
        <p:nvSpPr>
          <p:cNvPr id="22" name="Text 20"/>
          <p:cNvSpPr/>
          <p:nvPr/>
        </p:nvSpPr>
        <p:spPr>
          <a:xfrm>
            <a:off x="1399032" y="4928616"/>
            <a:ext cx="9722815" cy="512064"/>
          </a:xfrm>
          <a:prstGeom prst="rect">
            <a:avLst/>
          </a:prstGeom>
          <a:noFill/>
          <a:ln/>
        </p:spPr>
        <p:txBody>
          <a:bodyPr wrap="square" lIns="0" tIns="0" rIns="0" bIns="0" rtlCol="0" anchor="ctr"/>
          <a:lstStyle/>
          <a:p>
            <a:pPr indent="0" marL="0">
              <a:lnSpc>
                <a:spcPts val="1800"/>
              </a:lnSpc>
              <a:buNone/>
            </a:pPr>
            <a:r>
              <a:rPr lang="en-US" sz="1350" dirty="0">
                <a:solidFill>
                  <a:srgbClr val="555C64"/>
                </a:solidFill>
                <a:latin typeface="Calibri" pitchFamily="34" charset="0"/>
                <a:ea typeface="Calibri" pitchFamily="34" charset="-122"/>
                <a:cs typeface="Calibri" pitchFamily="34" charset="-120"/>
              </a:rPr>
              <a:t>Documented playbook so project two starts at week six</a:t>
            </a:r>
            <a:endParaRPr lang="en-US" sz="1350" dirty="0"/>
          </a:p>
        </p:txBody>
      </p:sp>
      <p:sp>
        <p:nvSpPr>
          <p:cNvPr id="23" name="Shape 21"/>
          <p:cNvSpPr/>
          <p:nvPr/>
        </p:nvSpPr>
        <p:spPr>
          <a:xfrm>
            <a:off x="777240" y="5577840"/>
            <a:ext cx="10637215" cy="658368"/>
          </a:xfrm>
          <a:prstGeom prst="rect">
            <a:avLst/>
          </a:prstGeom>
          <a:solidFill>
            <a:srgbClr val="14181D"/>
          </a:solidFill>
          <a:ln/>
        </p:spPr>
      </p:sp>
      <p:sp>
        <p:nvSpPr>
          <p:cNvPr id="24" name="Text 22"/>
          <p:cNvSpPr/>
          <p:nvPr/>
        </p:nvSpPr>
        <p:spPr>
          <a:xfrm>
            <a:off x="1069848" y="5577840"/>
            <a:ext cx="2194560" cy="658368"/>
          </a:xfrm>
          <a:prstGeom prst="rect">
            <a:avLst/>
          </a:prstGeom>
          <a:noFill/>
          <a:ln/>
        </p:spPr>
        <p:txBody>
          <a:bodyPr wrap="square" lIns="0" tIns="0" rIns="0" bIns="0" rtlCol="0" anchor="ctr"/>
          <a:lstStyle/>
          <a:p>
            <a:pPr indent="0" marL="0">
              <a:buNone/>
            </a:pPr>
            <a:r>
              <a:rPr lang="en-US" sz="900" b="1" spc="160" kern="0" dirty="0">
                <a:solidFill>
                  <a:srgbClr val="D9B061"/>
                </a:solidFill>
                <a:latin typeface="Calibri" pitchFamily="34" charset="0"/>
                <a:ea typeface="Calibri" pitchFamily="34" charset="-122"/>
                <a:cs typeface="Calibri" pitchFamily="34" charset="-120"/>
              </a:rPr>
              <a:t>END OF MONTH 3</a:t>
            </a:r>
            <a:endParaRPr lang="en-US" sz="900" dirty="0"/>
          </a:p>
        </p:txBody>
      </p:sp>
      <p:sp>
        <p:nvSpPr>
          <p:cNvPr id="25" name="Text 23"/>
          <p:cNvSpPr/>
          <p:nvPr/>
        </p:nvSpPr>
        <p:spPr>
          <a:xfrm>
            <a:off x="3520440" y="5577840"/>
            <a:ext cx="7619695" cy="65836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cost per enquiry, agreed targets, a repeatable system</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14</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After the first 90 days</a:t>
            </a:r>
            <a:endParaRPr lang="en-US" sz="3800" dirty="0"/>
          </a:p>
        </p:txBody>
      </p:sp>
      <p:sp>
        <p:nvSpPr>
          <p:cNvPr id="4" name="Shape 2"/>
          <p:cNvSpPr/>
          <p:nvPr/>
        </p:nvSpPr>
        <p:spPr>
          <a:xfrm>
            <a:off x="777240" y="1591056"/>
            <a:ext cx="10637215" cy="1298448"/>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5" name="Text 3"/>
          <p:cNvSpPr/>
          <p:nvPr/>
        </p:nvSpPr>
        <p:spPr>
          <a:xfrm>
            <a:off x="1106424" y="1591056"/>
            <a:ext cx="1828800" cy="1298448"/>
          </a:xfrm>
          <a:prstGeom prst="rect">
            <a:avLst/>
          </a:prstGeom>
          <a:noFill/>
          <a:ln/>
        </p:spPr>
        <p:txBody>
          <a:bodyPr wrap="square" lIns="0" tIns="0" rIns="0" bIns="0" rtlCol="0" anchor="ctr"/>
          <a:lstStyle/>
          <a:p>
            <a:pPr indent="0" marL="0">
              <a:buNone/>
            </a:pPr>
            <a:r>
              <a:rPr lang="en-US" sz="1700" b="1" dirty="0">
                <a:solidFill>
                  <a:srgbClr val="9A7A25"/>
                </a:solidFill>
                <a:latin typeface="Cambria" pitchFamily="34" charset="0"/>
                <a:ea typeface="Cambria" pitchFamily="34" charset="-122"/>
                <a:cs typeface="Cambria" pitchFamily="34" charset="-120"/>
              </a:rPr>
              <a:t>Months 4–6</a:t>
            </a:r>
            <a:endParaRPr lang="en-US" sz="1700" dirty="0"/>
          </a:p>
        </p:txBody>
      </p:sp>
      <p:sp>
        <p:nvSpPr>
          <p:cNvPr id="6" name="Text 4"/>
          <p:cNvSpPr/>
          <p:nvPr/>
        </p:nvSpPr>
        <p:spPr>
          <a:xfrm>
            <a:off x="3154680" y="1591056"/>
            <a:ext cx="5394960" cy="1298448"/>
          </a:xfrm>
          <a:prstGeom prst="rect">
            <a:avLst/>
          </a:prstGeom>
          <a:noFill/>
          <a:ln/>
        </p:spPr>
        <p:txBody>
          <a:bodyPr wrap="square" lIns="0" tIns="0" rIns="0" bIns="0" rtlCol="0" anchor="ctr"/>
          <a:lstStyle/>
          <a:p>
            <a:pPr indent="0" marL="0">
              <a:lnSpc>
                <a:spcPts val="1800"/>
              </a:lnSpc>
              <a:buNone/>
            </a:pPr>
            <a:r>
              <a:rPr lang="en-US" sz="1250" dirty="0">
                <a:solidFill>
                  <a:srgbClr val="555C64"/>
                </a:solidFill>
                <a:latin typeface="Calibri" pitchFamily="34" charset="0"/>
                <a:ea typeface="Calibri" pitchFamily="34" charset="-122"/>
                <a:cs typeface="Calibri" pitchFamily="34" charset="-120"/>
              </a:rPr>
              <a:t>Review library grows to 10–12 Hyderabad projects. Resident reviews open. Search and AI start delivering enquiries at no media cost. Referral programme live.</a:t>
            </a:r>
            <a:endParaRPr lang="en-US" sz="1250" dirty="0"/>
          </a:p>
        </p:txBody>
      </p:sp>
      <p:sp>
        <p:nvSpPr>
          <p:cNvPr id="7" name="Text 5"/>
          <p:cNvSpPr/>
          <p:nvPr/>
        </p:nvSpPr>
        <p:spPr>
          <a:xfrm>
            <a:off x="8823960" y="1591056"/>
            <a:ext cx="2261311" cy="129844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First enquiries arriving free</a:t>
            </a:r>
            <a:endParaRPr lang="en-US" sz="1350" dirty="0"/>
          </a:p>
        </p:txBody>
      </p:sp>
      <p:sp>
        <p:nvSpPr>
          <p:cNvPr id="8" name="Shape 6"/>
          <p:cNvSpPr/>
          <p:nvPr/>
        </p:nvSpPr>
        <p:spPr>
          <a:xfrm>
            <a:off x="777240" y="2980944"/>
            <a:ext cx="10637215" cy="1298448"/>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9" name="Text 7"/>
          <p:cNvSpPr/>
          <p:nvPr/>
        </p:nvSpPr>
        <p:spPr>
          <a:xfrm>
            <a:off x="1106424" y="2980944"/>
            <a:ext cx="1828800" cy="1298448"/>
          </a:xfrm>
          <a:prstGeom prst="rect">
            <a:avLst/>
          </a:prstGeom>
          <a:noFill/>
          <a:ln/>
        </p:spPr>
        <p:txBody>
          <a:bodyPr wrap="square" lIns="0" tIns="0" rIns="0" bIns="0" rtlCol="0" anchor="ctr"/>
          <a:lstStyle/>
          <a:p>
            <a:pPr indent="0" marL="0">
              <a:buNone/>
            </a:pPr>
            <a:r>
              <a:rPr lang="en-US" sz="1700" b="1" dirty="0">
                <a:solidFill>
                  <a:srgbClr val="9A7A25"/>
                </a:solidFill>
                <a:latin typeface="Cambria" pitchFamily="34" charset="0"/>
                <a:ea typeface="Cambria" pitchFamily="34" charset="-122"/>
                <a:cs typeface="Cambria" pitchFamily="34" charset="-120"/>
              </a:rPr>
              <a:t>Months 7–9</a:t>
            </a:r>
            <a:endParaRPr lang="en-US" sz="1700" dirty="0"/>
          </a:p>
        </p:txBody>
      </p:sp>
      <p:sp>
        <p:nvSpPr>
          <p:cNvPr id="10" name="Text 8"/>
          <p:cNvSpPr/>
          <p:nvPr/>
        </p:nvSpPr>
        <p:spPr>
          <a:xfrm>
            <a:off x="3154680" y="2980944"/>
            <a:ext cx="5394960" cy="1298448"/>
          </a:xfrm>
          <a:prstGeom prst="rect">
            <a:avLst/>
          </a:prstGeom>
          <a:noFill/>
          <a:ln/>
        </p:spPr>
        <p:txBody>
          <a:bodyPr wrap="square" lIns="0" tIns="0" rIns="0" bIns="0" rtlCol="0" anchor="ctr"/>
          <a:lstStyle/>
          <a:p>
            <a:pPr indent="0" marL="0">
              <a:lnSpc>
                <a:spcPts val="1800"/>
              </a:lnSpc>
              <a:buNone/>
            </a:pPr>
            <a:r>
              <a:rPr lang="en-US" sz="1250" dirty="0">
                <a:solidFill>
                  <a:srgbClr val="555C64"/>
                </a:solidFill>
                <a:latin typeface="Calibri" pitchFamily="34" charset="0"/>
                <a:ea typeface="Calibri" pitchFamily="34" charset="-122"/>
                <a:cs typeface="Calibri" pitchFamily="34" charset="-120"/>
              </a:rPr>
              <a:t>Price estimates built from registration data. Second and third mandates onboarded using the Neopolis template. Paid media scales only if cost per booking justifies it.</a:t>
            </a:r>
            <a:endParaRPr lang="en-US" sz="1250" dirty="0"/>
          </a:p>
        </p:txBody>
      </p:sp>
      <p:sp>
        <p:nvSpPr>
          <p:cNvPr id="11" name="Text 9"/>
          <p:cNvSpPr/>
          <p:nvPr/>
        </p:nvSpPr>
        <p:spPr>
          <a:xfrm>
            <a:off x="8823960" y="2980944"/>
            <a:ext cx="2261311" cy="129844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Three projects on one system</a:t>
            </a:r>
            <a:endParaRPr lang="en-US" sz="1350" dirty="0"/>
          </a:p>
        </p:txBody>
      </p:sp>
      <p:sp>
        <p:nvSpPr>
          <p:cNvPr id="12" name="Shape 10"/>
          <p:cNvSpPr/>
          <p:nvPr/>
        </p:nvSpPr>
        <p:spPr>
          <a:xfrm>
            <a:off x="777240" y="4370832"/>
            <a:ext cx="10637215" cy="1298448"/>
          </a:xfrm>
          <a:prstGeom prst="rect">
            <a:avLst/>
          </a:prstGeom>
          <a:solidFill>
            <a:srgbClr val="FFFFFF"/>
          </a:solidFill>
          <a:ln/>
          <a:effectLst>
            <a:outerShdw sx="100000" sy="100000" kx="0" ky="0" algn="bl" rotWithShape="0" blurRad="177800" dist="38100" dir="5400000">
              <a:srgbClr val="14181D">
                <a:alpha val="7000"/>
              </a:srgbClr>
            </a:outerShdw>
          </a:effectLst>
        </p:spPr>
      </p:sp>
      <p:sp>
        <p:nvSpPr>
          <p:cNvPr id="13" name="Text 11"/>
          <p:cNvSpPr/>
          <p:nvPr/>
        </p:nvSpPr>
        <p:spPr>
          <a:xfrm>
            <a:off x="1106424" y="4370832"/>
            <a:ext cx="1828800" cy="1298448"/>
          </a:xfrm>
          <a:prstGeom prst="rect">
            <a:avLst/>
          </a:prstGeom>
          <a:noFill/>
          <a:ln/>
        </p:spPr>
        <p:txBody>
          <a:bodyPr wrap="square" lIns="0" tIns="0" rIns="0" bIns="0" rtlCol="0" anchor="ctr"/>
          <a:lstStyle/>
          <a:p>
            <a:pPr indent="0" marL="0">
              <a:buNone/>
            </a:pPr>
            <a:r>
              <a:rPr lang="en-US" sz="1700" b="1" dirty="0">
                <a:solidFill>
                  <a:srgbClr val="9A7A25"/>
                </a:solidFill>
                <a:latin typeface="Cambria" pitchFamily="34" charset="0"/>
                <a:ea typeface="Cambria" pitchFamily="34" charset="-122"/>
                <a:cs typeface="Cambria" pitchFamily="34" charset="-120"/>
              </a:rPr>
              <a:t>Months 10–12</a:t>
            </a:r>
            <a:endParaRPr lang="en-US" sz="1700" dirty="0"/>
          </a:p>
        </p:txBody>
      </p:sp>
      <p:sp>
        <p:nvSpPr>
          <p:cNvPr id="14" name="Text 12"/>
          <p:cNvSpPr/>
          <p:nvPr/>
        </p:nvSpPr>
        <p:spPr>
          <a:xfrm>
            <a:off x="3154680" y="4370832"/>
            <a:ext cx="5394960" cy="1298448"/>
          </a:xfrm>
          <a:prstGeom prst="rect">
            <a:avLst/>
          </a:prstGeom>
          <a:noFill/>
          <a:ln/>
        </p:spPr>
        <p:txBody>
          <a:bodyPr wrap="square" lIns="0" tIns="0" rIns="0" bIns="0" rtlCol="0" anchor="ctr"/>
          <a:lstStyle/>
          <a:p>
            <a:pPr indent="0" marL="0">
              <a:lnSpc>
                <a:spcPts val="1800"/>
              </a:lnSpc>
              <a:buNone/>
            </a:pPr>
            <a:r>
              <a:rPr lang="en-US" sz="1250" dirty="0">
                <a:solidFill>
                  <a:srgbClr val="555C64"/>
                </a:solidFill>
                <a:latin typeface="Calibri" pitchFamily="34" charset="0"/>
                <a:ea typeface="Calibri" pitchFamily="34" charset="-122"/>
                <a:cs typeface="Calibri" pitchFamily="34" charset="-120"/>
              </a:rPr>
              <a:t>Every meaningful Kokapet and west Hyderabad project covered. Market note quoted by press. Services layer begins — loan and legal partners.</a:t>
            </a:r>
            <a:endParaRPr lang="en-US" sz="1250" dirty="0"/>
          </a:p>
        </p:txBody>
      </p:sp>
      <p:sp>
        <p:nvSpPr>
          <p:cNvPr id="15" name="Text 13"/>
          <p:cNvSpPr/>
          <p:nvPr/>
        </p:nvSpPr>
        <p:spPr>
          <a:xfrm>
            <a:off x="8823960" y="4370832"/>
            <a:ext cx="2261311" cy="129844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Default place to check in west Hyderabad</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15</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Where this goes</a:t>
            </a:r>
            <a:endParaRPr lang="en-US" sz="3800" dirty="0"/>
          </a:p>
        </p:txBody>
      </p:sp>
      <p:sp>
        <p:nvSpPr>
          <p:cNvPr id="4" name="Shape 2"/>
          <p:cNvSpPr/>
          <p:nvPr/>
        </p:nvSpPr>
        <p:spPr>
          <a:xfrm>
            <a:off x="777240" y="1591056"/>
            <a:ext cx="10637215" cy="859536"/>
          </a:xfrm>
          <a:prstGeom prst="rect">
            <a:avLst/>
          </a:prstGeom>
          <a:solidFill>
            <a:srgbClr val="FFFFFF"/>
          </a:solidFill>
          <a:ln/>
        </p:spPr>
      </p:sp>
      <p:sp>
        <p:nvSpPr>
          <p:cNvPr id="5" name="Text 3"/>
          <p:cNvSpPr/>
          <p:nvPr/>
        </p:nvSpPr>
        <p:spPr>
          <a:xfrm>
            <a:off x="1069848" y="1719072"/>
            <a:ext cx="1463040" cy="347472"/>
          </a:xfrm>
          <a:prstGeom prst="rect">
            <a:avLst/>
          </a:prstGeom>
          <a:noFill/>
          <a:ln/>
        </p:spPr>
        <p:txBody>
          <a:bodyPr wrap="square" lIns="0" tIns="0" rIns="0" bIns="0" rtlCol="0" anchor="ctr"/>
          <a:lstStyle/>
          <a:p>
            <a:pPr indent="0" marL="0">
              <a:buNone/>
            </a:pPr>
            <a:r>
              <a:rPr lang="en-US" sz="1600" b="1" dirty="0">
                <a:solidFill>
                  <a:srgbClr val="9A7A25"/>
                </a:solidFill>
                <a:latin typeface="Cambria" pitchFamily="34" charset="0"/>
                <a:ea typeface="Cambria" pitchFamily="34" charset="-122"/>
                <a:cs typeface="Cambria" pitchFamily="34" charset="-120"/>
              </a:rPr>
              <a:t>Year 1</a:t>
            </a:r>
            <a:endParaRPr lang="en-US" sz="1600" dirty="0"/>
          </a:p>
        </p:txBody>
      </p:sp>
      <p:sp>
        <p:nvSpPr>
          <p:cNvPr id="6" name="Text 4"/>
          <p:cNvSpPr/>
          <p:nvPr/>
        </p:nvSpPr>
        <p:spPr>
          <a:xfrm>
            <a:off x="1069848" y="2048256"/>
            <a:ext cx="1554480" cy="274320"/>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HYDERABAD WEST</a:t>
            </a:r>
            <a:endParaRPr lang="en-US" sz="850" dirty="0"/>
          </a:p>
        </p:txBody>
      </p:sp>
      <p:sp>
        <p:nvSpPr>
          <p:cNvPr id="7" name="Text 5"/>
          <p:cNvSpPr/>
          <p:nvPr/>
        </p:nvSpPr>
        <p:spPr>
          <a:xfrm>
            <a:off x="2788920" y="1591056"/>
            <a:ext cx="3200400" cy="859536"/>
          </a:xfrm>
          <a:prstGeom prst="rect">
            <a:avLst/>
          </a:prstGeom>
          <a:noFill/>
          <a:ln/>
        </p:spPr>
        <p:txBody>
          <a:bodyPr wrap="square" lIns="0" tIns="0" rIns="0" bIns="0" rtlCol="0" anchor="ctr"/>
          <a:lstStyle/>
          <a:p>
            <a:pPr indent="0" marL="0">
              <a:lnSpc>
                <a:spcPts val="1800"/>
              </a:lnSpc>
              <a:buNone/>
            </a:pPr>
            <a:r>
              <a:rPr lang="en-US" sz="1400" b="1" dirty="0">
                <a:solidFill>
                  <a:srgbClr val="14181D"/>
                </a:solidFill>
                <a:latin typeface="Cambria" pitchFamily="34" charset="0"/>
                <a:ea typeface="Cambria" pitchFamily="34" charset="-122"/>
                <a:cs typeface="Cambria" pitchFamily="34" charset="-120"/>
              </a:rPr>
              <a:t>Own one micro-market completely</a:t>
            </a:r>
            <a:endParaRPr lang="en-US" sz="1400" dirty="0"/>
          </a:p>
        </p:txBody>
      </p:sp>
      <p:sp>
        <p:nvSpPr>
          <p:cNvPr id="8" name="Text 6"/>
          <p:cNvSpPr/>
          <p:nvPr/>
        </p:nvSpPr>
        <p:spPr>
          <a:xfrm>
            <a:off x="6217920" y="1591056"/>
            <a:ext cx="4903927" cy="859536"/>
          </a:xfrm>
          <a:prstGeom prst="rect">
            <a:avLst/>
          </a:prstGeom>
          <a:noFill/>
          <a:ln/>
        </p:spPr>
        <p:txBody>
          <a:bodyPr wrap="square" lIns="0" tIns="0" rIns="0" bIns="0" rtlCol="0" anchor="ctr"/>
          <a:lstStyle/>
          <a:p>
            <a:pPr indent="0" marL="0">
              <a:lnSpc>
                <a:spcPts val="1600"/>
              </a:lnSpc>
              <a:buNone/>
            </a:pPr>
            <a:r>
              <a:rPr lang="en-US" sz="1150" dirty="0">
                <a:solidFill>
                  <a:srgbClr val="555C64"/>
                </a:solidFill>
                <a:latin typeface="Calibri" pitchFamily="34" charset="0"/>
                <a:ea typeface="Calibri" pitchFamily="34" charset="-122"/>
                <a:cs typeface="Calibri" pitchFamily="34" charset="-120"/>
              </a:rPr>
              <a:t>Kokapet, Financial District, Narsingi, Tellapur. Every project reviewed and honestly rated. The goal is not scale — it's proof the model converts better than portal leads.</a:t>
            </a:r>
            <a:endParaRPr lang="en-US" sz="1150" dirty="0"/>
          </a:p>
        </p:txBody>
      </p:sp>
      <p:sp>
        <p:nvSpPr>
          <p:cNvPr id="9" name="Shape 7"/>
          <p:cNvSpPr/>
          <p:nvPr/>
        </p:nvSpPr>
        <p:spPr>
          <a:xfrm>
            <a:off x="777240" y="2505456"/>
            <a:ext cx="10637215" cy="859536"/>
          </a:xfrm>
          <a:prstGeom prst="rect">
            <a:avLst/>
          </a:prstGeom>
          <a:solidFill>
            <a:srgbClr val="FFFFFF"/>
          </a:solidFill>
          <a:ln/>
        </p:spPr>
      </p:sp>
      <p:sp>
        <p:nvSpPr>
          <p:cNvPr id="10" name="Text 8"/>
          <p:cNvSpPr/>
          <p:nvPr/>
        </p:nvSpPr>
        <p:spPr>
          <a:xfrm>
            <a:off x="1069848" y="2633472"/>
            <a:ext cx="1463040" cy="347472"/>
          </a:xfrm>
          <a:prstGeom prst="rect">
            <a:avLst/>
          </a:prstGeom>
          <a:noFill/>
          <a:ln/>
        </p:spPr>
        <p:txBody>
          <a:bodyPr wrap="square" lIns="0" tIns="0" rIns="0" bIns="0" rtlCol="0" anchor="ctr"/>
          <a:lstStyle/>
          <a:p>
            <a:pPr indent="0" marL="0">
              <a:buNone/>
            </a:pPr>
            <a:r>
              <a:rPr lang="en-US" sz="1600" b="1" dirty="0">
                <a:solidFill>
                  <a:srgbClr val="9A7A25"/>
                </a:solidFill>
                <a:latin typeface="Cambria" pitchFamily="34" charset="0"/>
                <a:ea typeface="Cambria" pitchFamily="34" charset="-122"/>
                <a:cs typeface="Cambria" pitchFamily="34" charset="-120"/>
              </a:rPr>
              <a:t>Year 2</a:t>
            </a:r>
            <a:endParaRPr lang="en-US" sz="1600" dirty="0"/>
          </a:p>
        </p:txBody>
      </p:sp>
      <p:sp>
        <p:nvSpPr>
          <p:cNvPr id="11" name="Text 9"/>
          <p:cNvSpPr/>
          <p:nvPr/>
        </p:nvSpPr>
        <p:spPr>
          <a:xfrm>
            <a:off x="1069848" y="2962656"/>
            <a:ext cx="1554480" cy="274320"/>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HYDERABAD</a:t>
            </a:r>
            <a:endParaRPr lang="en-US" sz="850" dirty="0"/>
          </a:p>
        </p:txBody>
      </p:sp>
      <p:sp>
        <p:nvSpPr>
          <p:cNvPr id="12" name="Text 10"/>
          <p:cNvSpPr/>
          <p:nvPr/>
        </p:nvSpPr>
        <p:spPr>
          <a:xfrm>
            <a:off x="2788920" y="2505456"/>
            <a:ext cx="3200400" cy="859536"/>
          </a:xfrm>
          <a:prstGeom prst="rect">
            <a:avLst/>
          </a:prstGeom>
          <a:noFill/>
          <a:ln/>
        </p:spPr>
        <p:txBody>
          <a:bodyPr wrap="square" lIns="0" tIns="0" rIns="0" bIns="0" rtlCol="0" anchor="ctr"/>
          <a:lstStyle/>
          <a:p>
            <a:pPr indent="0" marL="0">
              <a:lnSpc>
                <a:spcPts val="1800"/>
              </a:lnSpc>
              <a:buNone/>
            </a:pPr>
            <a:r>
              <a:rPr lang="en-US" sz="1400" b="1" dirty="0">
                <a:solidFill>
                  <a:srgbClr val="14181D"/>
                </a:solidFill>
                <a:latin typeface="Cambria" pitchFamily="34" charset="0"/>
                <a:ea typeface="Cambria" pitchFamily="34" charset="-122"/>
                <a:cs typeface="Cambria" pitchFamily="34" charset="-120"/>
              </a:rPr>
              <a:t>The whole city, plus transactions</a:t>
            </a:r>
            <a:endParaRPr lang="en-US" sz="1400" dirty="0"/>
          </a:p>
        </p:txBody>
      </p:sp>
      <p:sp>
        <p:nvSpPr>
          <p:cNvPr id="13" name="Text 11"/>
          <p:cNvSpPr/>
          <p:nvPr/>
        </p:nvSpPr>
        <p:spPr>
          <a:xfrm>
            <a:off x="6217920" y="2505456"/>
            <a:ext cx="4903927" cy="859536"/>
          </a:xfrm>
          <a:prstGeom prst="rect">
            <a:avLst/>
          </a:prstGeom>
          <a:noFill/>
          <a:ln/>
        </p:spPr>
        <p:txBody>
          <a:bodyPr wrap="square" lIns="0" tIns="0" rIns="0" bIns="0" rtlCol="0" anchor="ctr"/>
          <a:lstStyle/>
          <a:p>
            <a:pPr indent="0" marL="0">
              <a:lnSpc>
                <a:spcPts val="1600"/>
              </a:lnSpc>
              <a:buNone/>
            </a:pPr>
            <a:r>
              <a:rPr lang="en-US" sz="1150" dirty="0">
                <a:solidFill>
                  <a:srgbClr val="555C64"/>
                </a:solidFill>
                <a:latin typeface="Calibri" pitchFamily="34" charset="0"/>
                <a:ea typeface="Calibri" pitchFamily="34" charset="-122"/>
                <a:cs typeface="Calibri" pitchFamily="34" charset="-120"/>
              </a:rPr>
              <a:t>Full city coverage. Exclusive mandates as the core revenue line. Services layer live. The name buyers check before visiting anything.</a:t>
            </a:r>
            <a:endParaRPr lang="en-US" sz="1150" dirty="0"/>
          </a:p>
        </p:txBody>
      </p:sp>
      <p:sp>
        <p:nvSpPr>
          <p:cNvPr id="14" name="Shape 12"/>
          <p:cNvSpPr/>
          <p:nvPr/>
        </p:nvSpPr>
        <p:spPr>
          <a:xfrm>
            <a:off x="777240" y="3419856"/>
            <a:ext cx="10637215" cy="859536"/>
          </a:xfrm>
          <a:prstGeom prst="rect">
            <a:avLst/>
          </a:prstGeom>
          <a:solidFill>
            <a:srgbClr val="FFFFFF"/>
          </a:solidFill>
          <a:ln/>
        </p:spPr>
      </p:sp>
      <p:sp>
        <p:nvSpPr>
          <p:cNvPr id="15" name="Text 13"/>
          <p:cNvSpPr/>
          <p:nvPr/>
        </p:nvSpPr>
        <p:spPr>
          <a:xfrm>
            <a:off x="1069848" y="3547872"/>
            <a:ext cx="1463040" cy="347472"/>
          </a:xfrm>
          <a:prstGeom prst="rect">
            <a:avLst/>
          </a:prstGeom>
          <a:noFill/>
          <a:ln/>
        </p:spPr>
        <p:txBody>
          <a:bodyPr wrap="square" lIns="0" tIns="0" rIns="0" bIns="0" rtlCol="0" anchor="ctr"/>
          <a:lstStyle/>
          <a:p>
            <a:pPr indent="0" marL="0">
              <a:buNone/>
            </a:pPr>
            <a:r>
              <a:rPr lang="en-US" sz="1600" b="1" dirty="0">
                <a:solidFill>
                  <a:srgbClr val="9A7A25"/>
                </a:solidFill>
                <a:latin typeface="Cambria" pitchFamily="34" charset="0"/>
                <a:ea typeface="Cambria" pitchFamily="34" charset="-122"/>
                <a:cs typeface="Cambria" pitchFamily="34" charset="-120"/>
              </a:rPr>
              <a:t>Years 3–4</a:t>
            </a:r>
            <a:endParaRPr lang="en-US" sz="1600" dirty="0"/>
          </a:p>
        </p:txBody>
      </p:sp>
      <p:sp>
        <p:nvSpPr>
          <p:cNvPr id="16" name="Text 14"/>
          <p:cNvSpPr/>
          <p:nvPr/>
        </p:nvSpPr>
        <p:spPr>
          <a:xfrm>
            <a:off x="1069848" y="3877056"/>
            <a:ext cx="1554480" cy="274320"/>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SOUTH INDIA</a:t>
            </a:r>
            <a:endParaRPr lang="en-US" sz="850" dirty="0"/>
          </a:p>
        </p:txBody>
      </p:sp>
      <p:sp>
        <p:nvSpPr>
          <p:cNvPr id="17" name="Text 15"/>
          <p:cNvSpPr/>
          <p:nvPr/>
        </p:nvSpPr>
        <p:spPr>
          <a:xfrm>
            <a:off x="2788920" y="3419856"/>
            <a:ext cx="3200400" cy="859536"/>
          </a:xfrm>
          <a:prstGeom prst="rect">
            <a:avLst/>
          </a:prstGeom>
          <a:noFill/>
          <a:ln/>
        </p:spPr>
        <p:txBody>
          <a:bodyPr wrap="square" lIns="0" tIns="0" rIns="0" bIns="0" rtlCol="0" anchor="ctr"/>
          <a:lstStyle/>
          <a:p>
            <a:pPr indent="0" marL="0">
              <a:lnSpc>
                <a:spcPts val="1800"/>
              </a:lnSpc>
              <a:buNone/>
            </a:pPr>
            <a:r>
              <a:rPr lang="en-US" sz="1400" b="1" dirty="0">
                <a:solidFill>
                  <a:srgbClr val="14181D"/>
                </a:solidFill>
                <a:latin typeface="Cambria" pitchFamily="34" charset="0"/>
                <a:ea typeface="Cambria" pitchFamily="34" charset="-122"/>
                <a:cs typeface="Cambria" pitchFamily="34" charset="-120"/>
              </a:rPr>
              <a:t>Bangalore, Chennai, Pune</a:t>
            </a:r>
            <a:endParaRPr lang="en-US" sz="1400" dirty="0"/>
          </a:p>
        </p:txBody>
      </p:sp>
      <p:sp>
        <p:nvSpPr>
          <p:cNvPr id="18" name="Text 16"/>
          <p:cNvSpPr/>
          <p:nvPr/>
        </p:nvSpPr>
        <p:spPr>
          <a:xfrm>
            <a:off x="6217920" y="3419856"/>
            <a:ext cx="4903927" cy="859536"/>
          </a:xfrm>
          <a:prstGeom prst="rect">
            <a:avLst/>
          </a:prstGeom>
          <a:noFill/>
          <a:ln/>
        </p:spPr>
        <p:txBody>
          <a:bodyPr wrap="square" lIns="0" tIns="0" rIns="0" bIns="0" rtlCol="0" anchor="ctr"/>
          <a:lstStyle/>
          <a:p>
            <a:pPr indent="0" marL="0">
              <a:lnSpc>
                <a:spcPts val="1600"/>
              </a:lnSpc>
              <a:buNone/>
            </a:pPr>
            <a:r>
              <a:rPr lang="en-US" sz="1150" dirty="0">
                <a:solidFill>
                  <a:srgbClr val="555C64"/>
                </a:solidFill>
                <a:latin typeface="Calibri" pitchFamily="34" charset="0"/>
                <a:ea typeface="Calibri" pitchFamily="34" charset="-122"/>
                <a:cs typeface="Calibri" pitchFamily="34" charset="-120"/>
              </a:rPr>
              <a:t>The content and review system is city-agnostic — only the data changes. Each city launches on the template Neopolis produced.</a:t>
            </a:r>
            <a:endParaRPr lang="en-US" sz="1150" dirty="0"/>
          </a:p>
        </p:txBody>
      </p:sp>
      <p:sp>
        <p:nvSpPr>
          <p:cNvPr id="19" name="Shape 17"/>
          <p:cNvSpPr/>
          <p:nvPr/>
        </p:nvSpPr>
        <p:spPr>
          <a:xfrm>
            <a:off x="777240" y="4334256"/>
            <a:ext cx="10637215" cy="859536"/>
          </a:xfrm>
          <a:prstGeom prst="rect">
            <a:avLst/>
          </a:prstGeom>
          <a:solidFill>
            <a:srgbClr val="FFFFFF"/>
          </a:solidFill>
          <a:ln/>
        </p:spPr>
      </p:sp>
      <p:sp>
        <p:nvSpPr>
          <p:cNvPr id="20" name="Text 18"/>
          <p:cNvSpPr/>
          <p:nvPr/>
        </p:nvSpPr>
        <p:spPr>
          <a:xfrm>
            <a:off x="1069848" y="4462272"/>
            <a:ext cx="1463040" cy="347472"/>
          </a:xfrm>
          <a:prstGeom prst="rect">
            <a:avLst/>
          </a:prstGeom>
          <a:noFill/>
          <a:ln/>
        </p:spPr>
        <p:txBody>
          <a:bodyPr wrap="square" lIns="0" tIns="0" rIns="0" bIns="0" rtlCol="0" anchor="ctr"/>
          <a:lstStyle/>
          <a:p>
            <a:pPr indent="0" marL="0">
              <a:buNone/>
            </a:pPr>
            <a:r>
              <a:rPr lang="en-US" sz="1600" b="1" dirty="0">
                <a:solidFill>
                  <a:srgbClr val="9A7A25"/>
                </a:solidFill>
                <a:latin typeface="Cambria" pitchFamily="34" charset="0"/>
                <a:ea typeface="Cambria" pitchFamily="34" charset="-122"/>
                <a:cs typeface="Cambria" pitchFamily="34" charset="-120"/>
              </a:rPr>
              <a:t>Years 5–7</a:t>
            </a:r>
            <a:endParaRPr lang="en-US" sz="1600" dirty="0"/>
          </a:p>
        </p:txBody>
      </p:sp>
      <p:sp>
        <p:nvSpPr>
          <p:cNvPr id="21" name="Text 19"/>
          <p:cNvSpPr/>
          <p:nvPr/>
        </p:nvSpPr>
        <p:spPr>
          <a:xfrm>
            <a:off x="1069848" y="4791456"/>
            <a:ext cx="1554480" cy="274320"/>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INDIA</a:t>
            </a:r>
            <a:endParaRPr lang="en-US" sz="850" dirty="0"/>
          </a:p>
        </p:txBody>
      </p:sp>
      <p:sp>
        <p:nvSpPr>
          <p:cNvPr id="22" name="Text 20"/>
          <p:cNvSpPr/>
          <p:nvPr/>
        </p:nvSpPr>
        <p:spPr>
          <a:xfrm>
            <a:off x="2788920" y="4334256"/>
            <a:ext cx="3200400" cy="859536"/>
          </a:xfrm>
          <a:prstGeom prst="rect">
            <a:avLst/>
          </a:prstGeom>
          <a:noFill/>
          <a:ln/>
        </p:spPr>
        <p:txBody>
          <a:bodyPr wrap="square" lIns="0" tIns="0" rIns="0" bIns="0" rtlCol="0" anchor="ctr"/>
          <a:lstStyle/>
          <a:p>
            <a:pPr indent="0" marL="0">
              <a:lnSpc>
                <a:spcPts val="1800"/>
              </a:lnSpc>
              <a:buNone/>
            </a:pPr>
            <a:r>
              <a:rPr lang="en-US" sz="1400" b="1" dirty="0">
                <a:solidFill>
                  <a:srgbClr val="14181D"/>
                </a:solidFill>
                <a:latin typeface="Cambria" pitchFamily="34" charset="0"/>
                <a:ea typeface="Cambria" pitchFamily="34" charset="-122"/>
                <a:cs typeface="Cambria" pitchFamily="34" charset="-120"/>
              </a:rPr>
              <a:t>National platform, data business</a:t>
            </a:r>
            <a:endParaRPr lang="en-US" sz="1400" dirty="0"/>
          </a:p>
        </p:txBody>
      </p:sp>
      <p:sp>
        <p:nvSpPr>
          <p:cNvPr id="23" name="Text 21"/>
          <p:cNvSpPr/>
          <p:nvPr/>
        </p:nvSpPr>
        <p:spPr>
          <a:xfrm>
            <a:off x="6217920" y="4334256"/>
            <a:ext cx="4903927" cy="859536"/>
          </a:xfrm>
          <a:prstGeom prst="rect">
            <a:avLst/>
          </a:prstGeom>
          <a:noFill/>
          <a:ln/>
        </p:spPr>
        <p:txBody>
          <a:bodyPr wrap="square" lIns="0" tIns="0" rIns="0" bIns="0" rtlCol="0" anchor="ctr"/>
          <a:lstStyle/>
          <a:p>
            <a:pPr indent="0" marL="0">
              <a:lnSpc>
                <a:spcPts val="1600"/>
              </a:lnSpc>
              <a:buNone/>
            </a:pPr>
            <a:r>
              <a:rPr lang="en-US" sz="1150" dirty="0">
                <a:solidFill>
                  <a:srgbClr val="555C64"/>
                </a:solidFill>
                <a:latin typeface="Calibri" pitchFamily="34" charset="0"/>
                <a:ea typeface="Calibri" pitchFamily="34" charset="-122"/>
                <a:cs typeface="Calibri" pitchFamily="34" charset="-120"/>
              </a:rPr>
              <a:t>Top ten cities. The high-margin line arrives — developers, banks and funds paying for OTHO's demand data.</a:t>
            </a:r>
            <a:endParaRPr lang="en-US" sz="1150" dirty="0"/>
          </a:p>
        </p:txBody>
      </p:sp>
      <p:sp>
        <p:nvSpPr>
          <p:cNvPr id="24" name="Shape 22"/>
          <p:cNvSpPr/>
          <p:nvPr/>
        </p:nvSpPr>
        <p:spPr>
          <a:xfrm>
            <a:off x="777240" y="5248656"/>
            <a:ext cx="10637215" cy="859536"/>
          </a:xfrm>
          <a:prstGeom prst="rect">
            <a:avLst/>
          </a:prstGeom>
          <a:solidFill>
            <a:srgbClr val="FFFFFF"/>
          </a:solidFill>
          <a:ln/>
        </p:spPr>
      </p:sp>
      <p:sp>
        <p:nvSpPr>
          <p:cNvPr id="25" name="Text 23"/>
          <p:cNvSpPr/>
          <p:nvPr/>
        </p:nvSpPr>
        <p:spPr>
          <a:xfrm>
            <a:off x="1069848" y="5376672"/>
            <a:ext cx="1463040" cy="347472"/>
          </a:xfrm>
          <a:prstGeom prst="rect">
            <a:avLst/>
          </a:prstGeom>
          <a:noFill/>
          <a:ln/>
        </p:spPr>
        <p:txBody>
          <a:bodyPr wrap="square" lIns="0" tIns="0" rIns="0" bIns="0" rtlCol="0" anchor="ctr"/>
          <a:lstStyle/>
          <a:p>
            <a:pPr indent="0" marL="0">
              <a:buNone/>
            </a:pPr>
            <a:r>
              <a:rPr lang="en-US" sz="1600" b="1" dirty="0">
                <a:solidFill>
                  <a:srgbClr val="9A7A25"/>
                </a:solidFill>
                <a:latin typeface="Cambria" pitchFamily="34" charset="0"/>
                <a:ea typeface="Cambria" pitchFamily="34" charset="-122"/>
                <a:cs typeface="Cambria" pitchFamily="34" charset="-120"/>
              </a:rPr>
              <a:t>Years 8–10</a:t>
            </a:r>
            <a:endParaRPr lang="en-US" sz="1600" dirty="0"/>
          </a:p>
        </p:txBody>
      </p:sp>
      <p:sp>
        <p:nvSpPr>
          <p:cNvPr id="26" name="Text 24"/>
          <p:cNvSpPr/>
          <p:nvPr/>
        </p:nvSpPr>
        <p:spPr>
          <a:xfrm>
            <a:off x="1069848" y="5705856"/>
            <a:ext cx="1554480" cy="274320"/>
          </a:xfrm>
          <a:prstGeom prst="rect">
            <a:avLst/>
          </a:prstGeom>
          <a:noFill/>
          <a:ln/>
        </p:spPr>
        <p:txBody>
          <a:bodyPr wrap="square" lIns="0" tIns="0" rIns="0" bIns="0" rtlCol="0" anchor="ctr"/>
          <a:lstStyle/>
          <a:p>
            <a:pPr indent="0" marL="0">
              <a:buNone/>
            </a:pPr>
            <a:r>
              <a:rPr lang="en-US" sz="850" spc="110" kern="0" dirty="0">
                <a:solidFill>
                  <a:srgbClr val="8A9099"/>
                </a:solidFill>
                <a:latin typeface="Calibri" pitchFamily="34" charset="0"/>
                <a:ea typeface="Calibri" pitchFamily="34" charset="-122"/>
                <a:cs typeface="Calibri" pitchFamily="34" charset="-120"/>
              </a:rPr>
              <a:t>GLOBAL</a:t>
            </a:r>
            <a:endParaRPr lang="en-US" sz="850" dirty="0"/>
          </a:p>
        </p:txBody>
      </p:sp>
      <p:sp>
        <p:nvSpPr>
          <p:cNvPr id="27" name="Text 25"/>
          <p:cNvSpPr/>
          <p:nvPr/>
        </p:nvSpPr>
        <p:spPr>
          <a:xfrm>
            <a:off x="2788920" y="5248656"/>
            <a:ext cx="3200400" cy="859536"/>
          </a:xfrm>
          <a:prstGeom prst="rect">
            <a:avLst/>
          </a:prstGeom>
          <a:noFill/>
          <a:ln/>
        </p:spPr>
        <p:txBody>
          <a:bodyPr wrap="square" lIns="0" tIns="0" rIns="0" bIns="0" rtlCol="0" anchor="ctr"/>
          <a:lstStyle/>
          <a:p>
            <a:pPr indent="0" marL="0">
              <a:lnSpc>
                <a:spcPts val="1800"/>
              </a:lnSpc>
              <a:buNone/>
            </a:pPr>
            <a:r>
              <a:rPr lang="en-US" sz="1400" b="1" dirty="0">
                <a:solidFill>
                  <a:srgbClr val="14181D"/>
                </a:solidFill>
                <a:latin typeface="Cambria" pitchFamily="34" charset="0"/>
                <a:ea typeface="Cambria" pitchFamily="34" charset="-122"/>
                <a:cs typeface="Cambria" pitchFamily="34" charset="-120"/>
              </a:rPr>
              <a:t>NRI corridors first</a:t>
            </a:r>
            <a:endParaRPr lang="en-US" sz="1400" dirty="0"/>
          </a:p>
        </p:txBody>
      </p:sp>
      <p:sp>
        <p:nvSpPr>
          <p:cNvPr id="28" name="Text 26"/>
          <p:cNvSpPr/>
          <p:nvPr/>
        </p:nvSpPr>
        <p:spPr>
          <a:xfrm>
            <a:off x="6217920" y="5248656"/>
            <a:ext cx="4903927" cy="859536"/>
          </a:xfrm>
          <a:prstGeom prst="rect">
            <a:avLst/>
          </a:prstGeom>
          <a:noFill/>
          <a:ln/>
        </p:spPr>
        <p:txBody>
          <a:bodyPr wrap="square" lIns="0" tIns="0" rIns="0" bIns="0" rtlCol="0" anchor="ctr"/>
          <a:lstStyle/>
          <a:p>
            <a:pPr indent="0" marL="0">
              <a:lnSpc>
                <a:spcPts val="1600"/>
              </a:lnSpc>
              <a:buNone/>
            </a:pPr>
            <a:r>
              <a:rPr lang="en-US" sz="1150" dirty="0">
                <a:solidFill>
                  <a:srgbClr val="555C64"/>
                </a:solidFill>
                <a:latin typeface="Calibri" pitchFamily="34" charset="0"/>
                <a:ea typeface="Calibri" pitchFamily="34" charset="-122"/>
                <a:cs typeface="Calibri" pitchFamily="34" charset="-120"/>
              </a:rPr>
              <a:t>The first step abroad isn't a new market — it's this market from the other side. Gulf, Singapore, US and UK buyers who need honest remote due diligence.</a:t>
            </a:r>
            <a:endParaRPr lang="en-US" sz="1150" dirty="0"/>
          </a:p>
        </p:txBody>
      </p:sp>
      <p:sp>
        <p:nvSpPr>
          <p:cNvPr id="29" name="Text 27"/>
          <p:cNvSpPr/>
          <p:nvPr/>
        </p:nvSpPr>
        <p:spPr>
          <a:xfrm>
            <a:off x="777240" y="6309360"/>
            <a:ext cx="10637215" cy="402336"/>
          </a:xfrm>
          <a:prstGeom prst="rect">
            <a:avLst/>
          </a:prstGeom>
          <a:noFill/>
          <a:ln/>
        </p:spPr>
        <p:txBody>
          <a:bodyPr wrap="square" lIns="0" tIns="0" rIns="0" bIns="0" rtlCol="0" anchor="ctr"/>
          <a:lstStyle/>
          <a:p>
            <a:pPr indent="0" marL="0">
              <a:buNone/>
            </a:pPr>
            <a:r>
              <a:rPr lang="en-US" sz="1700" b="1" i="1" dirty="0">
                <a:solidFill>
                  <a:srgbClr val="14181D"/>
                </a:solidFill>
                <a:latin typeface="Cambria" pitchFamily="34" charset="0"/>
                <a:ea typeface="Cambria" pitchFamily="34" charset="-122"/>
                <a:cs typeface="Cambria" pitchFamily="34" charset="-120"/>
              </a:rPr>
              <a:t>Ten years is four cities and one honest habit, repeated.</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777240" y="530352"/>
            <a:ext cx="10637215" cy="219456"/>
          </a:xfrm>
          <a:prstGeom prst="rect">
            <a:avLst/>
          </a:prstGeom>
          <a:noFill/>
          <a:ln/>
        </p:spPr>
        <p:txBody>
          <a:bodyPr wrap="square" lIns="0" tIns="0" rIns="0" bIns="0" rtlCol="0" anchor="ctr"/>
          <a:lstStyle/>
          <a:p>
            <a:pPr indent="0" marL="0">
              <a:buNone/>
            </a:pPr>
            <a:r>
              <a:rPr lang="en-US" sz="1100" b="1" spc="260" kern="0" dirty="0">
                <a:solidFill>
                  <a:srgbClr val="9A7A25"/>
                </a:solidFill>
                <a:latin typeface="Calibri" pitchFamily="34" charset="0"/>
                <a:ea typeface="Calibri" pitchFamily="34" charset="-122"/>
                <a:cs typeface="Calibri" pitchFamily="34" charset="-120"/>
              </a:rPr>
              <a:t>16</a:t>
            </a:r>
            <a:endParaRPr lang="en-US" sz="1100" dirty="0"/>
          </a:p>
        </p:txBody>
      </p:sp>
      <p:sp>
        <p:nvSpPr>
          <p:cNvPr id="3" name="Text 1"/>
          <p:cNvSpPr/>
          <p:nvPr/>
        </p:nvSpPr>
        <p:spPr>
          <a:xfrm>
            <a:off x="777240" y="768096"/>
            <a:ext cx="10637215" cy="603504"/>
          </a:xfrm>
          <a:prstGeom prst="rect">
            <a:avLst/>
          </a:prstGeom>
          <a:noFill/>
          <a:ln/>
        </p:spPr>
        <p:txBody>
          <a:bodyPr wrap="square" lIns="0" tIns="0" rIns="0" bIns="0" rtlCol="0" anchor="ctr"/>
          <a:lstStyle/>
          <a:p>
            <a:pPr indent="0" marL="0">
              <a:buNone/>
            </a:pPr>
            <a:r>
              <a:rPr lang="en-US" sz="3800" b="1" spc="-60" kern="0" dirty="0">
                <a:solidFill>
                  <a:srgbClr val="14181D"/>
                </a:solidFill>
                <a:latin typeface="Cambria" pitchFamily="34" charset="0"/>
                <a:ea typeface="Cambria" pitchFamily="34" charset="-122"/>
                <a:cs typeface="Cambria" pitchFamily="34" charset="-120"/>
              </a:rPr>
              <a:t>What we need from you</a:t>
            </a:r>
            <a:endParaRPr lang="en-US" sz="3800" dirty="0"/>
          </a:p>
        </p:txBody>
      </p:sp>
      <p:sp>
        <p:nvSpPr>
          <p:cNvPr id="4" name="Shape 2"/>
          <p:cNvSpPr/>
          <p:nvPr/>
        </p:nvSpPr>
        <p:spPr>
          <a:xfrm>
            <a:off x="777240" y="1591056"/>
            <a:ext cx="10637215" cy="658368"/>
          </a:xfrm>
          <a:prstGeom prst="rect">
            <a:avLst/>
          </a:prstGeom>
          <a:solidFill>
            <a:srgbClr val="FFFFFF"/>
          </a:solidFill>
          <a:ln/>
        </p:spPr>
      </p:sp>
      <p:sp>
        <p:nvSpPr>
          <p:cNvPr id="5" name="Text 3"/>
          <p:cNvSpPr/>
          <p:nvPr/>
        </p:nvSpPr>
        <p:spPr>
          <a:xfrm>
            <a:off x="1069848" y="1591056"/>
            <a:ext cx="3383280" cy="65836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One person who can approve</a:t>
            </a:r>
            <a:endParaRPr lang="en-US" sz="1350" dirty="0"/>
          </a:p>
        </p:txBody>
      </p:sp>
      <p:sp>
        <p:nvSpPr>
          <p:cNvPr id="6" name="Text 4"/>
          <p:cNvSpPr/>
          <p:nvPr/>
        </p:nvSpPr>
        <p:spPr>
          <a:xfrm>
            <a:off x="4617720" y="1591056"/>
            <a:ext cx="5242255" cy="658368"/>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Approval by committee misses launch windows.</a:t>
            </a:r>
            <a:endParaRPr lang="en-US" sz="1200" dirty="0"/>
          </a:p>
        </p:txBody>
      </p:sp>
      <p:sp>
        <p:nvSpPr>
          <p:cNvPr id="7" name="Text 5"/>
          <p:cNvSpPr/>
          <p:nvPr/>
        </p:nvSpPr>
        <p:spPr>
          <a:xfrm>
            <a:off x="9933127" y="1591056"/>
            <a:ext cx="1188720" cy="658368"/>
          </a:xfrm>
          <a:prstGeom prst="rect">
            <a:avLst/>
          </a:prstGeom>
          <a:noFill/>
          <a:ln/>
        </p:spPr>
        <p:txBody>
          <a:bodyPr wrap="square" lIns="0" tIns="0" rIns="0" bIns="0" rtlCol="0" anchor="ctr"/>
          <a:lstStyle/>
          <a:p>
            <a:pPr algn="r" indent="0" marL="0">
              <a:buNone/>
            </a:pPr>
            <a:r>
              <a:rPr lang="en-US" sz="1150" b="1" dirty="0">
                <a:solidFill>
                  <a:srgbClr val="9A7A25"/>
                </a:solidFill>
                <a:latin typeface="Calibri" pitchFamily="34" charset="0"/>
                <a:ea typeface="Calibri" pitchFamily="34" charset="-122"/>
                <a:cs typeface="Calibri" pitchFamily="34" charset="-120"/>
              </a:rPr>
              <a:t>Day 1</a:t>
            </a:r>
            <a:endParaRPr lang="en-US" sz="1150" dirty="0"/>
          </a:p>
        </p:txBody>
      </p:sp>
      <p:sp>
        <p:nvSpPr>
          <p:cNvPr id="8" name="Shape 6"/>
          <p:cNvSpPr/>
          <p:nvPr/>
        </p:nvSpPr>
        <p:spPr>
          <a:xfrm>
            <a:off x="777240" y="2304288"/>
            <a:ext cx="10637215" cy="658368"/>
          </a:xfrm>
          <a:prstGeom prst="rect">
            <a:avLst/>
          </a:prstGeom>
          <a:solidFill>
            <a:srgbClr val="FFFFFF"/>
          </a:solidFill>
          <a:ln/>
        </p:spPr>
      </p:sp>
      <p:sp>
        <p:nvSpPr>
          <p:cNvPr id="9" name="Text 7"/>
          <p:cNvSpPr/>
          <p:nvPr/>
        </p:nvSpPr>
        <p:spPr>
          <a:xfrm>
            <a:off x="1069848" y="2304288"/>
            <a:ext cx="3383280" cy="65836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Founders on camera, twice a month</a:t>
            </a:r>
            <a:endParaRPr lang="en-US" sz="1350" dirty="0"/>
          </a:p>
        </p:txBody>
      </p:sp>
      <p:sp>
        <p:nvSpPr>
          <p:cNvPr id="10" name="Text 8"/>
          <p:cNvSpPr/>
          <p:nvPr/>
        </p:nvSpPr>
        <p:spPr>
          <a:xfrm>
            <a:off x="4617720" y="2304288"/>
            <a:ext cx="5242255" cy="658368"/>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Half a day. The reviews and podcast are the whole plan, and only you can front them.</a:t>
            </a:r>
            <a:endParaRPr lang="en-US" sz="1200" dirty="0"/>
          </a:p>
        </p:txBody>
      </p:sp>
      <p:sp>
        <p:nvSpPr>
          <p:cNvPr id="11" name="Text 9"/>
          <p:cNvSpPr/>
          <p:nvPr/>
        </p:nvSpPr>
        <p:spPr>
          <a:xfrm>
            <a:off x="9933127" y="2304288"/>
            <a:ext cx="1188720" cy="658368"/>
          </a:xfrm>
          <a:prstGeom prst="rect">
            <a:avLst/>
          </a:prstGeom>
          <a:noFill/>
          <a:ln/>
        </p:spPr>
        <p:txBody>
          <a:bodyPr wrap="square" lIns="0" tIns="0" rIns="0" bIns="0" rtlCol="0" anchor="ctr"/>
          <a:lstStyle/>
          <a:p>
            <a:pPr algn="r" indent="0" marL="0">
              <a:buNone/>
            </a:pPr>
            <a:r>
              <a:rPr lang="en-US" sz="1150" b="1" dirty="0">
                <a:solidFill>
                  <a:srgbClr val="9A7A25"/>
                </a:solidFill>
                <a:latin typeface="Calibri" pitchFamily="34" charset="0"/>
                <a:ea typeface="Calibri" pitchFamily="34" charset="-122"/>
                <a:cs typeface="Calibri" pitchFamily="34" charset="-120"/>
              </a:rPr>
              <a:t>From week 3</a:t>
            </a:r>
            <a:endParaRPr lang="en-US" sz="1150" dirty="0"/>
          </a:p>
        </p:txBody>
      </p:sp>
      <p:sp>
        <p:nvSpPr>
          <p:cNvPr id="12" name="Shape 10"/>
          <p:cNvSpPr/>
          <p:nvPr/>
        </p:nvSpPr>
        <p:spPr>
          <a:xfrm>
            <a:off x="777240" y="3017520"/>
            <a:ext cx="10637215" cy="658368"/>
          </a:xfrm>
          <a:prstGeom prst="rect">
            <a:avLst/>
          </a:prstGeom>
          <a:solidFill>
            <a:srgbClr val="FFFFFF"/>
          </a:solidFill>
          <a:ln/>
        </p:spPr>
      </p:sp>
      <p:sp>
        <p:nvSpPr>
          <p:cNvPr id="13" name="Text 11"/>
          <p:cNvSpPr/>
          <p:nvPr/>
        </p:nvSpPr>
        <p:spPr>
          <a:xfrm>
            <a:off x="1069848" y="3017520"/>
            <a:ext cx="3383280" cy="65836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Two guest introductions a month</a:t>
            </a:r>
            <a:endParaRPr lang="en-US" sz="1350" dirty="0"/>
          </a:p>
        </p:txBody>
      </p:sp>
      <p:sp>
        <p:nvSpPr>
          <p:cNvPr id="14" name="Text 12"/>
          <p:cNvSpPr/>
          <p:nvPr/>
        </p:nvSpPr>
        <p:spPr>
          <a:xfrm>
            <a:off x="4617720" y="3017520"/>
            <a:ext cx="5242255" cy="658368"/>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Your relationships are what make the podcast unmatchable.</a:t>
            </a:r>
            <a:endParaRPr lang="en-US" sz="1200" dirty="0"/>
          </a:p>
        </p:txBody>
      </p:sp>
      <p:sp>
        <p:nvSpPr>
          <p:cNvPr id="15" name="Text 13"/>
          <p:cNvSpPr/>
          <p:nvPr/>
        </p:nvSpPr>
        <p:spPr>
          <a:xfrm>
            <a:off x="9933127" y="3017520"/>
            <a:ext cx="1188720" cy="658368"/>
          </a:xfrm>
          <a:prstGeom prst="rect">
            <a:avLst/>
          </a:prstGeom>
          <a:noFill/>
          <a:ln/>
        </p:spPr>
        <p:txBody>
          <a:bodyPr wrap="square" lIns="0" tIns="0" rIns="0" bIns="0" rtlCol="0" anchor="ctr"/>
          <a:lstStyle/>
          <a:p>
            <a:pPr algn="r" indent="0" marL="0">
              <a:buNone/>
            </a:pPr>
            <a:r>
              <a:rPr lang="en-US" sz="1150" b="1" dirty="0">
                <a:solidFill>
                  <a:srgbClr val="9A7A25"/>
                </a:solidFill>
                <a:latin typeface="Calibri" pitchFamily="34" charset="0"/>
                <a:ea typeface="Calibri" pitchFamily="34" charset="-122"/>
                <a:cs typeface="Calibri" pitchFamily="34" charset="-120"/>
              </a:rPr>
              <a:t>Ongoing</a:t>
            </a:r>
            <a:endParaRPr lang="en-US" sz="1150" dirty="0"/>
          </a:p>
        </p:txBody>
      </p:sp>
      <p:sp>
        <p:nvSpPr>
          <p:cNvPr id="16" name="Shape 14"/>
          <p:cNvSpPr/>
          <p:nvPr/>
        </p:nvSpPr>
        <p:spPr>
          <a:xfrm>
            <a:off x="777240" y="3730752"/>
            <a:ext cx="10637215" cy="658368"/>
          </a:xfrm>
          <a:prstGeom prst="rect">
            <a:avLst/>
          </a:prstGeom>
          <a:solidFill>
            <a:srgbClr val="FFFFFF"/>
          </a:solidFill>
          <a:ln/>
        </p:spPr>
      </p:sp>
      <p:sp>
        <p:nvSpPr>
          <p:cNvPr id="17" name="Text 15"/>
          <p:cNvSpPr/>
          <p:nvPr/>
        </p:nvSpPr>
        <p:spPr>
          <a:xfrm>
            <a:off x="1069848" y="3730752"/>
            <a:ext cx="3383280" cy="65836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Willingness to publish negatives</a:t>
            </a:r>
            <a:endParaRPr lang="en-US" sz="1350" dirty="0"/>
          </a:p>
        </p:txBody>
      </p:sp>
      <p:sp>
        <p:nvSpPr>
          <p:cNvPr id="18" name="Text 16"/>
          <p:cNvSpPr/>
          <p:nvPr/>
        </p:nvSpPr>
        <p:spPr>
          <a:xfrm>
            <a:off x="4617720" y="3730752"/>
            <a:ext cx="5242255" cy="658368"/>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The honest reviews are the moat. Soften them to protect a relationship and the strategy collapses into another portal.</a:t>
            </a:r>
            <a:endParaRPr lang="en-US" sz="1200" dirty="0"/>
          </a:p>
        </p:txBody>
      </p:sp>
      <p:sp>
        <p:nvSpPr>
          <p:cNvPr id="19" name="Text 17"/>
          <p:cNvSpPr/>
          <p:nvPr/>
        </p:nvSpPr>
        <p:spPr>
          <a:xfrm>
            <a:off x="9933127" y="3730752"/>
            <a:ext cx="1188720" cy="658368"/>
          </a:xfrm>
          <a:prstGeom prst="rect">
            <a:avLst/>
          </a:prstGeom>
          <a:noFill/>
          <a:ln/>
        </p:spPr>
        <p:txBody>
          <a:bodyPr wrap="square" lIns="0" tIns="0" rIns="0" bIns="0" rtlCol="0" anchor="ctr"/>
          <a:lstStyle/>
          <a:p>
            <a:pPr algn="r" indent="0" marL="0">
              <a:buNone/>
            </a:pPr>
            <a:r>
              <a:rPr lang="en-US" sz="1150" b="1" dirty="0">
                <a:solidFill>
                  <a:srgbClr val="9A7A25"/>
                </a:solidFill>
                <a:latin typeface="Calibri" pitchFamily="34" charset="0"/>
                <a:ea typeface="Calibri" pitchFamily="34" charset="-122"/>
                <a:cs typeface="Calibri" pitchFamily="34" charset="-120"/>
              </a:rPr>
              <a:t>Agree now</a:t>
            </a:r>
            <a:endParaRPr lang="en-US" sz="1150" dirty="0"/>
          </a:p>
        </p:txBody>
      </p:sp>
      <p:sp>
        <p:nvSpPr>
          <p:cNvPr id="20" name="Shape 18"/>
          <p:cNvSpPr/>
          <p:nvPr/>
        </p:nvSpPr>
        <p:spPr>
          <a:xfrm>
            <a:off x="777240" y="4443984"/>
            <a:ext cx="10637215" cy="658368"/>
          </a:xfrm>
          <a:prstGeom prst="rect">
            <a:avLst/>
          </a:prstGeom>
          <a:solidFill>
            <a:srgbClr val="FFFFFF"/>
          </a:solidFill>
          <a:ln/>
        </p:spPr>
      </p:sp>
      <p:sp>
        <p:nvSpPr>
          <p:cNvPr id="21" name="Text 19"/>
          <p:cNvSpPr/>
          <p:nvPr/>
        </p:nvSpPr>
        <p:spPr>
          <a:xfrm>
            <a:off x="1069848" y="4443984"/>
            <a:ext cx="3383280" cy="65836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Your real numbers</a:t>
            </a:r>
            <a:endParaRPr lang="en-US" sz="1350" dirty="0"/>
          </a:p>
        </p:txBody>
      </p:sp>
      <p:sp>
        <p:nvSpPr>
          <p:cNvPr id="22" name="Text 20"/>
          <p:cNvSpPr/>
          <p:nvPr/>
        </p:nvSpPr>
        <p:spPr>
          <a:xfrm>
            <a:off x="4617720" y="4443984"/>
            <a:ext cx="5242255" cy="658368"/>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Average unit value and commission, so the model stops being our guesswork.</a:t>
            </a:r>
            <a:endParaRPr lang="en-US" sz="1200" dirty="0"/>
          </a:p>
        </p:txBody>
      </p:sp>
      <p:sp>
        <p:nvSpPr>
          <p:cNvPr id="23" name="Text 21"/>
          <p:cNvSpPr/>
          <p:nvPr/>
        </p:nvSpPr>
        <p:spPr>
          <a:xfrm>
            <a:off x="9933127" y="4443984"/>
            <a:ext cx="1188720" cy="658368"/>
          </a:xfrm>
          <a:prstGeom prst="rect">
            <a:avLst/>
          </a:prstGeom>
          <a:noFill/>
          <a:ln/>
        </p:spPr>
        <p:txBody>
          <a:bodyPr wrap="square" lIns="0" tIns="0" rIns="0" bIns="0" rtlCol="0" anchor="ctr"/>
          <a:lstStyle/>
          <a:p>
            <a:pPr algn="r" indent="0" marL="0">
              <a:buNone/>
            </a:pPr>
            <a:r>
              <a:rPr lang="en-US" sz="1150" b="1" dirty="0">
                <a:solidFill>
                  <a:srgbClr val="9A7A25"/>
                </a:solidFill>
                <a:latin typeface="Calibri" pitchFamily="34" charset="0"/>
                <a:ea typeface="Calibri" pitchFamily="34" charset="-122"/>
                <a:cs typeface="Calibri" pitchFamily="34" charset="-120"/>
              </a:rPr>
              <a:t>Week 2</a:t>
            </a:r>
            <a:endParaRPr lang="en-US" sz="1150" dirty="0"/>
          </a:p>
        </p:txBody>
      </p:sp>
      <p:sp>
        <p:nvSpPr>
          <p:cNvPr id="24" name="Shape 22"/>
          <p:cNvSpPr/>
          <p:nvPr/>
        </p:nvSpPr>
        <p:spPr>
          <a:xfrm>
            <a:off x="777240" y="5157216"/>
            <a:ext cx="10637215" cy="658368"/>
          </a:xfrm>
          <a:prstGeom prst="rect">
            <a:avLst/>
          </a:prstGeom>
          <a:solidFill>
            <a:srgbClr val="FFFFFF"/>
          </a:solidFill>
          <a:ln/>
        </p:spPr>
      </p:sp>
      <p:sp>
        <p:nvSpPr>
          <p:cNvPr id="25" name="Text 23"/>
          <p:cNvSpPr/>
          <p:nvPr/>
        </p:nvSpPr>
        <p:spPr>
          <a:xfrm>
            <a:off x="1069848" y="5157216"/>
            <a:ext cx="3383280" cy="658368"/>
          </a:xfrm>
          <a:prstGeom prst="rect">
            <a:avLst/>
          </a:prstGeom>
          <a:noFill/>
          <a:ln/>
        </p:spPr>
        <p:txBody>
          <a:bodyPr wrap="square" lIns="0" tIns="0" rIns="0" bIns="0" rtlCol="0" anchor="ctr"/>
          <a:lstStyle/>
          <a:p>
            <a:pPr indent="0" marL="0">
              <a:lnSpc>
                <a:spcPts val="1800"/>
              </a:lnSpc>
              <a:buNone/>
            </a:pPr>
            <a:r>
              <a:rPr lang="en-US" sz="1350" b="1" dirty="0">
                <a:solidFill>
                  <a:srgbClr val="14181D"/>
                </a:solidFill>
                <a:latin typeface="Cambria" pitchFamily="34" charset="0"/>
                <a:ea typeface="Cambria" pitchFamily="34" charset="-122"/>
                <a:cs typeface="Cambria" pitchFamily="34" charset="-120"/>
              </a:rPr>
              <a:t>Weekly time with sales</a:t>
            </a:r>
            <a:endParaRPr lang="en-US" sz="1350" dirty="0"/>
          </a:p>
        </p:txBody>
      </p:sp>
      <p:sp>
        <p:nvSpPr>
          <p:cNvPr id="26" name="Text 24"/>
          <p:cNvSpPr/>
          <p:nvPr/>
        </p:nvSpPr>
        <p:spPr>
          <a:xfrm>
            <a:off x="4617720" y="5157216"/>
            <a:ext cx="5242255" cy="658368"/>
          </a:xfrm>
          <a:prstGeom prst="rect">
            <a:avLst/>
          </a:prstGeom>
          <a:noFill/>
          <a:ln/>
        </p:spPr>
        <p:txBody>
          <a:bodyPr wrap="square" lIns="0" tIns="0" rIns="0" bIns="0" rtlCol="0" anchor="ctr"/>
          <a:lstStyle/>
          <a:p>
            <a:pPr indent="0" marL="0">
              <a:lnSpc>
                <a:spcPts val="1700"/>
              </a:lnSpc>
              <a:buNone/>
            </a:pPr>
            <a:r>
              <a:rPr lang="en-US" sz="1200" dirty="0">
                <a:solidFill>
                  <a:srgbClr val="555C64"/>
                </a:solidFill>
                <a:latin typeface="Calibri" pitchFamily="34" charset="0"/>
                <a:ea typeface="Calibri" pitchFamily="34" charset="-122"/>
                <a:cs typeface="Calibri" pitchFamily="34" charset="-120"/>
              </a:rPr>
              <a:t>Marketing that doesn't hear objections keeps producing leads sales can't close.</a:t>
            </a:r>
            <a:endParaRPr lang="en-US" sz="1200" dirty="0"/>
          </a:p>
        </p:txBody>
      </p:sp>
      <p:sp>
        <p:nvSpPr>
          <p:cNvPr id="27" name="Text 25"/>
          <p:cNvSpPr/>
          <p:nvPr/>
        </p:nvSpPr>
        <p:spPr>
          <a:xfrm>
            <a:off x="9933127" y="5157216"/>
            <a:ext cx="1188720" cy="658368"/>
          </a:xfrm>
          <a:prstGeom prst="rect">
            <a:avLst/>
          </a:prstGeom>
          <a:noFill/>
          <a:ln/>
        </p:spPr>
        <p:txBody>
          <a:bodyPr wrap="square" lIns="0" tIns="0" rIns="0" bIns="0" rtlCol="0" anchor="ctr"/>
          <a:lstStyle/>
          <a:p>
            <a:pPr algn="r" indent="0" marL="0">
              <a:buNone/>
            </a:pPr>
            <a:r>
              <a:rPr lang="en-US" sz="1150" b="1" dirty="0">
                <a:solidFill>
                  <a:srgbClr val="9A7A25"/>
                </a:solidFill>
                <a:latin typeface="Calibri" pitchFamily="34" charset="0"/>
                <a:ea typeface="Calibri" pitchFamily="34" charset="-122"/>
                <a:cs typeface="Calibri" pitchFamily="34" charset="-120"/>
              </a:rPr>
              <a:t>Ongoing</a:t>
            </a:r>
            <a:endParaRPr lang="en-US" sz="1150" dirty="0"/>
          </a:p>
        </p:txBody>
      </p:sp>
      <p:sp>
        <p:nvSpPr>
          <p:cNvPr id="28" name="Text 26"/>
          <p:cNvSpPr/>
          <p:nvPr/>
        </p:nvSpPr>
        <p:spPr>
          <a:xfrm>
            <a:off x="777240" y="6016752"/>
            <a:ext cx="10637215" cy="640080"/>
          </a:xfrm>
          <a:prstGeom prst="rect">
            <a:avLst/>
          </a:prstGeom>
          <a:noFill/>
          <a:ln/>
        </p:spPr>
        <p:txBody>
          <a:bodyPr wrap="square" lIns="0" tIns="0" rIns="0" bIns="0" rtlCol="0" anchor="ctr"/>
          <a:lstStyle/>
          <a:p>
            <a:pPr indent="0" marL="0">
              <a:lnSpc>
                <a:spcPts val="2000"/>
              </a:lnSpc>
              <a:buNone/>
            </a:pPr>
            <a:r>
              <a:rPr lang="en-US" sz="1350" i="1" dirty="0">
                <a:solidFill>
                  <a:srgbClr val="14181D"/>
                </a:solidFill>
                <a:latin typeface="Calibri" pitchFamily="34" charset="0"/>
                <a:ea typeface="Calibri" pitchFamily="34" charset="-122"/>
                <a:cs typeface="Calibri" pitchFamily="34" charset="-120"/>
              </a:rPr>
              <a:t>The hardest one is publishing honest negatives on projects run by developers you've known twenty years. It's also the only reason a buyer would believe anything else on the platform.</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777240" y="1783080"/>
            <a:ext cx="10058400" cy="2926080"/>
          </a:xfrm>
          <a:prstGeom prst="rect">
            <a:avLst/>
          </a:prstGeom>
          <a:noFill/>
          <a:ln/>
        </p:spPr>
        <p:txBody>
          <a:bodyPr wrap="square" lIns="0" tIns="0" rIns="0" bIns="0" rtlCol="0" anchor="ctr"/>
          <a:lstStyle/>
          <a:p>
            <a:pPr indent="0" marL="0">
              <a:lnSpc>
                <a:spcPts val="6600"/>
              </a:lnSpc>
              <a:buNone/>
            </a:pPr>
            <a:r>
              <a:rPr lang="en-US" sz="4800" b="1" spc="-110" kern="0" dirty="0">
                <a:solidFill>
                  <a:srgbClr val="FFFFFF"/>
                </a:solidFill>
                <a:latin typeface="Cambria" pitchFamily="34" charset="0"/>
                <a:ea typeface="Cambria" pitchFamily="34" charset="-122"/>
                <a:cs typeface="Cambria" pitchFamily="34" charset="-120"/>
              </a:rPr>
              <a:t>Ninety days to exist.</a:t>
            </a:r>
            <a:endParaRPr lang="en-US" sz="4800" dirty="0"/>
          </a:p>
          <a:p>
            <a:pPr indent="0" marL="0">
              <a:lnSpc>
                <a:spcPts val="6600"/>
              </a:lnSpc>
              <a:buNone/>
            </a:pPr>
            <a:r>
              <a:rPr lang="en-US" sz="4800" b="1" spc="-110" kern="0" dirty="0">
                <a:solidFill>
                  <a:srgbClr val="FFFFFF"/>
                </a:solidFill>
                <a:latin typeface="Cambria" pitchFamily="34" charset="0"/>
                <a:ea typeface="Cambria" pitchFamily="34" charset="-122"/>
                <a:cs typeface="Cambria" pitchFamily="34" charset="-120"/>
              </a:rPr>
              <a:t>A year to be trusted.</a:t>
            </a:r>
            <a:endParaRPr lang="en-US" sz="4800" dirty="0"/>
          </a:p>
          <a:p>
            <a:pPr indent="0" marL="0">
              <a:lnSpc>
                <a:spcPts val="6600"/>
              </a:lnSpc>
              <a:buNone/>
            </a:pPr>
            <a:r>
              <a:rPr lang="en-US" sz="4800" b="1" spc="-110" kern="0" dirty="0">
                <a:solidFill>
                  <a:srgbClr val="FFFFFF"/>
                </a:solidFill>
                <a:latin typeface="Cambria" pitchFamily="34" charset="0"/>
                <a:ea typeface="Cambria" pitchFamily="34" charset="-122"/>
                <a:cs typeface="Cambria" pitchFamily="34" charset="-120"/>
              </a:rPr>
              <a:t>Ten to be everywhere.</a:t>
            </a:r>
            <a:endParaRPr lang="en-US" sz="4800" dirty="0"/>
          </a:p>
        </p:txBody>
      </p:sp>
      <p:sp>
        <p:nvSpPr>
          <p:cNvPr id="3" name="Text 1"/>
          <p:cNvSpPr/>
          <p:nvPr/>
        </p:nvSpPr>
        <p:spPr>
          <a:xfrm>
            <a:off x="777240" y="5504688"/>
            <a:ext cx="4572000" cy="292608"/>
          </a:xfrm>
          <a:prstGeom prst="rect">
            <a:avLst/>
          </a:prstGeom>
          <a:noFill/>
          <a:ln/>
        </p:spPr>
        <p:txBody>
          <a:bodyPr wrap="square" lIns="0" tIns="0" rIns="0" bIns="0" rtlCol="0" anchor="ctr"/>
          <a:lstStyle/>
          <a:p>
            <a:pPr indent="0" marL="0">
              <a:buNone/>
            </a:pPr>
            <a:r>
              <a:rPr lang="en-US" sz="1150" b="1" spc="340" kern="0" dirty="0">
                <a:solidFill>
                  <a:srgbClr val="D9B061"/>
                </a:solidFill>
                <a:latin typeface="Calibri" pitchFamily="34" charset="0"/>
                <a:ea typeface="Calibri" pitchFamily="34" charset="-122"/>
                <a:cs typeface="Calibri" pitchFamily="34" charset="-120"/>
              </a:rPr>
              <a:t>PRODUCTION X</a:t>
            </a:r>
            <a:endParaRPr lang="en-US" sz="1150" dirty="0"/>
          </a:p>
        </p:txBody>
      </p:sp>
      <p:sp>
        <p:nvSpPr>
          <p:cNvPr id="4" name="Text 2"/>
          <p:cNvSpPr/>
          <p:nvPr/>
        </p:nvSpPr>
        <p:spPr>
          <a:xfrm>
            <a:off x="777240" y="5852160"/>
            <a:ext cx="10637215" cy="256032"/>
          </a:xfrm>
          <a:prstGeom prst="rect">
            <a:avLst/>
          </a:prstGeom>
          <a:noFill/>
          <a:ln/>
        </p:spPr>
        <p:txBody>
          <a:bodyPr wrap="square" lIns="0" tIns="0" rIns="0" bIns="0" rtlCol="0" anchor="ctr"/>
          <a:lstStyle/>
          <a:p>
            <a:pPr indent="0" marL="0">
              <a:buNone/>
            </a:pPr>
            <a:r>
              <a:rPr lang="en-US" sz="1050" dirty="0">
                <a:solidFill>
                  <a:srgbClr val="79818A"/>
                </a:solidFill>
                <a:latin typeface="Calibri" pitchFamily="34" charset="0"/>
                <a:ea typeface="Calibri" pitchFamily="34" charset="-122"/>
                <a:cs typeface="Calibri" pitchFamily="34" charset="-120"/>
              </a:rPr>
              <a:t>Strategy &amp; launch plan for OTHO Realty   ·   August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Production 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OTHO</dc:title>
  <dc:subject>PptxGenJS Presentation</dc:subject>
  <dc:creator>Production X</dc:creator>
  <cp:lastModifiedBy>Production X</cp:lastModifiedBy>
  <cp:revision>1</cp:revision>
  <dcterms:created xsi:type="dcterms:W3CDTF">2026-08-17T12:00:48Z</dcterms:created>
  <dcterms:modified xsi:type="dcterms:W3CDTF">2026-08-17T12:00:48Z</dcterms:modified>
</cp:coreProperties>
</file>