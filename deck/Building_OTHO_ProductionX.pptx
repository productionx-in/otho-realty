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This is a strategy deck, not a campaign plan. Say: I looked at where OTHO stands online today, what every competitor gets wrong, and what we build in that gap. We start with Neopolis and the same system carries to every project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about 30 seconds. The point is to signal this is structured and finite, not a wandering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strongest opening. Hand them a phone and let them search. The name change from Propertunity cost nothing because there was nothing online to lose. Do not apologise for this slide - it sets up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weakness into the argument. Starting from zero is cheaper than starting from a bad reputation. This is also why the foundation work in the first 30 days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Rupee figures throughout. The proptech market converts from roughly 30 billion dollars at 2026 rates. Pause on the 6,300 versus 11,000 gap - that is the commercial argument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deck. The gap is structural, not an oversight. Say the line about the door locked from the inside - it is what makes the opportunity defensible rather than just an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It reframes the entire category from a scale competition to a trust competition - which is the only competition OTHO can win from a standing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the last row deliberately. Square Yards built 1,410 crore of revenue and kept 46 crore. Use it to say what OTHO will refuse to do - never compete on listing count or transaction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Founders with big ambitions usually want volume. This slide argues for margin instead, backed by a real company's filings. Expect a question here - the answer is that OTHO earns from mandates and data, not from GMV.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the weaknesses. Presenting them honestly to people with twenty years of experience buys more credibility than any strength on the left. The data engineering point is the real risk - flag that we will need a technical hire or partner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threats column is where you show you have thought past the pitch. The defamation point matters - honest negatives must be built on cited facts, never opinion. Offer to bring in media counsel before the first negative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strategic conclusion. If they remember one thing from the middle of the deck, it should be that features get copied and the archive of honest reviews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company they already know does more work than any abstract explanation. Everyone in an Indian boardroom knows CarWale. The point: it won the category without ever winning on listings.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right-hand card is deliberately dark - it is the side OTHO sits on. Land the closing line: every competitor is fighting over half the market and ignoring the other half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positioning line. Say it, then stop talking for a beat. If they repeat it back later in the meeting, the deck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demo moment. Walk down the column slowly. Project A looks cheaper on the advertised rate and is actually more expensive per usable foot with less land. No portal in India shows this - it is the whole product in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names where it is borrowed from. That is deliberate - it tells them we are not inventing risk, we are importing proven ideas into a category that lacks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private number promise is the one to emphasise. It costs OTHO nothing and no incumbent can match it without breaking their own revenue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strategy. Slower for six months, much harder to copy afterwards. If they push to start selling immediately, this is the slide to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what content we actually make. The closing line is your commercial advantage - production in-house is why the budget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channels, each with a job. If asked what we would cut first at a lower budget: cold paid reach goes, organic stays. The response time line at the bottom costs nothing and protects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Everything before this was strategy; everything after is execution with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one is unglamorous on purpose. Spending before tracking works is how developer marketing budgets disappear without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month they see something real. The website and the first films are the visible proof that the plan is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three is where we stop guessing. Say clearly: we will not forecast cost per booking today because we have no baseline. At day 90 you get the real number and we set targets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Months four to twelve. The key transition is that enquiries start arriving free from search and AI - that is when the economics change and paid media becomes optional rather than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NRI line is worth pausing on. The natural first step abroad is not a new market, it is this market from the other side - buyers who cannot inspect anything themselves and need an honest proxy more than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the honest negatives point yourself rather than letting it surface in month three. If they will not commit to it, the moat disappears and this becomes another portal. Better to know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and stop. Do not add a summary slide - this line is the summary. Then hand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685800"/>
            <a:ext cx="4572000" cy="292608"/>
          </a:xfrm>
          <a:prstGeom prst="rect">
            <a:avLst/>
          </a:prstGeom>
          <a:noFill/>
          <a:ln/>
        </p:spPr>
        <p:txBody>
          <a:bodyPr wrap="square" lIns="0" tIns="0" rIns="0" bIns="0" rtlCol="0" anchor="ctr"/>
          <a:lstStyle/>
          <a:p>
            <a:pPr indent="0" marL="0">
              <a:buNone/>
            </a:pPr>
            <a:r>
              <a:rPr lang="en-US" sz="1200" b="1" spc="300" kern="0" dirty="0">
                <a:solidFill>
                  <a:srgbClr val="E8B04B"/>
                </a:solidFill>
                <a:latin typeface="Calibri" pitchFamily="34" charset="0"/>
                <a:ea typeface="Calibri" pitchFamily="34" charset="-122"/>
                <a:cs typeface="Calibri" pitchFamily="34" charset="-120"/>
              </a:rPr>
              <a:t>PRODUCTION X</a:t>
            </a:r>
            <a:endParaRPr lang="en-US" sz="1200" dirty="0"/>
          </a:p>
        </p:txBody>
      </p:sp>
      <p:sp>
        <p:nvSpPr>
          <p:cNvPr id="3" name="Text 1"/>
          <p:cNvSpPr/>
          <p:nvPr/>
        </p:nvSpPr>
        <p:spPr>
          <a:xfrm>
            <a:off x="640080" y="1737360"/>
            <a:ext cx="10241280" cy="13716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Building OTHO</a:t>
            </a:r>
            <a:endParaRPr lang="en-US" sz="6400" dirty="0"/>
          </a:p>
        </p:txBody>
      </p:sp>
      <p:sp>
        <p:nvSpPr>
          <p:cNvPr id="4" name="Text 2"/>
          <p:cNvSpPr/>
          <p:nvPr/>
        </p:nvSpPr>
        <p:spPr>
          <a:xfrm>
            <a:off x="640080" y="3200400"/>
            <a:ext cx="7680960" cy="914400"/>
          </a:xfrm>
          <a:prstGeom prst="rect">
            <a:avLst/>
          </a:prstGeom>
          <a:noFill/>
          <a:ln/>
        </p:spPr>
        <p:txBody>
          <a:bodyPr wrap="square" lIns="0" tIns="0" rIns="0" bIns="0" rtlCol="0" anchor="ctr"/>
          <a:lstStyle/>
          <a:p>
            <a:pPr indent="0" marL="0">
              <a:lnSpc>
                <a:spcPts val="2600"/>
              </a:lnSpc>
              <a:buNone/>
            </a:pPr>
            <a:r>
              <a:rPr lang="en-US" sz="1800" dirty="0">
                <a:solidFill>
                  <a:srgbClr val="C9CDD3"/>
                </a:solidFill>
                <a:latin typeface="Calibri" pitchFamily="34" charset="0"/>
                <a:ea typeface="Calibri" pitchFamily="34" charset="-122"/>
                <a:cs typeface="Calibri" pitchFamily="34" charset="-120"/>
              </a:rPr>
              <a:t>Where you stand today, what's broken in Indian property platforms, the product we build in that gap, and the first 90 days.</a:t>
            </a:r>
            <a:endParaRPr lang="en-US" sz="1800" dirty="0"/>
          </a:p>
        </p:txBody>
      </p:sp>
      <p:sp>
        <p:nvSpPr>
          <p:cNvPr id="5" name="Text 3"/>
          <p:cNvSpPr/>
          <p:nvPr/>
        </p:nvSpPr>
        <p:spPr>
          <a:xfrm>
            <a:off x="6400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STARTING</a:t>
            </a:r>
            <a:endParaRPr lang="en-US" sz="1000" dirty="0"/>
          </a:p>
        </p:txBody>
      </p:sp>
      <p:sp>
        <p:nvSpPr>
          <p:cNvPr id="6" name="Text 4"/>
          <p:cNvSpPr/>
          <p:nvPr/>
        </p:nvSpPr>
        <p:spPr>
          <a:xfrm>
            <a:off x="6400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Neopolis, Kokapet</a:t>
            </a:r>
            <a:endParaRPr lang="en-US" sz="1500" dirty="0"/>
          </a:p>
        </p:txBody>
      </p:sp>
      <p:sp>
        <p:nvSpPr>
          <p:cNvPr id="7" name="Text 5"/>
          <p:cNvSpPr/>
          <p:nvPr/>
        </p:nvSpPr>
        <p:spPr>
          <a:xfrm>
            <a:off x="33832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FIRST MILESTONE</a:t>
            </a:r>
            <a:endParaRPr lang="en-US" sz="1000" dirty="0"/>
          </a:p>
        </p:txBody>
      </p:sp>
      <p:sp>
        <p:nvSpPr>
          <p:cNvPr id="8" name="Text 6"/>
          <p:cNvSpPr/>
          <p:nvPr/>
        </p:nvSpPr>
        <p:spPr>
          <a:xfrm>
            <a:off x="33832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90 days</a:t>
            </a:r>
            <a:endParaRPr lang="en-US" sz="1500" dirty="0"/>
          </a:p>
        </p:txBody>
      </p:sp>
      <p:sp>
        <p:nvSpPr>
          <p:cNvPr id="9" name="Text 7"/>
          <p:cNvSpPr/>
          <p:nvPr/>
        </p:nvSpPr>
        <p:spPr>
          <a:xfrm>
            <a:off x="61264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THE MODEL</a:t>
            </a:r>
            <a:endParaRPr lang="en-US" sz="1000" dirty="0"/>
          </a:p>
        </p:txBody>
      </p:sp>
      <p:sp>
        <p:nvSpPr>
          <p:cNvPr id="10" name="Text 8"/>
          <p:cNvSpPr/>
          <p:nvPr/>
        </p:nvSpPr>
        <p:spPr>
          <a:xfrm>
            <a:off x="61264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CarWale, for property</a:t>
            </a:r>
            <a:endParaRPr lang="en-US" sz="1500" dirty="0"/>
          </a:p>
        </p:txBody>
      </p:sp>
      <p:sp>
        <p:nvSpPr>
          <p:cNvPr id="11" name="Text 9"/>
          <p:cNvSpPr/>
          <p:nvPr/>
        </p:nvSpPr>
        <p:spPr>
          <a:xfrm>
            <a:off x="88696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HORIZON</a:t>
            </a:r>
            <a:endParaRPr lang="en-US" sz="1000" dirty="0"/>
          </a:p>
        </p:txBody>
      </p:sp>
      <p:sp>
        <p:nvSpPr>
          <p:cNvPr id="12" name="Text 10"/>
          <p:cNvSpPr/>
          <p:nvPr/>
        </p:nvSpPr>
        <p:spPr>
          <a:xfrm>
            <a:off x="88696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Hyderabad → India → global</a:t>
            </a:r>
            <a:endParaRPr lang="en-US" sz="1500" dirty="0"/>
          </a:p>
        </p:txBody>
      </p:sp>
      <p:sp>
        <p:nvSpPr>
          <p:cNvPr id="13" name="Text 11"/>
          <p:cNvSpPr/>
          <p:nvPr/>
        </p:nvSpPr>
        <p:spPr>
          <a:xfrm>
            <a:off x="640080" y="6126480"/>
            <a:ext cx="10908792" cy="274320"/>
          </a:xfrm>
          <a:prstGeom prst="rect">
            <a:avLst/>
          </a:prstGeom>
          <a:noFill/>
          <a:ln/>
        </p:spPr>
        <p:txBody>
          <a:bodyPr wrap="square" lIns="0" tIns="0" rIns="0" bIns="0" rtlCol="0" anchor="ctr"/>
          <a:lstStyle/>
          <a:p>
            <a:pPr indent="0" marL="0">
              <a:buNone/>
            </a:pPr>
            <a:r>
              <a:rPr lang="en-US" sz="1100" dirty="0">
                <a:solidFill>
                  <a:srgbClr val="676C74"/>
                </a:solidFill>
                <a:latin typeface="Calibri" pitchFamily="34" charset="0"/>
                <a:ea typeface="Calibri" pitchFamily="34" charset="-122"/>
                <a:cs typeface="Calibri" pitchFamily="34" charset="-120"/>
              </a:rPr>
              <a:t>Strategy &amp; launch plan for OTHO Realty  ·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640080"/>
            <a:ext cx="10908792"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What's in this</a:t>
            </a:r>
            <a:endParaRPr lang="en-US" sz="3400" dirty="0"/>
          </a:p>
        </p:txBody>
      </p:sp>
      <p:sp>
        <p:nvSpPr>
          <p:cNvPr id="3" name="Text 1"/>
          <p:cNvSpPr/>
          <p:nvPr/>
        </p:nvSpPr>
        <p:spPr>
          <a:xfrm>
            <a:off x="640080" y="1691640"/>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01</a:t>
            </a:r>
            <a:endParaRPr lang="en-US" sz="2000" dirty="0"/>
          </a:p>
        </p:txBody>
      </p:sp>
      <p:sp>
        <p:nvSpPr>
          <p:cNvPr id="4" name="Text 2"/>
          <p:cNvSpPr/>
          <p:nvPr/>
        </p:nvSpPr>
        <p:spPr>
          <a:xfrm>
            <a:off x="1353312" y="169164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Where OTHO stands today</a:t>
            </a:r>
            <a:endParaRPr lang="en-US" sz="1700" dirty="0"/>
          </a:p>
        </p:txBody>
      </p:sp>
      <p:sp>
        <p:nvSpPr>
          <p:cNvPr id="5" name="Text 3"/>
          <p:cNvSpPr/>
          <p:nvPr/>
        </p:nvSpPr>
        <p:spPr>
          <a:xfrm>
            <a:off x="5669280" y="1691640"/>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The honest audit. Both names, zero footprint.</a:t>
            </a:r>
            <a:endParaRPr lang="en-US" sz="1400" dirty="0"/>
          </a:p>
        </p:txBody>
      </p:sp>
      <p:sp>
        <p:nvSpPr>
          <p:cNvPr id="6" name="Text 4"/>
          <p:cNvSpPr/>
          <p:nvPr/>
        </p:nvSpPr>
        <p:spPr>
          <a:xfrm>
            <a:off x="640080" y="2441448"/>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02</a:t>
            </a:r>
            <a:endParaRPr lang="en-US" sz="2000" dirty="0"/>
          </a:p>
        </p:txBody>
      </p:sp>
      <p:sp>
        <p:nvSpPr>
          <p:cNvPr id="7" name="Text 5"/>
          <p:cNvSpPr/>
          <p:nvPr/>
        </p:nvSpPr>
        <p:spPr>
          <a:xfrm>
            <a:off x="1353312" y="244144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gap in the market</a:t>
            </a:r>
            <a:endParaRPr lang="en-US" sz="1700" dirty="0"/>
          </a:p>
        </p:txBody>
      </p:sp>
      <p:sp>
        <p:nvSpPr>
          <p:cNvPr id="8" name="Text 6"/>
          <p:cNvSpPr/>
          <p:nvPr/>
        </p:nvSpPr>
        <p:spPr>
          <a:xfrm>
            <a:off x="5669280" y="2441448"/>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Why no existing platform can fix its worst problem.</a:t>
            </a:r>
            <a:endParaRPr lang="en-US" sz="1400" dirty="0"/>
          </a:p>
        </p:txBody>
      </p:sp>
      <p:sp>
        <p:nvSpPr>
          <p:cNvPr id="9" name="Text 7"/>
          <p:cNvSpPr/>
          <p:nvPr/>
        </p:nvSpPr>
        <p:spPr>
          <a:xfrm>
            <a:off x="640080" y="3191256"/>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03</a:t>
            </a:r>
            <a:endParaRPr lang="en-US" sz="2000" dirty="0"/>
          </a:p>
        </p:txBody>
      </p:sp>
      <p:sp>
        <p:nvSpPr>
          <p:cNvPr id="10" name="Text 8"/>
          <p:cNvSpPr/>
          <p:nvPr/>
        </p:nvSpPr>
        <p:spPr>
          <a:xfrm>
            <a:off x="1353312" y="3191256"/>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SWOT</a:t>
            </a:r>
            <a:endParaRPr lang="en-US" sz="1700" dirty="0"/>
          </a:p>
        </p:txBody>
      </p:sp>
      <p:sp>
        <p:nvSpPr>
          <p:cNvPr id="11" name="Text 9"/>
          <p:cNvSpPr/>
          <p:nvPr/>
        </p:nvSpPr>
        <p:spPr>
          <a:xfrm>
            <a:off x="5669280" y="3191256"/>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What we have, what we lack, and what could go wrong.</a:t>
            </a:r>
            <a:endParaRPr lang="en-US" sz="1400" dirty="0"/>
          </a:p>
        </p:txBody>
      </p:sp>
      <p:sp>
        <p:nvSpPr>
          <p:cNvPr id="12" name="Text 10"/>
          <p:cNvSpPr/>
          <p:nvPr/>
        </p:nvSpPr>
        <p:spPr>
          <a:xfrm>
            <a:off x="640080" y="3941064"/>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04</a:t>
            </a:r>
            <a:endParaRPr lang="en-US" sz="2000" dirty="0"/>
          </a:p>
        </p:txBody>
      </p:sp>
      <p:sp>
        <p:nvSpPr>
          <p:cNvPr id="13" name="Text 11"/>
          <p:cNvSpPr/>
          <p:nvPr/>
        </p:nvSpPr>
        <p:spPr>
          <a:xfrm>
            <a:off x="1353312" y="394106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model and the platform</a:t>
            </a:r>
            <a:endParaRPr lang="en-US" sz="1700" dirty="0"/>
          </a:p>
        </p:txBody>
      </p:sp>
      <p:sp>
        <p:nvSpPr>
          <p:cNvPr id="14" name="Text 12"/>
          <p:cNvSpPr/>
          <p:nvPr/>
        </p:nvSpPr>
        <p:spPr>
          <a:xfrm>
            <a:off x="5669280" y="3941064"/>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CarWale for property. What we build, borrowed from whom.</a:t>
            </a:r>
            <a:endParaRPr lang="en-US" sz="1400" dirty="0"/>
          </a:p>
        </p:txBody>
      </p:sp>
      <p:sp>
        <p:nvSpPr>
          <p:cNvPr id="15" name="Text 13"/>
          <p:cNvSpPr/>
          <p:nvPr/>
        </p:nvSpPr>
        <p:spPr>
          <a:xfrm>
            <a:off x="640080" y="4690872"/>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05</a:t>
            </a:r>
            <a:endParaRPr lang="en-US" sz="2000" dirty="0"/>
          </a:p>
        </p:txBody>
      </p:sp>
      <p:sp>
        <p:nvSpPr>
          <p:cNvPr id="16" name="Text 14"/>
          <p:cNvSpPr/>
          <p:nvPr/>
        </p:nvSpPr>
        <p:spPr>
          <a:xfrm>
            <a:off x="1353312" y="469087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first 90 days</a:t>
            </a:r>
            <a:endParaRPr lang="en-US" sz="1700" dirty="0"/>
          </a:p>
        </p:txBody>
      </p:sp>
      <p:sp>
        <p:nvSpPr>
          <p:cNvPr id="17" name="Text 15"/>
          <p:cNvSpPr/>
          <p:nvPr/>
        </p:nvSpPr>
        <p:spPr>
          <a:xfrm>
            <a:off x="5669280" y="4690872"/>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Week by week, with something finished each month.</a:t>
            </a:r>
            <a:endParaRPr lang="en-US" sz="1400" dirty="0"/>
          </a:p>
        </p:txBody>
      </p:sp>
      <p:sp>
        <p:nvSpPr>
          <p:cNvPr id="18" name="Text 16"/>
          <p:cNvSpPr/>
          <p:nvPr/>
        </p:nvSpPr>
        <p:spPr>
          <a:xfrm>
            <a:off x="640080" y="5440680"/>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06</a:t>
            </a:r>
            <a:endParaRPr lang="en-US" sz="2000" dirty="0"/>
          </a:p>
        </p:txBody>
      </p:sp>
      <p:sp>
        <p:nvSpPr>
          <p:cNvPr id="19" name="Text 17"/>
          <p:cNvSpPr/>
          <p:nvPr/>
        </p:nvSpPr>
        <p:spPr>
          <a:xfrm>
            <a:off x="1353312" y="544068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Ten years</a:t>
            </a:r>
            <a:endParaRPr lang="en-US" sz="1700" dirty="0"/>
          </a:p>
        </p:txBody>
      </p:sp>
      <p:sp>
        <p:nvSpPr>
          <p:cNvPr id="20" name="Text 18"/>
          <p:cNvSpPr/>
          <p:nvPr/>
        </p:nvSpPr>
        <p:spPr>
          <a:xfrm>
            <a:off x="5669280" y="5440680"/>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Hyderabad to India to global, as a sequence.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I found</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I searched for OTHO Realty the way a buyer would. Then I searched for Propertunity.</a:t>
            </a:r>
            <a:endParaRPr lang="en-US" sz="1500" dirty="0"/>
          </a:p>
        </p:txBody>
      </p:sp>
      <p:sp>
        <p:nvSpPr>
          <p:cNvPr id="6" name="Shape 4"/>
          <p:cNvSpPr/>
          <p:nvPr/>
        </p:nvSpPr>
        <p:spPr>
          <a:xfrm>
            <a:off x="640080" y="1600200"/>
            <a:ext cx="10908792" cy="493776"/>
          </a:xfrm>
          <a:prstGeom prst="rect">
            <a:avLst/>
          </a:prstGeom>
          <a:solidFill>
            <a:srgbClr val="FFFFFF"/>
          </a:solidFill>
          <a:ln w="6350">
            <a:solidFill>
              <a:srgbClr val="DFDFDB"/>
            </a:solidFill>
            <a:prstDash val="solid"/>
          </a:ln>
        </p:spPr>
      </p:sp>
      <p:sp>
        <p:nvSpPr>
          <p:cNvPr id="7" name="Text 5"/>
          <p:cNvSpPr/>
          <p:nvPr/>
        </p:nvSpPr>
        <p:spPr>
          <a:xfrm>
            <a:off x="841248" y="1600200"/>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"OTHO Realty" on Google</a:t>
            </a:r>
            <a:endParaRPr lang="en-US" sz="1350" dirty="0"/>
          </a:p>
        </p:txBody>
      </p:sp>
      <p:sp>
        <p:nvSpPr>
          <p:cNvPr id="8" name="Text 6"/>
          <p:cNvSpPr/>
          <p:nvPr/>
        </p:nvSpPr>
        <p:spPr>
          <a:xfrm>
            <a:off x="4160520" y="1600200"/>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Returns Square Yards, 99acres, NoBroker. Nothing about you.</a:t>
            </a:r>
            <a:endParaRPr lang="en-US" sz="1250" dirty="0"/>
          </a:p>
        </p:txBody>
      </p:sp>
      <p:sp>
        <p:nvSpPr>
          <p:cNvPr id="9" name="Text 7"/>
          <p:cNvSpPr/>
          <p:nvPr/>
        </p:nvSpPr>
        <p:spPr>
          <a:xfrm>
            <a:off x="9948672" y="1600200"/>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10" name="Shape 8"/>
          <p:cNvSpPr/>
          <p:nvPr/>
        </p:nvSpPr>
        <p:spPr>
          <a:xfrm>
            <a:off x="640080" y="2167128"/>
            <a:ext cx="10908792" cy="493776"/>
          </a:xfrm>
          <a:prstGeom prst="rect">
            <a:avLst/>
          </a:prstGeom>
          <a:solidFill>
            <a:srgbClr val="FFFFFF"/>
          </a:solidFill>
          <a:ln w="6350">
            <a:solidFill>
              <a:srgbClr val="DFDFDB"/>
            </a:solidFill>
            <a:prstDash val="solid"/>
          </a:ln>
        </p:spPr>
      </p:sp>
      <p:sp>
        <p:nvSpPr>
          <p:cNvPr id="11" name="Text 9"/>
          <p:cNvSpPr/>
          <p:nvPr/>
        </p:nvSpPr>
        <p:spPr>
          <a:xfrm>
            <a:off x="841248" y="2167128"/>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"Propertunity" Hyderabad</a:t>
            </a:r>
            <a:endParaRPr lang="en-US" sz="1350" dirty="0"/>
          </a:p>
        </p:txBody>
      </p:sp>
      <p:sp>
        <p:nvSpPr>
          <p:cNvPr id="12" name="Text 10"/>
          <p:cNvSpPr/>
          <p:nvPr/>
        </p:nvSpPr>
        <p:spPr>
          <a:xfrm>
            <a:off x="4160520" y="2167128"/>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Returns firms in Florida, the UK and Australia. Not you.</a:t>
            </a:r>
            <a:endParaRPr lang="en-US" sz="1250" dirty="0"/>
          </a:p>
        </p:txBody>
      </p:sp>
      <p:sp>
        <p:nvSpPr>
          <p:cNvPr id="13" name="Text 11"/>
          <p:cNvSpPr/>
          <p:nvPr/>
        </p:nvSpPr>
        <p:spPr>
          <a:xfrm>
            <a:off x="9948672" y="2167128"/>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14" name="Shape 12"/>
          <p:cNvSpPr/>
          <p:nvPr/>
        </p:nvSpPr>
        <p:spPr>
          <a:xfrm>
            <a:off x="640080" y="2734056"/>
            <a:ext cx="10908792" cy="493776"/>
          </a:xfrm>
          <a:prstGeom prst="rect">
            <a:avLst/>
          </a:prstGeom>
          <a:solidFill>
            <a:srgbClr val="FFFFFF"/>
          </a:solidFill>
          <a:ln w="6350">
            <a:solidFill>
              <a:srgbClr val="DFDFDB"/>
            </a:solidFill>
            <a:prstDash val="solid"/>
          </a:ln>
        </p:spPr>
      </p:sp>
      <p:sp>
        <p:nvSpPr>
          <p:cNvPr id="15" name="Text 13"/>
          <p:cNvSpPr/>
          <p:nvPr/>
        </p:nvSpPr>
        <p:spPr>
          <a:xfrm>
            <a:off x="841248" y="2734056"/>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Website</a:t>
            </a:r>
            <a:endParaRPr lang="en-US" sz="1350" dirty="0"/>
          </a:p>
        </p:txBody>
      </p:sp>
      <p:sp>
        <p:nvSpPr>
          <p:cNvPr id="16" name="Text 14"/>
          <p:cNvSpPr/>
          <p:nvPr/>
        </p:nvSpPr>
        <p:spPr>
          <a:xfrm>
            <a:off x="4160520" y="2734056"/>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None found under either name</a:t>
            </a:r>
            <a:endParaRPr lang="en-US" sz="1250" dirty="0"/>
          </a:p>
        </p:txBody>
      </p:sp>
      <p:sp>
        <p:nvSpPr>
          <p:cNvPr id="17" name="Text 15"/>
          <p:cNvSpPr/>
          <p:nvPr/>
        </p:nvSpPr>
        <p:spPr>
          <a:xfrm>
            <a:off x="9948672" y="2734056"/>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18" name="Shape 16"/>
          <p:cNvSpPr/>
          <p:nvPr/>
        </p:nvSpPr>
        <p:spPr>
          <a:xfrm>
            <a:off x="640080" y="3300984"/>
            <a:ext cx="10908792" cy="493776"/>
          </a:xfrm>
          <a:prstGeom prst="rect">
            <a:avLst/>
          </a:prstGeom>
          <a:solidFill>
            <a:srgbClr val="FFFFFF"/>
          </a:solidFill>
          <a:ln w="6350">
            <a:solidFill>
              <a:srgbClr val="DFDFDB"/>
            </a:solidFill>
            <a:prstDash val="solid"/>
          </a:ln>
        </p:spPr>
      </p:sp>
      <p:sp>
        <p:nvSpPr>
          <p:cNvPr id="19" name="Text 17"/>
          <p:cNvSpPr/>
          <p:nvPr/>
        </p:nvSpPr>
        <p:spPr>
          <a:xfrm>
            <a:off x="841248" y="3300984"/>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YouTube</a:t>
            </a:r>
            <a:endParaRPr lang="en-US" sz="1350" dirty="0"/>
          </a:p>
        </p:txBody>
      </p:sp>
      <p:sp>
        <p:nvSpPr>
          <p:cNvPr id="20" name="Text 18"/>
          <p:cNvSpPr/>
          <p:nvPr/>
        </p:nvSpPr>
        <p:spPr>
          <a:xfrm>
            <a:off x="4160520" y="3300984"/>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No channel</a:t>
            </a:r>
            <a:endParaRPr lang="en-US" sz="1250" dirty="0"/>
          </a:p>
        </p:txBody>
      </p:sp>
      <p:sp>
        <p:nvSpPr>
          <p:cNvPr id="21" name="Text 19"/>
          <p:cNvSpPr/>
          <p:nvPr/>
        </p:nvSpPr>
        <p:spPr>
          <a:xfrm>
            <a:off x="9948672" y="3300984"/>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22" name="Shape 20"/>
          <p:cNvSpPr/>
          <p:nvPr/>
        </p:nvSpPr>
        <p:spPr>
          <a:xfrm>
            <a:off x="640080" y="3867912"/>
            <a:ext cx="10908792" cy="493776"/>
          </a:xfrm>
          <a:prstGeom prst="rect">
            <a:avLst/>
          </a:prstGeom>
          <a:solidFill>
            <a:srgbClr val="FFFFFF"/>
          </a:solidFill>
          <a:ln w="6350">
            <a:solidFill>
              <a:srgbClr val="DFDFDB"/>
            </a:solidFill>
            <a:prstDash val="solid"/>
          </a:ln>
        </p:spPr>
      </p:sp>
      <p:sp>
        <p:nvSpPr>
          <p:cNvPr id="23" name="Text 21"/>
          <p:cNvSpPr/>
          <p:nvPr/>
        </p:nvSpPr>
        <p:spPr>
          <a:xfrm>
            <a:off x="841248" y="3867912"/>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Articles, guides, press</a:t>
            </a:r>
            <a:endParaRPr lang="en-US" sz="1350" dirty="0"/>
          </a:p>
        </p:txBody>
      </p:sp>
      <p:sp>
        <p:nvSpPr>
          <p:cNvPr id="24" name="Text 22"/>
          <p:cNvSpPr/>
          <p:nvPr/>
        </p:nvSpPr>
        <p:spPr>
          <a:xfrm>
            <a:off x="4160520" y="3867912"/>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Nothing indexed anywhere</a:t>
            </a:r>
            <a:endParaRPr lang="en-US" sz="1250" dirty="0"/>
          </a:p>
        </p:txBody>
      </p:sp>
      <p:sp>
        <p:nvSpPr>
          <p:cNvPr id="25" name="Text 23"/>
          <p:cNvSpPr/>
          <p:nvPr/>
        </p:nvSpPr>
        <p:spPr>
          <a:xfrm>
            <a:off x="9948672" y="3867912"/>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26" name="Shape 24"/>
          <p:cNvSpPr/>
          <p:nvPr/>
        </p:nvSpPr>
        <p:spPr>
          <a:xfrm>
            <a:off x="640080" y="4434840"/>
            <a:ext cx="10908792" cy="493776"/>
          </a:xfrm>
          <a:prstGeom prst="rect">
            <a:avLst/>
          </a:prstGeom>
          <a:solidFill>
            <a:srgbClr val="FFFFFF"/>
          </a:solidFill>
          <a:ln w="6350">
            <a:solidFill>
              <a:srgbClr val="DFDFDB"/>
            </a:solidFill>
            <a:prstDash val="solid"/>
          </a:ln>
        </p:spPr>
      </p:sp>
      <p:sp>
        <p:nvSpPr>
          <p:cNvPr id="27" name="Text 25"/>
          <p:cNvSpPr/>
          <p:nvPr/>
        </p:nvSpPr>
        <p:spPr>
          <a:xfrm>
            <a:off x="841248" y="4434840"/>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Instagram, LinkedIn, GBP</a:t>
            </a:r>
            <a:endParaRPr lang="en-US" sz="1350" dirty="0"/>
          </a:p>
        </p:txBody>
      </p:sp>
      <p:sp>
        <p:nvSpPr>
          <p:cNvPr id="28" name="Text 26"/>
          <p:cNvSpPr/>
          <p:nvPr/>
        </p:nvSpPr>
        <p:spPr>
          <a:xfrm>
            <a:off x="4160520" y="4434840"/>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To confirm with you in week one</a:t>
            </a:r>
            <a:endParaRPr lang="en-US" sz="1250" dirty="0"/>
          </a:p>
        </p:txBody>
      </p:sp>
      <p:sp>
        <p:nvSpPr>
          <p:cNvPr id="29" name="Text 27"/>
          <p:cNvSpPr/>
          <p:nvPr/>
        </p:nvSpPr>
        <p:spPr>
          <a:xfrm>
            <a:off x="9948672" y="4434840"/>
            <a:ext cx="1417320" cy="493776"/>
          </a:xfrm>
          <a:prstGeom prst="rect">
            <a:avLst/>
          </a:prstGeom>
          <a:noFill/>
          <a:ln/>
        </p:spPr>
        <p:txBody>
          <a:bodyPr wrap="square" lIns="0" tIns="0" rIns="0" bIns="0" rtlCol="0" anchor="ctr"/>
          <a:lstStyle/>
          <a:p>
            <a:pPr algn="r" indent="0" marL="0">
              <a:buNone/>
            </a:pPr>
            <a:r>
              <a:rPr lang="en-US" sz="1050" b="1" spc="100" kern="0" dirty="0">
                <a:solidFill>
                  <a:srgbClr val="676C74"/>
                </a:solidFill>
                <a:latin typeface="Calibri" pitchFamily="34" charset="0"/>
                <a:ea typeface="Calibri" pitchFamily="34" charset="-122"/>
                <a:cs typeface="Calibri" pitchFamily="34" charset="-120"/>
              </a:rPr>
              <a:t>TO CHECK</a:t>
            </a:r>
            <a:endParaRPr lang="en-US" sz="1050" dirty="0"/>
          </a:p>
        </p:txBody>
      </p:sp>
      <p:sp>
        <p:nvSpPr>
          <p:cNvPr id="30" name="Shape 28"/>
          <p:cNvSpPr/>
          <p:nvPr/>
        </p:nvSpPr>
        <p:spPr>
          <a:xfrm>
            <a:off x="640080" y="5001768"/>
            <a:ext cx="10908792" cy="493776"/>
          </a:xfrm>
          <a:prstGeom prst="rect">
            <a:avLst/>
          </a:prstGeom>
          <a:solidFill>
            <a:srgbClr val="FFFFFF"/>
          </a:solidFill>
          <a:ln w="6350">
            <a:solidFill>
              <a:srgbClr val="DFDFDB"/>
            </a:solidFill>
            <a:prstDash val="solid"/>
          </a:ln>
        </p:spPr>
      </p:sp>
      <p:sp>
        <p:nvSpPr>
          <p:cNvPr id="31" name="Text 29"/>
          <p:cNvSpPr/>
          <p:nvPr/>
        </p:nvSpPr>
        <p:spPr>
          <a:xfrm>
            <a:off x="841248" y="5001768"/>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Founder relationships</a:t>
            </a:r>
            <a:endParaRPr lang="en-US" sz="1350" dirty="0"/>
          </a:p>
        </p:txBody>
      </p:sp>
      <p:sp>
        <p:nvSpPr>
          <p:cNvPr id="32" name="Text 30"/>
          <p:cNvSpPr/>
          <p:nvPr/>
        </p:nvSpPr>
        <p:spPr>
          <a:xfrm>
            <a:off x="4160520" y="5001768"/>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Two decades, tier-one developers. The whole asset.</a:t>
            </a:r>
            <a:endParaRPr lang="en-US" sz="1250" dirty="0"/>
          </a:p>
        </p:txBody>
      </p:sp>
      <p:sp>
        <p:nvSpPr>
          <p:cNvPr id="33" name="Text 31"/>
          <p:cNvSpPr/>
          <p:nvPr/>
        </p:nvSpPr>
        <p:spPr>
          <a:xfrm>
            <a:off x="9948672" y="5001768"/>
            <a:ext cx="1417320" cy="493776"/>
          </a:xfrm>
          <a:prstGeom prst="rect">
            <a:avLst/>
          </a:prstGeom>
          <a:noFill/>
          <a:ln/>
        </p:spPr>
        <p:txBody>
          <a:bodyPr wrap="square" lIns="0" tIns="0" rIns="0" bIns="0" rtlCol="0" anchor="ctr"/>
          <a:lstStyle/>
          <a:p>
            <a:pPr algn="r" indent="0" marL="0">
              <a:buNone/>
            </a:pPr>
            <a:r>
              <a:rPr lang="en-US" sz="1050" b="1" spc="100" kern="0" dirty="0">
                <a:solidFill>
                  <a:srgbClr val="3D8B63"/>
                </a:solidFill>
                <a:latin typeface="Calibri" pitchFamily="34" charset="0"/>
                <a:ea typeface="Calibri" pitchFamily="34" charset="-122"/>
                <a:cs typeface="Calibri" pitchFamily="34" charset="-120"/>
              </a:rPr>
              <a:t>STRONG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554480"/>
            <a:ext cx="8778240" cy="1828800"/>
          </a:xfrm>
          <a:prstGeom prst="rect">
            <a:avLst/>
          </a:prstGeom>
          <a:noFill/>
          <a:ln/>
        </p:spPr>
        <p:txBody>
          <a:bodyPr wrap="square" lIns="0" tIns="0" rIns="0" bIns="0" rtlCol="0" anchor="ctr"/>
          <a:lstStyle/>
          <a:p>
            <a:pPr indent="0" marL="0">
              <a:lnSpc>
                <a:spcPts val="5400"/>
              </a:lnSpc>
              <a:buNone/>
            </a:pPr>
            <a:r>
              <a:rPr lang="en-US" sz="4600" b="1" dirty="0">
                <a:solidFill>
                  <a:srgbClr val="FFFFFF"/>
                </a:solidFill>
                <a:latin typeface="Cambria" pitchFamily="34" charset="0"/>
                <a:ea typeface="Cambria" pitchFamily="34" charset="-122"/>
                <a:cs typeface="Cambria" pitchFamily="34" charset="-120"/>
              </a:rPr>
              <a:t>Zero footprint means</a:t>
            </a:r>
            <a:endParaRPr lang="en-US" sz="4600" dirty="0"/>
          </a:p>
          <a:p>
            <a:pPr indent="0" marL="0">
              <a:lnSpc>
                <a:spcPts val="5400"/>
              </a:lnSpc>
              <a:buNone/>
            </a:pPr>
            <a:r>
              <a:rPr lang="en-US" sz="4600" b="1" dirty="0">
                <a:solidFill>
                  <a:srgbClr val="FFFFFF"/>
                </a:solidFill>
                <a:latin typeface="Cambria" pitchFamily="34" charset="0"/>
                <a:ea typeface="Cambria" pitchFamily="34" charset="-122"/>
                <a:cs typeface="Cambria" pitchFamily="34" charset="-120"/>
              </a:rPr>
              <a:t>zero baggage.</a:t>
            </a:r>
            <a:endParaRPr lang="en-US" sz="4600" dirty="0"/>
          </a:p>
        </p:txBody>
      </p:sp>
      <p:sp>
        <p:nvSpPr>
          <p:cNvPr id="3" name="Text 1"/>
          <p:cNvSpPr/>
          <p:nvPr/>
        </p:nvSpPr>
        <p:spPr>
          <a:xfrm>
            <a:off x="640080" y="3657600"/>
            <a:ext cx="8778240" cy="1828800"/>
          </a:xfrm>
          <a:prstGeom prst="rect">
            <a:avLst/>
          </a:prstGeom>
          <a:noFill/>
          <a:ln/>
        </p:spPr>
        <p:txBody>
          <a:bodyPr wrap="square" lIns="0" tIns="0" rIns="0" bIns="0" rtlCol="0" anchor="ctr"/>
          <a:lstStyle/>
          <a:p>
            <a:pPr indent="0" marL="0">
              <a:lnSpc>
                <a:spcPts val="2400"/>
              </a:lnSpc>
              <a:buNone/>
            </a:pPr>
            <a:r>
              <a:rPr lang="en-US" sz="1600" dirty="0">
                <a:solidFill>
                  <a:srgbClr val="C9CDD3"/>
                </a:solidFill>
                <a:latin typeface="Calibri" pitchFamily="34" charset="0"/>
                <a:ea typeface="Calibri" pitchFamily="34" charset="-122"/>
                <a:cs typeface="Calibri" pitchFamily="34" charset="-120"/>
              </a:rPr>
              <a:t>No dead accounts. No abandoned campaigns. No complaints ranking on page one. No confused brand to unpick.</a:t>
            </a:r>
            <a:endParaRPr lang="en-US" sz="1600" dirty="0"/>
          </a:p>
          <a:p>
            <a:pPr indent="0" marL="0">
              <a:lnSpc>
                <a:spcPts val="2400"/>
              </a:lnSpc>
              <a:buNone/>
            </a:pPr>
            <a:endParaRPr lang="en-US" sz="1600" dirty="0"/>
          </a:p>
          <a:p>
            <a:pPr indent="0" marL="0">
              <a:lnSpc>
                <a:spcPts val="2400"/>
              </a:lnSpc>
              <a:buNone/>
            </a:pPr>
            <a:r>
              <a:rPr lang="en-US" sz="1600" dirty="0">
                <a:solidFill>
                  <a:srgbClr val="C9CDD3"/>
                </a:solidFill>
                <a:latin typeface="Calibri" pitchFamily="34" charset="0"/>
                <a:ea typeface="Calibri" pitchFamily="34" charset="-122"/>
                <a:cs typeface="Calibri" pitchFamily="34" charset="-120"/>
              </a:rPr>
              <a:t>Every competitor in this deck carries years of that. OTHO gets to build it properly the first time — and if the ambition is national, the foundation matters more than the first campaign.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The market you're entering</a:t>
            </a:r>
            <a:endParaRPr lang="en-US" sz="3000" dirty="0"/>
          </a:p>
        </p:txBody>
      </p:sp>
      <p:sp>
        <p:nvSpPr>
          <p:cNvPr id="5" name="Shape 3"/>
          <p:cNvSpPr/>
          <p:nvPr/>
        </p:nvSpPr>
        <p:spPr>
          <a:xfrm>
            <a:off x="640080"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Text 4"/>
          <p:cNvSpPr/>
          <p:nvPr/>
        </p:nvSpPr>
        <p:spPr>
          <a:xfrm>
            <a:off x="859536"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₹2.6 lakh cr</a:t>
            </a:r>
            <a:endParaRPr lang="en-US" sz="2700" dirty="0"/>
          </a:p>
        </p:txBody>
      </p:sp>
      <p:sp>
        <p:nvSpPr>
          <p:cNvPr id="7" name="Text 5"/>
          <p:cNvSpPr/>
          <p:nvPr/>
        </p:nvSpPr>
        <p:spPr>
          <a:xfrm>
            <a:off x="859536"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Indian proptech market in 2025</a:t>
            </a:r>
            <a:endParaRPr lang="en-US" sz="1250" dirty="0"/>
          </a:p>
        </p:txBody>
      </p:sp>
      <p:sp>
        <p:nvSpPr>
          <p:cNvPr id="8" name="Text 6"/>
          <p:cNvSpPr/>
          <p:nvPr/>
        </p:nvSpPr>
        <p:spPr>
          <a:xfrm>
            <a:off x="859536"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IMARC / KEN RESEARCH</a:t>
            </a:r>
            <a:endParaRPr lang="en-US" sz="900" dirty="0"/>
          </a:p>
        </p:txBody>
      </p:sp>
      <p:sp>
        <p:nvSpPr>
          <p:cNvPr id="9" name="Shape 7"/>
          <p:cNvSpPr/>
          <p:nvPr/>
        </p:nvSpPr>
        <p:spPr>
          <a:xfrm>
            <a:off x="3438144"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3657600"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₹6.9 lakh cr</a:t>
            </a:r>
            <a:endParaRPr lang="en-US" sz="2700" dirty="0"/>
          </a:p>
        </p:txBody>
      </p:sp>
      <p:sp>
        <p:nvSpPr>
          <p:cNvPr id="11" name="Text 9"/>
          <p:cNvSpPr/>
          <p:nvPr/>
        </p:nvSpPr>
        <p:spPr>
          <a:xfrm>
            <a:off x="3657600"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Where it reaches by 2031</a:t>
            </a:r>
            <a:endParaRPr lang="en-US" sz="1250" dirty="0"/>
          </a:p>
        </p:txBody>
      </p:sp>
      <p:sp>
        <p:nvSpPr>
          <p:cNvPr id="12" name="Text 10"/>
          <p:cNvSpPr/>
          <p:nvPr/>
        </p:nvSpPr>
        <p:spPr>
          <a:xfrm>
            <a:off x="3657600"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IMARC / KEN RESEARCH</a:t>
            </a:r>
            <a:endParaRPr lang="en-US" sz="900" dirty="0"/>
          </a:p>
        </p:txBody>
      </p:sp>
      <p:sp>
        <p:nvSpPr>
          <p:cNvPr id="13" name="Shape 11"/>
          <p:cNvSpPr/>
          <p:nvPr/>
        </p:nvSpPr>
        <p:spPr>
          <a:xfrm>
            <a:off x="6236208"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4" name="Text 12"/>
          <p:cNvSpPr/>
          <p:nvPr/>
        </p:nvSpPr>
        <p:spPr>
          <a:xfrm>
            <a:off x="6455664"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19 months</a:t>
            </a:r>
            <a:endParaRPr lang="en-US" sz="2700" dirty="0"/>
          </a:p>
        </p:txBody>
      </p:sp>
      <p:sp>
        <p:nvSpPr>
          <p:cNvPr id="15" name="Text 13"/>
          <p:cNvSpPr/>
          <p:nvPr/>
        </p:nvSpPr>
        <p:spPr>
          <a:xfrm>
            <a:off x="6455664"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Unsold inventory in Hyderabad — worst in India</a:t>
            </a:r>
            <a:endParaRPr lang="en-US" sz="1250" dirty="0"/>
          </a:p>
        </p:txBody>
      </p:sp>
      <p:sp>
        <p:nvSpPr>
          <p:cNvPr id="16" name="Text 14"/>
          <p:cNvSpPr/>
          <p:nvPr/>
        </p:nvSpPr>
        <p:spPr>
          <a:xfrm>
            <a:off x="6455664"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ANAROCK</a:t>
            </a:r>
            <a:endParaRPr lang="en-US" sz="900" dirty="0"/>
          </a:p>
        </p:txBody>
      </p:sp>
      <p:sp>
        <p:nvSpPr>
          <p:cNvPr id="17" name="Shape 15"/>
          <p:cNvSpPr/>
          <p:nvPr/>
        </p:nvSpPr>
        <p:spPr>
          <a:xfrm>
            <a:off x="9034272"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8" name="Text 16"/>
          <p:cNvSpPr/>
          <p:nvPr/>
        </p:nvSpPr>
        <p:spPr>
          <a:xfrm>
            <a:off x="9253728"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40%</a:t>
            </a:r>
            <a:endParaRPr lang="en-US" sz="2700" dirty="0"/>
          </a:p>
        </p:txBody>
      </p:sp>
      <p:sp>
        <p:nvSpPr>
          <p:cNvPr id="19" name="Text 17"/>
          <p:cNvSpPr/>
          <p:nvPr/>
        </p:nvSpPr>
        <p:spPr>
          <a:xfrm>
            <a:off x="9253728"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Of ~10,000 Neopolis homes, still unsold</a:t>
            </a:r>
            <a:endParaRPr lang="en-US" sz="1250" dirty="0"/>
          </a:p>
        </p:txBody>
      </p:sp>
      <p:sp>
        <p:nvSpPr>
          <p:cNvPr id="20" name="Text 18"/>
          <p:cNvSpPr/>
          <p:nvPr/>
        </p:nvSpPr>
        <p:spPr>
          <a:xfrm>
            <a:off x="9253728"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TRADE PRESS 2026</a:t>
            </a:r>
            <a:endParaRPr lang="en-US" sz="900" dirty="0"/>
          </a:p>
        </p:txBody>
      </p:sp>
      <p:sp>
        <p:nvSpPr>
          <p:cNvPr id="21" name="Text 19"/>
          <p:cNvSpPr/>
          <p:nvPr/>
        </p:nvSpPr>
        <p:spPr>
          <a:xfrm>
            <a:off x="640080" y="3977640"/>
            <a:ext cx="10908792" cy="822960"/>
          </a:xfrm>
          <a:prstGeom prst="rect">
            <a:avLst/>
          </a:prstGeom>
          <a:noFill/>
          <a:ln/>
        </p:spPr>
        <p:txBody>
          <a:bodyPr wrap="square" lIns="0" tIns="0" rIns="0" bIns="0" rtlCol="0" anchor="ctr"/>
          <a:lstStyle/>
          <a:p>
            <a:pPr indent="0" marL="0">
              <a:lnSpc>
                <a:spcPts val="2400"/>
              </a:lnSpc>
              <a:buNone/>
            </a:pPr>
            <a:r>
              <a:rPr lang="en-US" sz="1550" dirty="0">
                <a:solidFill>
                  <a:srgbClr val="1A2332"/>
                </a:solidFill>
                <a:latin typeface="Calibri" pitchFamily="34" charset="0"/>
                <a:ea typeface="Calibri" pitchFamily="34" charset="-122"/>
                <a:cs typeface="Calibri" pitchFamily="34" charset="-120"/>
              </a:rPr>
              <a:t>Two things are true at once. The category is large and growing fast. And in Hyderabad, developers are sitting on stock they cannot move — agents are quoting Neopolis units near ₹6,300/sq ft against list prices of ₹11,000–12,000.</a:t>
            </a:r>
            <a:endParaRPr lang="en-US" sz="1550" dirty="0"/>
          </a:p>
        </p:txBody>
      </p:sp>
      <p:sp>
        <p:nvSpPr>
          <p:cNvPr id="22" name="Text 20"/>
          <p:cNvSpPr/>
          <p:nvPr/>
        </p:nvSpPr>
        <p:spPr>
          <a:xfrm>
            <a:off x="640080" y="4892040"/>
            <a:ext cx="10908792" cy="822960"/>
          </a:xfrm>
          <a:prstGeom prst="rect">
            <a:avLst/>
          </a:prstGeom>
          <a:noFill/>
          <a:ln/>
        </p:spPr>
        <p:txBody>
          <a:bodyPr wrap="square" lIns="0" tIns="0" rIns="0" bIns="0" rtlCol="0" anchor="ctr"/>
          <a:lstStyle/>
          <a:p>
            <a:pPr indent="0" marL="0">
              <a:lnSpc>
                <a:spcPts val="2400"/>
              </a:lnSpc>
              <a:buNone/>
            </a:pPr>
            <a:r>
              <a:rPr lang="en-US" sz="1550" dirty="0">
                <a:solidFill>
                  <a:srgbClr val="676C74"/>
                </a:solidFill>
                <a:latin typeface="Calibri" pitchFamily="34" charset="0"/>
                <a:ea typeface="Calibri" pitchFamily="34" charset="-122"/>
                <a:cs typeface="Calibri" pitchFamily="34" charset="-120"/>
              </a:rPr>
              <a:t>That gap is the opening. When a developer's own pricing is being undercut by half in the grey market, what they need is not another listings portal. It's someone who brings buyers who arrive already convinced.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The gap</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Every major Indian platform runs the same business: collect a lead, sell it to several brokers, let them fight over it.</a:t>
            </a:r>
            <a:endParaRPr lang="en-US" sz="1500" dirty="0"/>
          </a:p>
        </p:txBody>
      </p:sp>
      <p:sp>
        <p:nvSpPr>
          <p:cNvPr id="6" name="Shape 4"/>
          <p:cNvSpPr/>
          <p:nvPr/>
        </p:nvSpPr>
        <p:spPr>
          <a:xfrm>
            <a:off x="640080" y="1627632"/>
            <a:ext cx="5486400" cy="3200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7" name="Text 5"/>
          <p:cNvSpPr/>
          <p:nvPr/>
        </p:nvSpPr>
        <p:spPr>
          <a:xfrm>
            <a:off x="914400" y="1828800"/>
            <a:ext cx="4937760" cy="365760"/>
          </a:xfrm>
          <a:prstGeom prst="rect">
            <a:avLst/>
          </a:prstGeom>
          <a:noFill/>
          <a:ln/>
        </p:spPr>
        <p:txBody>
          <a:bodyPr wrap="square" lIns="0" tIns="0" rIns="0" bIns="0" rtlCol="0" anchor="ctr"/>
          <a:lstStyle/>
          <a:p>
            <a:pPr indent="0" marL="0">
              <a:buNone/>
            </a:pPr>
            <a:r>
              <a:rPr lang="en-US" sz="1700" b="1" dirty="0">
                <a:solidFill>
                  <a:srgbClr val="1A2332"/>
                </a:solidFill>
                <a:latin typeface="Cambria" pitchFamily="34" charset="0"/>
                <a:ea typeface="Cambria" pitchFamily="34" charset="-122"/>
                <a:cs typeface="Cambria" pitchFamily="34" charset="-120"/>
              </a:rPr>
              <a:t>What buyers complain about</a:t>
            </a:r>
            <a:endParaRPr lang="en-US" sz="1700" dirty="0"/>
          </a:p>
        </p:txBody>
      </p:sp>
      <p:sp>
        <p:nvSpPr>
          <p:cNvPr id="8" name="Text 6"/>
          <p:cNvSpPr/>
          <p:nvPr/>
        </p:nvSpPr>
        <p:spPr>
          <a:xfrm>
            <a:off x="914400" y="2331720"/>
            <a:ext cx="4937760" cy="228600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Spam is complaint number one across reviews of every major portal</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People keep a second “property phone” — or change their number entirely</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43% report encountering fraudulent listings</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Listings cloned across portals; AI-generated fake interiors</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The same flat listed by eight brokers at six different prices</a:t>
            </a:r>
            <a:endParaRPr lang="en-US" sz="1350" dirty="0"/>
          </a:p>
        </p:txBody>
      </p:sp>
      <p:sp>
        <p:nvSpPr>
          <p:cNvPr id="9" name="Shape 7"/>
          <p:cNvSpPr/>
          <p:nvPr/>
        </p:nvSpPr>
        <p:spPr>
          <a:xfrm>
            <a:off x="6446520" y="1627632"/>
            <a:ext cx="5102352" cy="3200400"/>
          </a:xfrm>
          <a:prstGeom prst="rect">
            <a:avLst/>
          </a:prstGeom>
          <a:solidFill>
            <a:srgbClr val="1A2332"/>
          </a:solidFill>
          <a:ln w="6350">
            <a:solidFill>
              <a:srgbClr val="1A2332"/>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6720840" y="1828800"/>
            <a:ext cx="4553712" cy="365760"/>
          </a:xfrm>
          <a:prstGeom prst="rect">
            <a:avLst/>
          </a:prstGeom>
          <a:noFill/>
          <a:ln/>
        </p:spPr>
        <p:txBody>
          <a:bodyPr wrap="square" lIns="0" tIns="0" rIns="0" bIns="0" rtlCol="0" anchor="ctr"/>
          <a:lstStyle/>
          <a:p>
            <a:pPr indent="0" marL="0">
              <a:buNone/>
            </a:pPr>
            <a:r>
              <a:rPr lang="en-US" sz="1700" b="1" dirty="0">
                <a:solidFill>
                  <a:srgbClr val="E8B04B"/>
                </a:solidFill>
                <a:latin typeface="Cambria" pitchFamily="34" charset="0"/>
                <a:ea typeface="Cambria" pitchFamily="34" charset="-122"/>
                <a:cs typeface="Cambria" pitchFamily="34" charset="-120"/>
              </a:rPr>
              <a:t>Why nobody fixes it</a:t>
            </a:r>
            <a:endParaRPr lang="en-US" sz="1700" dirty="0"/>
          </a:p>
        </p:txBody>
      </p:sp>
      <p:sp>
        <p:nvSpPr>
          <p:cNvPr id="11" name="Text 9"/>
          <p:cNvSpPr/>
          <p:nvPr/>
        </p:nvSpPr>
        <p:spPr>
          <a:xfrm>
            <a:off x="6720840" y="2331720"/>
            <a:ext cx="4553712" cy="2286000"/>
          </a:xfrm>
          <a:prstGeom prst="rect">
            <a:avLst/>
          </a:prstGeom>
          <a:noFill/>
          <a:ln/>
        </p:spPr>
        <p:txBody>
          <a:bodyPr wrap="square" lIns="0" tIns="0" rIns="0" bIns="0" rtlCol="0" anchor="ctr"/>
          <a:lstStyle/>
          <a:p>
            <a:pPr indent="0" marL="0">
              <a:lnSpc>
                <a:spcPts val="2200"/>
              </a:lnSpc>
              <a:buNone/>
            </a:pPr>
            <a:r>
              <a:rPr lang="en-US" sz="1400" dirty="0">
                <a:solidFill>
                  <a:srgbClr val="C9CDD3"/>
                </a:solidFill>
                <a:latin typeface="Calibri" pitchFamily="34" charset="0"/>
                <a:ea typeface="Calibri" pitchFamily="34" charset="-122"/>
                <a:cs typeface="Calibri" pitchFamily="34" charset="-120"/>
              </a:rPr>
              <a:t>They can't. Reselling one lead to eight brokers IS the revenue model.</a:t>
            </a:r>
            <a:endParaRPr lang="en-US" sz="1400" dirty="0"/>
          </a:p>
          <a:p>
            <a:pPr indent="0" marL="0">
              <a:lnSpc>
                <a:spcPts val="2200"/>
              </a:lnSpc>
              <a:buNone/>
            </a:pPr>
            <a:endParaRPr lang="en-US" sz="1400" dirty="0"/>
          </a:p>
          <a:p>
            <a:pPr indent="0" marL="0">
              <a:lnSpc>
                <a:spcPts val="2200"/>
              </a:lnSpc>
              <a:buNone/>
            </a:pPr>
            <a:r>
              <a:rPr lang="en-US" sz="1400" dirty="0">
                <a:solidFill>
                  <a:srgbClr val="C9CDD3"/>
                </a:solidFill>
                <a:latin typeface="Calibri" pitchFamily="34" charset="0"/>
                <a:ea typeface="Calibri" pitchFamily="34" charset="-122"/>
                <a:cs typeface="Calibri" pitchFamily="34" charset="-120"/>
              </a:rPr>
              <a:t>A portal that promised never to share your number would have to dismantle its own P&amp;L to keep the promise.</a:t>
            </a:r>
            <a:endParaRPr lang="en-US" sz="1400" dirty="0"/>
          </a:p>
          <a:p>
            <a:pPr indent="0" marL="0">
              <a:lnSpc>
                <a:spcPts val="2200"/>
              </a:lnSpc>
              <a:buNone/>
            </a:pPr>
            <a:endParaRPr lang="en-US" sz="1400" dirty="0"/>
          </a:p>
          <a:p>
            <a:pPr indent="0" marL="0">
              <a:lnSpc>
                <a:spcPts val="2200"/>
              </a:lnSpc>
              <a:buNone/>
            </a:pPr>
            <a:r>
              <a:rPr lang="en-US" sz="1400" dirty="0">
                <a:solidFill>
                  <a:srgbClr val="C9CDD3"/>
                </a:solidFill>
                <a:latin typeface="Calibri" pitchFamily="34" charset="0"/>
                <a:ea typeface="Calibri" pitchFamily="34" charset="-122"/>
                <a:cs typeface="Calibri" pitchFamily="34" charset="-120"/>
              </a:rPr>
              <a:t>That's the gap. Not a feature they forgot — a door their business model locks from the inside.</a:t>
            </a:r>
            <a:endParaRPr lang="en-US" sz="1400" dirty="0"/>
          </a:p>
        </p:txBody>
      </p:sp>
      <p:sp>
        <p:nvSpPr>
          <p:cNvPr id="12" name="Text 10"/>
          <p:cNvSpPr/>
          <p:nvPr/>
        </p:nvSpPr>
        <p:spPr>
          <a:xfrm>
            <a:off x="640080" y="5029200"/>
            <a:ext cx="10908792" cy="731520"/>
          </a:xfrm>
          <a:prstGeom prst="rect">
            <a:avLst/>
          </a:prstGeom>
          <a:noFill/>
          <a:ln/>
        </p:spPr>
        <p:txBody>
          <a:bodyPr wrap="square" lIns="0" tIns="0" rIns="0" bIns="0" rtlCol="0" anchor="ctr"/>
          <a:lstStyle/>
          <a:p>
            <a:pPr indent="0" marL="0">
              <a:lnSpc>
                <a:spcPts val="2400"/>
              </a:lnSpc>
              <a:buNone/>
            </a:pPr>
            <a:r>
              <a:rPr lang="en-US" sz="1550" dirty="0">
                <a:solidFill>
                  <a:srgbClr val="1A2332"/>
                </a:solidFill>
                <a:latin typeface="Calibri" pitchFamily="34" charset="0"/>
                <a:ea typeface="Calibri" pitchFamily="34" charset="-122"/>
                <a:cs typeface="Calibri" pitchFamily="34" charset="-120"/>
              </a:rPr>
              <a:t>Meanwhile the question buyers most want answered — which of these should I actually buy? — is served by nobody. Portals answer “what is available.” Nobody answers “what is good.”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645920"/>
            <a:ext cx="10058400" cy="3108960"/>
          </a:xfrm>
          <a:prstGeom prst="rect">
            <a:avLst/>
          </a:prstGeom>
          <a:noFill/>
          <a:ln/>
        </p:spPr>
        <p:txBody>
          <a:bodyPr wrap="square" lIns="0" tIns="0" rIns="0" bIns="0" rtlCol="0" anchor="ctr"/>
          <a:lstStyle/>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A platform with two million</a:t>
            </a:r>
            <a:endParaRPr lang="en-US" sz="4000" dirty="0"/>
          </a:p>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listings is worthless if</a:t>
            </a:r>
            <a:endParaRPr lang="en-US" sz="4000" dirty="0"/>
          </a:p>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enquiring on one gets you</a:t>
            </a:r>
            <a:endParaRPr lang="en-US" sz="4000" dirty="0"/>
          </a:p>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eight phone calls.</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Who we're up against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914400"/>
        </p:xfrm>
        <a:graphic>
          <a:graphicData uri="http://schemas.openxmlformats.org/drawingml/2006/table">
            <a:tbl>
              <a:tblPr/>
              <a:tblGrid>
                <a:gridCol w="1737360"/>
                <a:gridCol w="2011680"/>
                <a:gridCol w="3566160"/>
                <a:gridCol w="3593592"/>
              </a:tblGrid>
              <a:tr h="411480">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Player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Scale</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Model</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Where they're weak</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NoBroker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₹803cr FY24, +32%</a:t>
                      </a:r>
                      <a:endParaRPr lang="en-US" sz="1150" dirty="0">
                        <a:latin typeface="Calibri" charset="0"/>
                        <a:ea typeface="Calibri" charset="0"/>
                        <a:cs typeface="Calibri" charset="0"/>
                      </a:endParaRPr>
                    </a:p>
                    <a:p>
                      <a:pPr indent="0" marL="0">
                        <a:buNone/>
                      </a:pPr>
                      <a:r>
                        <a:rPr lang="en-US" sz="1150" dirty="0">
                          <a:solidFill>
                            <a:srgbClr val="676C74"/>
                          </a:solidFill>
                          <a:latin typeface="Calibri" pitchFamily="34" charset="0"/>
                          <a:ea typeface="Calibri" pitchFamily="34" charset="-122"/>
                          <a:cs typeface="Calibri" pitchFamily="34" charset="-120"/>
                        </a:rPr>
                        <a:t>34mn installs</a:t>
                      </a:r>
                      <a:endParaRPr lang="en-US" sz="1150" dirty="0">
                        <a:latin typeface="Calibri" charset="0"/>
                        <a:ea typeface="Calibri" charset="0"/>
                        <a:cs typeface="Calibri" charset="0"/>
                      </a:endParaRPr>
                    </a:p>
                    <a:p>
                      <a:pPr indent="0" marL="0">
                        <a:buNone/>
                      </a:pPr>
                      <a:r>
                        <a:rPr lang="en-US" sz="1150" dirty="0">
                          <a:solidFill>
                            <a:srgbClr val="676C74"/>
                          </a:solidFill>
                          <a:latin typeface="Calibri" pitchFamily="34" charset="0"/>
                          <a:ea typeface="Calibri" pitchFamily="34" charset="-122"/>
                          <a:cs typeface="Calibri" pitchFamily="34" charset="-120"/>
                        </a:rPr>
                        <a:t>3.2mn monthly users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Zero brokerage. ₹999 subscription. Services — loans, movers, interiors. Bank referrals ~₹120cr.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Built for rentals and resale, not new launches. Thin on premium. No advisory layer.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99acres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~13.3mn visits/month</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Classifieds. Developers and brokers pay to list and be seen.</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Pure volume. Lead resold repeatedly. No opinion on anything.</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MagicBricks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~12.1mn visits/month</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Classifieds plus locality data and price trend tools.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Has data but no judgement. Tools sit beside the same lead-resale engine.</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Housing.com</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~9.8mn visits/month</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Classifieds with better design and mapping.</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Best interface of the four, same underlying business.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Square Yards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₹1,410cr FY25</a:t>
                      </a:r>
                      <a:endParaRPr lang="en-US" sz="1150" dirty="0">
                        <a:latin typeface="Calibri" charset="0"/>
                        <a:ea typeface="Calibri" charset="0"/>
                        <a:cs typeface="Calibri" charset="0"/>
                      </a:endParaRPr>
                    </a:p>
                    <a:p>
                      <a:pPr indent="0" marL="0">
                        <a:buNone/>
                      </a:pPr>
                      <a:r>
                        <a:rPr lang="en-US" sz="1150" dirty="0">
                          <a:solidFill>
                            <a:srgbClr val="676C74"/>
                          </a:solidFill>
                          <a:latin typeface="Calibri" pitchFamily="34" charset="0"/>
                          <a:ea typeface="Calibri" pitchFamily="34" charset="-122"/>
                          <a:cs typeface="Calibri" pitchFamily="34" charset="-120"/>
                        </a:rPr>
                        <a:t>EBITDA ₹46cr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Full-service brokerage at volume.</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3.3% margin. Proof that chasing transaction volume is a trap.</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371600"/>
            <a:ext cx="10908792" cy="548640"/>
          </a:xfrm>
          <a:prstGeom prst="rect">
            <a:avLst/>
          </a:prstGeom>
          <a:noFill/>
          <a:ln/>
        </p:spPr>
        <p:txBody>
          <a:bodyPr wrap="square" lIns="0" tIns="0" rIns="0" bIns="0" rtlCol="0" anchor="ctr"/>
          <a:lstStyle/>
          <a:p>
            <a:pPr indent="0" marL="0">
              <a:buNone/>
            </a:pPr>
            <a:r>
              <a:rPr lang="en-US" sz="1400" spc="200" kern="0" dirty="0">
                <a:solidFill>
                  <a:srgbClr val="E8B04B"/>
                </a:solidFill>
                <a:latin typeface="Calibri" pitchFamily="34" charset="0"/>
                <a:ea typeface="Calibri" pitchFamily="34" charset="-122"/>
                <a:cs typeface="Calibri" pitchFamily="34" charset="-120"/>
              </a:rPr>
              <a:t>The lesson in the last row</a:t>
            </a:r>
            <a:endParaRPr lang="en-US" sz="1400" dirty="0"/>
          </a:p>
        </p:txBody>
      </p:sp>
      <p:sp>
        <p:nvSpPr>
          <p:cNvPr id="3" name="Text 1"/>
          <p:cNvSpPr/>
          <p:nvPr/>
        </p:nvSpPr>
        <p:spPr>
          <a:xfrm>
            <a:off x="640080" y="2011680"/>
            <a:ext cx="5669280" cy="1828800"/>
          </a:xfrm>
          <a:prstGeom prst="rect">
            <a:avLst/>
          </a:prstGeom>
          <a:noFill/>
          <a:ln/>
        </p:spPr>
        <p:txBody>
          <a:bodyPr wrap="square" lIns="0" tIns="0" rIns="0" bIns="0" rtlCol="0" anchor="ctr"/>
          <a:lstStyle/>
          <a:p>
            <a:pPr indent="0" marL="0">
              <a:lnSpc>
                <a:spcPts val="6200"/>
              </a:lnSpc>
              <a:buNone/>
            </a:pPr>
            <a:r>
              <a:rPr lang="en-US" sz="5200" b="1" dirty="0">
                <a:solidFill>
                  <a:srgbClr val="FFFFFF"/>
                </a:solidFill>
                <a:latin typeface="Cambria" pitchFamily="34" charset="0"/>
                <a:ea typeface="Cambria" pitchFamily="34" charset="-122"/>
                <a:cs typeface="Cambria" pitchFamily="34" charset="-120"/>
              </a:rPr>
              <a:t>₹1,410cr in.</a:t>
            </a:r>
            <a:endParaRPr lang="en-US" sz="5200" dirty="0"/>
          </a:p>
          <a:p>
            <a:pPr indent="0" marL="0">
              <a:lnSpc>
                <a:spcPts val="6200"/>
              </a:lnSpc>
              <a:buNone/>
            </a:pPr>
            <a:r>
              <a:rPr lang="en-US" sz="5200" b="1" dirty="0">
                <a:solidFill>
                  <a:srgbClr val="FFFFFF"/>
                </a:solidFill>
                <a:latin typeface="Cambria" pitchFamily="34" charset="0"/>
                <a:ea typeface="Cambria" pitchFamily="34" charset="-122"/>
                <a:cs typeface="Cambria" pitchFamily="34" charset="-120"/>
              </a:rPr>
              <a:t>₹46cr kept.</a:t>
            </a:r>
            <a:endParaRPr lang="en-US" sz="5200" dirty="0"/>
          </a:p>
        </p:txBody>
      </p:sp>
      <p:sp>
        <p:nvSpPr>
          <p:cNvPr id="4" name="Text 2"/>
          <p:cNvSpPr/>
          <p:nvPr/>
        </p:nvSpPr>
        <p:spPr>
          <a:xfrm>
            <a:off x="6675120" y="2057400"/>
            <a:ext cx="4846320" cy="2377440"/>
          </a:xfrm>
          <a:prstGeom prst="rect">
            <a:avLst/>
          </a:prstGeom>
          <a:noFill/>
          <a:ln/>
        </p:spPr>
        <p:txBody>
          <a:bodyPr wrap="square" lIns="0" tIns="0" rIns="0" bIns="0" rtlCol="0" anchor="ctr"/>
          <a:lstStyle/>
          <a:p>
            <a:pPr indent="0" marL="0">
              <a:lnSpc>
                <a:spcPts val="2500"/>
              </a:lnSpc>
              <a:buNone/>
            </a:pPr>
            <a:r>
              <a:rPr lang="en-US" sz="1600" dirty="0">
                <a:solidFill>
                  <a:srgbClr val="C9CDD3"/>
                </a:solidFill>
                <a:latin typeface="Calibri" pitchFamily="34" charset="0"/>
                <a:ea typeface="Calibri" pitchFamily="34" charset="-122"/>
                <a:cs typeface="Calibri" pitchFamily="34" charset="-120"/>
              </a:rPr>
              <a:t>Volume brokerage in India is a treadmill.</a:t>
            </a:r>
            <a:endParaRPr lang="en-US" sz="1600" dirty="0"/>
          </a:p>
          <a:p>
            <a:pPr indent="0" marL="0">
              <a:lnSpc>
                <a:spcPts val="2500"/>
              </a:lnSpc>
              <a:buNone/>
            </a:pPr>
            <a:endParaRPr lang="en-US" sz="1600" dirty="0"/>
          </a:p>
          <a:p>
            <a:pPr indent="0" marL="0">
              <a:lnSpc>
                <a:spcPts val="2500"/>
              </a:lnSpc>
              <a:buNone/>
            </a:pPr>
            <a:r>
              <a:rPr lang="en-US" sz="1600" dirty="0">
                <a:solidFill>
                  <a:srgbClr val="C9CDD3"/>
                </a:solidFill>
                <a:latin typeface="Calibri" pitchFamily="34" charset="0"/>
                <a:ea typeface="Calibri" pitchFamily="34" charset="-122"/>
                <a:cs typeface="Calibri" pitchFamily="34" charset="-120"/>
              </a:rPr>
              <a:t>OTHO should never compete on listing count or transaction volume. That race is won by whoever burns the most money, and the prize is a 3% margin.</a:t>
            </a:r>
            <a:endParaRPr lang="en-US" sz="1600" dirty="0"/>
          </a:p>
          <a:p>
            <a:pPr indent="0" marL="0">
              <a:lnSpc>
                <a:spcPts val="2500"/>
              </a:lnSpc>
              <a:buNone/>
            </a:pPr>
            <a:endParaRPr lang="en-US" sz="1600" dirty="0"/>
          </a:p>
          <a:p>
            <a:pPr indent="0" marL="0">
              <a:lnSpc>
                <a:spcPts val="2500"/>
              </a:lnSpc>
              <a:buNone/>
            </a:pPr>
            <a:r>
              <a:rPr lang="en-US" sz="1600" dirty="0">
                <a:solidFill>
                  <a:srgbClr val="C9CDD3"/>
                </a:solidFill>
                <a:latin typeface="Calibri" pitchFamily="34" charset="0"/>
                <a:ea typeface="Calibri" pitchFamily="34" charset="-122"/>
                <a:cs typeface="Calibri" pitchFamily="34" charset="-120"/>
              </a:rPr>
              <a:t>Compete on judgement instead. Judgement has margin.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SWOT — what we have, what we lack</a:t>
            </a:r>
            <a:endParaRPr lang="en-US" sz="3000" dirty="0"/>
          </a:p>
        </p:txBody>
      </p:sp>
      <p:sp>
        <p:nvSpPr>
          <p:cNvPr id="5" name="Shape 3"/>
          <p:cNvSpPr/>
          <p:nvPr/>
        </p:nvSpPr>
        <p:spPr>
          <a:xfrm>
            <a:off x="640080"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Shape 4"/>
          <p:cNvSpPr/>
          <p:nvPr/>
        </p:nvSpPr>
        <p:spPr>
          <a:xfrm>
            <a:off x="914400" y="1664208"/>
            <a:ext cx="310896" cy="310896"/>
          </a:xfrm>
          <a:prstGeom prst="ellipse">
            <a:avLst/>
          </a:prstGeom>
          <a:solidFill>
            <a:srgbClr val="3D8B63"/>
          </a:solidFill>
          <a:ln/>
        </p:spPr>
      </p:sp>
      <p:sp>
        <p:nvSpPr>
          <p:cNvPr id="7" name="Text 5"/>
          <p:cNvSpPr/>
          <p:nvPr/>
        </p:nvSpPr>
        <p:spPr>
          <a:xfrm>
            <a:off x="1335024"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Strengths</a:t>
            </a:r>
            <a:endParaRPr lang="en-US" sz="1800" dirty="0"/>
          </a:p>
        </p:txBody>
      </p:sp>
      <p:sp>
        <p:nvSpPr>
          <p:cNvPr id="8" name="Text 6"/>
          <p:cNvSpPr/>
          <p:nvPr/>
        </p:nvSpPr>
        <p:spPr>
          <a:xfrm>
            <a:off x="914400"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Tier-one relationships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direct access to DSR, Sattva, My Home, Aparna, Prestige. ~70% of Indian residential sales run through channel partners. A funded startup can buy engineers; it cannot buy twenty years of trust with a developer's sales head.</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Timing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a 19-month overhang means developers are actively looking for a better answer right now.</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No legacy tech debt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the portals are locked into the shared-lead P&amp;L. OTHO can build the clean architecture from zero.</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Regulatory tailwind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TRAI and DPDP rules make the spam-and-resell model steadily more expensive.</a:t>
            </a:r>
            <a:endParaRPr lang="en-US" sz="1200" dirty="0"/>
          </a:p>
        </p:txBody>
      </p:sp>
      <p:sp>
        <p:nvSpPr>
          <p:cNvPr id="9" name="Shape 7"/>
          <p:cNvSpPr/>
          <p:nvPr/>
        </p:nvSpPr>
        <p:spPr>
          <a:xfrm>
            <a:off x="6254496"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Shape 8"/>
          <p:cNvSpPr/>
          <p:nvPr/>
        </p:nvSpPr>
        <p:spPr>
          <a:xfrm>
            <a:off x="6528816" y="1664208"/>
            <a:ext cx="310896" cy="310896"/>
          </a:xfrm>
          <a:prstGeom prst="ellipse">
            <a:avLst/>
          </a:prstGeom>
          <a:solidFill>
            <a:srgbClr val="C4453A"/>
          </a:solidFill>
          <a:ln/>
        </p:spPr>
      </p:sp>
      <p:sp>
        <p:nvSpPr>
          <p:cNvPr id="11" name="Text 9"/>
          <p:cNvSpPr/>
          <p:nvPr/>
        </p:nvSpPr>
        <p:spPr>
          <a:xfrm>
            <a:off x="6949440"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Weaknesses</a:t>
            </a:r>
            <a:endParaRPr lang="en-US" sz="1800" dirty="0"/>
          </a:p>
        </p:txBody>
      </p:sp>
      <p:sp>
        <p:nvSpPr>
          <p:cNvPr id="12" name="Text 10"/>
          <p:cNvSpPr/>
          <p:nvPr/>
        </p:nvSpPr>
        <p:spPr>
          <a:xfrm>
            <a:off x="6528816"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No product or data engineering yet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the comparison engine is a data acquisition and verification problem across RERA, HMDA and registration records. This is what kills proptech startups.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Zero digital brand equity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twenty years of word-of-mouth does not transfer to search.</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Advisory doesn't scale linearly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every mandate consumes senior human time.</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Key-person dependency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relationships and podcast authority both sit with the founders.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Working capital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commission pays on registration, so cash lands 3–9 months behind the cost.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SWOT — the opening, and what could go wrong</a:t>
            </a:r>
            <a:endParaRPr lang="en-US" sz="3000" dirty="0"/>
          </a:p>
        </p:txBody>
      </p:sp>
      <p:sp>
        <p:nvSpPr>
          <p:cNvPr id="5" name="Shape 3"/>
          <p:cNvSpPr/>
          <p:nvPr/>
        </p:nvSpPr>
        <p:spPr>
          <a:xfrm>
            <a:off x="640080"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Shape 4"/>
          <p:cNvSpPr/>
          <p:nvPr/>
        </p:nvSpPr>
        <p:spPr>
          <a:xfrm>
            <a:off x="914400" y="1664208"/>
            <a:ext cx="310896" cy="310896"/>
          </a:xfrm>
          <a:prstGeom prst="ellipse">
            <a:avLst/>
          </a:prstGeom>
          <a:solidFill>
            <a:srgbClr val="2E6FD9"/>
          </a:solidFill>
          <a:ln/>
        </p:spPr>
      </p:sp>
      <p:sp>
        <p:nvSpPr>
          <p:cNvPr id="7" name="Text 5"/>
          <p:cNvSpPr/>
          <p:nvPr/>
        </p:nvSpPr>
        <p:spPr>
          <a:xfrm>
            <a:off x="1335024"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Opportunities</a:t>
            </a:r>
            <a:endParaRPr lang="en-US" sz="1800" dirty="0"/>
          </a:p>
        </p:txBody>
      </p:sp>
      <p:sp>
        <p:nvSpPr>
          <p:cNvPr id="8" name="Text 6"/>
          <p:cNvSpPr/>
          <p:nvPr/>
        </p:nvSpPr>
        <p:spPr>
          <a:xfrm>
            <a:off x="914400"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The overhang itself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~97,000 unsold units is a large, motivated mandate pipeline. Every stuck project is a sales conversation.</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The transparency vacuum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no Indian portal publishes loading factor, true density or UDS as standard fields.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AI citation land-grab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brands cited in AI answers earn far more clicks, and AI referral traffic converts around 3x. That window is open now.</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Bharat Future City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master plan and zoning due December 2026 — a dateable, high-search event with no incumbent authority.</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NRI buyers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under-served, higher ticket sizes, and they need an honest proxy on the ground.</a:t>
            </a:r>
            <a:endParaRPr lang="en-US" sz="1200" dirty="0"/>
          </a:p>
        </p:txBody>
      </p:sp>
      <p:sp>
        <p:nvSpPr>
          <p:cNvPr id="9" name="Shape 7"/>
          <p:cNvSpPr/>
          <p:nvPr/>
        </p:nvSpPr>
        <p:spPr>
          <a:xfrm>
            <a:off x="6254496"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Shape 8"/>
          <p:cNvSpPr/>
          <p:nvPr/>
        </p:nvSpPr>
        <p:spPr>
          <a:xfrm>
            <a:off x="6528816" y="1664208"/>
            <a:ext cx="310896" cy="310896"/>
          </a:xfrm>
          <a:prstGeom prst="ellipse">
            <a:avLst/>
          </a:prstGeom>
          <a:solidFill>
            <a:srgbClr val="B07E22"/>
          </a:solidFill>
          <a:ln/>
        </p:spPr>
      </p:sp>
      <p:sp>
        <p:nvSpPr>
          <p:cNvPr id="11" name="Text 9"/>
          <p:cNvSpPr/>
          <p:nvPr/>
        </p:nvSpPr>
        <p:spPr>
          <a:xfrm>
            <a:off x="6949440"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Threats</a:t>
            </a:r>
            <a:endParaRPr lang="en-US" sz="1800" dirty="0"/>
          </a:p>
        </p:txBody>
      </p:sp>
      <p:sp>
        <p:nvSpPr>
          <p:cNvPr id="12" name="Text 10"/>
          <p:cNvSpPr/>
          <p:nvPr/>
        </p:nvSpPr>
        <p:spPr>
          <a:xfrm>
            <a:off x="6528816"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Developer backlash on honest negatives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we earn from developers while publishing unflattering facts. Needs a written editorial charter, agreed up front.</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Incumbent capital response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Housing or 99acres can copy a comparison engine faster than we can build a brand. Defensibility is exclusive inventory and verified data, not features.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Deepening downturn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if the overhang passes 24 months, marketing budgets and commissions get cut together.</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RERA exposure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₹10,000/day penalties and mandatory RERA numbers in every ad. One sloppy campaign is existential for a firm selling trust.</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Defamation risk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“this project is bad” is litigable. A cited pollution reading is not. The distinction must be enforced editorially.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868680"/>
            <a:ext cx="10908792" cy="457200"/>
          </a:xfrm>
          <a:prstGeom prst="rect">
            <a:avLst/>
          </a:prstGeom>
          <a:noFill/>
          <a:ln/>
        </p:spPr>
        <p:txBody>
          <a:bodyPr wrap="square" lIns="0" tIns="0" rIns="0" bIns="0" rtlCol="0" anchor="ctr"/>
          <a:lstStyle/>
          <a:p>
            <a:pPr indent="0" marL="0">
              <a:buNone/>
            </a:pPr>
            <a:r>
              <a:rPr lang="en-US" sz="1400" spc="200" kern="0" dirty="0">
                <a:solidFill>
                  <a:srgbClr val="E8B04B"/>
                </a:solidFill>
                <a:latin typeface="Calibri" pitchFamily="34" charset="0"/>
                <a:ea typeface="Calibri" pitchFamily="34" charset="-122"/>
                <a:cs typeface="Calibri" pitchFamily="34" charset="-120"/>
              </a:rPr>
              <a:t>What the SWOT forces</a:t>
            </a:r>
            <a:endParaRPr lang="en-US" sz="1400" dirty="0"/>
          </a:p>
        </p:txBody>
      </p:sp>
      <p:sp>
        <p:nvSpPr>
          <p:cNvPr id="3" name="Text 1"/>
          <p:cNvSpPr/>
          <p:nvPr/>
        </p:nvSpPr>
        <p:spPr>
          <a:xfrm>
            <a:off x="640080" y="1417320"/>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The moat is not the platform.</a:t>
            </a:r>
            <a:endParaRPr lang="en-US" sz="3800" dirty="0"/>
          </a:p>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Features get copied.</a:t>
            </a:r>
            <a:endParaRPr lang="en-US" sz="3800" dirty="0"/>
          </a:p>
        </p:txBody>
      </p:sp>
      <p:sp>
        <p:nvSpPr>
          <p:cNvPr id="4" name="Shape 2"/>
          <p:cNvSpPr/>
          <p:nvPr/>
        </p:nvSpPr>
        <p:spPr>
          <a:xfrm>
            <a:off x="640080" y="3200400"/>
            <a:ext cx="3383280" cy="1737360"/>
          </a:xfrm>
          <a:prstGeom prst="rect">
            <a:avLst/>
          </a:prstGeom>
          <a:solidFill>
            <a:srgbClr val="24313F"/>
          </a:solidFill>
          <a:ln w="6350">
            <a:solidFill>
              <a:srgbClr val="3A4754"/>
            </a:solidFill>
            <a:prstDash val="solid"/>
          </a:ln>
        </p:spPr>
      </p:sp>
      <p:sp>
        <p:nvSpPr>
          <p:cNvPr id="5" name="Text 3"/>
          <p:cNvSpPr/>
          <p:nvPr/>
        </p:nvSpPr>
        <p:spPr>
          <a:xfrm>
            <a:off x="896112" y="3429000"/>
            <a:ext cx="2871216" cy="411480"/>
          </a:xfrm>
          <a:prstGeom prst="rect">
            <a:avLst/>
          </a:prstGeom>
          <a:noFill/>
          <a:ln/>
        </p:spPr>
        <p:txBody>
          <a:bodyPr wrap="square" lIns="0" tIns="0" rIns="0" bIns="0" rtlCol="0" anchor="ctr"/>
          <a:lstStyle/>
          <a:p>
            <a:pPr indent="0" marL="0">
              <a:buNone/>
            </a:pPr>
            <a:r>
              <a:rPr lang="en-US" sz="1600" b="1" dirty="0">
                <a:solidFill>
                  <a:srgbClr val="E8B04B"/>
                </a:solidFill>
                <a:latin typeface="Cambria" pitchFamily="34" charset="0"/>
                <a:ea typeface="Cambria" pitchFamily="34" charset="-122"/>
                <a:cs typeface="Cambria" pitchFamily="34" charset="-120"/>
              </a:rPr>
              <a:t>Exclusive inventory</a:t>
            </a:r>
            <a:endParaRPr lang="en-US" sz="1600" dirty="0"/>
          </a:p>
        </p:txBody>
      </p:sp>
      <p:sp>
        <p:nvSpPr>
          <p:cNvPr id="6" name="Text 4"/>
          <p:cNvSpPr/>
          <p:nvPr/>
        </p:nvSpPr>
        <p:spPr>
          <a:xfrm>
            <a:off x="896112" y="3886200"/>
            <a:ext cx="2871216" cy="914400"/>
          </a:xfrm>
          <a:prstGeom prst="rect">
            <a:avLst/>
          </a:prstGeom>
          <a:noFill/>
          <a:ln/>
        </p:spPr>
        <p:txBody>
          <a:bodyPr wrap="square" lIns="0" tIns="0" rIns="0" bIns="0" rtlCol="0" anchor="ctr"/>
          <a:lstStyle/>
          <a:p>
            <a:pPr indent="0" marL="0">
              <a:lnSpc>
                <a:spcPts val="1900"/>
              </a:lnSpc>
              <a:buNone/>
            </a:pPr>
            <a:r>
              <a:rPr lang="en-US" sz="1300" dirty="0">
                <a:solidFill>
                  <a:srgbClr val="C9CDD3"/>
                </a:solidFill>
                <a:latin typeface="Calibri" pitchFamily="34" charset="0"/>
                <a:ea typeface="Calibri" pitchFamily="34" charset="-122"/>
                <a:cs typeface="Calibri" pitchFamily="34" charset="-120"/>
              </a:rPr>
              <a:t>Mandates competitors literally cannot list.</a:t>
            </a:r>
            <a:endParaRPr lang="en-US" sz="1300" dirty="0"/>
          </a:p>
        </p:txBody>
      </p:sp>
      <p:sp>
        <p:nvSpPr>
          <p:cNvPr id="7" name="Shape 5"/>
          <p:cNvSpPr/>
          <p:nvPr/>
        </p:nvSpPr>
        <p:spPr>
          <a:xfrm>
            <a:off x="4297680" y="3200400"/>
            <a:ext cx="3383280" cy="1737360"/>
          </a:xfrm>
          <a:prstGeom prst="rect">
            <a:avLst/>
          </a:prstGeom>
          <a:solidFill>
            <a:srgbClr val="24313F"/>
          </a:solidFill>
          <a:ln w="6350">
            <a:solidFill>
              <a:srgbClr val="3A4754"/>
            </a:solidFill>
            <a:prstDash val="solid"/>
          </a:ln>
        </p:spPr>
      </p:sp>
      <p:sp>
        <p:nvSpPr>
          <p:cNvPr id="8" name="Text 6"/>
          <p:cNvSpPr/>
          <p:nvPr/>
        </p:nvSpPr>
        <p:spPr>
          <a:xfrm>
            <a:off x="4553712" y="3429000"/>
            <a:ext cx="2871216" cy="411480"/>
          </a:xfrm>
          <a:prstGeom prst="rect">
            <a:avLst/>
          </a:prstGeom>
          <a:noFill/>
          <a:ln/>
        </p:spPr>
        <p:txBody>
          <a:bodyPr wrap="square" lIns="0" tIns="0" rIns="0" bIns="0" rtlCol="0" anchor="ctr"/>
          <a:lstStyle/>
          <a:p>
            <a:pPr indent="0" marL="0">
              <a:buNone/>
            </a:pPr>
            <a:r>
              <a:rPr lang="en-US" sz="1600" b="1" dirty="0">
                <a:solidFill>
                  <a:srgbClr val="E8B04B"/>
                </a:solidFill>
                <a:latin typeface="Cambria" pitchFamily="34" charset="0"/>
                <a:ea typeface="Cambria" pitchFamily="34" charset="-122"/>
                <a:cs typeface="Cambria" pitchFamily="34" charset="-120"/>
              </a:rPr>
              <a:t>Verified data</a:t>
            </a:r>
            <a:endParaRPr lang="en-US" sz="1600" dirty="0"/>
          </a:p>
        </p:txBody>
      </p:sp>
      <p:sp>
        <p:nvSpPr>
          <p:cNvPr id="9" name="Text 7"/>
          <p:cNvSpPr/>
          <p:nvPr/>
        </p:nvSpPr>
        <p:spPr>
          <a:xfrm>
            <a:off x="4553712" y="3886200"/>
            <a:ext cx="2871216" cy="914400"/>
          </a:xfrm>
          <a:prstGeom prst="rect">
            <a:avLst/>
          </a:prstGeom>
          <a:noFill/>
          <a:ln/>
        </p:spPr>
        <p:txBody>
          <a:bodyPr wrap="square" lIns="0" tIns="0" rIns="0" bIns="0" rtlCol="0" anchor="ctr"/>
          <a:lstStyle/>
          <a:p>
            <a:pPr indent="0" marL="0">
              <a:lnSpc>
                <a:spcPts val="1900"/>
              </a:lnSpc>
              <a:buNone/>
            </a:pPr>
            <a:r>
              <a:rPr lang="en-US" sz="1300" dirty="0">
                <a:solidFill>
                  <a:srgbClr val="C9CDD3"/>
                </a:solidFill>
                <a:latin typeface="Calibri" pitchFamily="34" charset="0"/>
                <a:ea typeface="Calibri" pitchFamily="34" charset="-122"/>
                <a:cs typeface="Calibri" pitchFamily="34" charset="-120"/>
              </a:rPr>
              <a:t>A proprietary dataset built by physically auditing projects.</a:t>
            </a:r>
            <a:endParaRPr lang="en-US" sz="1300" dirty="0"/>
          </a:p>
        </p:txBody>
      </p:sp>
      <p:sp>
        <p:nvSpPr>
          <p:cNvPr id="10" name="Shape 8"/>
          <p:cNvSpPr/>
          <p:nvPr/>
        </p:nvSpPr>
        <p:spPr>
          <a:xfrm>
            <a:off x="7955280" y="3200400"/>
            <a:ext cx="3383280" cy="1737360"/>
          </a:xfrm>
          <a:prstGeom prst="rect">
            <a:avLst/>
          </a:prstGeom>
          <a:solidFill>
            <a:srgbClr val="24313F"/>
          </a:solidFill>
          <a:ln w="6350">
            <a:solidFill>
              <a:srgbClr val="3A4754"/>
            </a:solidFill>
            <a:prstDash val="solid"/>
          </a:ln>
        </p:spPr>
      </p:sp>
      <p:sp>
        <p:nvSpPr>
          <p:cNvPr id="11" name="Text 9"/>
          <p:cNvSpPr/>
          <p:nvPr/>
        </p:nvSpPr>
        <p:spPr>
          <a:xfrm>
            <a:off x="8211312" y="3429000"/>
            <a:ext cx="2871216" cy="411480"/>
          </a:xfrm>
          <a:prstGeom prst="rect">
            <a:avLst/>
          </a:prstGeom>
          <a:noFill/>
          <a:ln/>
        </p:spPr>
        <p:txBody>
          <a:bodyPr wrap="square" lIns="0" tIns="0" rIns="0" bIns="0" rtlCol="0" anchor="ctr"/>
          <a:lstStyle/>
          <a:p>
            <a:pPr indent="0" marL="0">
              <a:buNone/>
            </a:pPr>
            <a:r>
              <a:rPr lang="en-US" sz="1600" b="1" dirty="0">
                <a:solidFill>
                  <a:srgbClr val="E8B04B"/>
                </a:solidFill>
                <a:latin typeface="Cambria" pitchFamily="34" charset="0"/>
                <a:ea typeface="Cambria" pitchFamily="34" charset="-122"/>
                <a:cs typeface="Cambria" pitchFamily="34" charset="-120"/>
              </a:rPr>
              <a:t>A trust brand</a:t>
            </a:r>
            <a:endParaRPr lang="en-US" sz="1600" dirty="0"/>
          </a:p>
        </p:txBody>
      </p:sp>
      <p:sp>
        <p:nvSpPr>
          <p:cNvPr id="12" name="Text 10"/>
          <p:cNvSpPr/>
          <p:nvPr/>
        </p:nvSpPr>
        <p:spPr>
          <a:xfrm>
            <a:off x="8211312" y="3886200"/>
            <a:ext cx="2871216" cy="914400"/>
          </a:xfrm>
          <a:prstGeom prst="rect">
            <a:avLst/>
          </a:prstGeom>
          <a:noFill/>
          <a:ln/>
        </p:spPr>
        <p:txBody>
          <a:bodyPr wrap="square" lIns="0" tIns="0" rIns="0" bIns="0" rtlCol="0" anchor="ctr"/>
          <a:lstStyle/>
          <a:p>
            <a:pPr indent="0" marL="0">
              <a:lnSpc>
                <a:spcPts val="1900"/>
              </a:lnSpc>
              <a:buNone/>
            </a:pPr>
            <a:r>
              <a:rPr lang="en-US" sz="1300" dirty="0">
                <a:solidFill>
                  <a:srgbClr val="C9CDD3"/>
                </a:solidFill>
                <a:latin typeface="Calibri" pitchFamily="34" charset="0"/>
                <a:ea typeface="Calibri" pitchFamily="34" charset="-122"/>
                <a:cs typeface="Calibri" pitchFamily="34" charset="-120"/>
              </a:rPr>
              <a:t>One the portals cannot adopt without cannibalising their own revenue.</a:t>
            </a:r>
            <a:endParaRPr lang="en-US" sz="1300" dirty="0"/>
          </a:p>
        </p:txBody>
      </p:sp>
      <p:sp>
        <p:nvSpPr>
          <p:cNvPr id="13" name="Text 11"/>
          <p:cNvSpPr/>
          <p:nvPr/>
        </p:nvSpPr>
        <p:spPr>
          <a:xfrm>
            <a:off x="640080" y="5257800"/>
            <a:ext cx="10908792" cy="45720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The platform is the delivery mechanism for those three. Build in that order.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371600"/>
            <a:ext cx="914400" cy="54864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06</a:t>
            </a:r>
            <a:endParaRPr lang="en-US" sz="2000" dirty="0"/>
          </a:p>
        </p:txBody>
      </p:sp>
      <p:sp>
        <p:nvSpPr>
          <p:cNvPr id="3" name="Text 1"/>
          <p:cNvSpPr/>
          <p:nvPr/>
        </p:nvSpPr>
        <p:spPr>
          <a:xfrm>
            <a:off x="640080" y="1920240"/>
            <a:ext cx="9601200" cy="1737360"/>
          </a:xfrm>
          <a:prstGeom prst="rect">
            <a:avLst/>
          </a:prstGeom>
          <a:noFill/>
          <a:ln/>
        </p:spPr>
        <p:txBody>
          <a:bodyPr wrap="square" lIns="0" tIns="0" rIns="0" bIns="0" rtlCol="0" anchor="ctr"/>
          <a:lstStyle/>
          <a:p>
            <a:pPr indent="0" marL="0">
              <a:lnSpc>
                <a:spcPts val="5600"/>
              </a:lnSpc>
              <a:buNone/>
            </a:pPr>
            <a:r>
              <a:rPr lang="en-US" sz="4600" b="1" dirty="0">
                <a:solidFill>
                  <a:srgbClr val="FFFFFF"/>
                </a:solidFill>
                <a:latin typeface="Cambria" pitchFamily="34" charset="0"/>
                <a:ea typeface="Cambria" pitchFamily="34" charset="-122"/>
                <a:cs typeface="Cambria" pitchFamily="34" charset="-120"/>
              </a:rPr>
              <a:t>The model:</a:t>
            </a:r>
            <a:endParaRPr lang="en-US" sz="4600" dirty="0"/>
          </a:p>
          <a:p>
            <a:pPr indent="0" marL="0">
              <a:lnSpc>
                <a:spcPts val="5600"/>
              </a:lnSpc>
              <a:buNone/>
            </a:pPr>
            <a:r>
              <a:rPr lang="en-US" sz="4600" b="1" dirty="0">
                <a:solidFill>
                  <a:srgbClr val="FFFFFF"/>
                </a:solidFill>
                <a:latin typeface="Cambria" pitchFamily="34" charset="0"/>
                <a:ea typeface="Cambria" pitchFamily="34" charset="-122"/>
                <a:cs typeface="Cambria" pitchFamily="34" charset="-120"/>
              </a:rPr>
              <a:t>CarWale, for property.</a:t>
            </a:r>
            <a:endParaRPr lang="en-US" sz="4600" dirty="0"/>
          </a:p>
        </p:txBody>
      </p:sp>
      <p:sp>
        <p:nvSpPr>
          <p:cNvPr id="4" name="Text 2"/>
          <p:cNvSpPr/>
          <p:nvPr/>
        </p:nvSpPr>
        <p:spPr>
          <a:xfrm>
            <a:off x="640080" y="3931920"/>
            <a:ext cx="9326880" cy="1737360"/>
          </a:xfrm>
          <a:prstGeom prst="rect">
            <a:avLst/>
          </a:prstGeom>
          <a:noFill/>
          <a:ln/>
        </p:spPr>
        <p:txBody>
          <a:bodyPr wrap="square" lIns="0" tIns="0" rIns="0" bIns="0" rtlCol="0" anchor="ctr"/>
          <a:lstStyle/>
          <a:p>
            <a:pPr indent="0" marL="0">
              <a:lnSpc>
                <a:spcPts val="2500"/>
              </a:lnSpc>
              <a:buNone/>
            </a:pPr>
            <a:r>
              <a:rPr lang="en-US" sz="1650" dirty="0">
                <a:solidFill>
                  <a:srgbClr val="C9CDD3"/>
                </a:solidFill>
                <a:latin typeface="Calibri" pitchFamily="34" charset="0"/>
                <a:ea typeface="Calibri" pitchFamily="34" charset="-122"/>
                <a:cs typeface="Calibri" pitchFamily="34" charset="-120"/>
              </a:rPr>
              <a:t>CarWale did not beat the classifieds by having more cars. It won by owning the step before the transaction — expert reviews, side-by-side comparisons, price guides, owner ratings, EMI calculators.</a:t>
            </a:r>
            <a:endParaRPr lang="en-US" sz="1650" dirty="0"/>
          </a:p>
          <a:p>
            <a:pPr indent="0" marL="0">
              <a:lnSpc>
                <a:spcPts val="2500"/>
              </a:lnSpc>
              <a:buNone/>
            </a:pPr>
            <a:endParaRPr lang="en-US" sz="1650" dirty="0"/>
          </a:p>
          <a:p>
            <a:pPr indent="0" marL="0">
              <a:lnSpc>
                <a:spcPts val="2500"/>
              </a:lnSpc>
              <a:buNone/>
            </a:pPr>
            <a:r>
              <a:rPr lang="en-US" sz="1650" dirty="0">
                <a:solidFill>
                  <a:srgbClr val="C9CDD3"/>
                </a:solidFill>
                <a:latin typeface="Calibri" pitchFamily="34" charset="0"/>
                <a:ea typeface="Calibri" pitchFamily="34" charset="-122"/>
                <a:cs typeface="Calibri" pitchFamily="34" charset="-120"/>
              </a:rPr>
              <a:t>It became where Indians go to decide. It reached 65 million car buyers and built roughly ₹1,260cr of revenue on the intent it had already earned.</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Two different businesses</a:t>
            </a:r>
            <a:endParaRPr lang="en-US" sz="3000" dirty="0"/>
          </a:p>
        </p:txBody>
      </p:sp>
      <p:sp>
        <p:nvSpPr>
          <p:cNvPr id="5" name="Shape 3"/>
          <p:cNvSpPr/>
          <p:nvPr/>
        </p:nvSpPr>
        <p:spPr>
          <a:xfrm>
            <a:off x="640080" y="1508760"/>
            <a:ext cx="5294376" cy="26517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Text 4"/>
          <p:cNvSpPr/>
          <p:nvPr/>
        </p:nvSpPr>
        <p:spPr>
          <a:xfrm>
            <a:off x="914400" y="1737360"/>
            <a:ext cx="4745736" cy="274320"/>
          </a:xfrm>
          <a:prstGeom prst="rect">
            <a:avLst/>
          </a:prstGeom>
          <a:noFill/>
          <a:ln/>
        </p:spPr>
        <p:txBody>
          <a:bodyPr wrap="square" lIns="0" tIns="0" rIns="0" bIns="0" rtlCol="0" anchor="ctr"/>
          <a:lstStyle/>
          <a:p>
            <a:pPr indent="0" marL="0">
              <a:buNone/>
            </a:pPr>
            <a:r>
              <a:rPr lang="en-US" sz="1000" b="1" spc="150" kern="0" dirty="0">
                <a:solidFill>
                  <a:srgbClr val="C4453A"/>
                </a:solidFill>
                <a:latin typeface="Calibri" pitchFamily="34" charset="0"/>
                <a:ea typeface="Calibri" pitchFamily="34" charset="-122"/>
                <a:cs typeface="Calibri" pitchFamily="34" charset="-120"/>
              </a:rPr>
              <a:t>EVERYONE ELSE</a:t>
            </a:r>
            <a:endParaRPr lang="en-US" sz="1000" dirty="0"/>
          </a:p>
        </p:txBody>
      </p:sp>
      <p:sp>
        <p:nvSpPr>
          <p:cNvPr id="7" name="Text 5"/>
          <p:cNvSpPr/>
          <p:nvPr/>
        </p:nvSpPr>
        <p:spPr>
          <a:xfrm>
            <a:off x="914400" y="2029968"/>
            <a:ext cx="4745736"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Classifieds business</a:t>
            </a:r>
            <a:endParaRPr lang="en-US" sz="2000" dirty="0"/>
          </a:p>
        </p:txBody>
      </p:sp>
      <p:sp>
        <p:nvSpPr>
          <p:cNvPr id="8" name="Text 6"/>
          <p:cNvSpPr/>
          <p:nvPr/>
        </p:nvSpPr>
        <p:spPr>
          <a:xfrm>
            <a:off x="914400" y="2560320"/>
            <a:ext cx="4745736" cy="14630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Answers “what's available”</a:t>
            </a:r>
            <a:endParaRPr lang="en-US" sz="1350" dirty="0"/>
          </a:p>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Monetises by reselling your attention</a:t>
            </a:r>
            <a:endParaRPr lang="en-US" sz="1350" dirty="0"/>
          </a:p>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Wins on volume and ad spend</a:t>
            </a:r>
            <a:endParaRPr lang="en-US" sz="1350" dirty="0"/>
          </a:p>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The buyer is the product</a:t>
            </a:r>
            <a:endParaRPr lang="en-US" sz="1350" dirty="0"/>
          </a:p>
        </p:txBody>
      </p:sp>
      <p:sp>
        <p:nvSpPr>
          <p:cNvPr id="9" name="Shape 7"/>
          <p:cNvSpPr/>
          <p:nvPr/>
        </p:nvSpPr>
        <p:spPr>
          <a:xfrm>
            <a:off x="6254496" y="1508760"/>
            <a:ext cx="5294376" cy="2651760"/>
          </a:xfrm>
          <a:prstGeom prst="rect">
            <a:avLst/>
          </a:prstGeom>
          <a:solidFill>
            <a:srgbClr val="1A2332"/>
          </a:solidFill>
          <a:ln w="6350">
            <a:solidFill>
              <a:srgbClr val="1A2332"/>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6528816" y="1737360"/>
            <a:ext cx="4745736" cy="274320"/>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OTHO</a:t>
            </a:r>
            <a:endParaRPr lang="en-US" sz="1000" dirty="0"/>
          </a:p>
        </p:txBody>
      </p:sp>
      <p:sp>
        <p:nvSpPr>
          <p:cNvPr id="11" name="Text 9"/>
          <p:cNvSpPr/>
          <p:nvPr/>
        </p:nvSpPr>
        <p:spPr>
          <a:xfrm>
            <a:off x="6528816" y="2029968"/>
            <a:ext cx="4745736" cy="41148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Research business</a:t>
            </a:r>
            <a:endParaRPr lang="en-US" sz="2000" dirty="0"/>
          </a:p>
        </p:txBody>
      </p:sp>
      <p:sp>
        <p:nvSpPr>
          <p:cNvPr id="12" name="Text 10"/>
          <p:cNvSpPr/>
          <p:nvPr/>
        </p:nvSpPr>
        <p:spPr>
          <a:xfrm>
            <a:off x="6528816" y="2560320"/>
            <a:ext cx="4745736" cy="14630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Answers “what should I buy”</a:t>
            </a:r>
            <a:endParaRPr lang="en-US" sz="1350" dirty="0"/>
          </a:p>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Monetises intent it has already earned</a:t>
            </a:r>
            <a:endParaRPr lang="en-US" sz="1350" dirty="0"/>
          </a:p>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Wins on trust and depth</a:t>
            </a:r>
            <a:endParaRPr lang="en-US" sz="1350" dirty="0"/>
          </a:p>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The buyer is the customer</a:t>
            </a:r>
            <a:endParaRPr lang="en-US" sz="1350" dirty="0"/>
          </a:p>
        </p:txBody>
      </p:sp>
      <p:sp>
        <p:nvSpPr>
          <p:cNvPr id="13" name="Text 11"/>
          <p:cNvSpPr/>
          <p:nvPr/>
        </p:nvSpPr>
        <p:spPr>
          <a:xfrm>
            <a:off x="640080" y="4434840"/>
            <a:ext cx="10908792" cy="457200"/>
          </a:xfrm>
          <a:prstGeom prst="rect">
            <a:avLst/>
          </a:prstGeom>
          <a:noFill/>
          <a:ln/>
        </p:spPr>
        <p:txBody>
          <a:bodyPr wrap="square" lIns="0" tIns="0" rIns="0" bIns="0" rtlCol="0" anchor="ctr"/>
          <a:lstStyle/>
          <a:p>
            <a:pPr indent="0" marL="0">
              <a:buNone/>
            </a:pPr>
            <a:r>
              <a:rPr lang="en-US" sz="2200" b="1" dirty="0">
                <a:solidFill>
                  <a:srgbClr val="1A2332"/>
                </a:solidFill>
                <a:latin typeface="Cambria" pitchFamily="34" charset="0"/>
                <a:ea typeface="Cambria" pitchFamily="34" charset="-122"/>
                <a:cs typeface="Cambria" pitchFamily="34" charset="-120"/>
              </a:rPr>
              <a:t>In Indian real estate, the research layer is empty.</a:t>
            </a:r>
            <a:endParaRPr lang="en-US" sz="2200" dirty="0"/>
          </a:p>
        </p:txBody>
      </p:sp>
      <p:sp>
        <p:nvSpPr>
          <p:cNvPr id="14" name="Text 12"/>
          <p:cNvSpPr/>
          <p:nvPr/>
        </p:nvSpPr>
        <p:spPr>
          <a:xfrm>
            <a:off x="640080" y="4937760"/>
            <a:ext cx="10908792" cy="640080"/>
          </a:xfrm>
          <a:prstGeom prst="rect">
            <a:avLst/>
          </a:prstGeom>
          <a:noFill/>
          <a:ln/>
        </p:spPr>
        <p:txBody>
          <a:bodyPr wrap="square" lIns="0" tIns="0" rIns="0" bIns="0" rtlCol="0" anchor="ctr"/>
          <a:lstStyle/>
          <a:p>
            <a:pPr indent="0" marL="0">
              <a:lnSpc>
                <a:spcPts val="2300"/>
              </a:lnSpc>
              <a:buNone/>
            </a:pPr>
            <a:r>
              <a:rPr lang="en-US" sz="1500" dirty="0">
                <a:solidFill>
                  <a:srgbClr val="676C74"/>
                </a:solidFill>
                <a:latin typeface="Calibri" pitchFamily="34" charset="0"/>
                <a:ea typeface="Calibri" pitchFamily="34" charset="-122"/>
                <a:cs typeface="Calibri" pitchFamily="34" charset="-120"/>
              </a:rPr>
              <a:t>No price estimate, no expert project reviews, no honest comparison engine, no resident ratings. Every player is fighting over the classifieds half of the market.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920240"/>
            <a:ext cx="10424160" cy="1371600"/>
          </a:xfrm>
          <a:prstGeom prst="rect">
            <a:avLst/>
          </a:prstGeom>
          <a:noFill/>
          <a:ln/>
        </p:spPr>
        <p:txBody>
          <a:bodyPr wrap="square" lIns="0" tIns="0" rIns="0" bIns="0" rtlCol="0" anchor="ctr"/>
          <a:lstStyle/>
          <a:p>
            <a:pPr indent="0" marL="0">
              <a:lnSpc>
                <a:spcPts val="4800"/>
              </a:lnSpc>
              <a:buNone/>
            </a:pPr>
            <a:r>
              <a:rPr lang="en-US" sz="3600" dirty="0">
                <a:solidFill>
                  <a:srgbClr val="8E959E"/>
                </a:solidFill>
                <a:latin typeface="Cambria" pitchFamily="34" charset="0"/>
                <a:ea typeface="Cambria" pitchFamily="34" charset="-122"/>
                <a:cs typeface="Cambria" pitchFamily="34" charset="-120"/>
              </a:rPr>
              <a:t>Every property platform tells you</a:t>
            </a:r>
            <a:endParaRPr lang="en-US" sz="3600" dirty="0"/>
          </a:p>
          <a:p>
            <a:pPr indent="0" marL="0">
              <a:lnSpc>
                <a:spcPts val="4800"/>
              </a:lnSpc>
              <a:buNone/>
            </a:pPr>
            <a:r>
              <a:rPr lang="en-US" sz="3600" dirty="0">
                <a:solidFill>
                  <a:srgbClr val="8E959E"/>
                </a:solidFill>
                <a:latin typeface="Cambria" pitchFamily="34" charset="0"/>
                <a:ea typeface="Cambria" pitchFamily="34" charset="-122"/>
                <a:cs typeface="Cambria" pitchFamily="34" charset="-120"/>
              </a:rPr>
              <a:t>what's for sale.</a:t>
            </a:r>
            <a:endParaRPr lang="en-US" sz="3600" dirty="0"/>
          </a:p>
        </p:txBody>
      </p:sp>
      <p:sp>
        <p:nvSpPr>
          <p:cNvPr id="3" name="Text 1"/>
          <p:cNvSpPr/>
          <p:nvPr/>
        </p:nvSpPr>
        <p:spPr>
          <a:xfrm>
            <a:off x="640080" y="3429000"/>
            <a:ext cx="10424160" cy="1463040"/>
          </a:xfrm>
          <a:prstGeom prst="rect">
            <a:avLst/>
          </a:prstGeom>
          <a:noFill/>
          <a:ln/>
        </p:spPr>
        <p:txBody>
          <a:bodyPr wrap="square" lIns="0" tIns="0" rIns="0" bIns="0" rtlCol="0" anchor="ctr"/>
          <a:lstStyle/>
          <a:p>
            <a:pPr indent="0" marL="0">
              <a:lnSpc>
                <a:spcPts val="5800"/>
              </a:lnSpc>
              <a:buNone/>
            </a:pPr>
            <a:r>
              <a:rPr lang="en-US" sz="4600" b="1" dirty="0">
                <a:solidFill>
                  <a:srgbClr val="FFFFFF"/>
                </a:solidFill>
                <a:latin typeface="Cambria" pitchFamily="34" charset="0"/>
                <a:ea typeface="Cambria" pitchFamily="34" charset="-122"/>
                <a:cs typeface="Cambria" pitchFamily="34" charset="-120"/>
              </a:rPr>
              <a:t>OTHO tells you what's</a:t>
            </a:r>
            <a:endParaRPr lang="en-US" sz="4600" dirty="0"/>
          </a:p>
          <a:p>
            <a:pPr indent="0" marL="0">
              <a:lnSpc>
                <a:spcPts val="5800"/>
              </a:lnSpc>
              <a:buNone/>
            </a:pPr>
            <a:r>
              <a:rPr lang="en-US" sz="4600" b="1" dirty="0">
                <a:solidFill>
                  <a:srgbClr val="FFFFFF"/>
                </a:solidFill>
                <a:latin typeface="Cambria" pitchFamily="34" charset="0"/>
                <a:ea typeface="Cambria" pitchFamily="34" charset="-122"/>
                <a:cs typeface="Cambria" pitchFamily="34" charset="-120"/>
              </a:rPr>
              <a:t>worth buying.</a:t>
            </a:r>
            <a:endParaRPr lang="en-US" sz="4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The signature screen</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Two projects. One is 5% cheaper on the board, and 2% dearer in reality.</a:t>
            </a:r>
            <a:endParaRPr lang="en-US" sz="1500" dirty="0"/>
          </a:p>
        </p:txBody>
      </p:sp>
      <p:sp>
        <p:nvSpPr>
          <p:cNvPr id="6" name="Shape 4"/>
          <p:cNvSpPr/>
          <p:nvPr/>
        </p:nvSpPr>
        <p:spPr>
          <a:xfrm>
            <a:off x="640080" y="1627632"/>
            <a:ext cx="4206240" cy="475488"/>
          </a:xfrm>
          <a:prstGeom prst="rect">
            <a:avLst/>
          </a:prstGeom>
          <a:solidFill>
            <a:srgbClr val="1A2332"/>
          </a:solidFill>
          <a:ln w="6350">
            <a:solidFill>
              <a:srgbClr val="DFDFDB"/>
            </a:solidFill>
            <a:prstDash val="solid"/>
          </a:ln>
        </p:spPr>
      </p:sp>
      <p:sp>
        <p:nvSpPr>
          <p:cNvPr id="7" name="Text 5"/>
          <p:cNvSpPr/>
          <p:nvPr/>
        </p:nvSpPr>
        <p:spPr>
          <a:xfrm>
            <a:off x="841248" y="1627632"/>
            <a:ext cx="3840480" cy="475488"/>
          </a:xfrm>
          <a:prstGeom prst="rect">
            <a:avLst/>
          </a:prstGeom>
          <a:noFill/>
          <a:ln/>
        </p:spPr>
        <p:txBody>
          <a:bodyPr wrap="square" lIns="0" tIns="0" rIns="0" bIns="0" rtlCol="0" anchor="ctr"/>
          <a:lstStyle/>
          <a:p>
            <a:pPr indent="0" marL="0">
              <a:buNone/>
            </a:pPr>
            <a:endParaRPr lang="en-US" sz="1300" dirty="0"/>
          </a:p>
        </p:txBody>
      </p:sp>
      <p:sp>
        <p:nvSpPr>
          <p:cNvPr id="8" name="Shape 6"/>
          <p:cNvSpPr/>
          <p:nvPr/>
        </p:nvSpPr>
        <p:spPr>
          <a:xfrm>
            <a:off x="4846320" y="1627632"/>
            <a:ext cx="3351276" cy="475488"/>
          </a:xfrm>
          <a:prstGeom prst="rect">
            <a:avLst/>
          </a:prstGeom>
          <a:solidFill>
            <a:srgbClr val="1A2332"/>
          </a:solidFill>
          <a:ln w="6350">
            <a:solidFill>
              <a:srgbClr val="DFDFDB"/>
            </a:solidFill>
            <a:prstDash val="solid"/>
          </a:ln>
        </p:spPr>
      </p:sp>
      <p:sp>
        <p:nvSpPr>
          <p:cNvPr id="9" name="Text 7"/>
          <p:cNvSpPr/>
          <p:nvPr/>
        </p:nvSpPr>
        <p:spPr>
          <a:xfrm>
            <a:off x="4846320" y="1627632"/>
            <a:ext cx="3351276" cy="47548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Project A</a:t>
            </a:r>
            <a:endParaRPr lang="en-US" sz="1350" dirty="0"/>
          </a:p>
        </p:txBody>
      </p:sp>
      <p:sp>
        <p:nvSpPr>
          <p:cNvPr id="10" name="Shape 8"/>
          <p:cNvSpPr/>
          <p:nvPr/>
        </p:nvSpPr>
        <p:spPr>
          <a:xfrm>
            <a:off x="8197596" y="1627632"/>
            <a:ext cx="3351276" cy="475488"/>
          </a:xfrm>
          <a:prstGeom prst="rect">
            <a:avLst/>
          </a:prstGeom>
          <a:solidFill>
            <a:srgbClr val="1A2332"/>
          </a:solidFill>
          <a:ln w="6350">
            <a:solidFill>
              <a:srgbClr val="DFDFDB"/>
            </a:solidFill>
            <a:prstDash val="solid"/>
          </a:ln>
        </p:spPr>
      </p:sp>
      <p:sp>
        <p:nvSpPr>
          <p:cNvPr id="11" name="Text 9"/>
          <p:cNvSpPr/>
          <p:nvPr/>
        </p:nvSpPr>
        <p:spPr>
          <a:xfrm>
            <a:off x="8197596" y="1627632"/>
            <a:ext cx="3351276" cy="47548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Project B</a:t>
            </a:r>
            <a:endParaRPr lang="en-US" sz="1350" dirty="0"/>
          </a:p>
        </p:txBody>
      </p:sp>
      <p:sp>
        <p:nvSpPr>
          <p:cNvPr id="12" name="Shape 10"/>
          <p:cNvSpPr/>
          <p:nvPr/>
        </p:nvSpPr>
        <p:spPr>
          <a:xfrm>
            <a:off x="640080" y="2103120"/>
            <a:ext cx="4206240" cy="475488"/>
          </a:xfrm>
          <a:prstGeom prst="rect">
            <a:avLst/>
          </a:prstGeom>
          <a:solidFill>
            <a:srgbClr val="FFFFFF"/>
          </a:solidFill>
          <a:ln w="6350">
            <a:solidFill>
              <a:srgbClr val="DFDFDB"/>
            </a:solidFill>
            <a:prstDash val="solid"/>
          </a:ln>
        </p:spPr>
      </p:sp>
      <p:sp>
        <p:nvSpPr>
          <p:cNvPr id="13" name="Text 11"/>
          <p:cNvSpPr/>
          <p:nvPr/>
        </p:nvSpPr>
        <p:spPr>
          <a:xfrm>
            <a:off x="841248" y="2103120"/>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Advertised rate</a:t>
            </a:r>
            <a:endParaRPr lang="en-US" sz="1300" dirty="0"/>
          </a:p>
        </p:txBody>
      </p:sp>
      <p:sp>
        <p:nvSpPr>
          <p:cNvPr id="14" name="Shape 12"/>
          <p:cNvSpPr/>
          <p:nvPr/>
        </p:nvSpPr>
        <p:spPr>
          <a:xfrm>
            <a:off x="4846320" y="2103120"/>
            <a:ext cx="3351276" cy="475488"/>
          </a:xfrm>
          <a:prstGeom prst="rect">
            <a:avLst/>
          </a:prstGeom>
          <a:solidFill>
            <a:srgbClr val="E4F0E9"/>
          </a:solidFill>
          <a:ln w="6350">
            <a:solidFill>
              <a:srgbClr val="DFDFDB"/>
            </a:solidFill>
            <a:prstDash val="solid"/>
          </a:ln>
        </p:spPr>
      </p:sp>
      <p:sp>
        <p:nvSpPr>
          <p:cNvPr id="15" name="Text 13"/>
          <p:cNvSpPr/>
          <p:nvPr/>
        </p:nvSpPr>
        <p:spPr>
          <a:xfrm>
            <a:off x="4846320" y="2103120"/>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₹9,483</a:t>
            </a:r>
            <a:endParaRPr lang="en-US" sz="1350" dirty="0"/>
          </a:p>
        </p:txBody>
      </p:sp>
      <p:sp>
        <p:nvSpPr>
          <p:cNvPr id="16" name="Shape 14"/>
          <p:cNvSpPr/>
          <p:nvPr/>
        </p:nvSpPr>
        <p:spPr>
          <a:xfrm>
            <a:off x="8197596" y="2103120"/>
            <a:ext cx="3351276" cy="475488"/>
          </a:xfrm>
          <a:prstGeom prst="rect">
            <a:avLst/>
          </a:prstGeom>
          <a:solidFill>
            <a:srgbClr val="FFFFFF"/>
          </a:solidFill>
          <a:ln w="6350">
            <a:solidFill>
              <a:srgbClr val="DFDFDB"/>
            </a:solidFill>
            <a:prstDash val="solid"/>
          </a:ln>
        </p:spPr>
      </p:sp>
      <p:sp>
        <p:nvSpPr>
          <p:cNvPr id="17" name="Text 15"/>
          <p:cNvSpPr/>
          <p:nvPr/>
        </p:nvSpPr>
        <p:spPr>
          <a:xfrm>
            <a:off x="8197596" y="2103120"/>
            <a:ext cx="3351276" cy="475488"/>
          </a:xfrm>
          <a:prstGeom prst="rect">
            <a:avLst/>
          </a:prstGeom>
          <a:noFill/>
          <a:ln/>
        </p:spPr>
        <p:txBody>
          <a:bodyPr wrap="square" lIns="0" tIns="0" rIns="0" bIns="0" rtlCol="0" anchor="ctr"/>
          <a:lstStyle/>
          <a:p>
            <a:pPr algn="ctr" indent="0" marL="0">
              <a:buNone/>
            </a:pPr>
            <a:r>
              <a:rPr lang="en-US" sz="1350" b="1" dirty="0">
                <a:solidFill>
                  <a:srgbClr val="1A2332"/>
                </a:solidFill>
                <a:latin typeface="Calibri" pitchFamily="34" charset="0"/>
                <a:ea typeface="Calibri" pitchFamily="34" charset="-122"/>
                <a:cs typeface="Calibri" pitchFamily="34" charset="-120"/>
              </a:rPr>
              <a:t>₹9,994</a:t>
            </a:r>
            <a:endParaRPr lang="en-US" sz="1350" dirty="0"/>
          </a:p>
        </p:txBody>
      </p:sp>
      <p:sp>
        <p:nvSpPr>
          <p:cNvPr id="18" name="Shape 16"/>
          <p:cNvSpPr/>
          <p:nvPr/>
        </p:nvSpPr>
        <p:spPr>
          <a:xfrm>
            <a:off x="640080" y="2578608"/>
            <a:ext cx="4206240" cy="475488"/>
          </a:xfrm>
          <a:prstGeom prst="rect">
            <a:avLst/>
          </a:prstGeom>
          <a:solidFill>
            <a:srgbClr val="FFFFFF"/>
          </a:solidFill>
          <a:ln w="6350">
            <a:solidFill>
              <a:srgbClr val="DFDFDB"/>
            </a:solidFill>
            <a:prstDash val="solid"/>
          </a:ln>
        </p:spPr>
      </p:sp>
      <p:sp>
        <p:nvSpPr>
          <p:cNvPr id="19" name="Text 17"/>
          <p:cNvSpPr/>
          <p:nvPr/>
        </p:nvSpPr>
        <p:spPr>
          <a:xfrm>
            <a:off x="841248" y="2578608"/>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RERA carpet area</a:t>
            </a:r>
            <a:endParaRPr lang="en-US" sz="1300" dirty="0"/>
          </a:p>
        </p:txBody>
      </p:sp>
      <p:sp>
        <p:nvSpPr>
          <p:cNvPr id="20" name="Shape 18"/>
          <p:cNvSpPr/>
          <p:nvPr/>
        </p:nvSpPr>
        <p:spPr>
          <a:xfrm>
            <a:off x="4846320" y="2578608"/>
            <a:ext cx="3351276" cy="475488"/>
          </a:xfrm>
          <a:prstGeom prst="rect">
            <a:avLst/>
          </a:prstGeom>
          <a:solidFill>
            <a:srgbClr val="FFFFFF"/>
          </a:solidFill>
          <a:ln w="6350">
            <a:solidFill>
              <a:srgbClr val="DFDFDB"/>
            </a:solidFill>
            <a:prstDash val="solid"/>
          </a:ln>
        </p:spPr>
      </p:sp>
      <p:sp>
        <p:nvSpPr>
          <p:cNvPr id="21" name="Text 19"/>
          <p:cNvSpPr/>
          <p:nvPr/>
        </p:nvSpPr>
        <p:spPr>
          <a:xfrm>
            <a:off x="4846320" y="2578608"/>
            <a:ext cx="3351276" cy="475488"/>
          </a:xfrm>
          <a:prstGeom prst="rect">
            <a:avLst/>
          </a:prstGeom>
          <a:noFill/>
          <a:ln/>
        </p:spPr>
        <p:txBody>
          <a:bodyPr wrap="square" lIns="0" tIns="0" rIns="0" bIns="0" rtlCol="0" anchor="ctr"/>
          <a:lstStyle/>
          <a:p>
            <a:pPr algn="ctr" indent="0" marL="0">
              <a:buNone/>
            </a:pPr>
            <a:r>
              <a:rPr lang="en-US" sz="1350" b="1" dirty="0">
                <a:solidFill>
                  <a:srgbClr val="1A2332"/>
                </a:solidFill>
                <a:latin typeface="Calibri" pitchFamily="34" charset="0"/>
                <a:ea typeface="Calibri" pitchFamily="34" charset="-122"/>
                <a:cs typeface="Calibri" pitchFamily="34" charset="-120"/>
              </a:rPr>
              <a:t>1,842 sq ft</a:t>
            </a:r>
            <a:endParaRPr lang="en-US" sz="1350" dirty="0"/>
          </a:p>
        </p:txBody>
      </p:sp>
      <p:sp>
        <p:nvSpPr>
          <p:cNvPr id="22" name="Shape 20"/>
          <p:cNvSpPr/>
          <p:nvPr/>
        </p:nvSpPr>
        <p:spPr>
          <a:xfrm>
            <a:off x="8197596" y="2578608"/>
            <a:ext cx="3351276" cy="475488"/>
          </a:xfrm>
          <a:prstGeom prst="rect">
            <a:avLst/>
          </a:prstGeom>
          <a:solidFill>
            <a:srgbClr val="FFFFFF"/>
          </a:solidFill>
          <a:ln w="6350">
            <a:solidFill>
              <a:srgbClr val="DFDFDB"/>
            </a:solidFill>
            <a:prstDash val="solid"/>
          </a:ln>
        </p:spPr>
      </p:sp>
      <p:sp>
        <p:nvSpPr>
          <p:cNvPr id="23" name="Text 21"/>
          <p:cNvSpPr/>
          <p:nvPr/>
        </p:nvSpPr>
        <p:spPr>
          <a:xfrm>
            <a:off x="8197596" y="2578608"/>
            <a:ext cx="3351276" cy="475488"/>
          </a:xfrm>
          <a:prstGeom prst="rect">
            <a:avLst/>
          </a:prstGeom>
          <a:noFill/>
          <a:ln/>
        </p:spPr>
        <p:txBody>
          <a:bodyPr wrap="square" lIns="0" tIns="0" rIns="0" bIns="0" rtlCol="0" anchor="ctr"/>
          <a:lstStyle/>
          <a:p>
            <a:pPr algn="ctr" indent="0" marL="0">
              <a:buNone/>
            </a:pPr>
            <a:r>
              <a:rPr lang="en-US" sz="1350" b="1" dirty="0">
                <a:solidFill>
                  <a:srgbClr val="1A2332"/>
                </a:solidFill>
                <a:latin typeface="Calibri" pitchFamily="34" charset="0"/>
                <a:ea typeface="Calibri" pitchFamily="34" charset="-122"/>
                <a:cs typeface="Calibri" pitchFamily="34" charset="-120"/>
              </a:rPr>
              <a:t>1,861 sq ft</a:t>
            </a:r>
            <a:endParaRPr lang="en-US" sz="1350" dirty="0"/>
          </a:p>
        </p:txBody>
      </p:sp>
      <p:sp>
        <p:nvSpPr>
          <p:cNvPr id="24" name="Shape 22"/>
          <p:cNvSpPr/>
          <p:nvPr/>
        </p:nvSpPr>
        <p:spPr>
          <a:xfrm>
            <a:off x="640080" y="3054096"/>
            <a:ext cx="4206240" cy="475488"/>
          </a:xfrm>
          <a:prstGeom prst="rect">
            <a:avLst/>
          </a:prstGeom>
          <a:solidFill>
            <a:srgbClr val="FFFFFF"/>
          </a:solidFill>
          <a:ln w="6350">
            <a:solidFill>
              <a:srgbClr val="DFDFDB"/>
            </a:solidFill>
            <a:prstDash val="solid"/>
          </a:ln>
        </p:spPr>
      </p:sp>
      <p:sp>
        <p:nvSpPr>
          <p:cNvPr id="25" name="Text 23"/>
          <p:cNvSpPr/>
          <p:nvPr/>
        </p:nvSpPr>
        <p:spPr>
          <a:xfrm>
            <a:off x="841248" y="3054096"/>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Loading factor</a:t>
            </a:r>
            <a:endParaRPr lang="en-US" sz="1300" dirty="0"/>
          </a:p>
        </p:txBody>
      </p:sp>
      <p:sp>
        <p:nvSpPr>
          <p:cNvPr id="26" name="Shape 24"/>
          <p:cNvSpPr/>
          <p:nvPr/>
        </p:nvSpPr>
        <p:spPr>
          <a:xfrm>
            <a:off x="4846320" y="3054096"/>
            <a:ext cx="3351276" cy="475488"/>
          </a:xfrm>
          <a:prstGeom prst="rect">
            <a:avLst/>
          </a:prstGeom>
          <a:solidFill>
            <a:srgbClr val="F8E7E5"/>
          </a:solidFill>
          <a:ln w="6350">
            <a:solidFill>
              <a:srgbClr val="DFDFDB"/>
            </a:solidFill>
            <a:prstDash val="solid"/>
          </a:ln>
        </p:spPr>
      </p:sp>
      <p:sp>
        <p:nvSpPr>
          <p:cNvPr id="27" name="Text 25"/>
          <p:cNvSpPr/>
          <p:nvPr/>
        </p:nvSpPr>
        <p:spPr>
          <a:xfrm>
            <a:off x="4846320" y="3054096"/>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44%</a:t>
            </a:r>
            <a:endParaRPr lang="en-US" sz="1350" dirty="0"/>
          </a:p>
        </p:txBody>
      </p:sp>
      <p:sp>
        <p:nvSpPr>
          <p:cNvPr id="28" name="Shape 26"/>
          <p:cNvSpPr/>
          <p:nvPr/>
        </p:nvSpPr>
        <p:spPr>
          <a:xfrm>
            <a:off x="8197596" y="3054096"/>
            <a:ext cx="3351276" cy="475488"/>
          </a:xfrm>
          <a:prstGeom prst="rect">
            <a:avLst/>
          </a:prstGeom>
          <a:solidFill>
            <a:srgbClr val="E4F0E9"/>
          </a:solidFill>
          <a:ln w="6350">
            <a:solidFill>
              <a:srgbClr val="DFDFDB"/>
            </a:solidFill>
            <a:prstDash val="solid"/>
          </a:ln>
        </p:spPr>
      </p:sp>
      <p:sp>
        <p:nvSpPr>
          <p:cNvPr id="29" name="Text 27"/>
          <p:cNvSpPr/>
          <p:nvPr/>
        </p:nvSpPr>
        <p:spPr>
          <a:xfrm>
            <a:off x="8197596" y="3054096"/>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36%</a:t>
            </a:r>
            <a:endParaRPr lang="en-US" sz="1350" dirty="0"/>
          </a:p>
        </p:txBody>
      </p:sp>
      <p:sp>
        <p:nvSpPr>
          <p:cNvPr id="30" name="Shape 28"/>
          <p:cNvSpPr/>
          <p:nvPr/>
        </p:nvSpPr>
        <p:spPr>
          <a:xfrm>
            <a:off x="640080" y="3529584"/>
            <a:ext cx="4206240" cy="475488"/>
          </a:xfrm>
          <a:prstGeom prst="rect">
            <a:avLst/>
          </a:prstGeom>
          <a:solidFill>
            <a:srgbClr val="FFFFFF"/>
          </a:solidFill>
          <a:ln w="6350">
            <a:solidFill>
              <a:srgbClr val="DFDFDB"/>
            </a:solidFill>
            <a:prstDash val="solid"/>
          </a:ln>
        </p:spPr>
      </p:sp>
      <p:sp>
        <p:nvSpPr>
          <p:cNvPr id="31" name="Text 29"/>
          <p:cNvSpPr/>
          <p:nvPr/>
        </p:nvSpPr>
        <p:spPr>
          <a:xfrm>
            <a:off x="841248" y="3529584"/>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Real rate on carpet</a:t>
            </a:r>
            <a:endParaRPr lang="en-US" sz="1300" dirty="0"/>
          </a:p>
        </p:txBody>
      </p:sp>
      <p:sp>
        <p:nvSpPr>
          <p:cNvPr id="32" name="Shape 30"/>
          <p:cNvSpPr/>
          <p:nvPr/>
        </p:nvSpPr>
        <p:spPr>
          <a:xfrm>
            <a:off x="4846320" y="3529584"/>
            <a:ext cx="3351276" cy="475488"/>
          </a:xfrm>
          <a:prstGeom prst="rect">
            <a:avLst/>
          </a:prstGeom>
          <a:solidFill>
            <a:srgbClr val="F8E7E5"/>
          </a:solidFill>
          <a:ln w="6350">
            <a:solidFill>
              <a:srgbClr val="DFDFDB"/>
            </a:solidFill>
            <a:prstDash val="solid"/>
          </a:ln>
        </p:spPr>
      </p:sp>
      <p:sp>
        <p:nvSpPr>
          <p:cNvPr id="33" name="Text 31"/>
          <p:cNvSpPr/>
          <p:nvPr/>
        </p:nvSpPr>
        <p:spPr>
          <a:xfrm>
            <a:off x="4846320" y="3529584"/>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₹13,720</a:t>
            </a:r>
            <a:endParaRPr lang="en-US" sz="1350" dirty="0"/>
          </a:p>
        </p:txBody>
      </p:sp>
      <p:sp>
        <p:nvSpPr>
          <p:cNvPr id="34" name="Shape 32"/>
          <p:cNvSpPr/>
          <p:nvPr/>
        </p:nvSpPr>
        <p:spPr>
          <a:xfrm>
            <a:off x="8197596" y="3529584"/>
            <a:ext cx="3351276" cy="475488"/>
          </a:xfrm>
          <a:prstGeom prst="rect">
            <a:avLst/>
          </a:prstGeom>
          <a:solidFill>
            <a:srgbClr val="E4F0E9"/>
          </a:solidFill>
          <a:ln w="6350">
            <a:solidFill>
              <a:srgbClr val="DFDFDB"/>
            </a:solidFill>
            <a:prstDash val="solid"/>
          </a:ln>
        </p:spPr>
      </p:sp>
      <p:sp>
        <p:nvSpPr>
          <p:cNvPr id="35" name="Text 33"/>
          <p:cNvSpPr/>
          <p:nvPr/>
        </p:nvSpPr>
        <p:spPr>
          <a:xfrm>
            <a:off x="8197596" y="3529584"/>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₹13,440</a:t>
            </a:r>
            <a:endParaRPr lang="en-US" sz="1350" dirty="0"/>
          </a:p>
        </p:txBody>
      </p:sp>
      <p:sp>
        <p:nvSpPr>
          <p:cNvPr id="36" name="Shape 34"/>
          <p:cNvSpPr/>
          <p:nvPr/>
        </p:nvSpPr>
        <p:spPr>
          <a:xfrm>
            <a:off x="640080" y="4005072"/>
            <a:ext cx="4206240" cy="475488"/>
          </a:xfrm>
          <a:prstGeom prst="rect">
            <a:avLst/>
          </a:prstGeom>
          <a:solidFill>
            <a:srgbClr val="FFFFFF"/>
          </a:solidFill>
          <a:ln w="6350">
            <a:solidFill>
              <a:srgbClr val="DFDFDB"/>
            </a:solidFill>
            <a:prstDash val="solid"/>
          </a:ln>
        </p:spPr>
      </p:sp>
      <p:sp>
        <p:nvSpPr>
          <p:cNvPr id="37" name="Text 35"/>
          <p:cNvSpPr/>
          <p:nvPr/>
        </p:nvSpPr>
        <p:spPr>
          <a:xfrm>
            <a:off x="841248" y="4005072"/>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Land share per unit</a:t>
            </a:r>
            <a:endParaRPr lang="en-US" sz="1300" dirty="0"/>
          </a:p>
        </p:txBody>
      </p:sp>
      <p:sp>
        <p:nvSpPr>
          <p:cNvPr id="38" name="Shape 36"/>
          <p:cNvSpPr/>
          <p:nvPr/>
        </p:nvSpPr>
        <p:spPr>
          <a:xfrm>
            <a:off x="4846320" y="4005072"/>
            <a:ext cx="3351276" cy="475488"/>
          </a:xfrm>
          <a:prstGeom prst="rect">
            <a:avLst/>
          </a:prstGeom>
          <a:solidFill>
            <a:srgbClr val="F8E7E5"/>
          </a:solidFill>
          <a:ln w="6350">
            <a:solidFill>
              <a:srgbClr val="DFDFDB"/>
            </a:solidFill>
            <a:prstDash val="solid"/>
          </a:ln>
        </p:spPr>
      </p:sp>
      <p:sp>
        <p:nvSpPr>
          <p:cNvPr id="39" name="Text 37"/>
          <p:cNvSpPr/>
          <p:nvPr/>
        </p:nvSpPr>
        <p:spPr>
          <a:xfrm>
            <a:off x="4846320" y="4005072"/>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Lower</a:t>
            </a:r>
            <a:endParaRPr lang="en-US" sz="1350" dirty="0"/>
          </a:p>
        </p:txBody>
      </p:sp>
      <p:sp>
        <p:nvSpPr>
          <p:cNvPr id="40" name="Shape 38"/>
          <p:cNvSpPr/>
          <p:nvPr/>
        </p:nvSpPr>
        <p:spPr>
          <a:xfrm>
            <a:off x="8197596" y="4005072"/>
            <a:ext cx="3351276" cy="475488"/>
          </a:xfrm>
          <a:prstGeom prst="rect">
            <a:avLst/>
          </a:prstGeom>
          <a:solidFill>
            <a:srgbClr val="E4F0E9"/>
          </a:solidFill>
          <a:ln w="6350">
            <a:solidFill>
              <a:srgbClr val="DFDFDB"/>
            </a:solidFill>
            <a:prstDash val="solid"/>
          </a:ln>
        </p:spPr>
      </p:sp>
      <p:sp>
        <p:nvSpPr>
          <p:cNvPr id="41" name="Text 39"/>
          <p:cNvSpPr/>
          <p:nvPr/>
        </p:nvSpPr>
        <p:spPr>
          <a:xfrm>
            <a:off x="8197596" y="4005072"/>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18% more</a:t>
            </a:r>
            <a:endParaRPr lang="en-US" sz="1350" dirty="0"/>
          </a:p>
        </p:txBody>
      </p:sp>
      <p:sp>
        <p:nvSpPr>
          <p:cNvPr id="42" name="Shape 40"/>
          <p:cNvSpPr/>
          <p:nvPr/>
        </p:nvSpPr>
        <p:spPr>
          <a:xfrm>
            <a:off x="640080" y="4480560"/>
            <a:ext cx="4206240" cy="475488"/>
          </a:xfrm>
          <a:prstGeom prst="rect">
            <a:avLst/>
          </a:prstGeom>
          <a:solidFill>
            <a:srgbClr val="FFFFFF"/>
          </a:solidFill>
          <a:ln w="6350">
            <a:solidFill>
              <a:srgbClr val="DFDFDB"/>
            </a:solidFill>
            <a:prstDash val="solid"/>
          </a:ln>
        </p:spPr>
      </p:sp>
      <p:sp>
        <p:nvSpPr>
          <p:cNvPr id="43" name="Text 41"/>
          <p:cNvSpPr/>
          <p:nvPr/>
        </p:nvSpPr>
        <p:spPr>
          <a:xfrm>
            <a:off x="841248" y="4480560"/>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OTHO verdict</a:t>
            </a:r>
            <a:endParaRPr lang="en-US" sz="1300" dirty="0"/>
          </a:p>
        </p:txBody>
      </p:sp>
      <p:sp>
        <p:nvSpPr>
          <p:cNvPr id="44" name="Shape 42"/>
          <p:cNvSpPr/>
          <p:nvPr/>
        </p:nvSpPr>
        <p:spPr>
          <a:xfrm>
            <a:off x="4846320" y="4480560"/>
            <a:ext cx="3351276" cy="475488"/>
          </a:xfrm>
          <a:prstGeom prst="rect">
            <a:avLst/>
          </a:prstGeom>
          <a:solidFill>
            <a:srgbClr val="F8E7E5"/>
          </a:solidFill>
          <a:ln w="6350">
            <a:solidFill>
              <a:srgbClr val="DFDFDB"/>
            </a:solidFill>
            <a:prstDash val="solid"/>
          </a:ln>
        </p:spPr>
      </p:sp>
      <p:sp>
        <p:nvSpPr>
          <p:cNvPr id="45" name="Text 43"/>
          <p:cNvSpPr/>
          <p:nvPr/>
        </p:nvSpPr>
        <p:spPr>
          <a:xfrm>
            <a:off x="4846320" y="4480560"/>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Looks cheaper</a:t>
            </a:r>
            <a:endParaRPr lang="en-US" sz="1350" dirty="0"/>
          </a:p>
        </p:txBody>
      </p:sp>
      <p:sp>
        <p:nvSpPr>
          <p:cNvPr id="46" name="Shape 44"/>
          <p:cNvSpPr/>
          <p:nvPr/>
        </p:nvSpPr>
        <p:spPr>
          <a:xfrm>
            <a:off x="8197596" y="4480560"/>
            <a:ext cx="3351276" cy="475488"/>
          </a:xfrm>
          <a:prstGeom prst="rect">
            <a:avLst/>
          </a:prstGeom>
          <a:solidFill>
            <a:srgbClr val="E4F0E9"/>
          </a:solidFill>
          <a:ln w="6350">
            <a:solidFill>
              <a:srgbClr val="DFDFDB"/>
            </a:solidFill>
            <a:prstDash val="solid"/>
          </a:ln>
        </p:spPr>
      </p:sp>
      <p:sp>
        <p:nvSpPr>
          <p:cNvPr id="47" name="Text 45"/>
          <p:cNvSpPr/>
          <p:nvPr/>
        </p:nvSpPr>
        <p:spPr>
          <a:xfrm>
            <a:off x="8197596" y="4480560"/>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Actually cheaper</a:t>
            </a:r>
            <a:endParaRPr lang="en-US" sz="1350" dirty="0"/>
          </a:p>
        </p:txBody>
      </p:sp>
      <p:sp>
        <p:nvSpPr>
          <p:cNvPr id="48" name="Text 46"/>
          <p:cNvSpPr/>
          <p:nvPr/>
        </p:nvSpPr>
        <p:spPr>
          <a:xfrm>
            <a:off x="640080" y="5074920"/>
            <a:ext cx="10908792" cy="640080"/>
          </a:xfrm>
          <a:prstGeom prst="rect">
            <a:avLst/>
          </a:prstGeom>
          <a:noFill/>
          <a:ln/>
        </p:spPr>
        <p:txBody>
          <a:bodyPr wrap="square" lIns="0" tIns="0" rIns="0" bIns="0" rtlCol="0" anchor="ctr"/>
          <a:lstStyle/>
          <a:p>
            <a:pPr indent="0" marL="0">
              <a:lnSpc>
                <a:spcPts val="2100"/>
              </a:lnSpc>
              <a:buNone/>
            </a:pPr>
            <a:r>
              <a:rPr lang="en-US" sz="1350" i="1" dirty="0">
                <a:solidFill>
                  <a:srgbClr val="676C74"/>
                </a:solidFill>
                <a:latin typeface="Calibri" pitchFamily="34" charset="0"/>
                <a:ea typeface="Calibri" pitchFamily="34" charset="-122"/>
                <a:cs typeface="Calibri" pitchFamily="34" charset="-120"/>
              </a:rPr>
              <a:t>Every portal in India shows the two advertised numbers and lets you pick the wrong flat. Figures illustrative until built from live TG-RERA filings.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goes in the platform</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Nothing here is unproven. It's proven elsewhere and missing in Indian property.</a:t>
            </a:r>
            <a:endParaRPr lang="en-US" sz="1500" dirty="0"/>
          </a:p>
        </p:txBody>
      </p:sp>
      <p:sp>
        <p:nvSpPr>
          <p:cNvPr id="6" name="Shape 4"/>
          <p:cNvSpPr/>
          <p:nvPr/>
        </p:nvSpPr>
        <p:spPr>
          <a:xfrm>
            <a:off x="6400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7" name="Text 5"/>
          <p:cNvSpPr/>
          <p:nvPr/>
        </p:nvSpPr>
        <p:spPr>
          <a:xfrm>
            <a:off x="8778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Comparison engine</a:t>
            </a:r>
            <a:endParaRPr lang="en-US" sz="1500" dirty="0"/>
          </a:p>
        </p:txBody>
      </p:sp>
      <p:sp>
        <p:nvSpPr>
          <p:cNvPr id="8" name="Text 6"/>
          <p:cNvSpPr/>
          <p:nvPr/>
        </p:nvSpPr>
        <p:spPr>
          <a:xfrm>
            <a:off x="8778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Any two projects side by side on carpet, real rate, land share, density, possession.</a:t>
            </a:r>
            <a:endParaRPr lang="en-US" sz="1200" dirty="0"/>
          </a:p>
        </p:txBody>
      </p:sp>
      <p:sp>
        <p:nvSpPr>
          <p:cNvPr id="9" name="Text 7"/>
          <p:cNvSpPr/>
          <p:nvPr/>
        </p:nvSpPr>
        <p:spPr>
          <a:xfrm>
            <a:off x="8778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CARWALE</a:t>
            </a:r>
            <a:endParaRPr lang="en-US" sz="900" dirty="0"/>
          </a:p>
        </p:txBody>
      </p:sp>
      <p:sp>
        <p:nvSpPr>
          <p:cNvPr id="10" name="Shape 8"/>
          <p:cNvSpPr/>
          <p:nvPr/>
        </p:nvSpPr>
        <p:spPr>
          <a:xfrm>
            <a:off x="42976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1" name="Text 9"/>
          <p:cNvSpPr/>
          <p:nvPr/>
        </p:nvSpPr>
        <p:spPr>
          <a:xfrm>
            <a:off x="45354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Expert project reviews</a:t>
            </a:r>
            <a:endParaRPr lang="en-US" sz="1500" dirty="0"/>
          </a:p>
        </p:txBody>
      </p:sp>
      <p:sp>
        <p:nvSpPr>
          <p:cNvPr id="12" name="Text 10"/>
          <p:cNvSpPr/>
          <p:nvPr/>
        </p:nvSpPr>
        <p:spPr>
          <a:xfrm>
            <a:off x="45354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OTHO rates every project it covers, with a score and a written verdict. Including the bad ones.</a:t>
            </a:r>
            <a:endParaRPr lang="en-US" sz="1200" dirty="0"/>
          </a:p>
        </p:txBody>
      </p:sp>
      <p:sp>
        <p:nvSpPr>
          <p:cNvPr id="13" name="Text 11"/>
          <p:cNvSpPr/>
          <p:nvPr/>
        </p:nvSpPr>
        <p:spPr>
          <a:xfrm>
            <a:off x="45354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CARWALE</a:t>
            </a:r>
            <a:endParaRPr lang="en-US" sz="900" dirty="0"/>
          </a:p>
        </p:txBody>
      </p:sp>
      <p:sp>
        <p:nvSpPr>
          <p:cNvPr id="14" name="Shape 12"/>
          <p:cNvSpPr/>
          <p:nvPr/>
        </p:nvSpPr>
        <p:spPr>
          <a:xfrm>
            <a:off x="79552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5" name="Text 13"/>
          <p:cNvSpPr/>
          <p:nvPr/>
        </p:nvSpPr>
        <p:spPr>
          <a:xfrm>
            <a:off x="81930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Resident reviews</a:t>
            </a:r>
            <a:endParaRPr lang="en-US" sz="1500" dirty="0"/>
          </a:p>
        </p:txBody>
      </p:sp>
      <p:sp>
        <p:nvSpPr>
          <p:cNvPr id="16" name="Text 14"/>
          <p:cNvSpPr/>
          <p:nvPr/>
        </p:nvSpPr>
        <p:spPr>
          <a:xfrm>
            <a:off x="81930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People who live there rate build quality, management, and what broke first.</a:t>
            </a:r>
            <a:endParaRPr lang="en-US" sz="1200" dirty="0"/>
          </a:p>
        </p:txBody>
      </p:sp>
      <p:sp>
        <p:nvSpPr>
          <p:cNvPr id="17" name="Text 15"/>
          <p:cNvSpPr/>
          <p:nvPr/>
        </p:nvSpPr>
        <p:spPr>
          <a:xfrm>
            <a:off x="81930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CARWALE</a:t>
            </a:r>
            <a:endParaRPr lang="en-US" sz="900" dirty="0"/>
          </a:p>
        </p:txBody>
      </p:sp>
      <p:sp>
        <p:nvSpPr>
          <p:cNvPr id="18" name="Shape 16"/>
          <p:cNvSpPr/>
          <p:nvPr/>
        </p:nvSpPr>
        <p:spPr>
          <a:xfrm>
            <a:off x="6400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9" name="Text 17"/>
          <p:cNvSpPr/>
          <p:nvPr/>
        </p:nvSpPr>
        <p:spPr>
          <a:xfrm>
            <a:off x="8778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Real rate calculator</a:t>
            </a:r>
            <a:endParaRPr lang="en-US" sz="1500" dirty="0"/>
          </a:p>
        </p:txBody>
      </p:sp>
      <p:sp>
        <p:nvSpPr>
          <p:cNvPr id="20" name="Text 18"/>
          <p:cNvSpPr/>
          <p:nvPr/>
        </p:nvSpPr>
        <p:spPr>
          <a:xfrm>
            <a:off x="8778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Loading factor exposed. What you pay per usable foot, not per marketing foot.</a:t>
            </a:r>
            <a:endParaRPr lang="en-US" sz="1200" dirty="0"/>
          </a:p>
        </p:txBody>
      </p:sp>
      <p:sp>
        <p:nvSpPr>
          <p:cNvPr id="21" name="Text 19"/>
          <p:cNvSpPr/>
          <p:nvPr/>
        </p:nvSpPr>
        <p:spPr>
          <a:xfrm>
            <a:off x="8778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OTHO ORIGINAL</a:t>
            </a:r>
            <a:endParaRPr lang="en-US" sz="900" dirty="0"/>
          </a:p>
        </p:txBody>
      </p:sp>
      <p:sp>
        <p:nvSpPr>
          <p:cNvPr id="22" name="Shape 20"/>
          <p:cNvSpPr/>
          <p:nvPr/>
        </p:nvSpPr>
        <p:spPr>
          <a:xfrm>
            <a:off x="42976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3" name="Text 21"/>
          <p:cNvSpPr/>
          <p:nvPr/>
        </p:nvSpPr>
        <p:spPr>
          <a:xfrm>
            <a:off x="45354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Honest negatives</a:t>
            </a:r>
            <a:endParaRPr lang="en-US" sz="1500" dirty="0"/>
          </a:p>
        </p:txBody>
      </p:sp>
      <p:sp>
        <p:nvSpPr>
          <p:cNvPr id="24" name="Text 22"/>
          <p:cNvSpPr/>
          <p:nvPr/>
        </p:nvSpPr>
        <p:spPr>
          <a:xfrm>
            <a:off x="45354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Every project page lists what's wrong with it. The trust engine of the whole platform.</a:t>
            </a:r>
            <a:endParaRPr lang="en-US" sz="1200" dirty="0"/>
          </a:p>
        </p:txBody>
      </p:sp>
      <p:sp>
        <p:nvSpPr>
          <p:cNvPr id="25" name="Text 23"/>
          <p:cNvSpPr/>
          <p:nvPr/>
        </p:nvSpPr>
        <p:spPr>
          <a:xfrm>
            <a:off x="45354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OTHO ORIGINAL</a:t>
            </a:r>
            <a:endParaRPr lang="en-US" sz="900" dirty="0"/>
          </a:p>
        </p:txBody>
      </p:sp>
      <p:sp>
        <p:nvSpPr>
          <p:cNvPr id="26" name="Shape 24"/>
          <p:cNvSpPr/>
          <p:nvPr/>
        </p:nvSpPr>
        <p:spPr>
          <a:xfrm>
            <a:off x="79552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7" name="Text 25"/>
          <p:cNvSpPr/>
          <p:nvPr/>
        </p:nvSpPr>
        <p:spPr>
          <a:xfrm>
            <a:off x="81930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Price estimate</a:t>
            </a:r>
            <a:endParaRPr lang="en-US" sz="1500" dirty="0"/>
          </a:p>
        </p:txBody>
      </p:sp>
      <p:sp>
        <p:nvSpPr>
          <p:cNvPr id="28" name="Text 26"/>
          <p:cNvSpPr/>
          <p:nvPr/>
        </p:nvSpPr>
        <p:spPr>
          <a:xfrm>
            <a:off x="81930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What a unit is actually worth, from registration data — not from the asking price.</a:t>
            </a:r>
            <a:endParaRPr lang="en-US" sz="1200" dirty="0"/>
          </a:p>
        </p:txBody>
      </p:sp>
      <p:sp>
        <p:nvSpPr>
          <p:cNvPr id="29" name="Text 27"/>
          <p:cNvSpPr/>
          <p:nvPr/>
        </p:nvSpPr>
        <p:spPr>
          <a:xfrm>
            <a:off x="81930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ZILLOW</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goes in the platform</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Continued — the trust and service layer.</a:t>
            </a:r>
            <a:endParaRPr lang="en-US" sz="1500" dirty="0"/>
          </a:p>
        </p:txBody>
      </p:sp>
      <p:sp>
        <p:nvSpPr>
          <p:cNvPr id="6" name="Shape 4"/>
          <p:cNvSpPr/>
          <p:nvPr/>
        </p:nvSpPr>
        <p:spPr>
          <a:xfrm>
            <a:off x="6400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7" name="Text 5"/>
          <p:cNvSpPr/>
          <p:nvPr/>
        </p:nvSpPr>
        <p:spPr>
          <a:xfrm>
            <a:off x="8778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Locality pages</a:t>
            </a:r>
            <a:endParaRPr lang="en-US" sz="1500" dirty="0"/>
          </a:p>
        </p:txBody>
      </p:sp>
      <p:sp>
        <p:nvSpPr>
          <p:cNvPr id="8" name="Text 6"/>
          <p:cNvSpPr/>
          <p:nvPr/>
        </p:nvSpPr>
        <p:spPr>
          <a:xfrm>
            <a:off x="8778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Price history, infrastructure status, commute times measured at peak hour, schools, water.</a:t>
            </a:r>
            <a:endParaRPr lang="en-US" sz="1200" dirty="0"/>
          </a:p>
        </p:txBody>
      </p:sp>
      <p:sp>
        <p:nvSpPr>
          <p:cNvPr id="9" name="Text 7"/>
          <p:cNvSpPr/>
          <p:nvPr/>
        </p:nvSpPr>
        <p:spPr>
          <a:xfrm>
            <a:off x="8778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MAGICBRICKS</a:t>
            </a:r>
            <a:endParaRPr lang="en-US" sz="900" dirty="0"/>
          </a:p>
        </p:txBody>
      </p:sp>
      <p:sp>
        <p:nvSpPr>
          <p:cNvPr id="10" name="Shape 8"/>
          <p:cNvSpPr/>
          <p:nvPr/>
        </p:nvSpPr>
        <p:spPr>
          <a:xfrm>
            <a:off x="42976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1" name="Text 9"/>
          <p:cNvSpPr/>
          <p:nvPr/>
        </p:nvSpPr>
        <p:spPr>
          <a:xfrm>
            <a:off x="45354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Your number stays private</a:t>
            </a:r>
            <a:endParaRPr lang="en-US" sz="1500" dirty="0"/>
          </a:p>
        </p:txBody>
      </p:sp>
      <p:sp>
        <p:nvSpPr>
          <p:cNvPr id="12" name="Text 10"/>
          <p:cNvSpPr/>
          <p:nvPr/>
        </p:nvSpPr>
        <p:spPr>
          <a:xfrm>
            <a:off x="45354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Never sold, never shared with brokers. One conversation, with OTHO.</a:t>
            </a:r>
            <a:endParaRPr lang="en-US" sz="1200" dirty="0"/>
          </a:p>
        </p:txBody>
      </p:sp>
      <p:sp>
        <p:nvSpPr>
          <p:cNvPr id="13" name="Text 11"/>
          <p:cNvSpPr/>
          <p:nvPr/>
        </p:nvSpPr>
        <p:spPr>
          <a:xfrm>
            <a:off x="45354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NOBROKER</a:t>
            </a:r>
            <a:endParaRPr lang="en-US" sz="900" dirty="0"/>
          </a:p>
        </p:txBody>
      </p:sp>
      <p:sp>
        <p:nvSpPr>
          <p:cNvPr id="14" name="Shape 12"/>
          <p:cNvSpPr/>
          <p:nvPr/>
        </p:nvSpPr>
        <p:spPr>
          <a:xfrm>
            <a:off x="79552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5" name="Text 13"/>
          <p:cNvSpPr/>
          <p:nvPr/>
        </p:nvSpPr>
        <p:spPr>
          <a:xfrm>
            <a:off x="81930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Verified listings only</a:t>
            </a:r>
            <a:endParaRPr lang="en-US" sz="1500" dirty="0"/>
          </a:p>
        </p:txBody>
      </p:sp>
      <p:sp>
        <p:nvSpPr>
          <p:cNvPr id="16" name="Text 14"/>
          <p:cNvSpPr/>
          <p:nvPr/>
        </p:nvSpPr>
        <p:spPr>
          <a:xfrm>
            <a:off x="81930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Every project checked against its RERA filing before it appears. No cloned photos.</a:t>
            </a:r>
            <a:endParaRPr lang="en-US" sz="1200" dirty="0"/>
          </a:p>
        </p:txBody>
      </p:sp>
      <p:sp>
        <p:nvSpPr>
          <p:cNvPr id="17" name="Text 15"/>
          <p:cNvSpPr/>
          <p:nvPr/>
        </p:nvSpPr>
        <p:spPr>
          <a:xfrm>
            <a:off x="81930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FIXES THE #1 COMPLAINT</a:t>
            </a:r>
            <a:endParaRPr lang="en-US" sz="900" dirty="0"/>
          </a:p>
        </p:txBody>
      </p:sp>
      <p:sp>
        <p:nvSpPr>
          <p:cNvPr id="18" name="Shape 16"/>
          <p:cNvSpPr/>
          <p:nvPr/>
        </p:nvSpPr>
        <p:spPr>
          <a:xfrm>
            <a:off x="6400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9" name="Text 17"/>
          <p:cNvSpPr/>
          <p:nvPr/>
        </p:nvSpPr>
        <p:spPr>
          <a:xfrm>
            <a:off x="8778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Site visit booking</a:t>
            </a:r>
            <a:endParaRPr lang="en-US" sz="1500" dirty="0"/>
          </a:p>
        </p:txBody>
      </p:sp>
      <p:sp>
        <p:nvSpPr>
          <p:cNvPr id="20" name="Text 18"/>
          <p:cNvSpPr/>
          <p:nvPr/>
        </p:nvSpPr>
        <p:spPr>
          <a:xfrm>
            <a:off x="8778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Real calendar slots, confirmed on WhatsApp. Not a form promising a callback.</a:t>
            </a:r>
            <a:endParaRPr lang="en-US" sz="1200" dirty="0"/>
          </a:p>
        </p:txBody>
      </p:sp>
      <p:sp>
        <p:nvSpPr>
          <p:cNvPr id="21" name="Text 19"/>
          <p:cNvSpPr/>
          <p:nvPr/>
        </p:nvSpPr>
        <p:spPr>
          <a:xfrm>
            <a:off x="8778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NOBROKER</a:t>
            </a:r>
            <a:endParaRPr lang="en-US" sz="900" dirty="0"/>
          </a:p>
        </p:txBody>
      </p:sp>
      <p:sp>
        <p:nvSpPr>
          <p:cNvPr id="22" name="Shape 20"/>
          <p:cNvSpPr/>
          <p:nvPr/>
        </p:nvSpPr>
        <p:spPr>
          <a:xfrm>
            <a:off x="42976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3" name="Text 21"/>
          <p:cNvSpPr/>
          <p:nvPr/>
        </p:nvSpPr>
        <p:spPr>
          <a:xfrm>
            <a:off x="45354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Infrastructure tracker</a:t>
            </a:r>
            <a:endParaRPr lang="en-US" sz="1500" dirty="0"/>
          </a:p>
        </p:txBody>
      </p:sp>
      <p:sp>
        <p:nvSpPr>
          <p:cNvPr id="24" name="Text 22"/>
          <p:cNvSpPr/>
          <p:nvPr/>
        </p:nvSpPr>
        <p:spPr>
          <a:xfrm>
            <a:off x="45354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Metro Phase 2 and Future City with funding and construction status, not developer promises.</a:t>
            </a:r>
            <a:endParaRPr lang="en-US" sz="1200" dirty="0"/>
          </a:p>
        </p:txBody>
      </p:sp>
      <p:sp>
        <p:nvSpPr>
          <p:cNvPr id="25" name="Text 23"/>
          <p:cNvSpPr/>
          <p:nvPr/>
        </p:nvSpPr>
        <p:spPr>
          <a:xfrm>
            <a:off x="45354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OTHO ORIGINAL</a:t>
            </a:r>
            <a:endParaRPr lang="en-US" sz="900" dirty="0"/>
          </a:p>
        </p:txBody>
      </p:sp>
      <p:sp>
        <p:nvSpPr>
          <p:cNvPr id="26" name="Shape 24"/>
          <p:cNvSpPr/>
          <p:nvPr/>
        </p:nvSpPr>
        <p:spPr>
          <a:xfrm>
            <a:off x="79552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7" name="Text 25"/>
          <p:cNvSpPr/>
          <p:nvPr/>
        </p:nvSpPr>
        <p:spPr>
          <a:xfrm>
            <a:off x="81930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Services layer</a:t>
            </a:r>
            <a:endParaRPr lang="en-US" sz="1500" dirty="0"/>
          </a:p>
        </p:txBody>
      </p:sp>
      <p:sp>
        <p:nvSpPr>
          <p:cNvPr id="28" name="Text 26"/>
          <p:cNvSpPr/>
          <p:nvPr/>
        </p:nvSpPr>
        <p:spPr>
          <a:xfrm>
            <a:off x="81930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Home loans, legal checks, registration, interiors. Added later, once trust exists.</a:t>
            </a:r>
            <a:endParaRPr lang="en-US" sz="1200" dirty="0"/>
          </a:p>
        </p:txBody>
      </p:sp>
      <p:sp>
        <p:nvSpPr>
          <p:cNvPr id="29" name="Text 27"/>
          <p:cNvSpPr/>
          <p:nvPr/>
        </p:nvSpPr>
        <p:spPr>
          <a:xfrm>
            <a:off x="81930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NOBROKER</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Built in four layers</a:t>
            </a:r>
            <a:endParaRPr lang="en-US" sz="3000" dirty="0"/>
          </a:p>
        </p:txBody>
      </p:sp>
      <p:sp>
        <p:nvSpPr>
          <p:cNvPr id="5" name="Shape 3"/>
          <p:cNvSpPr/>
          <p:nvPr/>
        </p:nvSpPr>
        <p:spPr>
          <a:xfrm>
            <a:off x="640080" y="1463040"/>
            <a:ext cx="10908792" cy="960120"/>
          </a:xfrm>
          <a:prstGeom prst="rect">
            <a:avLst/>
          </a:prstGeom>
          <a:solidFill>
            <a:srgbClr val="1A2332"/>
          </a:solidFill>
          <a:ln w="6350">
            <a:solidFill>
              <a:srgbClr val="1A2332"/>
            </a:solidFill>
            <a:prstDash val="solid"/>
          </a:ln>
        </p:spPr>
      </p:sp>
      <p:sp>
        <p:nvSpPr>
          <p:cNvPr id="6" name="Text 4"/>
          <p:cNvSpPr/>
          <p:nvPr/>
        </p:nvSpPr>
        <p:spPr>
          <a:xfrm>
            <a:off x="914400" y="1609344"/>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1</a:t>
            </a:r>
            <a:endParaRPr lang="en-US" sz="1100" dirty="0"/>
          </a:p>
        </p:txBody>
      </p:sp>
      <p:sp>
        <p:nvSpPr>
          <p:cNvPr id="7" name="Text 5"/>
          <p:cNvSpPr/>
          <p:nvPr/>
        </p:nvSpPr>
        <p:spPr>
          <a:xfrm>
            <a:off x="914400" y="1938528"/>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Days 1–90</a:t>
            </a:r>
            <a:endParaRPr lang="en-US" sz="1100" dirty="0"/>
          </a:p>
        </p:txBody>
      </p:sp>
      <p:sp>
        <p:nvSpPr>
          <p:cNvPr id="8" name="Text 6"/>
          <p:cNvSpPr/>
          <p:nvPr/>
        </p:nvSpPr>
        <p:spPr>
          <a:xfrm>
            <a:off x="2468880" y="1645920"/>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Trust</a:t>
            </a:r>
            <a:endParaRPr lang="en-US" sz="1900" dirty="0"/>
          </a:p>
        </p:txBody>
      </p:sp>
      <p:sp>
        <p:nvSpPr>
          <p:cNvPr id="9" name="Text 7"/>
          <p:cNvSpPr/>
          <p:nvPr/>
        </p:nvSpPr>
        <p:spPr>
          <a:xfrm>
            <a:off x="4846320" y="1609344"/>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Website, project pages, comparison engine, reviews and guides. No listings, no transactions. We earn the right to be believed before we ask for anything.</a:t>
            </a:r>
            <a:endParaRPr lang="en-US" sz="1250" dirty="0"/>
          </a:p>
        </p:txBody>
      </p:sp>
      <p:sp>
        <p:nvSpPr>
          <p:cNvPr id="10" name="Shape 8"/>
          <p:cNvSpPr/>
          <p:nvPr/>
        </p:nvSpPr>
        <p:spPr>
          <a:xfrm>
            <a:off x="640080" y="2523744"/>
            <a:ext cx="10908792" cy="960120"/>
          </a:xfrm>
          <a:prstGeom prst="rect">
            <a:avLst/>
          </a:prstGeom>
          <a:solidFill>
            <a:srgbClr val="2E4257"/>
          </a:solidFill>
          <a:ln w="6350">
            <a:solidFill>
              <a:srgbClr val="2E4257"/>
            </a:solidFill>
            <a:prstDash val="solid"/>
          </a:ln>
        </p:spPr>
      </p:sp>
      <p:sp>
        <p:nvSpPr>
          <p:cNvPr id="11" name="Text 9"/>
          <p:cNvSpPr/>
          <p:nvPr/>
        </p:nvSpPr>
        <p:spPr>
          <a:xfrm>
            <a:off x="914400" y="2670048"/>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2</a:t>
            </a:r>
            <a:endParaRPr lang="en-US" sz="1100" dirty="0"/>
          </a:p>
        </p:txBody>
      </p:sp>
      <p:sp>
        <p:nvSpPr>
          <p:cNvPr id="12" name="Text 10"/>
          <p:cNvSpPr/>
          <p:nvPr/>
        </p:nvSpPr>
        <p:spPr>
          <a:xfrm>
            <a:off x="914400" y="2999232"/>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Months 4–12</a:t>
            </a:r>
            <a:endParaRPr lang="en-US" sz="1100" dirty="0"/>
          </a:p>
        </p:txBody>
      </p:sp>
      <p:sp>
        <p:nvSpPr>
          <p:cNvPr id="13" name="Text 11"/>
          <p:cNvSpPr/>
          <p:nvPr/>
        </p:nvSpPr>
        <p:spPr>
          <a:xfrm>
            <a:off x="2468880" y="2706624"/>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Coverage</a:t>
            </a:r>
            <a:endParaRPr lang="en-US" sz="1900" dirty="0"/>
          </a:p>
        </p:txBody>
      </p:sp>
      <p:sp>
        <p:nvSpPr>
          <p:cNvPr id="14" name="Text 12"/>
          <p:cNvSpPr/>
          <p:nvPr/>
        </p:nvSpPr>
        <p:spPr>
          <a:xfrm>
            <a:off x="4846320" y="2670048"/>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Every meaningful Hyderabad project reviewed and comparable. Resident reviews live. Price estimates from registration data. OTHO becomes the default check before buying in this city.</a:t>
            </a:r>
            <a:endParaRPr lang="en-US" sz="1250" dirty="0"/>
          </a:p>
        </p:txBody>
      </p:sp>
      <p:sp>
        <p:nvSpPr>
          <p:cNvPr id="15" name="Shape 13"/>
          <p:cNvSpPr/>
          <p:nvPr/>
        </p:nvSpPr>
        <p:spPr>
          <a:xfrm>
            <a:off x="640080" y="3584448"/>
            <a:ext cx="10908792" cy="960120"/>
          </a:xfrm>
          <a:prstGeom prst="rect">
            <a:avLst/>
          </a:prstGeom>
          <a:solidFill>
            <a:srgbClr val="3A5670"/>
          </a:solidFill>
          <a:ln w="6350">
            <a:solidFill>
              <a:srgbClr val="3A5670"/>
            </a:solidFill>
            <a:prstDash val="solid"/>
          </a:ln>
        </p:spPr>
      </p:sp>
      <p:sp>
        <p:nvSpPr>
          <p:cNvPr id="16" name="Text 14"/>
          <p:cNvSpPr/>
          <p:nvPr/>
        </p:nvSpPr>
        <p:spPr>
          <a:xfrm>
            <a:off x="914400" y="3730752"/>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3</a:t>
            </a:r>
            <a:endParaRPr lang="en-US" sz="1100" dirty="0"/>
          </a:p>
        </p:txBody>
      </p:sp>
      <p:sp>
        <p:nvSpPr>
          <p:cNvPr id="17" name="Text 15"/>
          <p:cNvSpPr/>
          <p:nvPr/>
        </p:nvSpPr>
        <p:spPr>
          <a:xfrm>
            <a:off x="914400" y="4059936"/>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Year 2</a:t>
            </a:r>
            <a:endParaRPr lang="en-US" sz="1100" dirty="0"/>
          </a:p>
        </p:txBody>
      </p:sp>
      <p:sp>
        <p:nvSpPr>
          <p:cNvPr id="18" name="Text 16"/>
          <p:cNvSpPr/>
          <p:nvPr/>
        </p:nvSpPr>
        <p:spPr>
          <a:xfrm>
            <a:off x="2468880" y="3767328"/>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Transactions</a:t>
            </a:r>
            <a:endParaRPr lang="en-US" sz="1900" dirty="0"/>
          </a:p>
        </p:txBody>
      </p:sp>
      <p:sp>
        <p:nvSpPr>
          <p:cNvPr id="19" name="Text 17"/>
          <p:cNvSpPr/>
          <p:nvPr/>
        </p:nvSpPr>
        <p:spPr>
          <a:xfrm>
            <a:off x="4846320" y="3730752"/>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Exclusive developer mandates, site visits, bookings. Revenue arrives on intent we already own, so cost per booking is a fraction of portal leads.</a:t>
            </a:r>
            <a:endParaRPr lang="en-US" sz="1250" dirty="0"/>
          </a:p>
        </p:txBody>
      </p:sp>
      <p:sp>
        <p:nvSpPr>
          <p:cNvPr id="20" name="Shape 18"/>
          <p:cNvSpPr/>
          <p:nvPr/>
        </p:nvSpPr>
        <p:spPr>
          <a:xfrm>
            <a:off x="640080" y="4645152"/>
            <a:ext cx="10908792" cy="960120"/>
          </a:xfrm>
          <a:prstGeom prst="rect">
            <a:avLst/>
          </a:prstGeom>
          <a:solidFill>
            <a:srgbClr val="4A6B88"/>
          </a:solidFill>
          <a:ln w="6350">
            <a:solidFill>
              <a:srgbClr val="4A6B88"/>
            </a:solidFill>
            <a:prstDash val="solid"/>
          </a:ln>
        </p:spPr>
      </p:sp>
      <p:sp>
        <p:nvSpPr>
          <p:cNvPr id="21" name="Text 19"/>
          <p:cNvSpPr/>
          <p:nvPr/>
        </p:nvSpPr>
        <p:spPr>
          <a:xfrm>
            <a:off x="914400" y="4791456"/>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4</a:t>
            </a:r>
            <a:endParaRPr lang="en-US" sz="1100" dirty="0"/>
          </a:p>
        </p:txBody>
      </p:sp>
      <p:sp>
        <p:nvSpPr>
          <p:cNvPr id="22" name="Text 20"/>
          <p:cNvSpPr/>
          <p:nvPr/>
        </p:nvSpPr>
        <p:spPr>
          <a:xfrm>
            <a:off x="914400" y="5120640"/>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Year 3+</a:t>
            </a:r>
            <a:endParaRPr lang="en-US" sz="1100" dirty="0"/>
          </a:p>
        </p:txBody>
      </p:sp>
      <p:sp>
        <p:nvSpPr>
          <p:cNvPr id="23" name="Text 21"/>
          <p:cNvSpPr/>
          <p:nvPr/>
        </p:nvSpPr>
        <p:spPr>
          <a:xfrm>
            <a:off x="2468880" y="4828032"/>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Services and data</a:t>
            </a:r>
            <a:endParaRPr lang="en-US" sz="1900" dirty="0"/>
          </a:p>
        </p:txBody>
      </p:sp>
      <p:sp>
        <p:nvSpPr>
          <p:cNvPr id="24" name="Text 22"/>
          <p:cNvSpPr/>
          <p:nvPr/>
        </p:nvSpPr>
        <p:spPr>
          <a:xfrm>
            <a:off x="4846320" y="4791456"/>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Loans, legal, registration, interiors. And the data business — developers and banks paying for what OTHO knows about demand. The high-margin end.</a:t>
            </a:r>
            <a:endParaRPr lang="en-US" sz="1250" dirty="0"/>
          </a:p>
        </p:txBody>
      </p:sp>
      <p:sp>
        <p:nvSpPr>
          <p:cNvPr id="25" name="Text 23"/>
          <p:cNvSpPr/>
          <p:nvPr/>
        </p:nvSpPr>
        <p:spPr>
          <a:xfrm>
            <a:off x="640080" y="5806440"/>
            <a:ext cx="10908792" cy="548640"/>
          </a:xfrm>
          <a:prstGeom prst="rect">
            <a:avLst/>
          </a:prstGeom>
          <a:noFill/>
          <a:ln/>
        </p:spPr>
        <p:txBody>
          <a:bodyPr wrap="square" lIns="0" tIns="0" rIns="0" bIns="0" rtlCol="0" anchor="ctr"/>
          <a:lstStyle/>
          <a:p>
            <a:pPr indent="0" marL="0">
              <a:lnSpc>
                <a:spcPts val="2100"/>
              </a:lnSpc>
              <a:buNone/>
            </a:pPr>
            <a:r>
              <a:rPr lang="en-US" sz="1450" i="1" dirty="0">
                <a:solidFill>
                  <a:srgbClr val="1A2332"/>
                </a:solidFill>
                <a:latin typeface="Calibri" pitchFamily="34" charset="0"/>
                <a:ea typeface="Calibri" pitchFamily="34" charset="-122"/>
                <a:cs typeface="Calibri" pitchFamily="34" charset="-120"/>
              </a:rPr>
              <a:t>Every competitor started at Layer 3 and tried to reverse into trust. It doesn't work — you can't earn credibility from people already annoyed by your calls.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we produce</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08792" cy="914400"/>
        </p:xfrm>
        <a:graphic>
          <a:graphicData uri="http://schemas.openxmlformats.org/drawingml/2006/table">
            <a:tbl>
              <a:tblPr/>
              <a:tblGrid>
                <a:gridCol w="2194560"/>
                <a:gridCol w="4114800"/>
                <a:gridCol w="1371600"/>
                <a:gridCol w="3227832"/>
              </a:tblGrid>
              <a:tr h="384048">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Format</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What it is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Volume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Job</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Project review film</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8–12 min walkthrough with a verdict. Good and bad, on camera.</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The signature format. Builds the review library.</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Comparison film</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Two projects, one screen, real numbers.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1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Most shared format. Drives the comparison tool.</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Founder podcast</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30–40 min with a developer, planner, architect or lawyer.</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Authority. Only OTHO can book these guests.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Locality deep-dive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Kokapet, Financial District, Tellapur — including drawbacks.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1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Search traffic and AI citations.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The dictionary</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Loading factor, UDS, carpet vs SBA, reading a RERA filing.</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Permanent traffic. Gets OTHO quoted by AI.</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Monthly market note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Registrations, prices, launches, absorption. Real data.</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1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Journalists start quoting it. Free PR.</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Vertical clips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Cut from everything above.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20–25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Reach on Instagram, Shorts, LinkedIn.</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Founder posts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Site observations, pricing oddities, war stories.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8–10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Nobody can copy twenty years of stories.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257800"/>
            <a:ext cx="10908792" cy="548640"/>
          </a:xfrm>
          <a:prstGeom prst="rect">
            <a:avLst/>
          </a:prstGeom>
          <a:noFill/>
          <a:ln/>
        </p:spPr>
        <p:txBody>
          <a:bodyPr wrap="square" lIns="0" tIns="0" rIns="0" bIns="0" rtlCol="0" anchor="ctr"/>
          <a:lstStyle/>
          <a:p>
            <a:pPr indent="0" marL="0">
              <a:lnSpc>
                <a:spcPts val="2100"/>
              </a:lnSpc>
              <a:buNone/>
            </a:pPr>
            <a:r>
              <a:rPr lang="en-US" sz="1400" dirty="0">
                <a:solidFill>
                  <a:srgbClr val="1A2332"/>
                </a:solidFill>
                <a:latin typeface="Calibri" pitchFamily="34" charset="0"/>
                <a:ea typeface="Calibri" pitchFamily="34" charset="-122"/>
                <a:cs typeface="Calibri" pitchFamily="34" charset="-120"/>
              </a:rPr>
              <a:t>All of it from two shoot days a month — one studio, one on site. Roughly 35 usable pieces. Production is what Production X does, which is why this costs a fraction of agency rates.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How we promote it</a:t>
            </a:r>
            <a:endParaRPr lang="en-US" sz="3000" dirty="0"/>
          </a:p>
        </p:txBody>
      </p:sp>
      <p:sp>
        <p:nvSpPr>
          <p:cNvPr id="5" name="Shape 3"/>
          <p:cNvSpPr/>
          <p:nvPr/>
        </p:nvSpPr>
        <p:spPr>
          <a:xfrm>
            <a:off x="640080" y="1417320"/>
            <a:ext cx="10908792" cy="384048"/>
          </a:xfrm>
          <a:prstGeom prst="rect">
            <a:avLst/>
          </a:prstGeom>
          <a:solidFill>
            <a:srgbClr val="FFFFFF"/>
          </a:solidFill>
          <a:ln w="6350">
            <a:solidFill>
              <a:srgbClr val="DFDFDB"/>
            </a:solidFill>
            <a:prstDash val="solid"/>
          </a:ln>
        </p:spPr>
      </p:sp>
      <p:sp>
        <p:nvSpPr>
          <p:cNvPr id="6" name="Text 4"/>
          <p:cNvSpPr/>
          <p:nvPr/>
        </p:nvSpPr>
        <p:spPr>
          <a:xfrm>
            <a:off x="822960" y="1417320"/>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YouTube</a:t>
            </a:r>
            <a:endParaRPr lang="en-US" sz="1250" dirty="0"/>
          </a:p>
        </p:txBody>
      </p:sp>
      <p:sp>
        <p:nvSpPr>
          <p:cNvPr id="7" name="Text 5"/>
          <p:cNvSpPr/>
          <p:nvPr/>
        </p:nvSpPr>
        <p:spPr>
          <a:xfrm>
            <a:off x="2926080" y="1417320"/>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Review films, comparisons, podcast</a:t>
            </a:r>
            <a:endParaRPr lang="en-US" sz="1150" dirty="0"/>
          </a:p>
        </p:txBody>
      </p:sp>
      <p:sp>
        <p:nvSpPr>
          <p:cNvPr id="8" name="Text 6"/>
          <p:cNvSpPr/>
          <p:nvPr/>
        </p:nvSpPr>
        <p:spPr>
          <a:xfrm>
            <a:off x="7818120" y="1417320"/>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Where property research actually happens now</a:t>
            </a:r>
            <a:endParaRPr lang="en-US" sz="1150" dirty="0"/>
          </a:p>
        </p:txBody>
      </p:sp>
      <p:sp>
        <p:nvSpPr>
          <p:cNvPr id="9" name="Shape 7"/>
          <p:cNvSpPr/>
          <p:nvPr/>
        </p:nvSpPr>
        <p:spPr>
          <a:xfrm>
            <a:off x="640080" y="1847088"/>
            <a:ext cx="10908792" cy="384048"/>
          </a:xfrm>
          <a:prstGeom prst="rect">
            <a:avLst/>
          </a:prstGeom>
          <a:solidFill>
            <a:srgbClr val="FFFFFF"/>
          </a:solidFill>
          <a:ln w="6350">
            <a:solidFill>
              <a:srgbClr val="DFDFDB"/>
            </a:solidFill>
            <a:prstDash val="solid"/>
          </a:ln>
        </p:spPr>
      </p:sp>
      <p:sp>
        <p:nvSpPr>
          <p:cNvPr id="10" name="Text 8"/>
          <p:cNvSpPr/>
          <p:nvPr/>
        </p:nvSpPr>
        <p:spPr>
          <a:xfrm>
            <a:off x="822960" y="1847088"/>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Instagram</a:t>
            </a:r>
            <a:endParaRPr lang="en-US" sz="1250" dirty="0"/>
          </a:p>
        </p:txBody>
      </p:sp>
      <p:sp>
        <p:nvSpPr>
          <p:cNvPr id="11" name="Text 9"/>
          <p:cNvSpPr/>
          <p:nvPr/>
        </p:nvSpPr>
        <p:spPr>
          <a:xfrm>
            <a:off x="2926080" y="1847088"/>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Vertical clips, project reveals, founder pieces</a:t>
            </a:r>
            <a:endParaRPr lang="en-US" sz="1150" dirty="0"/>
          </a:p>
        </p:txBody>
      </p:sp>
      <p:sp>
        <p:nvSpPr>
          <p:cNvPr id="12" name="Text 10"/>
          <p:cNvSpPr/>
          <p:nvPr/>
        </p:nvSpPr>
        <p:spPr>
          <a:xfrm>
            <a:off x="7818120" y="1847088"/>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Reach and recall</a:t>
            </a:r>
            <a:endParaRPr lang="en-US" sz="1150" dirty="0"/>
          </a:p>
        </p:txBody>
      </p:sp>
      <p:sp>
        <p:nvSpPr>
          <p:cNvPr id="13" name="Shape 11"/>
          <p:cNvSpPr/>
          <p:nvPr/>
        </p:nvSpPr>
        <p:spPr>
          <a:xfrm>
            <a:off x="640080" y="2276856"/>
            <a:ext cx="10908792" cy="384048"/>
          </a:xfrm>
          <a:prstGeom prst="rect">
            <a:avLst/>
          </a:prstGeom>
          <a:solidFill>
            <a:srgbClr val="FFFFFF"/>
          </a:solidFill>
          <a:ln w="6350">
            <a:solidFill>
              <a:srgbClr val="DFDFDB"/>
            </a:solidFill>
            <a:prstDash val="solid"/>
          </a:ln>
        </p:spPr>
      </p:sp>
      <p:sp>
        <p:nvSpPr>
          <p:cNvPr id="14" name="Text 12"/>
          <p:cNvSpPr/>
          <p:nvPr/>
        </p:nvSpPr>
        <p:spPr>
          <a:xfrm>
            <a:off x="822960" y="2276856"/>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LinkedIn</a:t>
            </a:r>
            <a:endParaRPr lang="en-US" sz="1250" dirty="0"/>
          </a:p>
        </p:txBody>
      </p:sp>
      <p:sp>
        <p:nvSpPr>
          <p:cNvPr id="15" name="Text 13"/>
          <p:cNvSpPr/>
          <p:nvPr/>
        </p:nvSpPr>
        <p:spPr>
          <a:xfrm>
            <a:off x="2926080" y="2276856"/>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Founder posts, market notes, commentary</a:t>
            </a:r>
            <a:endParaRPr lang="en-US" sz="1150" dirty="0"/>
          </a:p>
        </p:txBody>
      </p:sp>
      <p:sp>
        <p:nvSpPr>
          <p:cNvPr id="16" name="Text 14"/>
          <p:cNvSpPr/>
          <p:nvPr/>
        </p:nvSpPr>
        <p:spPr>
          <a:xfrm>
            <a:off x="7818120" y="2276856"/>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Reaches GCC employees — the real buyers</a:t>
            </a:r>
            <a:endParaRPr lang="en-US" sz="1150" dirty="0"/>
          </a:p>
        </p:txBody>
      </p:sp>
      <p:sp>
        <p:nvSpPr>
          <p:cNvPr id="17" name="Shape 15"/>
          <p:cNvSpPr/>
          <p:nvPr/>
        </p:nvSpPr>
        <p:spPr>
          <a:xfrm>
            <a:off x="640080" y="2706624"/>
            <a:ext cx="10908792" cy="384048"/>
          </a:xfrm>
          <a:prstGeom prst="rect">
            <a:avLst/>
          </a:prstGeom>
          <a:solidFill>
            <a:srgbClr val="FFFFFF"/>
          </a:solidFill>
          <a:ln w="6350">
            <a:solidFill>
              <a:srgbClr val="DFDFDB"/>
            </a:solidFill>
            <a:prstDash val="solid"/>
          </a:ln>
        </p:spPr>
      </p:sp>
      <p:sp>
        <p:nvSpPr>
          <p:cNvPr id="18" name="Text 16"/>
          <p:cNvSpPr/>
          <p:nvPr/>
        </p:nvSpPr>
        <p:spPr>
          <a:xfrm>
            <a:off x="822960" y="2706624"/>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Search &amp; AI</a:t>
            </a:r>
            <a:endParaRPr lang="en-US" sz="1250" dirty="0"/>
          </a:p>
        </p:txBody>
      </p:sp>
      <p:sp>
        <p:nvSpPr>
          <p:cNvPr id="19" name="Text 17"/>
          <p:cNvSpPr/>
          <p:nvPr/>
        </p:nvSpPr>
        <p:spPr>
          <a:xfrm>
            <a:off x="2926080" y="2706624"/>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Guides, locality pages, comparisons written to be cited</a:t>
            </a:r>
            <a:endParaRPr lang="en-US" sz="1150" dirty="0"/>
          </a:p>
        </p:txBody>
      </p:sp>
      <p:sp>
        <p:nvSpPr>
          <p:cNvPr id="20" name="Text 18"/>
          <p:cNvSpPr/>
          <p:nvPr/>
        </p:nvSpPr>
        <p:spPr>
          <a:xfrm>
            <a:off x="7818120" y="2706624"/>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Free enquiries that compound monthly</a:t>
            </a:r>
            <a:endParaRPr lang="en-US" sz="1150" dirty="0"/>
          </a:p>
        </p:txBody>
      </p:sp>
      <p:sp>
        <p:nvSpPr>
          <p:cNvPr id="21" name="Shape 19"/>
          <p:cNvSpPr/>
          <p:nvPr/>
        </p:nvSpPr>
        <p:spPr>
          <a:xfrm>
            <a:off x="640080" y="3136392"/>
            <a:ext cx="10908792" cy="384048"/>
          </a:xfrm>
          <a:prstGeom prst="rect">
            <a:avLst/>
          </a:prstGeom>
          <a:solidFill>
            <a:srgbClr val="FFFFFF"/>
          </a:solidFill>
          <a:ln w="6350">
            <a:solidFill>
              <a:srgbClr val="DFDFDB"/>
            </a:solidFill>
            <a:prstDash val="solid"/>
          </a:ln>
        </p:spPr>
      </p:sp>
      <p:sp>
        <p:nvSpPr>
          <p:cNvPr id="22" name="Text 20"/>
          <p:cNvSpPr/>
          <p:nvPr/>
        </p:nvSpPr>
        <p:spPr>
          <a:xfrm>
            <a:off x="822960" y="3136392"/>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Google Search ads</a:t>
            </a:r>
            <a:endParaRPr lang="en-US" sz="1250" dirty="0"/>
          </a:p>
        </p:txBody>
      </p:sp>
      <p:sp>
        <p:nvSpPr>
          <p:cNvPr id="23" name="Text 21"/>
          <p:cNvSpPr/>
          <p:nvPr/>
        </p:nvSpPr>
        <p:spPr>
          <a:xfrm>
            <a:off x="2926080" y="3136392"/>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Project names, locality and competitor terms</a:t>
            </a:r>
            <a:endParaRPr lang="en-US" sz="1150" dirty="0"/>
          </a:p>
        </p:txBody>
      </p:sp>
      <p:sp>
        <p:nvSpPr>
          <p:cNvPr id="24" name="Text 22"/>
          <p:cNvSpPr/>
          <p:nvPr/>
        </p:nvSpPr>
        <p:spPr>
          <a:xfrm>
            <a:off x="7818120" y="3136392"/>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Small budget, highest intent only</a:t>
            </a:r>
            <a:endParaRPr lang="en-US" sz="1150" dirty="0"/>
          </a:p>
        </p:txBody>
      </p:sp>
      <p:sp>
        <p:nvSpPr>
          <p:cNvPr id="25" name="Shape 23"/>
          <p:cNvSpPr/>
          <p:nvPr/>
        </p:nvSpPr>
        <p:spPr>
          <a:xfrm>
            <a:off x="640080" y="3566160"/>
            <a:ext cx="10908792" cy="384048"/>
          </a:xfrm>
          <a:prstGeom prst="rect">
            <a:avLst/>
          </a:prstGeom>
          <a:solidFill>
            <a:srgbClr val="FFFFFF"/>
          </a:solidFill>
          <a:ln w="6350">
            <a:solidFill>
              <a:srgbClr val="DFDFDB"/>
            </a:solidFill>
            <a:prstDash val="solid"/>
          </a:ln>
        </p:spPr>
      </p:sp>
      <p:sp>
        <p:nvSpPr>
          <p:cNvPr id="26" name="Text 24"/>
          <p:cNvSpPr/>
          <p:nvPr/>
        </p:nvSpPr>
        <p:spPr>
          <a:xfrm>
            <a:off x="822960" y="3566160"/>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Meta retargeting</a:t>
            </a:r>
            <a:endParaRPr lang="en-US" sz="1250" dirty="0"/>
          </a:p>
        </p:txBody>
      </p:sp>
      <p:sp>
        <p:nvSpPr>
          <p:cNvPr id="27" name="Text 25"/>
          <p:cNvSpPr/>
          <p:nvPr/>
        </p:nvSpPr>
        <p:spPr>
          <a:xfrm>
            <a:off x="2926080" y="3566160"/>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People who watched a film or opened a project page</a:t>
            </a:r>
            <a:endParaRPr lang="en-US" sz="1150" dirty="0"/>
          </a:p>
        </p:txBody>
      </p:sp>
      <p:sp>
        <p:nvSpPr>
          <p:cNvPr id="28" name="Text 26"/>
          <p:cNvSpPr/>
          <p:nvPr/>
        </p:nvSpPr>
        <p:spPr>
          <a:xfrm>
            <a:off x="7818120" y="3566160"/>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Cheap re-engagement. No cold reach.</a:t>
            </a:r>
            <a:endParaRPr lang="en-US" sz="1150" dirty="0"/>
          </a:p>
        </p:txBody>
      </p:sp>
      <p:sp>
        <p:nvSpPr>
          <p:cNvPr id="29" name="Shape 27"/>
          <p:cNvSpPr/>
          <p:nvPr/>
        </p:nvSpPr>
        <p:spPr>
          <a:xfrm>
            <a:off x="640080" y="3995928"/>
            <a:ext cx="10908792" cy="384048"/>
          </a:xfrm>
          <a:prstGeom prst="rect">
            <a:avLst/>
          </a:prstGeom>
          <a:solidFill>
            <a:srgbClr val="FFFFFF"/>
          </a:solidFill>
          <a:ln w="6350">
            <a:solidFill>
              <a:srgbClr val="DFDFDB"/>
            </a:solidFill>
            <a:prstDash val="solid"/>
          </a:ln>
        </p:spPr>
      </p:sp>
      <p:sp>
        <p:nvSpPr>
          <p:cNvPr id="30" name="Text 28"/>
          <p:cNvSpPr/>
          <p:nvPr/>
        </p:nvSpPr>
        <p:spPr>
          <a:xfrm>
            <a:off x="822960" y="3995928"/>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WhatsApp</a:t>
            </a:r>
            <a:endParaRPr lang="en-US" sz="1250" dirty="0"/>
          </a:p>
        </p:txBody>
      </p:sp>
      <p:sp>
        <p:nvSpPr>
          <p:cNvPr id="31" name="Text 29"/>
          <p:cNvSpPr/>
          <p:nvPr/>
        </p:nvSpPr>
        <p:spPr>
          <a:xfrm>
            <a:off x="2926080" y="3995928"/>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Opt-in updates, visit confirmations, conversations</a:t>
            </a:r>
            <a:endParaRPr lang="en-US" sz="1150" dirty="0"/>
          </a:p>
        </p:txBody>
      </p:sp>
      <p:sp>
        <p:nvSpPr>
          <p:cNvPr id="32" name="Text 30"/>
          <p:cNvSpPr/>
          <p:nvPr/>
        </p:nvSpPr>
        <p:spPr>
          <a:xfrm>
            <a:off x="7818120" y="3995928"/>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Highest open rate in this market</a:t>
            </a:r>
            <a:endParaRPr lang="en-US" sz="1150" dirty="0"/>
          </a:p>
        </p:txBody>
      </p:sp>
      <p:sp>
        <p:nvSpPr>
          <p:cNvPr id="33" name="Shape 31"/>
          <p:cNvSpPr/>
          <p:nvPr/>
        </p:nvSpPr>
        <p:spPr>
          <a:xfrm>
            <a:off x="640080" y="4425696"/>
            <a:ext cx="10908792" cy="384048"/>
          </a:xfrm>
          <a:prstGeom prst="rect">
            <a:avLst/>
          </a:prstGeom>
          <a:solidFill>
            <a:srgbClr val="FFFFFF"/>
          </a:solidFill>
          <a:ln w="6350">
            <a:solidFill>
              <a:srgbClr val="DFDFDB"/>
            </a:solidFill>
            <a:prstDash val="solid"/>
          </a:ln>
        </p:spPr>
      </p:sp>
      <p:sp>
        <p:nvSpPr>
          <p:cNvPr id="34" name="Text 32"/>
          <p:cNvSpPr/>
          <p:nvPr/>
        </p:nvSpPr>
        <p:spPr>
          <a:xfrm>
            <a:off x="822960" y="4425696"/>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PR</a:t>
            </a:r>
            <a:endParaRPr lang="en-US" sz="1250" dirty="0"/>
          </a:p>
        </p:txBody>
      </p:sp>
      <p:sp>
        <p:nvSpPr>
          <p:cNvPr id="35" name="Text 33"/>
          <p:cNvSpPr/>
          <p:nvPr/>
        </p:nvSpPr>
        <p:spPr>
          <a:xfrm>
            <a:off x="2926080" y="4425696"/>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Monthly market note pitched to Telangana Today, Deccan Chronicle, Siasat</a:t>
            </a:r>
            <a:endParaRPr lang="en-US" sz="1150" dirty="0"/>
          </a:p>
        </p:txBody>
      </p:sp>
      <p:sp>
        <p:nvSpPr>
          <p:cNvPr id="36" name="Text 34"/>
          <p:cNvSpPr/>
          <p:nvPr/>
        </p:nvSpPr>
        <p:spPr>
          <a:xfrm>
            <a:off x="7818120" y="4425696"/>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Third-party credibility, no media cost</a:t>
            </a:r>
            <a:endParaRPr lang="en-US" sz="1150" dirty="0"/>
          </a:p>
        </p:txBody>
      </p:sp>
      <p:sp>
        <p:nvSpPr>
          <p:cNvPr id="37" name="Shape 35"/>
          <p:cNvSpPr/>
          <p:nvPr/>
        </p:nvSpPr>
        <p:spPr>
          <a:xfrm>
            <a:off x="640080" y="4855464"/>
            <a:ext cx="10908792" cy="384048"/>
          </a:xfrm>
          <a:prstGeom prst="rect">
            <a:avLst/>
          </a:prstGeom>
          <a:solidFill>
            <a:srgbClr val="FFFFFF"/>
          </a:solidFill>
          <a:ln w="6350">
            <a:solidFill>
              <a:srgbClr val="DFDFDB"/>
            </a:solidFill>
            <a:prstDash val="solid"/>
          </a:ln>
        </p:spPr>
      </p:sp>
      <p:sp>
        <p:nvSpPr>
          <p:cNvPr id="38" name="Text 36"/>
          <p:cNvSpPr/>
          <p:nvPr/>
        </p:nvSpPr>
        <p:spPr>
          <a:xfrm>
            <a:off x="822960" y="4855464"/>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Developers</a:t>
            </a:r>
            <a:endParaRPr lang="en-US" sz="1250" dirty="0"/>
          </a:p>
        </p:txBody>
      </p:sp>
      <p:sp>
        <p:nvSpPr>
          <p:cNvPr id="39" name="Text 37"/>
          <p:cNvSpPr/>
          <p:nvPr/>
        </p:nvSpPr>
        <p:spPr>
          <a:xfrm>
            <a:off x="2926080" y="4855464"/>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Co-marketing on mandate projects</a:t>
            </a:r>
            <a:endParaRPr lang="en-US" sz="1150" dirty="0"/>
          </a:p>
        </p:txBody>
      </p:sp>
      <p:sp>
        <p:nvSpPr>
          <p:cNvPr id="40" name="Text 38"/>
          <p:cNvSpPr/>
          <p:nvPr/>
        </p:nvSpPr>
        <p:spPr>
          <a:xfrm>
            <a:off x="7818120" y="4855464"/>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They fund reach we would otherwise buy</a:t>
            </a:r>
            <a:endParaRPr lang="en-US" sz="1150" dirty="0"/>
          </a:p>
        </p:txBody>
      </p:sp>
      <p:sp>
        <p:nvSpPr>
          <p:cNvPr id="41" name="Shape 39"/>
          <p:cNvSpPr/>
          <p:nvPr/>
        </p:nvSpPr>
        <p:spPr>
          <a:xfrm>
            <a:off x="640080" y="5285232"/>
            <a:ext cx="10908792" cy="384048"/>
          </a:xfrm>
          <a:prstGeom prst="rect">
            <a:avLst/>
          </a:prstGeom>
          <a:solidFill>
            <a:srgbClr val="FFFFFF"/>
          </a:solidFill>
          <a:ln w="6350">
            <a:solidFill>
              <a:srgbClr val="DFDFDB"/>
            </a:solidFill>
            <a:prstDash val="solid"/>
          </a:ln>
        </p:spPr>
      </p:sp>
      <p:sp>
        <p:nvSpPr>
          <p:cNvPr id="42" name="Text 40"/>
          <p:cNvSpPr/>
          <p:nvPr/>
        </p:nvSpPr>
        <p:spPr>
          <a:xfrm>
            <a:off x="822960" y="5285232"/>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Portals</a:t>
            </a:r>
            <a:endParaRPr lang="en-US" sz="1250" dirty="0"/>
          </a:p>
        </p:txBody>
      </p:sp>
      <p:sp>
        <p:nvSpPr>
          <p:cNvPr id="43" name="Text 41"/>
          <p:cNvSpPr/>
          <p:nvPr/>
        </p:nvSpPr>
        <p:spPr>
          <a:xfrm>
            <a:off x="2926080" y="5285232"/>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Listings for coverage only</a:t>
            </a:r>
            <a:endParaRPr lang="en-US" sz="1150" dirty="0"/>
          </a:p>
        </p:txBody>
      </p:sp>
      <p:sp>
        <p:nvSpPr>
          <p:cNvPr id="44" name="Text 42"/>
          <p:cNvSpPr/>
          <p:nvPr/>
        </p:nvSpPr>
        <p:spPr>
          <a:xfrm>
            <a:off x="7818120" y="5285232"/>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Necessary, never the core</a:t>
            </a:r>
            <a:endParaRPr lang="en-US" sz="1150" dirty="0"/>
          </a:p>
        </p:txBody>
      </p:sp>
      <p:sp>
        <p:nvSpPr>
          <p:cNvPr id="45" name="Text 43"/>
          <p:cNvSpPr/>
          <p:nvPr/>
        </p:nvSpPr>
        <p:spPr>
          <a:xfrm>
            <a:off x="640080" y="5870448"/>
            <a:ext cx="10908792" cy="411480"/>
          </a:xfrm>
          <a:prstGeom prst="rect">
            <a:avLst/>
          </a:prstGeom>
          <a:noFill/>
          <a:ln/>
        </p:spPr>
        <p:txBody>
          <a:bodyPr wrap="square" lIns="0" tIns="0" rIns="0" bIns="0" rtlCol="0" anchor="ctr"/>
          <a:lstStyle/>
          <a:p>
            <a:pPr indent="0" marL="0">
              <a:buNone/>
            </a:pPr>
            <a:r>
              <a:rPr lang="en-US" sz="1400" b="1" dirty="0">
                <a:solidFill>
                  <a:srgbClr val="1A2332"/>
                </a:solidFill>
                <a:latin typeface="Calibri" pitchFamily="34" charset="0"/>
                <a:ea typeface="Calibri" pitchFamily="34" charset="-122"/>
                <a:cs typeface="Calibri" pitchFamily="34" charset="-120"/>
              </a:rPr>
              <a:t>The free one that matters most: response time. A lead that waits four hours is gone.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2011680"/>
            <a:ext cx="914400" cy="54864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11</a:t>
            </a:r>
            <a:endParaRPr lang="en-US" sz="2000" dirty="0"/>
          </a:p>
        </p:txBody>
      </p:sp>
      <p:sp>
        <p:nvSpPr>
          <p:cNvPr id="3" name="Text 1"/>
          <p:cNvSpPr/>
          <p:nvPr/>
        </p:nvSpPr>
        <p:spPr>
          <a:xfrm>
            <a:off x="640080" y="2560320"/>
            <a:ext cx="9601200" cy="10972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The first 90 days</a:t>
            </a:r>
            <a:endParaRPr lang="en-US" sz="5200" dirty="0"/>
          </a:p>
        </p:txBody>
      </p:sp>
      <p:sp>
        <p:nvSpPr>
          <p:cNvPr id="4" name="Text 2"/>
          <p:cNvSpPr/>
          <p:nvPr/>
        </p:nvSpPr>
        <p:spPr>
          <a:xfrm>
            <a:off x="640080" y="3840480"/>
            <a:ext cx="8686800" cy="548640"/>
          </a:xfrm>
          <a:prstGeom prst="rect">
            <a:avLst/>
          </a:prstGeom>
          <a:noFill/>
          <a:ln/>
        </p:spPr>
        <p:txBody>
          <a:bodyPr wrap="square" lIns="0" tIns="0" rIns="0" bIns="0" rtlCol="0" anchor="ctr"/>
          <a:lstStyle/>
          <a:p>
            <a:pPr indent="0" marL="0">
              <a:buNone/>
            </a:pPr>
            <a:r>
              <a:rPr lang="en-US" sz="1800" dirty="0">
                <a:solidFill>
                  <a:srgbClr val="C9CDD3"/>
                </a:solidFill>
                <a:latin typeface="Calibri" pitchFamily="34" charset="0"/>
                <a:ea typeface="Calibri" pitchFamily="34" charset="-122"/>
                <a:cs typeface="Calibri" pitchFamily="34" charset="-120"/>
              </a:rPr>
              <a:t>One project — Neopolis — used to build and prove the whole system.</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Days 1–30  ·  Foundation</a:t>
            </a:r>
            <a:endParaRPr lang="en-US" sz="3000" dirty="0"/>
          </a:p>
        </p:txBody>
      </p:sp>
      <p:sp>
        <p:nvSpPr>
          <p:cNvPr id="5" name="Text 3"/>
          <p:cNvSpPr/>
          <p:nvPr/>
        </p:nvSpPr>
        <p:spPr>
          <a:xfrm>
            <a:off x="640080" y="1143000"/>
            <a:ext cx="10908792"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Identity, plumbing, first content</a:t>
            </a:r>
            <a:endParaRPr lang="en-US" sz="2000" dirty="0"/>
          </a:p>
        </p:txBody>
      </p:sp>
      <p:sp>
        <p:nvSpPr>
          <p:cNvPr id="6" name="Shape 4"/>
          <p:cNvSpPr/>
          <p:nvPr/>
        </p:nvSpPr>
        <p:spPr>
          <a:xfrm>
            <a:off x="685800" y="1911096"/>
            <a:ext cx="182880" cy="182880"/>
          </a:xfrm>
          <a:prstGeom prst="ellipse">
            <a:avLst/>
          </a:prstGeom>
          <a:solidFill>
            <a:srgbClr val="B07E22"/>
          </a:solidFill>
          <a:ln/>
        </p:spPr>
      </p:sp>
      <p:sp>
        <p:nvSpPr>
          <p:cNvPr id="7" name="Text 5"/>
          <p:cNvSpPr/>
          <p:nvPr/>
        </p:nvSpPr>
        <p:spPr>
          <a:xfrm>
            <a:off x="1051560" y="178308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OTHO brand applied properly — logo, templates, tone; the Propertunity change completed everywhere</a:t>
            </a:r>
            <a:endParaRPr lang="en-US" sz="1400" dirty="0"/>
          </a:p>
        </p:txBody>
      </p:sp>
      <p:sp>
        <p:nvSpPr>
          <p:cNvPr id="8" name="Shape 6"/>
          <p:cNvSpPr/>
          <p:nvPr/>
        </p:nvSpPr>
        <p:spPr>
          <a:xfrm>
            <a:off x="685800" y="2514600"/>
            <a:ext cx="182880" cy="182880"/>
          </a:xfrm>
          <a:prstGeom prst="ellipse">
            <a:avLst/>
          </a:prstGeom>
          <a:solidFill>
            <a:srgbClr val="B07E22"/>
          </a:solidFill>
          <a:ln/>
        </p:spPr>
      </p:sp>
      <p:sp>
        <p:nvSpPr>
          <p:cNvPr id="9" name="Text 7"/>
          <p:cNvSpPr/>
          <p:nvPr/>
        </p:nvSpPr>
        <p:spPr>
          <a:xfrm>
            <a:off x="1051560" y="2386584"/>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Domain, hosting, analytics, CRM with routing and a response clock</a:t>
            </a:r>
            <a:endParaRPr lang="en-US" sz="1400" dirty="0"/>
          </a:p>
        </p:txBody>
      </p:sp>
      <p:sp>
        <p:nvSpPr>
          <p:cNvPr id="10" name="Shape 8"/>
          <p:cNvSpPr/>
          <p:nvPr/>
        </p:nvSpPr>
        <p:spPr>
          <a:xfrm>
            <a:off x="685800" y="3118104"/>
            <a:ext cx="182880" cy="182880"/>
          </a:xfrm>
          <a:prstGeom prst="ellipse">
            <a:avLst/>
          </a:prstGeom>
          <a:solidFill>
            <a:srgbClr val="B07E22"/>
          </a:solidFill>
          <a:ln/>
        </p:spPr>
      </p:sp>
      <p:sp>
        <p:nvSpPr>
          <p:cNvPr id="11" name="Text 9"/>
          <p:cNvSpPr/>
          <p:nvPr/>
        </p:nvSpPr>
        <p:spPr>
          <a:xfrm>
            <a:off x="1051560" y="2990088"/>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Google Business, Instagram, LinkedIn, YouTube claimed and set up</a:t>
            </a:r>
            <a:endParaRPr lang="en-US" sz="1400" dirty="0"/>
          </a:p>
        </p:txBody>
      </p:sp>
      <p:sp>
        <p:nvSpPr>
          <p:cNvPr id="12" name="Shape 10"/>
          <p:cNvSpPr/>
          <p:nvPr/>
        </p:nvSpPr>
        <p:spPr>
          <a:xfrm>
            <a:off x="685800" y="3721608"/>
            <a:ext cx="182880" cy="182880"/>
          </a:xfrm>
          <a:prstGeom prst="ellipse">
            <a:avLst/>
          </a:prstGeom>
          <a:solidFill>
            <a:srgbClr val="B07E22"/>
          </a:solidFill>
          <a:ln/>
        </p:spPr>
      </p:sp>
      <p:sp>
        <p:nvSpPr>
          <p:cNvPr id="13" name="Text 11"/>
          <p:cNvSpPr/>
          <p:nvPr/>
        </p:nvSpPr>
        <p:spPr>
          <a:xfrm>
            <a:off x="1051560" y="3593592"/>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Website design signed off; comparison engine specified</a:t>
            </a:r>
            <a:endParaRPr lang="en-US" sz="1400" dirty="0"/>
          </a:p>
        </p:txBody>
      </p:sp>
      <p:sp>
        <p:nvSpPr>
          <p:cNvPr id="14" name="Shape 12"/>
          <p:cNvSpPr/>
          <p:nvPr/>
        </p:nvSpPr>
        <p:spPr>
          <a:xfrm>
            <a:off x="685800" y="4325112"/>
            <a:ext cx="182880" cy="182880"/>
          </a:xfrm>
          <a:prstGeom prst="ellipse">
            <a:avLst/>
          </a:prstGeom>
          <a:solidFill>
            <a:srgbClr val="B07E22"/>
          </a:solidFill>
          <a:ln/>
        </p:spPr>
      </p:sp>
      <p:sp>
        <p:nvSpPr>
          <p:cNvPr id="15" name="Text 13"/>
          <p:cNvSpPr/>
          <p:nvPr/>
        </p:nvSpPr>
        <p:spPr>
          <a:xfrm>
            <a:off x="1051560" y="4197096"/>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Sit with sales: what buyers ask, where they walk away</a:t>
            </a:r>
            <a:endParaRPr lang="en-US" sz="1400" dirty="0"/>
          </a:p>
        </p:txBody>
      </p:sp>
      <p:sp>
        <p:nvSpPr>
          <p:cNvPr id="16" name="Shape 14"/>
          <p:cNvSpPr/>
          <p:nvPr/>
        </p:nvSpPr>
        <p:spPr>
          <a:xfrm>
            <a:off x="685800" y="4928616"/>
            <a:ext cx="182880" cy="182880"/>
          </a:xfrm>
          <a:prstGeom prst="ellipse">
            <a:avLst/>
          </a:prstGeom>
          <a:solidFill>
            <a:srgbClr val="B07E22"/>
          </a:solidFill>
          <a:ln/>
        </p:spPr>
      </p:sp>
      <p:sp>
        <p:nvSpPr>
          <p:cNvPr id="17" name="Text 15"/>
          <p:cNvSpPr/>
          <p:nvPr/>
        </p:nvSpPr>
        <p:spPr>
          <a:xfrm>
            <a:off x="1051560" y="480060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First studio day — two podcast episodes, founder pieces to camera</a:t>
            </a:r>
            <a:endParaRPr lang="en-US" sz="1400" dirty="0"/>
          </a:p>
        </p:txBody>
      </p:sp>
      <p:sp>
        <p:nvSpPr>
          <p:cNvPr id="18" name="Shape 16"/>
          <p:cNvSpPr/>
          <p:nvPr/>
        </p:nvSpPr>
        <p:spPr>
          <a:xfrm>
            <a:off x="640080" y="5486400"/>
            <a:ext cx="10908792" cy="658368"/>
          </a:xfrm>
          <a:prstGeom prst="rect">
            <a:avLst/>
          </a:prstGeom>
          <a:solidFill>
            <a:srgbClr val="1A2332"/>
          </a:solidFill>
          <a:ln w="6350">
            <a:solidFill>
              <a:srgbClr val="1A2332"/>
            </a:solidFill>
            <a:prstDash val="solid"/>
          </a:ln>
        </p:spPr>
      </p:sp>
      <p:sp>
        <p:nvSpPr>
          <p:cNvPr id="19" name="Text 17"/>
          <p:cNvSpPr/>
          <p:nvPr/>
        </p:nvSpPr>
        <p:spPr>
          <a:xfrm>
            <a:off x="896112" y="5486400"/>
            <a:ext cx="2194560" cy="658368"/>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END OF MONTH 1</a:t>
            </a:r>
            <a:endParaRPr lang="en-US" sz="1000" dirty="0"/>
          </a:p>
        </p:txBody>
      </p:sp>
      <p:sp>
        <p:nvSpPr>
          <p:cNvPr id="20" name="Text 18"/>
          <p:cNvSpPr/>
          <p:nvPr/>
        </p:nvSpPr>
        <p:spPr>
          <a:xfrm>
            <a:off x="3291840" y="5486400"/>
            <a:ext cx="7982712"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OTHO exists online, CRM works, two episodes in hand</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Days 31–60  ·  Launch</a:t>
            </a:r>
            <a:endParaRPr lang="en-US" sz="3000" dirty="0"/>
          </a:p>
        </p:txBody>
      </p:sp>
      <p:sp>
        <p:nvSpPr>
          <p:cNvPr id="5" name="Text 3"/>
          <p:cNvSpPr/>
          <p:nvPr/>
        </p:nvSpPr>
        <p:spPr>
          <a:xfrm>
            <a:off x="640080" y="1143000"/>
            <a:ext cx="10908792"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Website live, publishing starts</a:t>
            </a:r>
            <a:endParaRPr lang="en-US" sz="2000" dirty="0"/>
          </a:p>
        </p:txBody>
      </p:sp>
      <p:sp>
        <p:nvSpPr>
          <p:cNvPr id="6" name="Shape 4"/>
          <p:cNvSpPr/>
          <p:nvPr/>
        </p:nvSpPr>
        <p:spPr>
          <a:xfrm>
            <a:off x="685800" y="1911096"/>
            <a:ext cx="182880" cy="182880"/>
          </a:xfrm>
          <a:prstGeom prst="ellipse">
            <a:avLst/>
          </a:prstGeom>
          <a:solidFill>
            <a:srgbClr val="B07E22"/>
          </a:solidFill>
          <a:ln/>
        </p:spPr>
      </p:sp>
      <p:sp>
        <p:nvSpPr>
          <p:cNvPr id="7" name="Text 5"/>
          <p:cNvSpPr/>
          <p:nvPr/>
        </p:nvSpPr>
        <p:spPr>
          <a:xfrm>
            <a:off x="1051560" y="178308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Website live — Neopolis project page, comparison engine, real rate calculator, guides, visit booking</a:t>
            </a:r>
            <a:endParaRPr lang="en-US" sz="1400" dirty="0"/>
          </a:p>
        </p:txBody>
      </p:sp>
      <p:sp>
        <p:nvSpPr>
          <p:cNvPr id="8" name="Shape 6"/>
          <p:cNvSpPr/>
          <p:nvPr/>
        </p:nvSpPr>
        <p:spPr>
          <a:xfrm>
            <a:off x="685800" y="2514600"/>
            <a:ext cx="182880" cy="182880"/>
          </a:xfrm>
          <a:prstGeom prst="ellipse">
            <a:avLst/>
          </a:prstGeom>
          <a:solidFill>
            <a:srgbClr val="B07E22"/>
          </a:solidFill>
          <a:ln/>
        </p:spPr>
      </p:sp>
      <p:sp>
        <p:nvSpPr>
          <p:cNvPr id="9" name="Text 7"/>
          <p:cNvSpPr/>
          <p:nvPr/>
        </p:nvSpPr>
        <p:spPr>
          <a:xfrm>
            <a:off x="1051560" y="2386584"/>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Podcast launches, fortnightly from here</a:t>
            </a:r>
            <a:endParaRPr lang="en-US" sz="1400" dirty="0"/>
          </a:p>
        </p:txBody>
      </p:sp>
      <p:sp>
        <p:nvSpPr>
          <p:cNvPr id="10" name="Shape 8"/>
          <p:cNvSpPr/>
          <p:nvPr/>
        </p:nvSpPr>
        <p:spPr>
          <a:xfrm>
            <a:off x="685800" y="3118104"/>
            <a:ext cx="182880" cy="182880"/>
          </a:xfrm>
          <a:prstGeom prst="ellipse">
            <a:avLst/>
          </a:prstGeom>
          <a:solidFill>
            <a:srgbClr val="B07E22"/>
          </a:solidFill>
          <a:ln/>
        </p:spPr>
      </p:sp>
      <p:sp>
        <p:nvSpPr>
          <p:cNvPr id="11" name="Text 9"/>
          <p:cNvSpPr/>
          <p:nvPr/>
        </p:nvSpPr>
        <p:spPr>
          <a:xfrm>
            <a:off x="1051560" y="2990088"/>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First project review film and first comparison film published</a:t>
            </a:r>
            <a:endParaRPr lang="en-US" sz="1400" dirty="0"/>
          </a:p>
        </p:txBody>
      </p:sp>
      <p:sp>
        <p:nvSpPr>
          <p:cNvPr id="12" name="Shape 10"/>
          <p:cNvSpPr/>
          <p:nvPr/>
        </p:nvSpPr>
        <p:spPr>
          <a:xfrm>
            <a:off x="685800" y="3721608"/>
            <a:ext cx="182880" cy="182880"/>
          </a:xfrm>
          <a:prstGeom prst="ellipse">
            <a:avLst/>
          </a:prstGeom>
          <a:solidFill>
            <a:srgbClr val="B07E22"/>
          </a:solidFill>
          <a:ln/>
        </p:spPr>
      </p:sp>
      <p:sp>
        <p:nvSpPr>
          <p:cNvPr id="13" name="Text 11"/>
          <p:cNvSpPr/>
          <p:nvPr/>
        </p:nvSpPr>
        <p:spPr>
          <a:xfrm>
            <a:off x="1051560" y="3593592"/>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Guides and locality pages start publishing weekly</a:t>
            </a:r>
            <a:endParaRPr lang="en-US" sz="1400" dirty="0"/>
          </a:p>
        </p:txBody>
      </p:sp>
      <p:sp>
        <p:nvSpPr>
          <p:cNvPr id="14" name="Shape 12"/>
          <p:cNvSpPr/>
          <p:nvPr/>
        </p:nvSpPr>
        <p:spPr>
          <a:xfrm>
            <a:off x="685800" y="4325112"/>
            <a:ext cx="182880" cy="182880"/>
          </a:xfrm>
          <a:prstGeom prst="ellipse">
            <a:avLst/>
          </a:prstGeom>
          <a:solidFill>
            <a:srgbClr val="B07E22"/>
          </a:solidFill>
          <a:ln/>
        </p:spPr>
      </p:sp>
      <p:sp>
        <p:nvSpPr>
          <p:cNvPr id="15" name="Text 13"/>
          <p:cNvSpPr/>
          <p:nvPr/>
        </p:nvSpPr>
        <p:spPr>
          <a:xfrm>
            <a:off x="1051560" y="4197096"/>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Google Search on project terms; portal listings up</a:t>
            </a:r>
            <a:endParaRPr lang="en-US" sz="1400" dirty="0"/>
          </a:p>
        </p:txBody>
      </p:sp>
      <p:sp>
        <p:nvSpPr>
          <p:cNvPr id="16" name="Shape 14"/>
          <p:cNvSpPr/>
          <p:nvPr/>
        </p:nvSpPr>
        <p:spPr>
          <a:xfrm>
            <a:off x="685800" y="4928616"/>
            <a:ext cx="182880" cy="182880"/>
          </a:xfrm>
          <a:prstGeom prst="ellipse">
            <a:avLst/>
          </a:prstGeom>
          <a:solidFill>
            <a:srgbClr val="B07E22"/>
          </a:solidFill>
          <a:ln/>
        </p:spPr>
      </p:sp>
      <p:sp>
        <p:nvSpPr>
          <p:cNvPr id="17" name="Text 15"/>
          <p:cNvSpPr/>
          <p:nvPr/>
        </p:nvSpPr>
        <p:spPr>
          <a:xfrm>
            <a:off x="1051560" y="480060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Site shoot — walkthrough, drone, progress, location drive</a:t>
            </a:r>
            <a:endParaRPr lang="en-US" sz="1400" dirty="0"/>
          </a:p>
        </p:txBody>
      </p:sp>
      <p:sp>
        <p:nvSpPr>
          <p:cNvPr id="18" name="Shape 16"/>
          <p:cNvSpPr/>
          <p:nvPr/>
        </p:nvSpPr>
        <p:spPr>
          <a:xfrm>
            <a:off x="640080" y="5486400"/>
            <a:ext cx="10908792" cy="658368"/>
          </a:xfrm>
          <a:prstGeom prst="rect">
            <a:avLst/>
          </a:prstGeom>
          <a:solidFill>
            <a:srgbClr val="1A2332"/>
          </a:solidFill>
          <a:ln w="6350">
            <a:solidFill>
              <a:srgbClr val="1A2332"/>
            </a:solidFill>
            <a:prstDash val="solid"/>
          </a:ln>
        </p:spPr>
      </p:sp>
      <p:sp>
        <p:nvSpPr>
          <p:cNvPr id="19" name="Text 17"/>
          <p:cNvSpPr/>
          <p:nvPr/>
        </p:nvSpPr>
        <p:spPr>
          <a:xfrm>
            <a:off x="896112" y="5486400"/>
            <a:ext cx="2194560" cy="658368"/>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END OF MONTH 2</a:t>
            </a:r>
            <a:endParaRPr lang="en-US" sz="1000" dirty="0"/>
          </a:p>
        </p:txBody>
      </p:sp>
      <p:sp>
        <p:nvSpPr>
          <p:cNvPr id="20" name="Text 18"/>
          <p:cNvSpPr/>
          <p:nvPr/>
        </p:nvSpPr>
        <p:spPr>
          <a:xfrm>
            <a:off x="3291840" y="5486400"/>
            <a:ext cx="7982712"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Platform live, first tracked enquiries, search indexing</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Days 61–90  ·  Prove</a:t>
            </a:r>
            <a:endParaRPr lang="en-US" sz="3000" dirty="0"/>
          </a:p>
        </p:txBody>
      </p:sp>
      <p:sp>
        <p:nvSpPr>
          <p:cNvPr id="5" name="Text 3"/>
          <p:cNvSpPr/>
          <p:nvPr/>
        </p:nvSpPr>
        <p:spPr>
          <a:xfrm>
            <a:off x="640080" y="1143000"/>
            <a:ext cx="10908792"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Widen, measure, decide</a:t>
            </a:r>
            <a:endParaRPr lang="en-US" sz="2000" dirty="0"/>
          </a:p>
        </p:txBody>
      </p:sp>
      <p:sp>
        <p:nvSpPr>
          <p:cNvPr id="6" name="Shape 4"/>
          <p:cNvSpPr/>
          <p:nvPr/>
        </p:nvSpPr>
        <p:spPr>
          <a:xfrm>
            <a:off x="685800" y="1911096"/>
            <a:ext cx="182880" cy="182880"/>
          </a:xfrm>
          <a:prstGeom prst="ellipse">
            <a:avLst/>
          </a:prstGeom>
          <a:solidFill>
            <a:srgbClr val="B07E22"/>
          </a:solidFill>
          <a:ln/>
        </p:spPr>
      </p:sp>
      <p:sp>
        <p:nvSpPr>
          <p:cNvPr id="7" name="Text 5"/>
          <p:cNvSpPr/>
          <p:nvPr/>
        </p:nvSpPr>
        <p:spPr>
          <a:xfrm>
            <a:off x="1051560" y="178308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Meta retargeting on, now there's an audience to retarget</a:t>
            </a:r>
            <a:endParaRPr lang="en-US" sz="1400" dirty="0"/>
          </a:p>
        </p:txBody>
      </p:sp>
      <p:sp>
        <p:nvSpPr>
          <p:cNvPr id="8" name="Shape 6"/>
          <p:cNvSpPr/>
          <p:nvPr/>
        </p:nvSpPr>
        <p:spPr>
          <a:xfrm>
            <a:off x="685800" y="2514600"/>
            <a:ext cx="182880" cy="182880"/>
          </a:xfrm>
          <a:prstGeom prst="ellipse">
            <a:avLst/>
          </a:prstGeom>
          <a:solidFill>
            <a:srgbClr val="B07E22"/>
          </a:solidFill>
          <a:ln/>
        </p:spPr>
      </p:sp>
      <p:sp>
        <p:nvSpPr>
          <p:cNvPr id="9" name="Text 7"/>
          <p:cNvSpPr/>
          <p:nvPr/>
        </p:nvSpPr>
        <p:spPr>
          <a:xfrm>
            <a:off x="1051560" y="2386584"/>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Second and third project reviews — the library starts</a:t>
            </a:r>
            <a:endParaRPr lang="en-US" sz="1400" dirty="0"/>
          </a:p>
        </p:txBody>
      </p:sp>
      <p:sp>
        <p:nvSpPr>
          <p:cNvPr id="10" name="Shape 8"/>
          <p:cNvSpPr/>
          <p:nvPr/>
        </p:nvSpPr>
        <p:spPr>
          <a:xfrm>
            <a:off x="685800" y="3118104"/>
            <a:ext cx="182880" cy="182880"/>
          </a:xfrm>
          <a:prstGeom prst="ellipse">
            <a:avLst/>
          </a:prstGeom>
          <a:solidFill>
            <a:srgbClr val="B07E22"/>
          </a:solidFill>
          <a:ln/>
        </p:spPr>
      </p:sp>
      <p:sp>
        <p:nvSpPr>
          <p:cNvPr id="11" name="Text 9"/>
          <p:cNvSpPr/>
          <p:nvPr/>
        </p:nvSpPr>
        <p:spPr>
          <a:xfrm>
            <a:off x="1051560" y="2990088"/>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First monthly market note published and pitched to press</a:t>
            </a:r>
            <a:endParaRPr lang="en-US" sz="1400" dirty="0"/>
          </a:p>
        </p:txBody>
      </p:sp>
      <p:sp>
        <p:nvSpPr>
          <p:cNvPr id="12" name="Shape 10"/>
          <p:cNvSpPr/>
          <p:nvPr/>
        </p:nvSpPr>
        <p:spPr>
          <a:xfrm>
            <a:off x="685800" y="3721608"/>
            <a:ext cx="182880" cy="182880"/>
          </a:xfrm>
          <a:prstGeom prst="ellipse">
            <a:avLst/>
          </a:prstGeom>
          <a:solidFill>
            <a:srgbClr val="B07E22"/>
          </a:solidFill>
          <a:ln/>
        </p:spPr>
      </p:sp>
      <p:sp>
        <p:nvSpPr>
          <p:cNvPr id="13" name="Text 11"/>
          <p:cNvSpPr/>
          <p:nvPr/>
        </p:nvSpPr>
        <p:spPr>
          <a:xfrm>
            <a:off x="1051560" y="3593592"/>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Channel partner kit with per-partner tracking links</a:t>
            </a:r>
            <a:endParaRPr lang="en-US" sz="1400" dirty="0"/>
          </a:p>
        </p:txBody>
      </p:sp>
      <p:sp>
        <p:nvSpPr>
          <p:cNvPr id="14" name="Shape 12"/>
          <p:cNvSpPr/>
          <p:nvPr/>
        </p:nvSpPr>
        <p:spPr>
          <a:xfrm>
            <a:off x="685800" y="4325112"/>
            <a:ext cx="182880" cy="182880"/>
          </a:xfrm>
          <a:prstGeom prst="ellipse">
            <a:avLst/>
          </a:prstGeom>
          <a:solidFill>
            <a:srgbClr val="B07E22"/>
          </a:solidFill>
          <a:ln/>
        </p:spPr>
      </p:sp>
      <p:sp>
        <p:nvSpPr>
          <p:cNvPr id="15" name="Text 13"/>
          <p:cNvSpPr/>
          <p:nvPr/>
        </p:nvSpPr>
        <p:spPr>
          <a:xfrm>
            <a:off x="1051560" y="4197096"/>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Full funnel report from real numbers — targets set here, not before</a:t>
            </a:r>
            <a:endParaRPr lang="en-US" sz="1400" dirty="0"/>
          </a:p>
        </p:txBody>
      </p:sp>
      <p:sp>
        <p:nvSpPr>
          <p:cNvPr id="16" name="Shape 14"/>
          <p:cNvSpPr/>
          <p:nvPr/>
        </p:nvSpPr>
        <p:spPr>
          <a:xfrm>
            <a:off x="685800" y="4928616"/>
            <a:ext cx="182880" cy="182880"/>
          </a:xfrm>
          <a:prstGeom prst="ellipse">
            <a:avLst/>
          </a:prstGeom>
          <a:solidFill>
            <a:srgbClr val="B07E22"/>
          </a:solidFill>
          <a:ln/>
        </p:spPr>
      </p:sp>
      <p:sp>
        <p:nvSpPr>
          <p:cNvPr id="17" name="Text 15"/>
          <p:cNvSpPr/>
          <p:nvPr/>
        </p:nvSpPr>
        <p:spPr>
          <a:xfrm>
            <a:off x="1051560" y="480060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Documented playbook so project two starts at week six</a:t>
            </a:r>
            <a:endParaRPr lang="en-US" sz="1400" dirty="0"/>
          </a:p>
        </p:txBody>
      </p:sp>
      <p:sp>
        <p:nvSpPr>
          <p:cNvPr id="18" name="Shape 16"/>
          <p:cNvSpPr/>
          <p:nvPr/>
        </p:nvSpPr>
        <p:spPr>
          <a:xfrm>
            <a:off x="640080" y="5486400"/>
            <a:ext cx="10908792" cy="658368"/>
          </a:xfrm>
          <a:prstGeom prst="rect">
            <a:avLst/>
          </a:prstGeom>
          <a:solidFill>
            <a:srgbClr val="1A2332"/>
          </a:solidFill>
          <a:ln w="6350">
            <a:solidFill>
              <a:srgbClr val="1A2332"/>
            </a:solidFill>
            <a:prstDash val="solid"/>
          </a:ln>
        </p:spPr>
      </p:sp>
      <p:sp>
        <p:nvSpPr>
          <p:cNvPr id="19" name="Text 17"/>
          <p:cNvSpPr/>
          <p:nvPr/>
        </p:nvSpPr>
        <p:spPr>
          <a:xfrm>
            <a:off x="896112" y="5486400"/>
            <a:ext cx="2194560" cy="658368"/>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END OF MONTH 3</a:t>
            </a:r>
            <a:endParaRPr lang="en-US" sz="1000" dirty="0"/>
          </a:p>
        </p:txBody>
      </p:sp>
      <p:sp>
        <p:nvSpPr>
          <p:cNvPr id="20" name="Text 18"/>
          <p:cNvSpPr/>
          <p:nvPr/>
        </p:nvSpPr>
        <p:spPr>
          <a:xfrm>
            <a:off x="3291840" y="5486400"/>
            <a:ext cx="7982712"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Real cost per enquiry, agreed targets, a repeatable system</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After the first 90 days</a:t>
            </a:r>
            <a:endParaRPr lang="en-US" sz="3000" dirty="0"/>
          </a:p>
        </p:txBody>
      </p:sp>
      <p:sp>
        <p:nvSpPr>
          <p:cNvPr id="5" name="Shape 3"/>
          <p:cNvSpPr/>
          <p:nvPr/>
        </p:nvSpPr>
        <p:spPr>
          <a:xfrm>
            <a:off x="640080" y="1600200"/>
            <a:ext cx="10908792" cy="123444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Text 4"/>
          <p:cNvSpPr/>
          <p:nvPr/>
        </p:nvSpPr>
        <p:spPr>
          <a:xfrm>
            <a:off x="914400" y="1783080"/>
            <a:ext cx="1737360" cy="45720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Months 4–6</a:t>
            </a:r>
            <a:endParaRPr lang="en-US" sz="1700" dirty="0"/>
          </a:p>
        </p:txBody>
      </p:sp>
      <p:sp>
        <p:nvSpPr>
          <p:cNvPr id="7" name="Text 5"/>
          <p:cNvSpPr/>
          <p:nvPr/>
        </p:nvSpPr>
        <p:spPr>
          <a:xfrm>
            <a:off x="2834640" y="1801368"/>
            <a:ext cx="5394960" cy="868680"/>
          </a:xfrm>
          <a:prstGeom prst="rect">
            <a:avLst/>
          </a:prstGeom>
          <a:noFill/>
          <a:ln/>
        </p:spPr>
        <p:txBody>
          <a:bodyPr wrap="square" lIns="0" tIns="0" rIns="0" bIns="0" rtlCol="0" anchor="ctr"/>
          <a:lstStyle/>
          <a:p>
            <a:pPr indent="0" marL="0">
              <a:lnSpc>
                <a:spcPts val="1800"/>
              </a:lnSpc>
              <a:buNone/>
            </a:pPr>
            <a:r>
              <a:rPr lang="en-US" sz="1250" dirty="0">
                <a:solidFill>
                  <a:srgbClr val="676C74"/>
                </a:solidFill>
                <a:latin typeface="Calibri" pitchFamily="34" charset="0"/>
                <a:ea typeface="Calibri" pitchFamily="34" charset="-122"/>
                <a:cs typeface="Calibri" pitchFamily="34" charset="-120"/>
              </a:rPr>
              <a:t>Review library grows to 10–12 Hyderabad projects. Resident reviews open. Search and AI start delivering enquiries at no media cost. Referral programme live.</a:t>
            </a:r>
            <a:endParaRPr lang="en-US" sz="1250" dirty="0"/>
          </a:p>
        </p:txBody>
      </p:sp>
      <p:sp>
        <p:nvSpPr>
          <p:cNvPr id="8" name="Text 6"/>
          <p:cNvSpPr/>
          <p:nvPr/>
        </p:nvSpPr>
        <p:spPr>
          <a:xfrm>
            <a:off x="8412480" y="1801368"/>
            <a:ext cx="3017520" cy="868680"/>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First enquiries arriving free</a:t>
            </a:r>
            <a:endParaRPr lang="en-US" sz="1350" dirty="0"/>
          </a:p>
        </p:txBody>
      </p:sp>
      <p:sp>
        <p:nvSpPr>
          <p:cNvPr id="9" name="Shape 7"/>
          <p:cNvSpPr/>
          <p:nvPr/>
        </p:nvSpPr>
        <p:spPr>
          <a:xfrm>
            <a:off x="640080" y="3017520"/>
            <a:ext cx="10908792" cy="123444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914400" y="3200400"/>
            <a:ext cx="1737360" cy="45720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Months 7–9</a:t>
            </a:r>
            <a:endParaRPr lang="en-US" sz="1700" dirty="0"/>
          </a:p>
        </p:txBody>
      </p:sp>
      <p:sp>
        <p:nvSpPr>
          <p:cNvPr id="11" name="Text 9"/>
          <p:cNvSpPr/>
          <p:nvPr/>
        </p:nvSpPr>
        <p:spPr>
          <a:xfrm>
            <a:off x="2834640" y="3218688"/>
            <a:ext cx="5394960" cy="868680"/>
          </a:xfrm>
          <a:prstGeom prst="rect">
            <a:avLst/>
          </a:prstGeom>
          <a:noFill/>
          <a:ln/>
        </p:spPr>
        <p:txBody>
          <a:bodyPr wrap="square" lIns="0" tIns="0" rIns="0" bIns="0" rtlCol="0" anchor="ctr"/>
          <a:lstStyle/>
          <a:p>
            <a:pPr indent="0" marL="0">
              <a:lnSpc>
                <a:spcPts val="1800"/>
              </a:lnSpc>
              <a:buNone/>
            </a:pPr>
            <a:r>
              <a:rPr lang="en-US" sz="1250" dirty="0">
                <a:solidFill>
                  <a:srgbClr val="676C74"/>
                </a:solidFill>
                <a:latin typeface="Calibri" pitchFamily="34" charset="0"/>
                <a:ea typeface="Calibri" pitchFamily="34" charset="-122"/>
                <a:cs typeface="Calibri" pitchFamily="34" charset="-120"/>
              </a:rPr>
              <a:t>Price estimates built from registration data. Second and third mandates onboarded using the Neopolis template. Paid media scales only if cost per booking justifies it.</a:t>
            </a:r>
            <a:endParaRPr lang="en-US" sz="1250" dirty="0"/>
          </a:p>
        </p:txBody>
      </p:sp>
      <p:sp>
        <p:nvSpPr>
          <p:cNvPr id="12" name="Text 10"/>
          <p:cNvSpPr/>
          <p:nvPr/>
        </p:nvSpPr>
        <p:spPr>
          <a:xfrm>
            <a:off x="8412480" y="3218688"/>
            <a:ext cx="3017520" cy="868680"/>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Three projects on one system</a:t>
            </a:r>
            <a:endParaRPr lang="en-US" sz="1350" dirty="0"/>
          </a:p>
        </p:txBody>
      </p:sp>
      <p:sp>
        <p:nvSpPr>
          <p:cNvPr id="13" name="Shape 11"/>
          <p:cNvSpPr/>
          <p:nvPr/>
        </p:nvSpPr>
        <p:spPr>
          <a:xfrm>
            <a:off x="640080" y="4434840"/>
            <a:ext cx="10908792" cy="123444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4" name="Text 12"/>
          <p:cNvSpPr/>
          <p:nvPr/>
        </p:nvSpPr>
        <p:spPr>
          <a:xfrm>
            <a:off x="914400" y="4617720"/>
            <a:ext cx="1737360" cy="45720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Months 10–12</a:t>
            </a:r>
            <a:endParaRPr lang="en-US" sz="1700" dirty="0"/>
          </a:p>
        </p:txBody>
      </p:sp>
      <p:sp>
        <p:nvSpPr>
          <p:cNvPr id="15" name="Text 13"/>
          <p:cNvSpPr/>
          <p:nvPr/>
        </p:nvSpPr>
        <p:spPr>
          <a:xfrm>
            <a:off x="2834640" y="4636008"/>
            <a:ext cx="5394960" cy="868680"/>
          </a:xfrm>
          <a:prstGeom prst="rect">
            <a:avLst/>
          </a:prstGeom>
          <a:noFill/>
          <a:ln/>
        </p:spPr>
        <p:txBody>
          <a:bodyPr wrap="square" lIns="0" tIns="0" rIns="0" bIns="0" rtlCol="0" anchor="ctr"/>
          <a:lstStyle/>
          <a:p>
            <a:pPr indent="0" marL="0">
              <a:lnSpc>
                <a:spcPts val="1800"/>
              </a:lnSpc>
              <a:buNone/>
            </a:pPr>
            <a:r>
              <a:rPr lang="en-US" sz="1250" dirty="0">
                <a:solidFill>
                  <a:srgbClr val="676C74"/>
                </a:solidFill>
                <a:latin typeface="Calibri" pitchFamily="34" charset="0"/>
                <a:ea typeface="Calibri" pitchFamily="34" charset="-122"/>
                <a:cs typeface="Calibri" pitchFamily="34" charset="-120"/>
              </a:rPr>
              <a:t>Every meaningful Kokapet and west Hyderabad project covered. Market note quoted by press. Services layer begins — loan and legal partners.</a:t>
            </a:r>
            <a:endParaRPr lang="en-US" sz="1250" dirty="0"/>
          </a:p>
        </p:txBody>
      </p:sp>
      <p:sp>
        <p:nvSpPr>
          <p:cNvPr id="16" name="Text 14"/>
          <p:cNvSpPr/>
          <p:nvPr/>
        </p:nvSpPr>
        <p:spPr>
          <a:xfrm>
            <a:off x="8412480" y="4636008"/>
            <a:ext cx="3017520" cy="868680"/>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Default place to check in west Hyderabad</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Where this goes</a:t>
            </a:r>
            <a:endParaRPr lang="en-US" sz="3000" dirty="0"/>
          </a:p>
        </p:txBody>
      </p:sp>
      <p:sp>
        <p:nvSpPr>
          <p:cNvPr id="5" name="Shape 3"/>
          <p:cNvSpPr/>
          <p:nvPr/>
        </p:nvSpPr>
        <p:spPr>
          <a:xfrm>
            <a:off x="640080" y="1371600"/>
            <a:ext cx="10908792" cy="841248"/>
          </a:xfrm>
          <a:prstGeom prst="rect">
            <a:avLst/>
          </a:prstGeom>
          <a:solidFill>
            <a:srgbClr val="FFFFFF"/>
          </a:solidFill>
          <a:ln w="6350">
            <a:solidFill>
              <a:srgbClr val="DFDFDB"/>
            </a:solidFill>
            <a:prstDash val="solid"/>
          </a:ln>
        </p:spPr>
      </p:sp>
      <p:sp>
        <p:nvSpPr>
          <p:cNvPr id="6" name="Text 4"/>
          <p:cNvSpPr/>
          <p:nvPr/>
        </p:nvSpPr>
        <p:spPr>
          <a:xfrm>
            <a:off x="877824" y="1463040"/>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 1</a:t>
            </a:r>
            <a:endParaRPr lang="en-US" sz="1700" dirty="0"/>
          </a:p>
        </p:txBody>
      </p:sp>
      <p:sp>
        <p:nvSpPr>
          <p:cNvPr id="7" name="Text 5"/>
          <p:cNvSpPr/>
          <p:nvPr/>
        </p:nvSpPr>
        <p:spPr>
          <a:xfrm>
            <a:off x="877824" y="1828800"/>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Hyderabad west</a:t>
            </a:r>
            <a:endParaRPr lang="en-US" sz="1000" dirty="0"/>
          </a:p>
        </p:txBody>
      </p:sp>
      <p:sp>
        <p:nvSpPr>
          <p:cNvPr id="8" name="Text 6"/>
          <p:cNvSpPr/>
          <p:nvPr/>
        </p:nvSpPr>
        <p:spPr>
          <a:xfrm>
            <a:off x="2560320" y="1463040"/>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Own one micro-market completely</a:t>
            </a:r>
            <a:endParaRPr lang="en-US" sz="1400" dirty="0"/>
          </a:p>
        </p:txBody>
      </p:sp>
      <p:sp>
        <p:nvSpPr>
          <p:cNvPr id="9" name="Text 7"/>
          <p:cNvSpPr/>
          <p:nvPr/>
        </p:nvSpPr>
        <p:spPr>
          <a:xfrm>
            <a:off x="5943600" y="1463040"/>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Kokapet, Financial District, Narsingi, Tellapur. Every project reviewed and honestly rated. The goal is not scale — it's proof the model converts better than portal leads.</a:t>
            </a:r>
            <a:endParaRPr lang="en-US" sz="1150" dirty="0"/>
          </a:p>
        </p:txBody>
      </p:sp>
      <p:sp>
        <p:nvSpPr>
          <p:cNvPr id="10" name="Shape 8"/>
          <p:cNvSpPr/>
          <p:nvPr/>
        </p:nvSpPr>
        <p:spPr>
          <a:xfrm>
            <a:off x="640080" y="2304288"/>
            <a:ext cx="10908792" cy="841248"/>
          </a:xfrm>
          <a:prstGeom prst="rect">
            <a:avLst/>
          </a:prstGeom>
          <a:solidFill>
            <a:srgbClr val="FFFFFF"/>
          </a:solidFill>
          <a:ln w="6350">
            <a:solidFill>
              <a:srgbClr val="DFDFDB"/>
            </a:solidFill>
            <a:prstDash val="solid"/>
          </a:ln>
        </p:spPr>
      </p:sp>
      <p:sp>
        <p:nvSpPr>
          <p:cNvPr id="11" name="Text 9"/>
          <p:cNvSpPr/>
          <p:nvPr/>
        </p:nvSpPr>
        <p:spPr>
          <a:xfrm>
            <a:off x="877824" y="2395728"/>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 2</a:t>
            </a:r>
            <a:endParaRPr lang="en-US" sz="1700" dirty="0"/>
          </a:p>
        </p:txBody>
      </p:sp>
      <p:sp>
        <p:nvSpPr>
          <p:cNvPr id="12" name="Text 10"/>
          <p:cNvSpPr/>
          <p:nvPr/>
        </p:nvSpPr>
        <p:spPr>
          <a:xfrm>
            <a:off x="877824" y="2761488"/>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Hyderabad</a:t>
            </a:r>
            <a:endParaRPr lang="en-US" sz="1000" dirty="0"/>
          </a:p>
        </p:txBody>
      </p:sp>
      <p:sp>
        <p:nvSpPr>
          <p:cNvPr id="13" name="Text 11"/>
          <p:cNvSpPr/>
          <p:nvPr/>
        </p:nvSpPr>
        <p:spPr>
          <a:xfrm>
            <a:off x="2560320" y="2395728"/>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The whole city, plus transactions</a:t>
            </a:r>
            <a:endParaRPr lang="en-US" sz="1400" dirty="0"/>
          </a:p>
        </p:txBody>
      </p:sp>
      <p:sp>
        <p:nvSpPr>
          <p:cNvPr id="14" name="Text 12"/>
          <p:cNvSpPr/>
          <p:nvPr/>
        </p:nvSpPr>
        <p:spPr>
          <a:xfrm>
            <a:off x="5943600" y="2395728"/>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Full city coverage. Exclusive mandates as the core revenue line. Services layer live. The name buyers check before visiting anything.</a:t>
            </a:r>
            <a:endParaRPr lang="en-US" sz="1150" dirty="0"/>
          </a:p>
        </p:txBody>
      </p:sp>
      <p:sp>
        <p:nvSpPr>
          <p:cNvPr id="15" name="Shape 13"/>
          <p:cNvSpPr/>
          <p:nvPr/>
        </p:nvSpPr>
        <p:spPr>
          <a:xfrm>
            <a:off x="640080" y="3236976"/>
            <a:ext cx="10908792" cy="841248"/>
          </a:xfrm>
          <a:prstGeom prst="rect">
            <a:avLst/>
          </a:prstGeom>
          <a:solidFill>
            <a:srgbClr val="FFFFFF"/>
          </a:solidFill>
          <a:ln w="6350">
            <a:solidFill>
              <a:srgbClr val="DFDFDB"/>
            </a:solidFill>
            <a:prstDash val="solid"/>
          </a:ln>
        </p:spPr>
      </p:sp>
      <p:sp>
        <p:nvSpPr>
          <p:cNvPr id="16" name="Text 14"/>
          <p:cNvSpPr/>
          <p:nvPr/>
        </p:nvSpPr>
        <p:spPr>
          <a:xfrm>
            <a:off x="877824" y="3328416"/>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Years 3–4</a:t>
            </a:r>
            <a:endParaRPr lang="en-US" sz="1700" dirty="0"/>
          </a:p>
        </p:txBody>
      </p:sp>
      <p:sp>
        <p:nvSpPr>
          <p:cNvPr id="17" name="Text 15"/>
          <p:cNvSpPr/>
          <p:nvPr/>
        </p:nvSpPr>
        <p:spPr>
          <a:xfrm>
            <a:off x="877824" y="3694176"/>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South India</a:t>
            </a:r>
            <a:endParaRPr lang="en-US" sz="1000" dirty="0"/>
          </a:p>
        </p:txBody>
      </p:sp>
      <p:sp>
        <p:nvSpPr>
          <p:cNvPr id="18" name="Text 16"/>
          <p:cNvSpPr/>
          <p:nvPr/>
        </p:nvSpPr>
        <p:spPr>
          <a:xfrm>
            <a:off x="2560320" y="3328416"/>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Bangalore, Chennai, Pune</a:t>
            </a:r>
            <a:endParaRPr lang="en-US" sz="1400" dirty="0"/>
          </a:p>
        </p:txBody>
      </p:sp>
      <p:sp>
        <p:nvSpPr>
          <p:cNvPr id="19" name="Text 17"/>
          <p:cNvSpPr/>
          <p:nvPr/>
        </p:nvSpPr>
        <p:spPr>
          <a:xfrm>
            <a:off x="5943600" y="3328416"/>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The content and review system is city-agnostic — only the data changes. Each city launches on the template Neopolis produced.</a:t>
            </a:r>
            <a:endParaRPr lang="en-US" sz="1150" dirty="0"/>
          </a:p>
        </p:txBody>
      </p:sp>
      <p:sp>
        <p:nvSpPr>
          <p:cNvPr id="20" name="Shape 18"/>
          <p:cNvSpPr/>
          <p:nvPr/>
        </p:nvSpPr>
        <p:spPr>
          <a:xfrm>
            <a:off x="640080" y="4169664"/>
            <a:ext cx="10908792" cy="841248"/>
          </a:xfrm>
          <a:prstGeom prst="rect">
            <a:avLst/>
          </a:prstGeom>
          <a:solidFill>
            <a:srgbClr val="FFFFFF"/>
          </a:solidFill>
          <a:ln w="6350">
            <a:solidFill>
              <a:srgbClr val="DFDFDB"/>
            </a:solidFill>
            <a:prstDash val="solid"/>
          </a:ln>
        </p:spPr>
      </p:sp>
      <p:sp>
        <p:nvSpPr>
          <p:cNvPr id="21" name="Text 19"/>
          <p:cNvSpPr/>
          <p:nvPr/>
        </p:nvSpPr>
        <p:spPr>
          <a:xfrm>
            <a:off x="877824" y="4261104"/>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Years 5–7</a:t>
            </a:r>
            <a:endParaRPr lang="en-US" sz="1700" dirty="0"/>
          </a:p>
        </p:txBody>
      </p:sp>
      <p:sp>
        <p:nvSpPr>
          <p:cNvPr id="22" name="Text 20"/>
          <p:cNvSpPr/>
          <p:nvPr/>
        </p:nvSpPr>
        <p:spPr>
          <a:xfrm>
            <a:off x="877824" y="4626864"/>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India</a:t>
            </a:r>
            <a:endParaRPr lang="en-US" sz="1000" dirty="0"/>
          </a:p>
        </p:txBody>
      </p:sp>
      <p:sp>
        <p:nvSpPr>
          <p:cNvPr id="23" name="Text 21"/>
          <p:cNvSpPr/>
          <p:nvPr/>
        </p:nvSpPr>
        <p:spPr>
          <a:xfrm>
            <a:off x="2560320" y="4261104"/>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National platform, data business</a:t>
            </a:r>
            <a:endParaRPr lang="en-US" sz="1400" dirty="0"/>
          </a:p>
        </p:txBody>
      </p:sp>
      <p:sp>
        <p:nvSpPr>
          <p:cNvPr id="24" name="Text 22"/>
          <p:cNvSpPr/>
          <p:nvPr/>
        </p:nvSpPr>
        <p:spPr>
          <a:xfrm>
            <a:off x="5943600" y="4261104"/>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Top ten cities. The high-margin line arrives — developers, banks and funds paying for OTHO's demand data.</a:t>
            </a:r>
            <a:endParaRPr lang="en-US" sz="1150" dirty="0"/>
          </a:p>
        </p:txBody>
      </p:sp>
      <p:sp>
        <p:nvSpPr>
          <p:cNvPr id="25" name="Shape 23"/>
          <p:cNvSpPr/>
          <p:nvPr/>
        </p:nvSpPr>
        <p:spPr>
          <a:xfrm>
            <a:off x="640080" y="5102352"/>
            <a:ext cx="10908792" cy="841248"/>
          </a:xfrm>
          <a:prstGeom prst="rect">
            <a:avLst/>
          </a:prstGeom>
          <a:solidFill>
            <a:srgbClr val="FFFFFF"/>
          </a:solidFill>
          <a:ln w="6350">
            <a:solidFill>
              <a:srgbClr val="DFDFDB"/>
            </a:solidFill>
            <a:prstDash val="solid"/>
          </a:ln>
        </p:spPr>
      </p:sp>
      <p:sp>
        <p:nvSpPr>
          <p:cNvPr id="26" name="Text 24"/>
          <p:cNvSpPr/>
          <p:nvPr/>
        </p:nvSpPr>
        <p:spPr>
          <a:xfrm>
            <a:off x="877824" y="5193792"/>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Years 8–10</a:t>
            </a:r>
            <a:endParaRPr lang="en-US" sz="1700" dirty="0"/>
          </a:p>
        </p:txBody>
      </p:sp>
      <p:sp>
        <p:nvSpPr>
          <p:cNvPr id="27" name="Text 25"/>
          <p:cNvSpPr/>
          <p:nvPr/>
        </p:nvSpPr>
        <p:spPr>
          <a:xfrm>
            <a:off x="877824" y="5559552"/>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Global</a:t>
            </a:r>
            <a:endParaRPr lang="en-US" sz="1000" dirty="0"/>
          </a:p>
        </p:txBody>
      </p:sp>
      <p:sp>
        <p:nvSpPr>
          <p:cNvPr id="28" name="Text 26"/>
          <p:cNvSpPr/>
          <p:nvPr/>
        </p:nvSpPr>
        <p:spPr>
          <a:xfrm>
            <a:off x="2560320" y="5193792"/>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NRI corridors first</a:t>
            </a:r>
            <a:endParaRPr lang="en-US" sz="1400" dirty="0"/>
          </a:p>
        </p:txBody>
      </p:sp>
      <p:sp>
        <p:nvSpPr>
          <p:cNvPr id="29" name="Text 27"/>
          <p:cNvSpPr/>
          <p:nvPr/>
        </p:nvSpPr>
        <p:spPr>
          <a:xfrm>
            <a:off x="5943600" y="5193792"/>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The first step abroad isn't a new market — it's this market from the other side. Gulf, Singapore, US and UK buyers who need honest remote due diligence.</a:t>
            </a:r>
            <a:endParaRPr lang="en-US" sz="1150" dirty="0"/>
          </a:p>
        </p:txBody>
      </p:sp>
      <p:sp>
        <p:nvSpPr>
          <p:cNvPr id="30" name="Text 28"/>
          <p:cNvSpPr/>
          <p:nvPr/>
        </p:nvSpPr>
        <p:spPr>
          <a:xfrm>
            <a:off x="640080" y="6126480"/>
            <a:ext cx="10908792" cy="411480"/>
          </a:xfrm>
          <a:prstGeom prst="rect">
            <a:avLst/>
          </a:prstGeom>
          <a:noFill/>
          <a:ln/>
        </p:spPr>
        <p:txBody>
          <a:bodyPr wrap="square" lIns="0" tIns="0" rIns="0" bIns="0" rtlCol="0" anchor="ctr"/>
          <a:lstStyle/>
          <a:p>
            <a:pPr indent="0" marL="0">
              <a:buNone/>
            </a:pPr>
            <a:r>
              <a:rPr lang="en-US" sz="1700" b="1" i="1" dirty="0">
                <a:solidFill>
                  <a:srgbClr val="1A2332"/>
                </a:solidFill>
                <a:latin typeface="Cambria" pitchFamily="34" charset="0"/>
                <a:ea typeface="Cambria" pitchFamily="34" charset="-122"/>
                <a:cs typeface="Cambria" pitchFamily="34" charset="-120"/>
              </a:rPr>
              <a:t>Ten years is four cities and one honest habit, repeated.</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we need from you</a:t>
            </a:r>
            <a:endParaRPr lang="en-US" sz="3000" dirty="0"/>
          </a:p>
        </p:txBody>
      </p:sp>
      <p:sp>
        <p:nvSpPr>
          <p:cNvPr id="5" name="Shape 3"/>
          <p:cNvSpPr/>
          <p:nvPr/>
        </p:nvSpPr>
        <p:spPr>
          <a:xfrm>
            <a:off x="640080" y="1463040"/>
            <a:ext cx="10908792" cy="621792"/>
          </a:xfrm>
          <a:prstGeom prst="rect">
            <a:avLst/>
          </a:prstGeom>
          <a:solidFill>
            <a:srgbClr val="FFFFFF"/>
          </a:solidFill>
          <a:ln w="6350">
            <a:solidFill>
              <a:srgbClr val="DFDFDB"/>
            </a:solidFill>
            <a:prstDash val="solid"/>
          </a:ln>
        </p:spPr>
      </p:sp>
      <p:sp>
        <p:nvSpPr>
          <p:cNvPr id="6" name="Text 4"/>
          <p:cNvSpPr/>
          <p:nvPr/>
        </p:nvSpPr>
        <p:spPr>
          <a:xfrm>
            <a:off x="877824" y="1463040"/>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One person who can approve</a:t>
            </a:r>
            <a:endParaRPr lang="en-US" sz="1350" dirty="0"/>
          </a:p>
        </p:txBody>
      </p:sp>
      <p:sp>
        <p:nvSpPr>
          <p:cNvPr id="7" name="Text 5"/>
          <p:cNvSpPr/>
          <p:nvPr/>
        </p:nvSpPr>
        <p:spPr>
          <a:xfrm>
            <a:off x="4389120" y="1463040"/>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Approval by committee misses launch windows.</a:t>
            </a:r>
            <a:endParaRPr lang="en-US" sz="1200" dirty="0"/>
          </a:p>
        </p:txBody>
      </p:sp>
      <p:sp>
        <p:nvSpPr>
          <p:cNvPr id="8" name="Text 6"/>
          <p:cNvSpPr/>
          <p:nvPr/>
        </p:nvSpPr>
        <p:spPr>
          <a:xfrm>
            <a:off x="9857232" y="1463040"/>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Day 1</a:t>
            </a:r>
            <a:endParaRPr lang="en-US" sz="1150" dirty="0"/>
          </a:p>
        </p:txBody>
      </p:sp>
      <p:sp>
        <p:nvSpPr>
          <p:cNvPr id="9" name="Shape 7"/>
          <p:cNvSpPr/>
          <p:nvPr/>
        </p:nvSpPr>
        <p:spPr>
          <a:xfrm>
            <a:off x="640080" y="2176272"/>
            <a:ext cx="10908792" cy="621792"/>
          </a:xfrm>
          <a:prstGeom prst="rect">
            <a:avLst/>
          </a:prstGeom>
          <a:solidFill>
            <a:srgbClr val="FFFFFF"/>
          </a:solidFill>
          <a:ln w="6350">
            <a:solidFill>
              <a:srgbClr val="DFDFDB"/>
            </a:solidFill>
            <a:prstDash val="solid"/>
          </a:ln>
        </p:spPr>
      </p:sp>
      <p:sp>
        <p:nvSpPr>
          <p:cNvPr id="10" name="Text 8"/>
          <p:cNvSpPr/>
          <p:nvPr/>
        </p:nvSpPr>
        <p:spPr>
          <a:xfrm>
            <a:off x="877824" y="2176272"/>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Founders on camera, twice a month</a:t>
            </a:r>
            <a:endParaRPr lang="en-US" sz="1350" dirty="0"/>
          </a:p>
        </p:txBody>
      </p:sp>
      <p:sp>
        <p:nvSpPr>
          <p:cNvPr id="11" name="Text 9"/>
          <p:cNvSpPr/>
          <p:nvPr/>
        </p:nvSpPr>
        <p:spPr>
          <a:xfrm>
            <a:off x="4389120" y="2176272"/>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Half a day. The reviews and podcast are the whole plan, and only you can front them.</a:t>
            </a:r>
            <a:endParaRPr lang="en-US" sz="1200" dirty="0"/>
          </a:p>
        </p:txBody>
      </p:sp>
      <p:sp>
        <p:nvSpPr>
          <p:cNvPr id="12" name="Text 10"/>
          <p:cNvSpPr/>
          <p:nvPr/>
        </p:nvSpPr>
        <p:spPr>
          <a:xfrm>
            <a:off x="9857232" y="2176272"/>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From week 3</a:t>
            </a:r>
            <a:endParaRPr lang="en-US" sz="1150" dirty="0"/>
          </a:p>
        </p:txBody>
      </p:sp>
      <p:sp>
        <p:nvSpPr>
          <p:cNvPr id="13" name="Shape 11"/>
          <p:cNvSpPr/>
          <p:nvPr/>
        </p:nvSpPr>
        <p:spPr>
          <a:xfrm>
            <a:off x="640080" y="2889504"/>
            <a:ext cx="10908792" cy="621792"/>
          </a:xfrm>
          <a:prstGeom prst="rect">
            <a:avLst/>
          </a:prstGeom>
          <a:solidFill>
            <a:srgbClr val="FFFFFF"/>
          </a:solidFill>
          <a:ln w="6350">
            <a:solidFill>
              <a:srgbClr val="DFDFDB"/>
            </a:solidFill>
            <a:prstDash val="solid"/>
          </a:ln>
        </p:spPr>
      </p:sp>
      <p:sp>
        <p:nvSpPr>
          <p:cNvPr id="14" name="Text 12"/>
          <p:cNvSpPr/>
          <p:nvPr/>
        </p:nvSpPr>
        <p:spPr>
          <a:xfrm>
            <a:off x="877824" y="2889504"/>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Two guest introductions a month</a:t>
            </a:r>
            <a:endParaRPr lang="en-US" sz="1350" dirty="0"/>
          </a:p>
        </p:txBody>
      </p:sp>
      <p:sp>
        <p:nvSpPr>
          <p:cNvPr id="15" name="Text 13"/>
          <p:cNvSpPr/>
          <p:nvPr/>
        </p:nvSpPr>
        <p:spPr>
          <a:xfrm>
            <a:off x="4389120" y="2889504"/>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Your relationships are what make the podcast unmatchable.</a:t>
            </a:r>
            <a:endParaRPr lang="en-US" sz="1200" dirty="0"/>
          </a:p>
        </p:txBody>
      </p:sp>
      <p:sp>
        <p:nvSpPr>
          <p:cNvPr id="16" name="Text 14"/>
          <p:cNvSpPr/>
          <p:nvPr/>
        </p:nvSpPr>
        <p:spPr>
          <a:xfrm>
            <a:off x="9857232" y="2889504"/>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Ongoing</a:t>
            </a:r>
            <a:endParaRPr lang="en-US" sz="1150" dirty="0"/>
          </a:p>
        </p:txBody>
      </p:sp>
      <p:sp>
        <p:nvSpPr>
          <p:cNvPr id="17" name="Shape 15"/>
          <p:cNvSpPr/>
          <p:nvPr/>
        </p:nvSpPr>
        <p:spPr>
          <a:xfrm>
            <a:off x="640080" y="3602736"/>
            <a:ext cx="10908792" cy="621792"/>
          </a:xfrm>
          <a:prstGeom prst="rect">
            <a:avLst/>
          </a:prstGeom>
          <a:solidFill>
            <a:srgbClr val="FFFFFF"/>
          </a:solidFill>
          <a:ln w="6350">
            <a:solidFill>
              <a:srgbClr val="DFDFDB"/>
            </a:solidFill>
            <a:prstDash val="solid"/>
          </a:ln>
        </p:spPr>
      </p:sp>
      <p:sp>
        <p:nvSpPr>
          <p:cNvPr id="18" name="Text 16"/>
          <p:cNvSpPr/>
          <p:nvPr/>
        </p:nvSpPr>
        <p:spPr>
          <a:xfrm>
            <a:off x="877824" y="3602736"/>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Willingness to publish negatives</a:t>
            </a:r>
            <a:endParaRPr lang="en-US" sz="1350" dirty="0"/>
          </a:p>
        </p:txBody>
      </p:sp>
      <p:sp>
        <p:nvSpPr>
          <p:cNvPr id="19" name="Text 17"/>
          <p:cNvSpPr/>
          <p:nvPr/>
        </p:nvSpPr>
        <p:spPr>
          <a:xfrm>
            <a:off x="4389120" y="3602736"/>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The honest reviews are the moat. Soften them to protect a relationship and the strategy collapses into another portal.</a:t>
            </a:r>
            <a:endParaRPr lang="en-US" sz="1200" dirty="0"/>
          </a:p>
        </p:txBody>
      </p:sp>
      <p:sp>
        <p:nvSpPr>
          <p:cNvPr id="20" name="Text 18"/>
          <p:cNvSpPr/>
          <p:nvPr/>
        </p:nvSpPr>
        <p:spPr>
          <a:xfrm>
            <a:off x="9857232" y="3602736"/>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Agree now</a:t>
            </a:r>
            <a:endParaRPr lang="en-US" sz="1150" dirty="0"/>
          </a:p>
        </p:txBody>
      </p:sp>
      <p:sp>
        <p:nvSpPr>
          <p:cNvPr id="21" name="Shape 19"/>
          <p:cNvSpPr/>
          <p:nvPr/>
        </p:nvSpPr>
        <p:spPr>
          <a:xfrm>
            <a:off x="640080" y="4315968"/>
            <a:ext cx="10908792" cy="621792"/>
          </a:xfrm>
          <a:prstGeom prst="rect">
            <a:avLst/>
          </a:prstGeom>
          <a:solidFill>
            <a:srgbClr val="FFFFFF"/>
          </a:solidFill>
          <a:ln w="6350">
            <a:solidFill>
              <a:srgbClr val="DFDFDB"/>
            </a:solidFill>
            <a:prstDash val="solid"/>
          </a:ln>
        </p:spPr>
      </p:sp>
      <p:sp>
        <p:nvSpPr>
          <p:cNvPr id="22" name="Text 20"/>
          <p:cNvSpPr/>
          <p:nvPr/>
        </p:nvSpPr>
        <p:spPr>
          <a:xfrm>
            <a:off x="877824" y="4315968"/>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Your real numbers</a:t>
            </a:r>
            <a:endParaRPr lang="en-US" sz="1350" dirty="0"/>
          </a:p>
        </p:txBody>
      </p:sp>
      <p:sp>
        <p:nvSpPr>
          <p:cNvPr id="23" name="Text 21"/>
          <p:cNvSpPr/>
          <p:nvPr/>
        </p:nvSpPr>
        <p:spPr>
          <a:xfrm>
            <a:off x="4389120" y="4315968"/>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Average unit value and commission, so the model stops being our guesswork.</a:t>
            </a:r>
            <a:endParaRPr lang="en-US" sz="1200" dirty="0"/>
          </a:p>
        </p:txBody>
      </p:sp>
      <p:sp>
        <p:nvSpPr>
          <p:cNvPr id="24" name="Text 22"/>
          <p:cNvSpPr/>
          <p:nvPr/>
        </p:nvSpPr>
        <p:spPr>
          <a:xfrm>
            <a:off x="9857232" y="4315968"/>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Week 2</a:t>
            </a:r>
            <a:endParaRPr lang="en-US" sz="1150" dirty="0"/>
          </a:p>
        </p:txBody>
      </p:sp>
      <p:sp>
        <p:nvSpPr>
          <p:cNvPr id="25" name="Shape 23"/>
          <p:cNvSpPr/>
          <p:nvPr/>
        </p:nvSpPr>
        <p:spPr>
          <a:xfrm>
            <a:off x="640080" y="5029200"/>
            <a:ext cx="10908792" cy="621792"/>
          </a:xfrm>
          <a:prstGeom prst="rect">
            <a:avLst/>
          </a:prstGeom>
          <a:solidFill>
            <a:srgbClr val="FFFFFF"/>
          </a:solidFill>
          <a:ln w="6350">
            <a:solidFill>
              <a:srgbClr val="DFDFDB"/>
            </a:solidFill>
            <a:prstDash val="solid"/>
          </a:ln>
        </p:spPr>
      </p:sp>
      <p:sp>
        <p:nvSpPr>
          <p:cNvPr id="26" name="Text 24"/>
          <p:cNvSpPr/>
          <p:nvPr/>
        </p:nvSpPr>
        <p:spPr>
          <a:xfrm>
            <a:off x="877824" y="5029200"/>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Weekly time with sales</a:t>
            </a:r>
            <a:endParaRPr lang="en-US" sz="1350" dirty="0"/>
          </a:p>
        </p:txBody>
      </p:sp>
      <p:sp>
        <p:nvSpPr>
          <p:cNvPr id="27" name="Text 25"/>
          <p:cNvSpPr/>
          <p:nvPr/>
        </p:nvSpPr>
        <p:spPr>
          <a:xfrm>
            <a:off x="4389120" y="5029200"/>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Marketing that doesn't hear objections keeps producing leads sales can't close.</a:t>
            </a:r>
            <a:endParaRPr lang="en-US" sz="1200" dirty="0"/>
          </a:p>
        </p:txBody>
      </p:sp>
      <p:sp>
        <p:nvSpPr>
          <p:cNvPr id="28" name="Text 26"/>
          <p:cNvSpPr/>
          <p:nvPr/>
        </p:nvSpPr>
        <p:spPr>
          <a:xfrm>
            <a:off x="9857232" y="5029200"/>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Ongoing</a:t>
            </a:r>
            <a:endParaRPr lang="en-US" sz="1150" dirty="0"/>
          </a:p>
        </p:txBody>
      </p:sp>
      <p:sp>
        <p:nvSpPr>
          <p:cNvPr id="29" name="Text 27"/>
          <p:cNvSpPr/>
          <p:nvPr/>
        </p:nvSpPr>
        <p:spPr>
          <a:xfrm>
            <a:off x="640080" y="5760720"/>
            <a:ext cx="10908792" cy="640080"/>
          </a:xfrm>
          <a:prstGeom prst="rect">
            <a:avLst/>
          </a:prstGeom>
          <a:noFill/>
          <a:ln/>
        </p:spPr>
        <p:txBody>
          <a:bodyPr wrap="square" lIns="0" tIns="0" rIns="0" bIns="0" rtlCol="0" anchor="ctr"/>
          <a:lstStyle/>
          <a:p>
            <a:pPr indent="0" marL="0">
              <a:lnSpc>
                <a:spcPts val="2000"/>
              </a:lnSpc>
              <a:buNone/>
            </a:pPr>
            <a:r>
              <a:rPr lang="en-US" sz="1350" i="1" dirty="0">
                <a:solidFill>
                  <a:srgbClr val="1A2332"/>
                </a:solidFill>
                <a:latin typeface="Calibri" pitchFamily="34" charset="0"/>
                <a:ea typeface="Calibri" pitchFamily="34" charset="-122"/>
                <a:cs typeface="Calibri" pitchFamily="34" charset="-120"/>
              </a:rPr>
              <a:t>The hardest one is publishing honest negatives on projects run by developers you've known twenty years. It's also the only reason a buyer would believe anything else on the platform.</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828800"/>
            <a:ext cx="10058400" cy="2743200"/>
          </a:xfrm>
          <a:prstGeom prst="rect">
            <a:avLst/>
          </a:prstGeom>
          <a:noFill/>
          <a:ln/>
        </p:spPr>
        <p:txBody>
          <a:bodyPr wrap="square" lIns="0" tIns="0" rIns="0" bIns="0" rtlCol="0" anchor="ctr"/>
          <a:lstStyle/>
          <a:p>
            <a:pPr indent="0" marL="0">
              <a:lnSpc>
                <a:spcPts val="6200"/>
              </a:lnSpc>
              <a:buNone/>
            </a:pPr>
            <a:r>
              <a:rPr lang="en-US" sz="4600" b="1" dirty="0">
                <a:solidFill>
                  <a:srgbClr val="FFFFFF"/>
                </a:solidFill>
                <a:latin typeface="Cambria" pitchFamily="34" charset="0"/>
                <a:ea typeface="Cambria" pitchFamily="34" charset="-122"/>
                <a:cs typeface="Cambria" pitchFamily="34" charset="-120"/>
              </a:rPr>
              <a:t>Ninety days to exist.</a:t>
            </a:r>
            <a:endParaRPr lang="en-US" sz="4600" dirty="0"/>
          </a:p>
          <a:p>
            <a:pPr indent="0" marL="0">
              <a:lnSpc>
                <a:spcPts val="6200"/>
              </a:lnSpc>
              <a:buNone/>
            </a:pPr>
            <a:r>
              <a:rPr lang="en-US" sz="4600" b="1" dirty="0">
                <a:solidFill>
                  <a:srgbClr val="FFFFFF"/>
                </a:solidFill>
                <a:latin typeface="Cambria" pitchFamily="34" charset="0"/>
                <a:ea typeface="Cambria" pitchFamily="34" charset="-122"/>
                <a:cs typeface="Cambria" pitchFamily="34" charset="-120"/>
              </a:rPr>
              <a:t>A year to be trusted.</a:t>
            </a:r>
            <a:endParaRPr lang="en-US" sz="4600" dirty="0"/>
          </a:p>
          <a:p>
            <a:pPr indent="0" marL="0">
              <a:lnSpc>
                <a:spcPts val="6200"/>
              </a:lnSpc>
              <a:buNone/>
            </a:pPr>
            <a:r>
              <a:rPr lang="en-US" sz="4600" b="1" dirty="0">
                <a:solidFill>
                  <a:srgbClr val="FFFFFF"/>
                </a:solidFill>
                <a:latin typeface="Cambria" pitchFamily="34" charset="0"/>
                <a:ea typeface="Cambria" pitchFamily="34" charset="-122"/>
                <a:cs typeface="Cambria" pitchFamily="34" charset="-120"/>
              </a:rPr>
              <a:t>Ten to be everywhere.</a:t>
            </a:r>
            <a:endParaRPr lang="en-US" sz="4600" dirty="0"/>
          </a:p>
        </p:txBody>
      </p:sp>
      <p:sp>
        <p:nvSpPr>
          <p:cNvPr id="3" name="Text 1"/>
          <p:cNvSpPr/>
          <p:nvPr/>
        </p:nvSpPr>
        <p:spPr>
          <a:xfrm>
            <a:off x="640080" y="5532120"/>
            <a:ext cx="4572000" cy="320040"/>
          </a:xfrm>
          <a:prstGeom prst="rect">
            <a:avLst/>
          </a:prstGeom>
          <a:noFill/>
          <a:ln/>
        </p:spPr>
        <p:txBody>
          <a:bodyPr wrap="square" lIns="0" tIns="0" rIns="0" bIns="0" rtlCol="0" anchor="ctr"/>
          <a:lstStyle/>
          <a:p>
            <a:pPr indent="0" marL="0">
              <a:buNone/>
            </a:pPr>
            <a:r>
              <a:rPr lang="en-US" sz="1200" b="1" spc="300" kern="0" dirty="0">
                <a:solidFill>
                  <a:srgbClr val="E8B04B"/>
                </a:solidFill>
                <a:latin typeface="Calibri" pitchFamily="34" charset="0"/>
                <a:ea typeface="Calibri" pitchFamily="34" charset="-122"/>
                <a:cs typeface="Calibri" pitchFamily="34" charset="-120"/>
              </a:rPr>
              <a:t>PRODUCTION X</a:t>
            </a:r>
            <a:endParaRPr lang="en-US" sz="1200" dirty="0"/>
          </a:p>
        </p:txBody>
      </p:sp>
      <p:sp>
        <p:nvSpPr>
          <p:cNvPr id="4" name="Text 2"/>
          <p:cNvSpPr/>
          <p:nvPr/>
        </p:nvSpPr>
        <p:spPr>
          <a:xfrm>
            <a:off x="640080" y="5870448"/>
            <a:ext cx="10908792" cy="274320"/>
          </a:xfrm>
          <a:prstGeom prst="rect">
            <a:avLst/>
          </a:prstGeom>
          <a:noFill/>
          <a:ln/>
        </p:spPr>
        <p:txBody>
          <a:bodyPr wrap="square" lIns="0" tIns="0" rIns="0" bIns="0" rtlCol="0" anchor="ctr"/>
          <a:lstStyle/>
          <a:p>
            <a:pPr indent="0" marL="0">
              <a:buNone/>
            </a:pPr>
            <a:r>
              <a:rPr lang="en-US" sz="1100" dirty="0">
                <a:solidFill>
                  <a:srgbClr val="676C74"/>
                </a:solidFill>
                <a:latin typeface="Calibri" pitchFamily="34" charset="0"/>
                <a:ea typeface="Calibri" pitchFamily="34" charset="-122"/>
                <a:cs typeface="Calibri" pitchFamily="34" charset="-120"/>
              </a:rPr>
              <a:t>Strategy &amp; launch plan for OTHO Realty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Production 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OTHO</dc:title>
  <dc:subject>PptxGenJS Presentation</dc:subject>
  <dc:creator>Production X</dc:creator>
  <cp:lastModifiedBy>Production X</cp:lastModifiedBy>
  <cp:revision>1</cp:revision>
  <dcterms:created xsi:type="dcterms:W3CDTF">2026-08-17T11:31:57Z</dcterms:created>
  <dcterms:modified xsi:type="dcterms:W3CDTF">2026-08-17T11:31:57Z</dcterms:modified>
</cp:coreProperties>
</file>