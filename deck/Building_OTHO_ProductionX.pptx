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here. This is a strategy deck, not a campaign plan. Say: I looked at where OTHO stands online today, what every competitor gets wrong, and what we build in that gap. We start with Neopolis and the same system carries to every project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agenda quickly, about 30 seconds. The point is to signal this is structured and finite, not a wandering pitch.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strongest opening. Hand them a phone and let them search. The name change from Propertunity cost nothing because there was nothing online to lose. Do not apologise for this slide - it sets up the next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Turn the weakness into the argument. Starting from zero is cheaper than starting from a bad reputation. This is also why the foundation work in the first 30 days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Rupee figures throughout. The proptech market converts from roughly 30 billion dollars at 2026 rates. Pause on the 6,300 versus 11,000 gap - that is the commercial argument for everything that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slide in the deck. The gap is structural, not an oversight. Say the line about the door locked from the inside - it is what makes the opportunity defensible rather than just an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this slowly. It reframes the entire category from a scale competition to a trust competition - which is the only competition OTHO can win from a standing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across the last row deliberately - it is highlighted for a reason. Square Yards built 1,410 crore of revenue and kept 46 crore. Use it to say what OTHO will refuse to do: never compete on listing count or transaction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Founders with big ambitions usually want volume. This slide argues for margin instead, backed by a real company's filings. Expect a question here - the answer is that OTHO earns from mandates and data, not from GMV.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rush the weaknesses. Presenting them honestly to people with twenty years of experience buys more credibility than any strength on the left. The data engineering point is the real risk - flag that we will need a technical hire or partner by month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threats column is where you show you have thought past the pitch. The defamation point matters - honest negatives must be built on cited facts, never opinion. Offer to bring in media counsel before the first negative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strategic conclusion. If they remember one thing from the middle of the deck, it should be that features get copied and the archive of honest reviews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Naming a company they already know does more work than any abstract explanation. Everyone in an Indian boardroom knows CarWale. The point: it won the category without ever winning on listings.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right-hand card is deliberately dark - it is the side OTHO sits on. Land the closing line: every competitor is fighting over half the market and ignoring the other half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positioning line. Say it, then stop talking for a beat. If they repeat it back later in the meeting, the deck has done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demo moment. Walk down the column slowly. Project A looks cheaper on the advertised rate and is actually more expensive per usable foot with less land. No portal in India shows this - it is the whole product in one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feature names where it is borrowed from. That is deliberate - it tells them we are not inventing risk, we are importing proven ideas into a category that lacks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private number promise is the one to emphasise. It costs OTHO nothing and no incumbent can match it without breaking their own revenue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sequencing is the strategy. Slower for six months, much harder to copy afterwards. If they push to start selling immediately, this is the slide to come back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answers what content we actually make. The closing line is your commercial advantage - production in-house is why the budget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channels, each with a job. If asked what we would cut first at a lower budget: cold paid reach goes, organic stays. The response time line at the bottom costs nothing and protects everything spent upstream.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Level 2 as the recommendation but make clear Level 1 is a real option, not a token. Say plainly: Level 3 is gated - we do not scale spend until we know what a booking actually costs. That restraint is what makes the whole budget credible.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caveat at the bottom is deliberate. Do not let them think the full automated platform is included for three lakh. Version one is manual data on a small set of projects, which is the right way to test whether anyone values it before building a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the question they are really asking - how do I know this is working. These KPIs are a decision function, not a report card. Response time is the one to watch weekly because it is free to fix and it protects everything spent upstream.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Volunteer the amber rows before anyone challenges them. Then land the point: Foundation pays for itself at one booking every four months. That is a much easier yes than a forecast they would want to argue with. If they give you the real numbers in the room, redo the arithmetic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Everything before this was strategy; everything after is execution with 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Month one is unglamorous on purpose. Spending before tracking works is how developer marketing budgets disappear without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month they see something real. The website and the first films are the visible proof that the plan is moving.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Month three is where we stop guessing. Say clearly: we will not forecast cost per booking today because we have no baseline. At day 90 you get the real number and we set targets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Months four to twelve. The key transition is that enquiries start arriving free from search and AI - that is when the economics change and paid media becomes optional rather than essential.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NRI line is worth pausing on. The natural first step abroad is not a new market, it is this market from the other side - buyers who cannot inspect anything themselves and need an honest proxy more than anyone.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Raise the honest negatives point yourself rather than letting it surface in month three. If they will not commit to it, the moat disappears and this becomes another portal. Better to know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here and stop. Do not add a summary slide - this line is the summary. Then hand over to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81D"/>
        </a:solidFill>
      </p:bgPr>
    </p:bg>
    <p:spTree>
      <p:nvGrpSpPr>
        <p:cNvPr id="1" name=""/>
        <p:cNvGrpSpPr/>
        <p:nvPr/>
      </p:nvGrpSpPr>
      <p:grpSpPr>
        <a:xfrm>
          <a:off x="0" y="0"/>
          <a:ext cx="0" cy="0"/>
          <a:chOff x="0" y="0"/>
          <a:chExt cx="0" cy="0"/>
        </a:xfrm>
      </p:grpSpPr>
      <p:sp>
        <p:nvSpPr>
          <p:cNvPr id="2" name="Text 0"/>
          <p:cNvSpPr/>
          <p:nvPr/>
        </p:nvSpPr>
        <p:spPr>
          <a:xfrm>
            <a:off x="777240" y="713232"/>
            <a:ext cx="5486400" cy="274320"/>
          </a:xfrm>
          <a:prstGeom prst="rect">
            <a:avLst/>
          </a:prstGeom>
          <a:noFill/>
          <a:ln/>
        </p:spPr>
        <p:txBody>
          <a:bodyPr wrap="square" lIns="0" tIns="0" rIns="0" bIns="0" rtlCol="0" anchor="ctr"/>
          <a:lstStyle/>
          <a:p>
            <a:pPr indent="0" marL="0">
              <a:buNone/>
            </a:pPr>
            <a:r>
              <a:rPr lang="en-US" sz="1150" b="1" spc="340" kern="0" dirty="0">
                <a:solidFill>
                  <a:srgbClr val="D9B061"/>
                </a:solidFill>
                <a:latin typeface="Calibri" pitchFamily="34" charset="0"/>
                <a:ea typeface="Calibri" pitchFamily="34" charset="-122"/>
                <a:cs typeface="Calibri" pitchFamily="34" charset="-120"/>
              </a:rPr>
              <a:t>PRODUCTION X</a:t>
            </a:r>
            <a:endParaRPr lang="en-US" sz="1150" dirty="0"/>
          </a:p>
        </p:txBody>
      </p:sp>
      <p:sp>
        <p:nvSpPr>
          <p:cNvPr id="3" name="Text 1"/>
          <p:cNvSpPr/>
          <p:nvPr/>
        </p:nvSpPr>
        <p:spPr>
          <a:xfrm>
            <a:off x="777240" y="1847088"/>
            <a:ext cx="10241280" cy="1417320"/>
          </a:xfrm>
          <a:prstGeom prst="rect">
            <a:avLst/>
          </a:prstGeom>
          <a:noFill/>
          <a:ln/>
        </p:spPr>
        <p:txBody>
          <a:bodyPr wrap="square" lIns="0" tIns="0" rIns="0" bIns="0" rtlCol="0" anchor="ctr"/>
          <a:lstStyle/>
          <a:p>
            <a:pPr indent="0" marL="0">
              <a:buNone/>
            </a:pPr>
            <a:r>
              <a:rPr lang="en-US" sz="6800" b="1" spc="-140" kern="0" dirty="0">
                <a:solidFill>
                  <a:srgbClr val="FFFFFF"/>
                </a:solidFill>
                <a:latin typeface="Cambria" pitchFamily="34" charset="0"/>
                <a:ea typeface="Cambria" pitchFamily="34" charset="-122"/>
                <a:cs typeface="Cambria" pitchFamily="34" charset="-120"/>
              </a:rPr>
              <a:t>Building OTHO</a:t>
            </a:r>
            <a:endParaRPr lang="en-US" sz="6800" dirty="0"/>
          </a:p>
        </p:txBody>
      </p:sp>
      <p:sp>
        <p:nvSpPr>
          <p:cNvPr id="4" name="Text 2"/>
          <p:cNvSpPr/>
          <p:nvPr/>
        </p:nvSpPr>
        <p:spPr>
          <a:xfrm>
            <a:off x="777240" y="3401568"/>
            <a:ext cx="7315200" cy="914400"/>
          </a:xfrm>
          <a:prstGeom prst="rect">
            <a:avLst/>
          </a:prstGeom>
          <a:noFill/>
          <a:ln/>
        </p:spPr>
        <p:txBody>
          <a:bodyPr wrap="square" lIns="0" tIns="0" rIns="0" bIns="0" rtlCol="0" anchor="ctr"/>
          <a:lstStyle/>
          <a:p>
            <a:pPr indent="0" marL="0">
              <a:lnSpc>
                <a:spcPts val="2700"/>
              </a:lnSpc>
              <a:buNone/>
            </a:pPr>
            <a:r>
              <a:rPr lang="en-US" sz="1750" dirty="0">
                <a:solidFill>
                  <a:srgbClr val="B6BEC7"/>
                </a:solidFill>
                <a:latin typeface="Calibri" pitchFamily="34" charset="0"/>
                <a:ea typeface="Calibri" pitchFamily="34" charset="-122"/>
                <a:cs typeface="Calibri" pitchFamily="34" charset="-120"/>
              </a:rPr>
              <a:t>Where you stand today, what's broken in Indian property platforms, the product we build in that gap, and the first 90 days.</a:t>
            </a:r>
            <a:endParaRPr lang="en-US" sz="1750" dirty="0"/>
          </a:p>
        </p:txBody>
      </p:sp>
      <p:sp>
        <p:nvSpPr>
          <p:cNvPr id="5" name="Text 3"/>
          <p:cNvSpPr/>
          <p:nvPr/>
        </p:nvSpPr>
        <p:spPr>
          <a:xfrm>
            <a:off x="777240" y="4956048"/>
            <a:ext cx="2453564" cy="237744"/>
          </a:xfrm>
          <a:prstGeom prst="rect">
            <a:avLst/>
          </a:prstGeom>
          <a:noFill/>
          <a:ln/>
        </p:spPr>
        <p:txBody>
          <a:bodyPr wrap="square" lIns="0" tIns="0" rIns="0" bIns="0" rtlCol="0" anchor="ctr"/>
          <a:lstStyle/>
          <a:p>
            <a:pPr indent="0" marL="0">
              <a:buNone/>
            </a:pPr>
            <a:r>
              <a:rPr lang="en-US" sz="950" spc="180" kern="0" dirty="0">
                <a:solidFill>
                  <a:srgbClr val="79818A"/>
                </a:solidFill>
                <a:latin typeface="Calibri" pitchFamily="34" charset="0"/>
                <a:ea typeface="Calibri" pitchFamily="34" charset="-122"/>
                <a:cs typeface="Calibri" pitchFamily="34" charset="-120"/>
              </a:rPr>
              <a:t>STARTING</a:t>
            </a:r>
            <a:endParaRPr lang="en-US" sz="950" dirty="0"/>
          </a:p>
        </p:txBody>
      </p:sp>
      <p:sp>
        <p:nvSpPr>
          <p:cNvPr id="6" name="Text 4"/>
          <p:cNvSpPr/>
          <p:nvPr/>
        </p:nvSpPr>
        <p:spPr>
          <a:xfrm>
            <a:off x="777240" y="5230368"/>
            <a:ext cx="2453564" cy="38404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Neopolis, Kokapet</a:t>
            </a:r>
            <a:endParaRPr lang="en-US" sz="1500" dirty="0"/>
          </a:p>
        </p:txBody>
      </p:sp>
      <p:sp>
        <p:nvSpPr>
          <p:cNvPr id="7" name="Text 5"/>
          <p:cNvSpPr/>
          <p:nvPr/>
        </p:nvSpPr>
        <p:spPr>
          <a:xfrm>
            <a:off x="3505124" y="4956048"/>
            <a:ext cx="2453564" cy="237744"/>
          </a:xfrm>
          <a:prstGeom prst="rect">
            <a:avLst/>
          </a:prstGeom>
          <a:noFill/>
          <a:ln/>
        </p:spPr>
        <p:txBody>
          <a:bodyPr wrap="square" lIns="0" tIns="0" rIns="0" bIns="0" rtlCol="0" anchor="ctr"/>
          <a:lstStyle/>
          <a:p>
            <a:pPr indent="0" marL="0">
              <a:buNone/>
            </a:pPr>
            <a:r>
              <a:rPr lang="en-US" sz="950" spc="180" kern="0" dirty="0">
                <a:solidFill>
                  <a:srgbClr val="79818A"/>
                </a:solidFill>
                <a:latin typeface="Calibri" pitchFamily="34" charset="0"/>
                <a:ea typeface="Calibri" pitchFamily="34" charset="-122"/>
                <a:cs typeface="Calibri" pitchFamily="34" charset="-120"/>
              </a:rPr>
              <a:t>FIRST MILESTONE</a:t>
            </a:r>
            <a:endParaRPr lang="en-US" sz="950" dirty="0"/>
          </a:p>
        </p:txBody>
      </p:sp>
      <p:sp>
        <p:nvSpPr>
          <p:cNvPr id="8" name="Text 6"/>
          <p:cNvSpPr/>
          <p:nvPr/>
        </p:nvSpPr>
        <p:spPr>
          <a:xfrm>
            <a:off x="3505124" y="5230368"/>
            <a:ext cx="2453564" cy="38404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90 days</a:t>
            </a:r>
            <a:endParaRPr lang="en-US" sz="1500" dirty="0"/>
          </a:p>
        </p:txBody>
      </p:sp>
      <p:sp>
        <p:nvSpPr>
          <p:cNvPr id="9" name="Text 7"/>
          <p:cNvSpPr/>
          <p:nvPr/>
        </p:nvSpPr>
        <p:spPr>
          <a:xfrm>
            <a:off x="6233008" y="4956048"/>
            <a:ext cx="2453564" cy="237744"/>
          </a:xfrm>
          <a:prstGeom prst="rect">
            <a:avLst/>
          </a:prstGeom>
          <a:noFill/>
          <a:ln/>
        </p:spPr>
        <p:txBody>
          <a:bodyPr wrap="square" lIns="0" tIns="0" rIns="0" bIns="0" rtlCol="0" anchor="ctr"/>
          <a:lstStyle/>
          <a:p>
            <a:pPr indent="0" marL="0">
              <a:buNone/>
            </a:pPr>
            <a:r>
              <a:rPr lang="en-US" sz="950" spc="180" kern="0" dirty="0">
                <a:solidFill>
                  <a:srgbClr val="79818A"/>
                </a:solidFill>
                <a:latin typeface="Calibri" pitchFamily="34" charset="0"/>
                <a:ea typeface="Calibri" pitchFamily="34" charset="-122"/>
                <a:cs typeface="Calibri" pitchFamily="34" charset="-120"/>
              </a:rPr>
              <a:t>THE MODEL</a:t>
            </a:r>
            <a:endParaRPr lang="en-US" sz="950" dirty="0"/>
          </a:p>
        </p:txBody>
      </p:sp>
      <p:sp>
        <p:nvSpPr>
          <p:cNvPr id="10" name="Text 8"/>
          <p:cNvSpPr/>
          <p:nvPr/>
        </p:nvSpPr>
        <p:spPr>
          <a:xfrm>
            <a:off x="6233008" y="5230368"/>
            <a:ext cx="2453564" cy="38404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CarWale, for property</a:t>
            </a:r>
            <a:endParaRPr lang="en-US" sz="1500" dirty="0"/>
          </a:p>
        </p:txBody>
      </p:sp>
      <p:sp>
        <p:nvSpPr>
          <p:cNvPr id="11" name="Text 9"/>
          <p:cNvSpPr/>
          <p:nvPr/>
        </p:nvSpPr>
        <p:spPr>
          <a:xfrm>
            <a:off x="8960891" y="4956048"/>
            <a:ext cx="2453564" cy="237744"/>
          </a:xfrm>
          <a:prstGeom prst="rect">
            <a:avLst/>
          </a:prstGeom>
          <a:noFill/>
          <a:ln/>
        </p:spPr>
        <p:txBody>
          <a:bodyPr wrap="square" lIns="0" tIns="0" rIns="0" bIns="0" rtlCol="0" anchor="ctr"/>
          <a:lstStyle/>
          <a:p>
            <a:pPr indent="0" marL="0">
              <a:buNone/>
            </a:pPr>
            <a:r>
              <a:rPr lang="en-US" sz="950" spc="180" kern="0" dirty="0">
                <a:solidFill>
                  <a:srgbClr val="79818A"/>
                </a:solidFill>
                <a:latin typeface="Calibri" pitchFamily="34" charset="0"/>
                <a:ea typeface="Calibri" pitchFamily="34" charset="-122"/>
                <a:cs typeface="Calibri" pitchFamily="34" charset="-120"/>
              </a:rPr>
              <a:t>HORIZON</a:t>
            </a:r>
            <a:endParaRPr lang="en-US" sz="950" dirty="0"/>
          </a:p>
        </p:txBody>
      </p:sp>
      <p:sp>
        <p:nvSpPr>
          <p:cNvPr id="12" name="Text 10"/>
          <p:cNvSpPr/>
          <p:nvPr/>
        </p:nvSpPr>
        <p:spPr>
          <a:xfrm>
            <a:off x="8960891" y="5230368"/>
            <a:ext cx="2453564" cy="38404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Hyderabad → India → global</a:t>
            </a:r>
            <a:endParaRPr lang="en-US" sz="1500" dirty="0"/>
          </a:p>
        </p:txBody>
      </p:sp>
      <p:sp>
        <p:nvSpPr>
          <p:cNvPr id="13" name="Text 11"/>
          <p:cNvSpPr/>
          <p:nvPr/>
        </p:nvSpPr>
        <p:spPr>
          <a:xfrm>
            <a:off x="777240" y="6053328"/>
            <a:ext cx="10637215" cy="256032"/>
          </a:xfrm>
          <a:prstGeom prst="rect">
            <a:avLst/>
          </a:prstGeom>
          <a:noFill/>
          <a:ln/>
        </p:spPr>
        <p:txBody>
          <a:bodyPr wrap="square" lIns="0" tIns="0" rIns="0" bIns="0" rtlCol="0" anchor="ctr"/>
          <a:lstStyle/>
          <a:p>
            <a:pPr indent="0" marL="0">
              <a:buNone/>
            </a:pPr>
            <a:r>
              <a:rPr lang="en-US" sz="1050" spc="40" kern="0" dirty="0">
                <a:solidFill>
                  <a:srgbClr val="79818A"/>
                </a:solidFill>
                <a:latin typeface="Calibri" pitchFamily="34" charset="0"/>
                <a:ea typeface="Calibri" pitchFamily="34" charset="-122"/>
                <a:cs typeface="Calibri" pitchFamily="34" charset="-120"/>
              </a:rPr>
              <a:t>Strategy &amp; launch plan for OTHO Realty   ·   August 2026</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81D"/>
        </a:solidFill>
      </p:bgPr>
    </p:bg>
    <p:spTree>
      <p:nvGrpSpPr>
        <p:cNvPr id="1" name=""/>
        <p:cNvGrpSpPr/>
        <p:nvPr/>
      </p:nvGrpSpPr>
      <p:grpSpPr>
        <a:xfrm>
          <a:off x="0" y="0"/>
          <a:ext cx="0" cy="0"/>
          <a:chOff x="0" y="0"/>
          <a:chExt cx="0" cy="0"/>
        </a:xfrm>
      </p:grpSpPr>
      <p:sp>
        <p:nvSpPr>
          <p:cNvPr id="2" name="Text 0"/>
          <p:cNvSpPr/>
          <p:nvPr/>
        </p:nvSpPr>
        <p:spPr>
          <a:xfrm>
            <a:off x="777240" y="658368"/>
            <a:ext cx="10637215" cy="731520"/>
          </a:xfrm>
          <a:prstGeom prst="rect">
            <a:avLst/>
          </a:prstGeom>
          <a:noFill/>
          <a:ln/>
        </p:spPr>
        <p:txBody>
          <a:bodyPr wrap="square" lIns="0" tIns="0" rIns="0" bIns="0" rtlCol="0" anchor="ctr"/>
          <a:lstStyle/>
          <a:p>
            <a:pPr indent="0" marL="0">
              <a:buNone/>
            </a:pPr>
            <a:r>
              <a:rPr lang="en-US" sz="4000" b="1" spc="-70" kern="0" dirty="0">
                <a:solidFill>
                  <a:srgbClr val="FFFFFF"/>
                </a:solidFill>
                <a:latin typeface="Cambria" pitchFamily="34" charset="0"/>
                <a:ea typeface="Cambria" pitchFamily="34" charset="-122"/>
                <a:cs typeface="Cambria" pitchFamily="34" charset="-120"/>
              </a:rPr>
              <a:t>What's in this</a:t>
            </a:r>
            <a:endParaRPr lang="en-US" sz="4000" dirty="0"/>
          </a:p>
        </p:txBody>
      </p:sp>
      <p:sp>
        <p:nvSpPr>
          <p:cNvPr id="3" name="Text 1"/>
          <p:cNvSpPr/>
          <p:nvPr/>
        </p:nvSpPr>
        <p:spPr>
          <a:xfrm>
            <a:off x="777240" y="1700784"/>
            <a:ext cx="658368" cy="512064"/>
          </a:xfrm>
          <a:prstGeom prst="rect">
            <a:avLst/>
          </a:prstGeom>
          <a:noFill/>
          <a:ln/>
        </p:spPr>
        <p:txBody>
          <a:bodyPr wrap="square" lIns="0" tIns="0" rIns="0" bIns="0" rtlCol="0" anchor="ctr"/>
          <a:lstStyle/>
          <a:p>
            <a:pPr indent="0" marL="0">
              <a:buNone/>
            </a:pPr>
            <a:r>
              <a:rPr lang="en-US" sz="1700" b="1" dirty="0">
                <a:solidFill>
                  <a:srgbClr val="D9B061"/>
                </a:solidFill>
                <a:latin typeface="Cambria" pitchFamily="34" charset="0"/>
                <a:ea typeface="Cambria" pitchFamily="34" charset="-122"/>
                <a:cs typeface="Cambria" pitchFamily="34" charset="-120"/>
              </a:rPr>
              <a:t>01</a:t>
            </a:r>
            <a:endParaRPr lang="en-US" sz="1700" dirty="0"/>
          </a:p>
        </p:txBody>
      </p:sp>
      <p:sp>
        <p:nvSpPr>
          <p:cNvPr id="4" name="Text 2"/>
          <p:cNvSpPr/>
          <p:nvPr/>
        </p:nvSpPr>
        <p:spPr>
          <a:xfrm>
            <a:off x="1527048" y="1700784"/>
            <a:ext cx="4114800" cy="512064"/>
          </a:xfrm>
          <a:prstGeom prst="rect">
            <a:avLst/>
          </a:prstGeom>
          <a:noFill/>
          <a:ln/>
        </p:spPr>
        <p:txBody>
          <a:bodyPr wrap="square" lIns="0" tIns="0" rIns="0" bIns="0" rtlCol="0" anchor="ctr"/>
          <a:lstStyle/>
          <a:p>
            <a:pPr indent="0" marL="0">
              <a:buNone/>
            </a:pPr>
            <a:r>
              <a:rPr lang="en-US" sz="1650" b="1" dirty="0">
                <a:solidFill>
                  <a:srgbClr val="FFFFFF"/>
                </a:solidFill>
                <a:latin typeface="Cambria" pitchFamily="34" charset="0"/>
                <a:ea typeface="Cambria" pitchFamily="34" charset="-122"/>
                <a:cs typeface="Cambria" pitchFamily="34" charset="-120"/>
              </a:rPr>
              <a:t>Where OTHO stands today</a:t>
            </a:r>
            <a:endParaRPr lang="en-US" sz="1650" dirty="0"/>
          </a:p>
        </p:txBody>
      </p:sp>
      <p:sp>
        <p:nvSpPr>
          <p:cNvPr id="5" name="Text 3"/>
          <p:cNvSpPr/>
          <p:nvPr/>
        </p:nvSpPr>
        <p:spPr>
          <a:xfrm>
            <a:off x="5852160" y="1700784"/>
            <a:ext cx="5562295" cy="512064"/>
          </a:xfrm>
          <a:prstGeom prst="rect">
            <a:avLst/>
          </a:prstGeom>
          <a:noFill/>
          <a:ln/>
        </p:spPr>
        <p:txBody>
          <a:bodyPr wrap="square" lIns="0" tIns="0" rIns="0" bIns="0" rtlCol="0" anchor="ctr"/>
          <a:lstStyle/>
          <a:p>
            <a:pPr indent="0" marL="0">
              <a:buNone/>
            </a:pPr>
            <a:r>
              <a:rPr lang="en-US" sz="1350" dirty="0">
                <a:solidFill>
                  <a:srgbClr val="79818A"/>
                </a:solidFill>
                <a:latin typeface="Calibri" pitchFamily="34" charset="0"/>
                <a:ea typeface="Calibri" pitchFamily="34" charset="-122"/>
                <a:cs typeface="Calibri" pitchFamily="34" charset="-120"/>
              </a:rPr>
              <a:t>The honest audit. Both names, zero footprint.</a:t>
            </a:r>
            <a:endParaRPr lang="en-US" sz="1350" dirty="0"/>
          </a:p>
        </p:txBody>
      </p:sp>
      <p:sp>
        <p:nvSpPr>
          <p:cNvPr id="6" name="Text 4"/>
          <p:cNvSpPr/>
          <p:nvPr/>
        </p:nvSpPr>
        <p:spPr>
          <a:xfrm>
            <a:off x="777240" y="2359152"/>
            <a:ext cx="658368" cy="512064"/>
          </a:xfrm>
          <a:prstGeom prst="rect">
            <a:avLst/>
          </a:prstGeom>
          <a:noFill/>
          <a:ln/>
        </p:spPr>
        <p:txBody>
          <a:bodyPr wrap="square" lIns="0" tIns="0" rIns="0" bIns="0" rtlCol="0" anchor="ctr"/>
          <a:lstStyle/>
          <a:p>
            <a:pPr indent="0" marL="0">
              <a:buNone/>
            </a:pPr>
            <a:r>
              <a:rPr lang="en-US" sz="1700" b="1" dirty="0">
                <a:solidFill>
                  <a:srgbClr val="D9B061"/>
                </a:solidFill>
                <a:latin typeface="Cambria" pitchFamily="34" charset="0"/>
                <a:ea typeface="Cambria" pitchFamily="34" charset="-122"/>
                <a:cs typeface="Cambria" pitchFamily="34" charset="-120"/>
              </a:rPr>
              <a:t>02</a:t>
            </a:r>
            <a:endParaRPr lang="en-US" sz="1700" dirty="0"/>
          </a:p>
        </p:txBody>
      </p:sp>
      <p:sp>
        <p:nvSpPr>
          <p:cNvPr id="7" name="Text 5"/>
          <p:cNvSpPr/>
          <p:nvPr/>
        </p:nvSpPr>
        <p:spPr>
          <a:xfrm>
            <a:off x="1527048" y="2359152"/>
            <a:ext cx="4114800" cy="512064"/>
          </a:xfrm>
          <a:prstGeom prst="rect">
            <a:avLst/>
          </a:prstGeom>
          <a:noFill/>
          <a:ln/>
        </p:spPr>
        <p:txBody>
          <a:bodyPr wrap="square" lIns="0" tIns="0" rIns="0" bIns="0" rtlCol="0" anchor="ctr"/>
          <a:lstStyle/>
          <a:p>
            <a:pPr indent="0" marL="0">
              <a:buNone/>
            </a:pPr>
            <a:r>
              <a:rPr lang="en-US" sz="1650" b="1" dirty="0">
                <a:solidFill>
                  <a:srgbClr val="FFFFFF"/>
                </a:solidFill>
                <a:latin typeface="Cambria" pitchFamily="34" charset="0"/>
                <a:ea typeface="Cambria" pitchFamily="34" charset="-122"/>
                <a:cs typeface="Cambria" pitchFamily="34" charset="-120"/>
              </a:rPr>
              <a:t>The gap in the market</a:t>
            </a:r>
            <a:endParaRPr lang="en-US" sz="1650" dirty="0"/>
          </a:p>
        </p:txBody>
      </p:sp>
      <p:sp>
        <p:nvSpPr>
          <p:cNvPr id="8" name="Text 6"/>
          <p:cNvSpPr/>
          <p:nvPr/>
        </p:nvSpPr>
        <p:spPr>
          <a:xfrm>
            <a:off x="5852160" y="2359152"/>
            <a:ext cx="5562295" cy="512064"/>
          </a:xfrm>
          <a:prstGeom prst="rect">
            <a:avLst/>
          </a:prstGeom>
          <a:noFill/>
          <a:ln/>
        </p:spPr>
        <p:txBody>
          <a:bodyPr wrap="square" lIns="0" tIns="0" rIns="0" bIns="0" rtlCol="0" anchor="ctr"/>
          <a:lstStyle/>
          <a:p>
            <a:pPr indent="0" marL="0">
              <a:buNone/>
            </a:pPr>
            <a:r>
              <a:rPr lang="en-US" sz="1350" dirty="0">
                <a:solidFill>
                  <a:srgbClr val="79818A"/>
                </a:solidFill>
                <a:latin typeface="Calibri" pitchFamily="34" charset="0"/>
                <a:ea typeface="Calibri" pitchFamily="34" charset="-122"/>
                <a:cs typeface="Calibri" pitchFamily="34" charset="-120"/>
              </a:rPr>
              <a:t>Why no existing platform can fix its worst problem.</a:t>
            </a:r>
            <a:endParaRPr lang="en-US" sz="1350" dirty="0"/>
          </a:p>
        </p:txBody>
      </p:sp>
      <p:sp>
        <p:nvSpPr>
          <p:cNvPr id="9" name="Text 7"/>
          <p:cNvSpPr/>
          <p:nvPr/>
        </p:nvSpPr>
        <p:spPr>
          <a:xfrm>
            <a:off x="777240" y="3017520"/>
            <a:ext cx="658368" cy="512064"/>
          </a:xfrm>
          <a:prstGeom prst="rect">
            <a:avLst/>
          </a:prstGeom>
          <a:noFill/>
          <a:ln/>
        </p:spPr>
        <p:txBody>
          <a:bodyPr wrap="square" lIns="0" tIns="0" rIns="0" bIns="0" rtlCol="0" anchor="ctr"/>
          <a:lstStyle/>
          <a:p>
            <a:pPr indent="0" marL="0">
              <a:buNone/>
            </a:pPr>
            <a:r>
              <a:rPr lang="en-US" sz="1700" b="1" dirty="0">
                <a:solidFill>
                  <a:srgbClr val="D9B061"/>
                </a:solidFill>
                <a:latin typeface="Cambria" pitchFamily="34" charset="0"/>
                <a:ea typeface="Cambria" pitchFamily="34" charset="-122"/>
                <a:cs typeface="Cambria" pitchFamily="34" charset="-120"/>
              </a:rPr>
              <a:t>03</a:t>
            </a:r>
            <a:endParaRPr lang="en-US" sz="1700" dirty="0"/>
          </a:p>
        </p:txBody>
      </p:sp>
      <p:sp>
        <p:nvSpPr>
          <p:cNvPr id="10" name="Text 8"/>
          <p:cNvSpPr/>
          <p:nvPr/>
        </p:nvSpPr>
        <p:spPr>
          <a:xfrm>
            <a:off x="1527048" y="3017520"/>
            <a:ext cx="4114800" cy="512064"/>
          </a:xfrm>
          <a:prstGeom prst="rect">
            <a:avLst/>
          </a:prstGeom>
          <a:noFill/>
          <a:ln/>
        </p:spPr>
        <p:txBody>
          <a:bodyPr wrap="square" lIns="0" tIns="0" rIns="0" bIns="0" rtlCol="0" anchor="ctr"/>
          <a:lstStyle/>
          <a:p>
            <a:pPr indent="0" marL="0">
              <a:buNone/>
            </a:pPr>
            <a:r>
              <a:rPr lang="en-US" sz="1650" b="1" dirty="0">
                <a:solidFill>
                  <a:srgbClr val="FFFFFF"/>
                </a:solidFill>
                <a:latin typeface="Cambria" pitchFamily="34" charset="0"/>
                <a:ea typeface="Cambria" pitchFamily="34" charset="-122"/>
                <a:cs typeface="Cambria" pitchFamily="34" charset="-120"/>
              </a:rPr>
              <a:t>SWOT</a:t>
            </a:r>
            <a:endParaRPr lang="en-US" sz="1650" dirty="0"/>
          </a:p>
        </p:txBody>
      </p:sp>
      <p:sp>
        <p:nvSpPr>
          <p:cNvPr id="11" name="Text 9"/>
          <p:cNvSpPr/>
          <p:nvPr/>
        </p:nvSpPr>
        <p:spPr>
          <a:xfrm>
            <a:off x="5852160" y="3017520"/>
            <a:ext cx="5562295" cy="512064"/>
          </a:xfrm>
          <a:prstGeom prst="rect">
            <a:avLst/>
          </a:prstGeom>
          <a:noFill/>
          <a:ln/>
        </p:spPr>
        <p:txBody>
          <a:bodyPr wrap="square" lIns="0" tIns="0" rIns="0" bIns="0" rtlCol="0" anchor="ctr"/>
          <a:lstStyle/>
          <a:p>
            <a:pPr indent="0" marL="0">
              <a:buNone/>
            </a:pPr>
            <a:r>
              <a:rPr lang="en-US" sz="1350" dirty="0">
                <a:solidFill>
                  <a:srgbClr val="79818A"/>
                </a:solidFill>
                <a:latin typeface="Calibri" pitchFamily="34" charset="0"/>
                <a:ea typeface="Calibri" pitchFamily="34" charset="-122"/>
                <a:cs typeface="Calibri" pitchFamily="34" charset="-120"/>
              </a:rPr>
              <a:t>What we have, what we lack, and what could go wrong.</a:t>
            </a:r>
            <a:endParaRPr lang="en-US" sz="1350" dirty="0"/>
          </a:p>
        </p:txBody>
      </p:sp>
      <p:sp>
        <p:nvSpPr>
          <p:cNvPr id="12" name="Text 10"/>
          <p:cNvSpPr/>
          <p:nvPr/>
        </p:nvSpPr>
        <p:spPr>
          <a:xfrm>
            <a:off x="777240" y="3675888"/>
            <a:ext cx="658368" cy="512064"/>
          </a:xfrm>
          <a:prstGeom prst="rect">
            <a:avLst/>
          </a:prstGeom>
          <a:noFill/>
          <a:ln/>
        </p:spPr>
        <p:txBody>
          <a:bodyPr wrap="square" lIns="0" tIns="0" rIns="0" bIns="0" rtlCol="0" anchor="ctr"/>
          <a:lstStyle/>
          <a:p>
            <a:pPr indent="0" marL="0">
              <a:buNone/>
            </a:pPr>
            <a:r>
              <a:rPr lang="en-US" sz="1700" b="1" dirty="0">
                <a:solidFill>
                  <a:srgbClr val="D9B061"/>
                </a:solidFill>
                <a:latin typeface="Cambria" pitchFamily="34" charset="0"/>
                <a:ea typeface="Cambria" pitchFamily="34" charset="-122"/>
                <a:cs typeface="Cambria" pitchFamily="34" charset="-120"/>
              </a:rPr>
              <a:t>04</a:t>
            </a:r>
            <a:endParaRPr lang="en-US" sz="1700" dirty="0"/>
          </a:p>
        </p:txBody>
      </p:sp>
      <p:sp>
        <p:nvSpPr>
          <p:cNvPr id="13" name="Text 11"/>
          <p:cNvSpPr/>
          <p:nvPr/>
        </p:nvSpPr>
        <p:spPr>
          <a:xfrm>
            <a:off x="1527048" y="3675888"/>
            <a:ext cx="4114800" cy="512064"/>
          </a:xfrm>
          <a:prstGeom prst="rect">
            <a:avLst/>
          </a:prstGeom>
          <a:noFill/>
          <a:ln/>
        </p:spPr>
        <p:txBody>
          <a:bodyPr wrap="square" lIns="0" tIns="0" rIns="0" bIns="0" rtlCol="0" anchor="ctr"/>
          <a:lstStyle/>
          <a:p>
            <a:pPr indent="0" marL="0">
              <a:buNone/>
            </a:pPr>
            <a:r>
              <a:rPr lang="en-US" sz="1650" b="1" dirty="0">
                <a:solidFill>
                  <a:srgbClr val="FFFFFF"/>
                </a:solidFill>
                <a:latin typeface="Cambria" pitchFamily="34" charset="0"/>
                <a:ea typeface="Cambria" pitchFamily="34" charset="-122"/>
                <a:cs typeface="Cambria" pitchFamily="34" charset="-120"/>
              </a:rPr>
              <a:t>The model and the platform</a:t>
            </a:r>
            <a:endParaRPr lang="en-US" sz="1650" dirty="0"/>
          </a:p>
        </p:txBody>
      </p:sp>
      <p:sp>
        <p:nvSpPr>
          <p:cNvPr id="14" name="Text 12"/>
          <p:cNvSpPr/>
          <p:nvPr/>
        </p:nvSpPr>
        <p:spPr>
          <a:xfrm>
            <a:off x="5852160" y="3675888"/>
            <a:ext cx="5562295" cy="512064"/>
          </a:xfrm>
          <a:prstGeom prst="rect">
            <a:avLst/>
          </a:prstGeom>
          <a:noFill/>
          <a:ln/>
        </p:spPr>
        <p:txBody>
          <a:bodyPr wrap="square" lIns="0" tIns="0" rIns="0" bIns="0" rtlCol="0" anchor="ctr"/>
          <a:lstStyle/>
          <a:p>
            <a:pPr indent="0" marL="0">
              <a:buNone/>
            </a:pPr>
            <a:r>
              <a:rPr lang="en-US" sz="1350" dirty="0">
                <a:solidFill>
                  <a:srgbClr val="79818A"/>
                </a:solidFill>
                <a:latin typeface="Calibri" pitchFamily="34" charset="0"/>
                <a:ea typeface="Calibri" pitchFamily="34" charset="-122"/>
                <a:cs typeface="Calibri" pitchFamily="34" charset="-120"/>
              </a:rPr>
              <a:t>CarWale for property. What we build, borrowed from whom.</a:t>
            </a:r>
            <a:endParaRPr lang="en-US" sz="1350" dirty="0"/>
          </a:p>
        </p:txBody>
      </p:sp>
      <p:sp>
        <p:nvSpPr>
          <p:cNvPr id="15" name="Text 13"/>
          <p:cNvSpPr/>
          <p:nvPr/>
        </p:nvSpPr>
        <p:spPr>
          <a:xfrm>
            <a:off x="777240" y="4334256"/>
            <a:ext cx="658368" cy="512064"/>
          </a:xfrm>
          <a:prstGeom prst="rect">
            <a:avLst/>
          </a:prstGeom>
          <a:noFill/>
          <a:ln/>
        </p:spPr>
        <p:txBody>
          <a:bodyPr wrap="square" lIns="0" tIns="0" rIns="0" bIns="0" rtlCol="0" anchor="ctr"/>
          <a:lstStyle/>
          <a:p>
            <a:pPr indent="0" marL="0">
              <a:buNone/>
            </a:pPr>
            <a:r>
              <a:rPr lang="en-US" sz="1700" b="1" dirty="0">
                <a:solidFill>
                  <a:srgbClr val="D9B061"/>
                </a:solidFill>
                <a:latin typeface="Cambria" pitchFamily="34" charset="0"/>
                <a:ea typeface="Cambria" pitchFamily="34" charset="-122"/>
                <a:cs typeface="Cambria" pitchFamily="34" charset="-120"/>
              </a:rPr>
              <a:t>05</a:t>
            </a:r>
            <a:endParaRPr lang="en-US" sz="1700" dirty="0"/>
          </a:p>
        </p:txBody>
      </p:sp>
      <p:sp>
        <p:nvSpPr>
          <p:cNvPr id="16" name="Text 14"/>
          <p:cNvSpPr/>
          <p:nvPr/>
        </p:nvSpPr>
        <p:spPr>
          <a:xfrm>
            <a:off x="1527048" y="4334256"/>
            <a:ext cx="4114800" cy="512064"/>
          </a:xfrm>
          <a:prstGeom prst="rect">
            <a:avLst/>
          </a:prstGeom>
          <a:noFill/>
          <a:ln/>
        </p:spPr>
        <p:txBody>
          <a:bodyPr wrap="square" lIns="0" tIns="0" rIns="0" bIns="0" rtlCol="0" anchor="ctr"/>
          <a:lstStyle/>
          <a:p>
            <a:pPr indent="0" marL="0">
              <a:buNone/>
            </a:pPr>
            <a:r>
              <a:rPr lang="en-US" sz="1650" b="1" dirty="0">
                <a:solidFill>
                  <a:srgbClr val="FFFFFF"/>
                </a:solidFill>
                <a:latin typeface="Cambria" pitchFamily="34" charset="0"/>
                <a:ea typeface="Cambria" pitchFamily="34" charset="-122"/>
                <a:cs typeface="Cambria" pitchFamily="34" charset="-120"/>
              </a:rPr>
              <a:t>Budget and what it returns</a:t>
            </a:r>
            <a:endParaRPr lang="en-US" sz="1650" dirty="0"/>
          </a:p>
        </p:txBody>
      </p:sp>
      <p:sp>
        <p:nvSpPr>
          <p:cNvPr id="17" name="Text 15"/>
          <p:cNvSpPr/>
          <p:nvPr/>
        </p:nvSpPr>
        <p:spPr>
          <a:xfrm>
            <a:off x="5852160" y="4334256"/>
            <a:ext cx="5562295" cy="512064"/>
          </a:xfrm>
          <a:prstGeom prst="rect">
            <a:avLst/>
          </a:prstGeom>
          <a:noFill/>
          <a:ln/>
        </p:spPr>
        <p:txBody>
          <a:bodyPr wrap="square" lIns="0" tIns="0" rIns="0" bIns="0" rtlCol="0" anchor="ctr"/>
          <a:lstStyle/>
          <a:p>
            <a:pPr indent="0" marL="0">
              <a:buNone/>
            </a:pPr>
            <a:r>
              <a:rPr lang="en-US" sz="1350" dirty="0">
                <a:solidFill>
                  <a:srgbClr val="79818A"/>
                </a:solidFill>
                <a:latin typeface="Calibri" pitchFamily="34" charset="0"/>
                <a:ea typeface="Calibri" pitchFamily="34" charset="-122"/>
                <a:cs typeface="Calibri" pitchFamily="34" charset="-120"/>
              </a:rPr>
              <a:t>Three levels, and how little has to happen to break even.</a:t>
            </a:r>
            <a:endParaRPr lang="en-US" sz="1350" dirty="0"/>
          </a:p>
        </p:txBody>
      </p:sp>
      <p:sp>
        <p:nvSpPr>
          <p:cNvPr id="18" name="Text 16"/>
          <p:cNvSpPr/>
          <p:nvPr/>
        </p:nvSpPr>
        <p:spPr>
          <a:xfrm>
            <a:off x="777240" y="4992624"/>
            <a:ext cx="658368" cy="512064"/>
          </a:xfrm>
          <a:prstGeom prst="rect">
            <a:avLst/>
          </a:prstGeom>
          <a:noFill/>
          <a:ln/>
        </p:spPr>
        <p:txBody>
          <a:bodyPr wrap="square" lIns="0" tIns="0" rIns="0" bIns="0" rtlCol="0" anchor="ctr"/>
          <a:lstStyle/>
          <a:p>
            <a:pPr indent="0" marL="0">
              <a:buNone/>
            </a:pPr>
            <a:r>
              <a:rPr lang="en-US" sz="1700" b="1" dirty="0">
                <a:solidFill>
                  <a:srgbClr val="D9B061"/>
                </a:solidFill>
                <a:latin typeface="Cambria" pitchFamily="34" charset="0"/>
                <a:ea typeface="Cambria" pitchFamily="34" charset="-122"/>
                <a:cs typeface="Cambria" pitchFamily="34" charset="-120"/>
              </a:rPr>
              <a:t>06</a:t>
            </a:r>
            <a:endParaRPr lang="en-US" sz="1700" dirty="0"/>
          </a:p>
        </p:txBody>
      </p:sp>
      <p:sp>
        <p:nvSpPr>
          <p:cNvPr id="19" name="Text 17"/>
          <p:cNvSpPr/>
          <p:nvPr/>
        </p:nvSpPr>
        <p:spPr>
          <a:xfrm>
            <a:off x="1527048" y="4992624"/>
            <a:ext cx="4114800" cy="512064"/>
          </a:xfrm>
          <a:prstGeom prst="rect">
            <a:avLst/>
          </a:prstGeom>
          <a:noFill/>
          <a:ln/>
        </p:spPr>
        <p:txBody>
          <a:bodyPr wrap="square" lIns="0" tIns="0" rIns="0" bIns="0" rtlCol="0" anchor="ctr"/>
          <a:lstStyle/>
          <a:p>
            <a:pPr indent="0" marL="0">
              <a:buNone/>
            </a:pPr>
            <a:r>
              <a:rPr lang="en-US" sz="1650" b="1" dirty="0">
                <a:solidFill>
                  <a:srgbClr val="FFFFFF"/>
                </a:solidFill>
                <a:latin typeface="Cambria" pitchFamily="34" charset="0"/>
                <a:ea typeface="Cambria" pitchFamily="34" charset="-122"/>
                <a:cs typeface="Cambria" pitchFamily="34" charset="-120"/>
              </a:rPr>
              <a:t>The first 90 days</a:t>
            </a:r>
            <a:endParaRPr lang="en-US" sz="1650" dirty="0"/>
          </a:p>
        </p:txBody>
      </p:sp>
      <p:sp>
        <p:nvSpPr>
          <p:cNvPr id="20" name="Text 18"/>
          <p:cNvSpPr/>
          <p:nvPr/>
        </p:nvSpPr>
        <p:spPr>
          <a:xfrm>
            <a:off x="5852160" y="4992624"/>
            <a:ext cx="5562295" cy="512064"/>
          </a:xfrm>
          <a:prstGeom prst="rect">
            <a:avLst/>
          </a:prstGeom>
          <a:noFill/>
          <a:ln/>
        </p:spPr>
        <p:txBody>
          <a:bodyPr wrap="square" lIns="0" tIns="0" rIns="0" bIns="0" rtlCol="0" anchor="ctr"/>
          <a:lstStyle/>
          <a:p>
            <a:pPr indent="0" marL="0">
              <a:buNone/>
            </a:pPr>
            <a:r>
              <a:rPr lang="en-US" sz="1350" dirty="0">
                <a:solidFill>
                  <a:srgbClr val="79818A"/>
                </a:solidFill>
                <a:latin typeface="Calibri" pitchFamily="34" charset="0"/>
                <a:ea typeface="Calibri" pitchFamily="34" charset="-122"/>
                <a:cs typeface="Calibri" pitchFamily="34" charset="-120"/>
              </a:rPr>
              <a:t>Week by week, with something finished each month.</a:t>
            </a:r>
            <a:endParaRPr lang="en-US" sz="1350" dirty="0"/>
          </a:p>
        </p:txBody>
      </p:sp>
      <p:sp>
        <p:nvSpPr>
          <p:cNvPr id="21" name="Text 19"/>
          <p:cNvSpPr/>
          <p:nvPr/>
        </p:nvSpPr>
        <p:spPr>
          <a:xfrm>
            <a:off x="777240" y="5650992"/>
            <a:ext cx="658368" cy="512064"/>
          </a:xfrm>
          <a:prstGeom prst="rect">
            <a:avLst/>
          </a:prstGeom>
          <a:noFill/>
          <a:ln/>
        </p:spPr>
        <p:txBody>
          <a:bodyPr wrap="square" lIns="0" tIns="0" rIns="0" bIns="0" rtlCol="0" anchor="ctr"/>
          <a:lstStyle/>
          <a:p>
            <a:pPr indent="0" marL="0">
              <a:buNone/>
            </a:pPr>
            <a:r>
              <a:rPr lang="en-US" sz="1700" b="1" dirty="0">
                <a:solidFill>
                  <a:srgbClr val="D9B061"/>
                </a:solidFill>
                <a:latin typeface="Cambria" pitchFamily="34" charset="0"/>
                <a:ea typeface="Cambria" pitchFamily="34" charset="-122"/>
                <a:cs typeface="Cambria" pitchFamily="34" charset="-120"/>
              </a:rPr>
              <a:t>07</a:t>
            </a:r>
            <a:endParaRPr lang="en-US" sz="1700" dirty="0"/>
          </a:p>
        </p:txBody>
      </p:sp>
      <p:sp>
        <p:nvSpPr>
          <p:cNvPr id="22" name="Text 20"/>
          <p:cNvSpPr/>
          <p:nvPr/>
        </p:nvSpPr>
        <p:spPr>
          <a:xfrm>
            <a:off x="1527048" y="5650992"/>
            <a:ext cx="4114800" cy="512064"/>
          </a:xfrm>
          <a:prstGeom prst="rect">
            <a:avLst/>
          </a:prstGeom>
          <a:noFill/>
          <a:ln/>
        </p:spPr>
        <p:txBody>
          <a:bodyPr wrap="square" lIns="0" tIns="0" rIns="0" bIns="0" rtlCol="0" anchor="ctr"/>
          <a:lstStyle/>
          <a:p>
            <a:pPr indent="0" marL="0">
              <a:buNone/>
            </a:pPr>
            <a:r>
              <a:rPr lang="en-US" sz="1650" b="1" dirty="0">
                <a:solidFill>
                  <a:srgbClr val="FFFFFF"/>
                </a:solidFill>
                <a:latin typeface="Cambria" pitchFamily="34" charset="0"/>
                <a:ea typeface="Cambria" pitchFamily="34" charset="-122"/>
                <a:cs typeface="Cambria" pitchFamily="34" charset="-120"/>
              </a:rPr>
              <a:t>Ten years</a:t>
            </a:r>
            <a:endParaRPr lang="en-US" sz="1650" dirty="0"/>
          </a:p>
        </p:txBody>
      </p:sp>
      <p:sp>
        <p:nvSpPr>
          <p:cNvPr id="23" name="Text 21"/>
          <p:cNvSpPr/>
          <p:nvPr/>
        </p:nvSpPr>
        <p:spPr>
          <a:xfrm>
            <a:off x="5852160" y="5650992"/>
            <a:ext cx="5562295" cy="512064"/>
          </a:xfrm>
          <a:prstGeom prst="rect">
            <a:avLst/>
          </a:prstGeom>
          <a:noFill/>
          <a:ln/>
        </p:spPr>
        <p:txBody>
          <a:bodyPr wrap="square" lIns="0" tIns="0" rIns="0" bIns="0" rtlCol="0" anchor="ctr"/>
          <a:lstStyle/>
          <a:p>
            <a:pPr indent="0" marL="0">
              <a:buNone/>
            </a:pPr>
            <a:r>
              <a:rPr lang="en-US" sz="1350" dirty="0">
                <a:solidFill>
                  <a:srgbClr val="79818A"/>
                </a:solidFill>
                <a:latin typeface="Calibri" pitchFamily="34" charset="0"/>
                <a:ea typeface="Calibri" pitchFamily="34" charset="-122"/>
                <a:cs typeface="Calibri" pitchFamily="34" charset="-120"/>
              </a:rPr>
              <a:t>Hyderabad to India to global, as a sequence.</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777240" y="530352"/>
            <a:ext cx="10637215" cy="219456"/>
          </a:xfrm>
          <a:prstGeom prst="rect">
            <a:avLst/>
          </a:prstGeom>
          <a:noFill/>
          <a:ln/>
        </p:spPr>
        <p:txBody>
          <a:bodyPr wrap="square" lIns="0" tIns="0" rIns="0" bIns="0" rtlCol="0" anchor="ctr"/>
          <a:lstStyle/>
          <a:p>
            <a:pPr indent="0" marL="0">
              <a:buNone/>
            </a:pPr>
            <a:r>
              <a:rPr lang="en-US" sz="1100" b="1" spc="260" kern="0" dirty="0">
                <a:solidFill>
                  <a:srgbClr val="9A7A25"/>
                </a:solidFill>
                <a:latin typeface="Calibri" pitchFamily="34" charset="0"/>
                <a:ea typeface="Calibri" pitchFamily="34" charset="-122"/>
                <a:cs typeface="Calibri" pitchFamily="34" charset="-120"/>
              </a:rPr>
              <a:t>01</a:t>
            </a:r>
            <a:endParaRPr lang="en-US" sz="1100" dirty="0"/>
          </a:p>
        </p:txBody>
      </p:sp>
      <p:sp>
        <p:nvSpPr>
          <p:cNvPr id="3" name="Text 1"/>
          <p:cNvSpPr/>
          <p:nvPr/>
        </p:nvSpPr>
        <p:spPr>
          <a:xfrm>
            <a:off x="777240" y="768096"/>
            <a:ext cx="10637215" cy="603504"/>
          </a:xfrm>
          <a:prstGeom prst="rect">
            <a:avLst/>
          </a:prstGeom>
          <a:noFill/>
          <a:ln/>
        </p:spPr>
        <p:txBody>
          <a:bodyPr wrap="square" lIns="0" tIns="0" rIns="0" bIns="0" rtlCol="0" anchor="ctr"/>
          <a:lstStyle/>
          <a:p>
            <a:pPr indent="0" marL="0">
              <a:buNone/>
            </a:pPr>
            <a:r>
              <a:rPr lang="en-US" sz="3800" b="1" spc="-60" kern="0" dirty="0">
                <a:solidFill>
                  <a:srgbClr val="14181D"/>
                </a:solidFill>
                <a:latin typeface="Cambria" pitchFamily="34" charset="0"/>
                <a:ea typeface="Cambria" pitchFamily="34" charset="-122"/>
                <a:cs typeface="Cambria" pitchFamily="34" charset="-120"/>
              </a:rPr>
              <a:t>What I found</a:t>
            </a:r>
            <a:endParaRPr lang="en-US" sz="3800" dirty="0"/>
          </a:p>
        </p:txBody>
      </p:sp>
      <p:sp>
        <p:nvSpPr>
          <p:cNvPr id="4" name="Text 2"/>
          <p:cNvSpPr/>
          <p:nvPr/>
        </p:nvSpPr>
        <p:spPr>
          <a:xfrm>
            <a:off x="777240" y="1463040"/>
            <a:ext cx="9539935" cy="457200"/>
          </a:xfrm>
          <a:prstGeom prst="rect">
            <a:avLst/>
          </a:prstGeom>
          <a:noFill/>
          <a:ln/>
        </p:spPr>
        <p:txBody>
          <a:bodyPr wrap="square" lIns="0" tIns="0" rIns="0" bIns="0" rtlCol="0" anchor="t"/>
          <a:lstStyle/>
          <a:p>
            <a:pPr indent="0" marL="0">
              <a:lnSpc>
                <a:spcPts val="2200"/>
              </a:lnSpc>
              <a:buNone/>
            </a:pPr>
            <a:r>
              <a:rPr lang="en-US" sz="1550" dirty="0">
                <a:solidFill>
                  <a:srgbClr val="555C64"/>
                </a:solidFill>
                <a:latin typeface="Calibri" pitchFamily="34" charset="0"/>
                <a:ea typeface="Calibri" pitchFamily="34" charset="-122"/>
                <a:cs typeface="Calibri" pitchFamily="34" charset="-120"/>
              </a:rPr>
              <a:t>I searched for OTHO Realty the way a buyer would. Then I searched for Propertunity.</a:t>
            </a:r>
            <a:endParaRPr lang="en-US" sz="1550" dirty="0"/>
          </a:p>
        </p:txBody>
      </p:sp>
      <p:sp>
        <p:nvSpPr>
          <p:cNvPr id="5" name="Shape 3"/>
          <p:cNvSpPr/>
          <p:nvPr/>
        </p:nvSpPr>
        <p:spPr>
          <a:xfrm>
            <a:off x="777240" y="2066544"/>
            <a:ext cx="10637215" cy="530352"/>
          </a:xfrm>
          <a:prstGeom prst="rect">
            <a:avLst/>
          </a:prstGeom>
          <a:solidFill>
            <a:srgbClr val="FFFFFF"/>
          </a:solidFill>
          <a:ln/>
        </p:spPr>
      </p:sp>
      <p:sp>
        <p:nvSpPr>
          <p:cNvPr id="6" name="Text 4"/>
          <p:cNvSpPr/>
          <p:nvPr/>
        </p:nvSpPr>
        <p:spPr>
          <a:xfrm>
            <a:off x="1014984" y="2066544"/>
            <a:ext cx="3200400" cy="530352"/>
          </a:xfrm>
          <a:prstGeom prst="rect">
            <a:avLst/>
          </a:prstGeom>
          <a:noFill/>
          <a:ln/>
        </p:spPr>
        <p:txBody>
          <a:bodyPr wrap="square" lIns="0" tIns="0" rIns="0" bIns="0" rtlCol="0" anchor="ctr"/>
          <a:lstStyle/>
          <a:p>
            <a:pPr indent="0" marL="0">
              <a:buNone/>
            </a:pPr>
            <a:r>
              <a:rPr lang="en-US" sz="1350" b="1" dirty="0">
                <a:solidFill>
                  <a:srgbClr val="14181D"/>
                </a:solidFill>
                <a:latin typeface="Cambria" pitchFamily="34" charset="0"/>
                <a:ea typeface="Cambria" pitchFamily="34" charset="-122"/>
                <a:cs typeface="Cambria" pitchFamily="34" charset="-120"/>
              </a:rPr>
              <a:t>"OTHO Realty" on Google</a:t>
            </a:r>
            <a:endParaRPr lang="en-US" sz="1350" dirty="0"/>
          </a:p>
        </p:txBody>
      </p:sp>
      <p:sp>
        <p:nvSpPr>
          <p:cNvPr id="7" name="Text 5"/>
          <p:cNvSpPr/>
          <p:nvPr/>
        </p:nvSpPr>
        <p:spPr>
          <a:xfrm>
            <a:off x="4343400" y="2066544"/>
            <a:ext cx="5425135" cy="530352"/>
          </a:xfrm>
          <a:prstGeom prst="rect">
            <a:avLst/>
          </a:prstGeom>
          <a:noFill/>
          <a:ln/>
        </p:spPr>
        <p:txBody>
          <a:bodyPr wrap="square" lIns="0" tIns="0" rIns="0" bIns="0" rtlCol="0" anchor="ctr"/>
          <a:lstStyle/>
          <a:p>
            <a:pPr indent="0" marL="0">
              <a:buNone/>
            </a:pPr>
            <a:r>
              <a:rPr lang="en-US" sz="1250" dirty="0">
                <a:solidFill>
                  <a:srgbClr val="555C64"/>
                </a:solidFill>
                <a:latin typeface="Calibri" pitchFamily="34" charset="0"/>
                <a:ea typeface="Calibri" pitchFamily="34" charset="-122"/>
                <a:cs typeface="Calibri" pitchFamily="34" charset="-120"/>
              </a:rPr>
              <a:t>Returns Square Yards, 99acres, NoBroker. Nothing about you.</a:t>
            </a:r>
            <a:endParaRPr lang="en-US" sz="1250" dirty="0"/>
          </a:p>
        </p:txBody>
      </p:sp>
      <p:sp>
        <p:nvSpPr>
          <p:cNvPr id="8" name="Shape 6"/>
          <p:cNvSpPr/>
          <p:nvPr/>
        </p:nvSpPr>
        <p:spPr>
          <a:xfrm>
            <a:off x="9933127" y="2203704"/>
            <a:ext cx="1243584" cy="256032"/>
          </a:xfrm>
          <a:prstGeom prst="rect">
            <a:avLst/>
          </a:prstGeom>
          <a:solidFill>
            <a:srgbClr val="F8E9E7"/>
          </a:solidFill>
          <a:ln/>
        </p:spPr>
      </p:sp>
      <p:sp>
        <p:nvSpPr>
          <p:cNvPr id="9" name="Text 7"/>
          <p:cNvSpPr/>
          <p:nvPr/>
        </p:nvSpPr>
        <p:spPr>
          <a:xfrm>
            <a:off x="9933127" y="2203704"/>
            <a:ext cx="1243584" cy="256032"/>
          </a:xfrm>
          <a:prstGeom prst="rect">
            <a:avLst/>
          </a:prstGeom>
          <a:noFill/>
          <a:ln/>
        </p:spPr>
        <p:txBody>
          <a:bodyPr wrap="square" lIns="0" tIns="0" rIns="0" bIns="0" rtlCol="0" anchor="ctr"/>
          <a:lstStyle/>
          <a:p>
            <a:pPr algn="ctr" indent="0" marL="0">
              <a:buNone/>
            </a:pPr>
            <a:r>
              <a:rPr lang="en-US" sz="900" b="1" spc="100" kern="0" dirty="0">
                <a:solidFill>
                  <a:srgbClr val="A8382C"/>
                </a:solidFill>
                <a:latin typeface="Calibri" pitchFamily="34" charset="0"/>
                <a:ea typeface="Calibri" pitchFamily="34" charset="-122"/>
                <a:cs typeface="Calibri" pitchFamily="34" charset="-120"/>
              </a:rPr>
              <a:t>NOTHING</a:t>
            </a:r>
            <a:endParaRPr lang="en-US" sz="900" dirty="0"/>
          </a:p>
        </p:txBody>
      </p:sp>
      <p:sp>
        <p:nvSpPr>
          <p:cNvPr id="10" name="Shape 8"/>
          <p:cNvSpPr/>
          <p:nvPr/>
        </p:nvSpPr>
        <p:spPr>
          <a:xfrm>
            <a:off x="777240" y="2651760"/>
            <a:ext cx="10637215" cy="530352"/>
          </a:xfrm>
          <a:prstGeom prst="rect">
            <a:avLst/>
          </a:prstGeom>
          <a:solidFill>
            <a:srgbClr val="FFFFFF"/>
          </a:solidFill>
          <a:ln/>
        </p:spPr>
      </p:sp>
      <p:sp>
        <p:nvSpPr>
          <p:cNvPr id="11" name="Text 9"/>
          <p:cNvSpPr/>
          <p:nvPr/>
        </p:nvSpPr>
        <p:spPr>
          <a:xfrm>
            <a:off x="1014984" y="2651760"/>
            <a:ext cx="3200400" cy="530352"/>
          </a:xfrm>
          <a:prstGeom prst="rect">
            <a:avLst/>
          </a:prstGeom>
          <a:noFill/>
          <a:ln/>
        </p:spPr>
        <p:txBody>
          <a:bodyPr wrap="square" lIns="0" tIns="0" rIns="0" bIns="0" rtlCol="0" anchor="ctr"/>
          <a:lstStyle/>
          <a:p>
            <a:pPr indent="0" marL="0">
              <a:buNone/>
            </a:pPr>
            <a:r>
              <a:rPr lang="en-US" sz="1350" b="1" dirty="0">
                <a:solidFill>
                  <a:srgbClr val="14181D"/>
                </a:solidFill>
                <a:latin typeface="Cambria" pitchFamily="34" charset="0"/>
                <a:ea typeface="Cambria" pitchFamily="34" charset="-122"/>
                <a:cs typeface="Cambria" pitchFamily="34" charset="-120"/>
              </a:rPr>
              <a:t>"Propertunity" Hyderabad</a:t>
            </a:r>
            <a:endParaRPr lang="en-US" sz="1350" dirty="0"/>
          </a:p>
        </p:txBody>
      </p:sp>
      <p:sp>
        <p:nvSpPr>
          <p:cNvPr id="12" name="Text 10"/>
          <p:cNvSpPr/>
          <p:nvPr/>
        </p:nvSpPr>
        <p:spPr>
          <a:xfrm>
            <a:off x="4343400" y="2651760"/>
            <a:ext cx="5425135" cy="530352"/>
          </a:xfrm>
          <a:prstGeom prst="rect">
            <a:avLst/>
          </a:prstGeom>
          <a:noFill/>
          <a:ln/>
        </p:spPr>
        <p:txBody>
          <a:bodyPr wrap="square" lIns="0" tIns="0" rIns="0" bIns="0" rtlCol="0" anchor="ctr"/>
          <a:lstStyle/>
          <a:p>
            <a:pPr indent="0" marL="0">
              <a:buNone/>
            </a:pPr>
            <a:r>
              <a:rPr lang="en-US" sz="1250" dirty="0">
                <a:solidFill>
                  <a:srgbClr val="555C64"/>
                </a:solidFill>
                <a:latin typeface="Calibri" pitchFamily="34" charset="0"/>
                <a:ea typeface="Calibri" pitchFamily="34" charset="-122"/>
                <a:cs typeface="Calibri" pitchFamily="34" charset="-120"/>
              </a:rPr>
              <a:t>Returns firms in Florida, the UK and Australia. Not you.</a:t>
            </a:r>
            <a:endParaRPr lang="en-US" sz="1250" dirty="0"/>
          </a:p>
        </p:txBody>
      </p:sp>
      <p:sp>
        <p:nvSpPr>
          <p:cNvPr id="13" name="Shape 11"/>
          <p:cNvSpPr/>
          <p:nvPr/>
        </p:nvSpPr>
        <p:spPr>
          <a:xfrm>
            <a:off x="9933127" y="2788920"/>
            <a:ext cx="1243584" cy="256032"/>
          </a:xfrm>
          <a:prstGeom prst="rect">
            <a:avLst/>
          </a:prstGeom>
          <a:solidFill>
            <a:srgbClr val="F8E9E7"/>
          </a:solidFill>
          <a:ln/>
        </p:spPr>
      </p:sp>
      <p:sp>
        <p:nvSpPr>
          <p:cNvPr id="14" name="Text 12"/>
          <p:cNvSpPr/>
          <p:nvPr/>
        </p:nvSpPr>
        <p:spPr>
          <a:xfrm>
            <a:off x="9933127" y="2788920"/>
            <a:ext cx="1243584" cy="256032"/>
          </a:xfrm>
          <a:prstGeom prst="rect">
            <a:avLst/>
          </a:prstGeom>
          <a:noFill/>
          <a:ln/>
        </p:spPr>
        <p:txBody>
          <a:bodyPr wrap="square" lIns="0" tIns="0" rIns="0" bIns="0" rtlCol="0" anchor="ctr"/>
          <a:lstStyle/>
          <a:p>
            <a:pPr algn="ctr" indent="0" marL="0">
              <a:buNone/>
            </a:pPr>
            <a:r>
              <a:rPr lang="en-US" sz="900" b="1" spc="100" kern="0" dirty="0">
                <a:solidFill>
                  <a:srgbClr val="A8382C"/>
                </a:solidFill>
                <a:latin typeface="Calibri" pitchFamily="34" charset="0"/>
                <a:ea typeface="Calibri" pitchFamily="34" charset="-122"/>
                <a:cs typeface="Calibri" pitchFamily="34" charset="-120"/>
              </a:rPr>
              <a:t>NOTHING</a:t>
            </a:r>
            <a:endParaRPr lang="en-US" sz="900" dirty="0"/>
          </a:p>
        </p:txBody>
      </p:sp>
      <p:sp>
        <p:nvSpPr>
          <p:cNvPr id="15" name="Shape 13"/>
          <p:cNvSpPr/>
          <p:nvPr/>
        </p:nvSpPr>
        <p:spPr>
          <a:xfrm>
            <a:off x="777240" y="3236976"/>
            <a:ext cx="10637215" cy="530352"/>
          </a:xfrm>
          <a:prstGeom prst="rect">
            <a:avLst/>
          </a:prstGeom>
          <a:solidFill>
            <a:srgbClr val="FFFFFF"/>
          </a:solidFill>
          <a:ln/>
        </p:spPr>
      </p:sp>
      <p:sp>
        <p:nvSpPr>
          <p:cNvPr id="16" name="Text 14"/>
          <p:cNvSpPr/>
          <p:nvPr/>
        </p:nvSpPr>
        <p:spPr>
          <a:xfrm>
            <a:off x="1014984" y="3236976"/>
            <a:ext cx="3200400" cy="530352"/>
          </a:xfrm>
          <a:prstGeom prst="rect">
            <a:avLst/>
          </a:prstGeom>
          <a:noFill/>
          <a:ln/>
        </p:spPr>
        <p:txBody>
          <a:bodyPr wrap="square" lIns="0" tIns="0" rIns="0" bIns="0" rtlCol="0" anchor="ctr"/>
          <a:lstStyle/>
          <a:p>
            <a:pPr indent="0" marL="0">
              <a:buNone/>
            </a:pPr>
            <a:r>
              <a:rPr lang="en-US" sz="1350" b="1" dirty="0">
                <a:solidFill>
                  <a:srgbClr val="14181D"/>
                </a:solidFill>
                <a:latin typeface="Cambria" pitchFamily="34" charset="0"/>
                <a:ea typeface="Cambria" pitchFamily="34" charset="-122"/>
                <a:cs typeface="Cambria" pitchFamily="34" charset="-120"/>
              </a:rPr>
              <a:t>Website</a:t>
            </a:r>
            <a:endParaRPr lang="en-US" sz="1350" dirty="0"/>
          </a:p>
        </p:txBody>
      </p:sp>
      <p:sp>
        <p:nvSpPr>
          <p:cNvPr id="17" name="Text 15"/>
          <p:cNvSpPr/>
          <p:nvPr/>
        </p:nvSpPr>
        <p:spPr>
          <a:xfrm>
            <a:off x="4343400" y="3236976"/>
            <a:ext cx="5425135" cy="530352"/>
          </a:xfrm>
          <a:prstGeom prst="rect">
            <a:avLst/>
          </a:prstGeom>
          <a:noFill/>
          <a:ln/>
        </p:spPr>
        <p:txBody>
          <a:bodyPr wrap="square" lIns="0" tIns="0" rIns="0" bIns="0" rtlCol="0" anchor="ctr"/>
          <a:lstStyle/>
          <a:p>
            <a:pPr indent="0" marL="0">
              <a:buNone/>
            </a:pPr>
            <a:r>
              <a:rPr lang="en-US" sz="1250" dirty="0">
                <a:solidFill>
                  <a:srgbClr val="555C64"/>
                </a:solidFill>
                <a:latin typeface="Calibri" pitchFamily="34" charset="0"/>
                <a:ea typeface="Calibri" pitchFamily="34" charset="-122"/>
                <a:cs typeface="Calibri" pitchFamily="34" charset="-120"/>
              </a:rPr>
              <a:t>None found under either name</a:t>
            </a:r>
            <a:endParaRPr lang="en-US" sz="1250" dirty="0"/>
          </a:p>
        </p:txBody>
      </p:sp>
      <p:sp>
        <p:nvSpPr>
          <p:cNvPr id="18" name="Shape 16"/>
          <p:cNvSpPr/>
          <p:nvPr/>
        </p:nvSpPr>
        <p:spPr>
          <a:xfrm>
            <a:off x="9933127" y="3374136"/>
            <a:ext cx="1243584" cy="256032"/>
          </a:xfrm>
          <a:prstGeom prst="rect">
            <a:avLst/>
          </a:prstGeom>
          <a:solidFill>
            <a:srgbClr val="F8E9E7"/>
          </a:solidFill>
          <a:ln/>
        </p:spPr>
      </p:sp>
      <p:sp>
        <p:nvSpPr>
          <p:cNvPr id="19" name="Text 17"/>
          <p:cNvSpPr/>
          <p:nvPr/>
        </p:nvSpPr>
        <p:spPr>
          <a:xfrm>
            <a:off x="9933127" y="3374136"/>
            <a:ext cx="1243584" cy="256032"/>
          </a:xfrm>
          <a:prstGeom prst="rect">
            <a:avLst/>
          </a:prstGeom>
          <a:noFill/>
          <a:ln/>
        </p:spPr>
        <p:txBody>
          <a:bodyPr wrap="square" lIns="0" tIns="0" rIns="0" bIns="0" rtlCol="0" anchor="ctr"/>
          <a:lstStyle/>
          <a:p>
            <a:pPr algn="ctr" indent="0" marL="0">
              <a:buNone/>
            </a:pPr>
            <a:r>
              <a:rPr lang="en-US" sz="900" b="1" spc="100" kern="0" dirty="0">
                <a:solidFill>
                  <a:srgbClr val="A8382C"/>
                </a:solidFill>
                <a:latin typeface="Calibri" pitchFamily="34" charset="0"/>
                <a:ea typeface="Calibri" pitchFamily="34" charset="-122"/>
                <a:cs typeface="Calibri" pitchFamily="34" charset="-120"/>
              </a:rPr>
              <a:t>NOTHING</a:t>
            </a:r>
            <a:endParaRPr lang="en-US" sz="900" dirty="0"/>
          </a:p>
        </p:txBody>
      </p:sp>
      <p:sp>
        <p:nvSpPr>
          <p:cNvPr id="20" name="Shape 18"/>
          <p:cNvSpPr/>
          <p:nvPr/>
        </p:nvSpPr>
        <p:spPr>
          <a:xfrm>
            <a:off x="777240" y="3822192"/>
            <a:ext cx="10637215" cy="530352"/>
          </a:xfrm>
          <a:prstGeom prst="rect">
            <a:avLst/>
          </a:prstGeom>
          <a:solidFill>
            <a:srgbClr val="FFFFFF"/>
          </a:solidFill>
          <a:ln/>
        </p:spPr>
      </p:sp>
      <p:sp>
        <p:nvSpPr>
          <p:cNvPr id="21" name="Text 19"/>
          <p:cNvSpPr/>
          <p:nvPr/>
        </p:nvSpPr>
        <p:spPr>
          <a:xfrm>
            <a:off x="1014984" y="3822192"/>
            <a:ext cx="3200400" cy="530352"/>
          </a:xfrm>
          <a:prstGeom prst="rect">
            <a:avLst/>
          </a:prstGeom>
          <a:noFill/>
          <a:ln/>
        </p:spPr>
        <p:txBody>
          <a:bodyPr wrap="square" lIns="0" tIns="0" rIns="0" bIns="0" rtlCol="0" anchor="ctr"/>
          <a:lstStyle/>
          <a:p>
            <a:pPr indent="0" marL="0">
              <a:buNone/>
            </a:pPr>
            <a:r>
              <a:rPr lang="en-US" sz="1350" b="1" dirty="0">
                <a:solidFill>
                  <a:srgbClr val="14181D"/>
                </a:solidFill>
                <a:latin typeface="Cambria" pitchFamily="34" charset="0"/>
                <a:ea typeface="Cambria" pitchFamily="34" charset="-122"/>
                <a:cs typeface="Cambria" pitchFamily="34" charset="-120"/>
              </a:rPr>
              <a:t>YouTube</a:t>
            </a:r>
            <a:endParaRPr lang="en-US" sz="1350" dirty="0"/>
          </a:p>
        </p:txBody>
      </p:sp>
      <p:sp>
        <p:nvSpPr>
          <p:cNvPr id="22" name="Text 20"/>
          <p:cNvSpPr/>
          <p:nvPr/>
        </p:nvSpPr>
        <p:spPr>
          <a:xfrm>
            <a:off x="4343400" y="3822192"/>
            <a:ext cx="5425135" cy="530352"/>
          </a:xfrm>
          <a:prstGeom prst="rect">
            <a:avLst/>
          </a:prstGeom>
          <a:noFill/>
          <a:ln/>
        </p:spPr>
        <p:txBody>
          <a:bodyPr wrap="square" lIns="0" tIns="0" rIns="0" bIns="0" rtlCol="0" anchor="ctr"/>
          <a:lstStyle/>
          <a:p>
            <a:pPr indent="0" marL="0">
              <a:buNone/>
            </a:pPr>
            <a:r>
              <a:rPr lang="en-US" sz="1250" dirty="0">
                <a:solidFill>
                  <a:srgbClr val="555C64"/>
                </a:solidFill>
                <a:latin typeface="Calibri" pitchFamily="34" charset="0"/>
                <a:ea typeface="Calibri" pitchFamily="34" charset="-122"/>
                <a:cs typeface="Calibri" pitchFamily="34" charset="-120"/>
              </a:rPr>
              <a:t>No channel</a:t>
            </a:r>
            <a:endParaRPr lang="en-US" sz="1250" dirty="0"/>
          </a:p>
        </p:txBody>
      </p:sp>
      <p:sp>
        <p:nvSpPr>
          <p:cNvPr id="23" name="Shape 21"/>
          <p:cNvSpPr/>
          <p:nvPr/>
        </p:nvSpPr>
        <p:spPr>
          <a:xfrm>
            <a:off x="9933127" y="3959352"/>
            <a:ext cx="1243584" cy="256032"/>
          </a:xfrm>
          <a:prstGeom prst="rect">
            <a:avLst/>
          </a:prstGeom>
          <a:solidFill>
            <a:srgbClr val="F8E9E7"/>
          </a:solidFill>
          <a:ln/>
        </p:spPr>
      </p:sp>
      <p:sp>
        <p:nvSpPr>
          <p:cNvPr id="24" name="Text 22"/>
          <p:cNvSpPr/>
          <p:nvPr/>
        </p:nvSpPr>
        <p:spPr>
          <a:xfrm>
            <a:off x="9933127" y="3959352"/>
            <a:ext cx="1243584" cy="256032"/>
          </a:xfrm>
          <a:prstGeom prst="rect">
            <a:avLst/>
          </a:prstGeom>
          <a:noFill/>
          <a:ln/>
        </p:spPr>
        <p:txBody>
          <a:bodyPr wrap="square" lIns="0" tIns="0" rIns="0" bIns="0" rtlCol="0" anchor="ctr"/>
          <a:lstStyle/>
          <a:p>
            <a:pPr algn="ctr" indent="0" marL="0">
              <a:buNone/>
            </a:pPr>
            <a:r>
              <a:rPr lang="en-US" sz="900" b="1" spc="100" kern="0" dirty="0">
                <a:solidFill>
                  <a:srgbClr val="A8382C"/>
                </a:solidFill>
                <a:latin typeface="Calibri" pitchFamily="34" charset="0"/>
                <a:ea typeface="Calibri" pitchFamily="34" charset="-122"/>
                <a:cs typeface="Calibri" pitchFamily="34" charset="-120"/>
              </a:rPr>
              <a:t>NOTHING</a:t>
            </a:r>
            <a:endParaRPr lang="en-US" sz="900" dirty="0"/>
          </a:p>
        </p:txBody>
      </p:sp>
      <p:sp>
        <p:nvSpPr>
          <p:cNvPr id="25" name="Shape 23"/>
          <p:cNvSpPr/>
          <p:nvPr/>
        </p:nvSpPr>
        <p:spPr>
          <a:xfrm>
            <a:off x="777240" y="4407408"/>
            <a:ext cx="10637215" cy="530352"/>
          </a:xfrm>
          <a:prstGeom prst="rect">
            <a:avLst/>
          </a:prstGeom>
          <a:solidFill>
            <a:srgbClr val="FFFFFF"/>
          </a:solidFill>
          <a:ln/>
        </p:spPr>
      </p:sp>
      <p:sp>
        <p:nvSpPr>
          <p:cNvPr id="26" name="Text 24"/>
          <p:cNvSpPr/>
          <p:nvPr/>
        </p:nvSpPr>
        <p:spPr>
          <a:xfrm>
            <a:off x="1014984" y="4407408"/>
            <a:ext cx="3200400" cy="530352"/>
          </a:xfrm>
          <a:prstGeom prst="rect">
            <a:avLst/>
          </a:prstGeom>
          <a:noFill/>
          <a:ln/>
        </p:spPr>
        <p:txBody>
          <a:bodyPr wrap="square" lIns="0" tIns="0" rIns="0" bIns="0" rtlCol="0" anchor="ctr"/>
          <a:lstStyle/>
          <a:p>
            <a:pPr indent="0" marL="0">
              <a:buNone/>
            </a:pPr>
            <a:r>
              <a:rPr lang="en-US" sz="1350" b="1" dirty="0">
                <a:solidFill>
                  <a:srgbClr val="14181D"/>
                </a:solidFill>
                <a:latin typeface="Cambria" pitchFamily="34" charset="0"/>
                <a:ea typeface="Cambria" pitchFamily="34" charset="-122"/>
                <a:cs typeface="Cambria" pitchFamily="34" charset="-120"/>
              </a:rPr>
              <a:t>Articles, guides, press</a:t>
            </a:r>
            <a:endParaRPr lang="en-US" sz="1350" dirty="0"/>
          </a:p>
        </p:txBody>
      </p:sp>
      <p:sp>
        <p:nvSpPr>
          <p:cNvPr id="27" name="Text 25"/>
          <p:cNvSpPr/>
          <p:nvPr/>
        </p:nvSpPr>
        <p:spPr>
          <a:xfrm>
            <a:off x="4343400" y="4407408"/>
            <a:ext cx="5425135" cy="530352"/>
          </a:xfrm>
          <a:prstGeom prst="rect">
            <a:avLst/>
          </a:prstGeom>
          <a:noFill/>
          <a:ln/>
        </p:spPr>
        <p:txBody>
          <a:bodyPr wrap="square" lIns="0" tIns="0" rIns="0" bIns="0" rtlCol="0" anchor="ctr"/>
          <a:lstStyle/>
          <a:p>
            <a:pPr indent="0" marL="0">
              <a:buNone/>
            </a:pPr>
            <a:r>
              <a:rPr lang="en-US" sz="1250" dirty="0">
                <a:solidFill>
                  <a:srgbClr val="555C64"/>
                </a:solidFill>
                <a:latin typeface="Calibri" pitchFamily="34" charset="0"/>
                <a:ea typeface="Calibri" pitchFamily="34" charset="-122"/>
                <a:cs typeface="Calibri" pitchFamily="34" charset="-120"/>
              </a:rPr>
              <a:t>Nothing indexed anywhere</a:t>
            </a:r>
            <a:endParaRPr lang="en-US" sz="1250" dirty="0"/>
          </a:p>
        </p:txBody>
      </p:sp>
      <p:sp>
        <p:nvSpPr>
          <p:cNvPr id="28" name="Shape 26"/>
          <p:cNvSpPr/>
          <p:nvPr/>
        </p:nvSpPr>
        <p:spPr>
          <a:xfrm>
            <a:off x="9933127" y="4544568"/>
            <a:ext cx="1243584" cy="256032"/>
          </a:xfrm>
          <a:prstGeom prst="rect">
            <a:avLst/>
          </a:prstGeom>
          <a:solidFill>
            <a:srgbClr val="F8E9E7"/>
          </a:solidFill>
          <a:ln/>
        </p:spPr>
      </p:sp>
      <p:sp>
        <p:nvSpPr>
          <p:cNvPr id="29" name="Text 27"/>
          <p:cNvSpPr/>
          <p:nvPr/>
        </p:nvSpPr>
        <p:spPr>
          <a:xfrm>
            <a:off x="9933127" y="4544568"/>
            <a:ext cx="1243584" cy="256032"/>
          </a:xfrm>
          <a:prstGeom prst="rect">
            <a:avLst/>
          </a:prstGeom>
          <a:noFill/>
          <a:ln/>
        </p:spPr>
        <p:txBody>
          <a:bodyPr wrap="square" lIns="0" tIns="0" rIns="0" bIns="0" rtlCol="0" anchor="ctr"/>
          <a:lstStyle/>
          <a:p>
            <a:pPr algn="ctr" indent="0" marL="0">
              <a:buNone/>
            </a:pPr>
            <a:r>
              <a:rPr lang="en-US" sz="900" b="1" spc="100" kern="0" dirty="0">
                <a:solidFill>
                  <a:srgbClr val="A8382C"/>
                </a:solidFill>
                <a:latin typeface="Calibri" pitchFamily="34" charset="0"/>
                <a:ea typeface="Calibri" pitchFamily="34" charset="-122"/>
                <a:cs typeface="Calibri" pitchFamily="34" charset="-120"/>
              </a:rPr>
              <a:t>NOTHING</a:t>
            </a:r>
            <a:endParaRPr lang="en-US" sz="900" dirty="0"/>
          </a:p>
        </p:txBody>
      </p:sp>
      <p:sp>
        <p:nvSpPr>
          <p:cNvPr id="30" name="Shape 28"/>
          <p:cNvSpPr/>
          <p:nvPr/>
        </p:nvSpPr>
        <p:spPr>
          <a:xfrm>
            <a:off x="777240" y="4992624"/>
            <a:ext cx="10637215" cy="530352"/>
          </a:xfrm>
          <a:prstGeom prst="rect">
            <a:avLst/>
          </a:prstGeom>
          <a:solidFill>
            <a:srgbClr val="FFFFFF"/>
          </a:solidFill>
          <a:ln/>
        </p:spPr>
      </p:sp>
      <p:sp>
        <p:nvSpPr>
          <p:cNvPr id="31" name="Text 29"/>
          <p:cNvSpPr/>
          <p:nvPr/>
        </p:nvSpPr>
        <p:spPr>
          <a:xfrm>
            <a:off x="1014984" y="4992624"/>
            <a:ext cx="3200400" cy="530352"/>
          </a:xfrm>
          <a:prstGeom prst="rect">
            <a:avLst/>
          </a:prstGeom>
          <a:noFill/>
          <a:ln/>
        </p:spPr>
        <p:txBody>
          <a:bodyPr wrap="square" lIns="0" tIns="0" rIns="0" bIns="0" rtlCol="0" anchor="ctr"/>
          <a:lstStyle/>
          <a:p>
            <a:pPr indent="0" marL="0">
              <a:buNone/>
            </a:pPr>
            <a:r>
              <a:rPr lang="en-US" sz="1350" b="1" dirty="0">
                <a:solidFill>
                  <a:srgbClr val="14181D"/>
                </a:solidFill>
                <a:latin typeface="Cambria" pitchFamily="34" charset="0"/>
                <a:ea typeface="Cambria" pitchFamily="34" charset="-122"/>
                <a:cs typeface="Cambria" pitchFamily="34" charset="-120"/>
              </a:rPr>
              <a:t>Instagram, LinkedIn, GBP</a:t>
            </a:r>
            <a:endParaRPr lang="en-US" sz="1350" dirty="0"/>
          </a:p>
        </p:txBody>
      </p:sp>
      <p:sp>
        <p:nvSpPr>
          <p:cNvPr id="32" name="Text 30"/>
          <p:cNvSpPr/>
          <p:nvPr/>
        </p:nvSpPr>
        <p:spPr>
          <a:xfrm>
            <a:off x="4343400" y="4992624"/>
            <a:ext cx="5425135" cy="530352"/>
          </a:xfrm>
          <a:prstGeom prst="rect">
            <a:avLst/>
          </a:prstGeom>
          <a:noFill/>
          <a:ln/>
        </p:spPr>
        <p:txBody>
          <a:bodyPr wrap="square" lIns="0" tIns="0" rIns="0" bIns="0" rtlCol="0" anchor="ctr"/>
          <a:lstStyle/>
          <a:p>
            <a:pPr indent="0" marL="0">
              <a:buNone/>
            </a:pPr>
            <a:r>
              <a:rPr lang="en-US" sz="1250" dirty="0">
                <a:solidFill>
                  <a:srgbClr val="555C64"/>
                </a:solidFill>
                <a:latin typeface="Calibri" pitchFamily="34" charset="0"/>
                <a:ea typeface="Calibri" pitchFamily="34" charset="-122"/>
                <a:cs typeface="Calibri" pitchFamily="34" charset="-120"/>
              </a:rPr>
              <a:t>To confirm with you in week one</a:t>
            </a:r>
            <a:endParaRPr lang="en-US" sz="1250" dirty="0"/>
          </a:p>
        </p:txBody>
      </p:sp>
      <p:sp>
        <p:nvSpPr>
          <p:cNvPr id="33" name="Shape 31"/>
          <p:cNvSpPr/>
          <p:nvPr/>
        </p:nvSpPr>
        <p:spPr>
          <a:xfrm>
            <a:off x="9933127" y="5129784"/>
            <a:ext cx="1243584" cy="256032"/>
          </a:xfrm>
          <a:prstGeom prst="rect">
            <a:avLst/>
          </a:prstGeom>
          <a:solidFill>
            <a:srgbClr val="F1F1ED"/>
          </a:solidFill>
          <a:ln/>
        </p:spPr>
      </p:sp>
      <p:sp>
        <p:nvSpPr>
          <p:cNvPr id="34" name="Text 32"/>
          <p:cNvSpPr/>
          <p:nvPr/>
        </p:nvSpPr>
        <p:spPr>
          <a:xfrm>
            <a:off x="9933127" y="5129784"/>
            <a:ext cx="1243584" cy="256032"/>
          </a:xfrm>
          <a:prstGeom prst="rect">
            <a:avLst/>
          </a:prstGeom>
          <a:noFill/>
          <a:ln/>
        </p:spPr>
        <p:txBody>
          <a:bodyPr wrap="square" lIns="0" tIns="0" rIns="0" bIns="0" rtlCol="0" anchor="ctr"/>
          <a:lstStyle/>
          <a:p>
            <a:pPr algn="ctr" indent="0" marL="0">
              <a:buNone/>
            </a:pPr>
            <a:r>
              <a:rPr lang="en-US" sz="900" b="1" spc="100" kern="0" dirty="0">
                <a:solidFill>
                  <a:srgbClr val="8A9099"/>
                </a:solidFill>
                <a:latin typeface="Calibri" pitchFamily="34" charset="0"/>
                <a:ea typeface="Calibri" pitchFamily="34" charset="-122"/>
                <a:cs typeface="Calibri" pitchFamily="34" charset="-120"/>
              </a:rPr>
              <a:t>TO CHECK</a:t>
            </a:r>
            <a:endParaRPr lang="en-US" sz="900" dirty="0"/>
          </a:p>
        </p:txBody>
      </p:sp>
      <p:sp>
        <p:nvSpPr>
          <p:cNvPr id="35" name="Shape 33"/>
          <p:cNvSpPr/>
          <p:nvPr/>
        </p:nvSpPr>
        <p:spPr>
          <a:xfrm>
            <a:off x="777240" y="5577840"/>
            <a:ext cx="10637215" cy="530352"/>
          </a:xfrm>
          <a:prstGeom prst="rect">
            <a:avLst/>
          </a:prstGeom>
          <a:solidFill>
            <a:srgbClr val="FFFFFF"/>
          </a:solidFill>
          <a:ln/>
        </p:spPr>
      </p:sp>
      <p:sp>
        <p:nvSpPr>
          <p:cNvPr id="36" name="Text 34"/>
          <p:cNvSpPr/>
          <p:nvPr/>
        </p:nvSpPr>
        <p:spPr>
          <a:xfrm>
            <a:off x="1014984" y="5577840"/>
            <a:ext cx="3200400" cy="530352"/>
          </a:xfrm>
          <a:prstGeom prst="rect">
            <a:avLst/>
          </a:prstGeom>
          <a:noFill/>
          <a:ln/>
        </p:spPr>
        <p:txBody>
          <a:bodyPr wrap="square" lIns="0" tIns="0" rIns="0" bIns="0" rtlCol="0" anchor="ctr"/>
          <a:lstStyle/>
          <a:p>
            <a:pPr indent="0" marL="0">
              <a:buNone/>
            </a:pPr>
            <a:r>
              <a:rPr lang="en-US" sz="1350" b="1" dirty="0">
                <a:solidFill>
                  <a:srgbClr val="14181D"/>
                </a:solidFill>
                <a:latin typeface="Cambria" pitchFamily="34" charset="0"/>
                <a:ea typeface="Cambria" pitchFamily="34" charset="-122"/>
                <a:cs typeface="Cambria" pitchFamily="34" charset="-120"/>
              </a:rPr>
              <a:t>Founder relationships</a:t>
            </a:r>
            <a:endParaRPr lang="en-US" sz="1350" dirty="0"/>
          </a:p>
        </p:txBody>
      </p:sp>
      <p:sp>
        <p:nvSpPr>
          <p:cNvPr id="37" name="Text 35"/>
          <p:cNvSpPr/>
          <p:nvPr/>
        </p:nvSpPr>
        <p:spPr>
          <a:xfrm>
            <a:off x="4343400" y="5577840"/>
            <a:ext cx="5425135" cy="530352"/>
          </a:xfrm>
          <a:prstGeom prst="rect">
            <a:avLst/>
          </a:prstGeom>
          <a:noFill/>
          <a:ln/>
        </p:spPr>
        <p:txBody>
          <a:bodyPr wrap="square" lIns="0" tIns="0" rIns="0" bIns="0" rtlCol="0" anchor="ctr"/>
          <a:lstStyle/>
          <a:p>
            <a:pPr indent="0" marL="0">
              <a:buNone/>
            </a:pPr>
            <a:r>
              <a:rPr lang="en-US" sz="1250" dirty="0">
                <a:solidFill>
                  <a:srgbClr val="555C64"/>
                </a:solidFill>
                <a:latin typeface="Calibri" pitchFamily="34" charset="0"/>
                <a:ea typeface="Calibri" pitchFamily="34" charset="-122"/>
                <a:cs typeface="Calibri" pitchFamily="34" charset="-120"/>
              </a:rPr>
              <a:t>Two decades, tier-one developers. The whole asset.</a:t>
            </a:r>
            <a:endParaRPr lang="en-US" sz="1250" dirty="0"/>
          </a:p>
        </p:txBody>
      </p:sp>
      <p:sp>
        <p:nvSpPr>
          <p:cNvPr id="38" name="Shape 36"/>
          <p:cNvSpPr/>
          <p:nvPr/>
        </p:nvSpPr>
        <p:spPr>
          <a:xfrm>
            <a:off x="9933127" y="5715000"/>
            <a:ext cx="1243584" cy="256032"/>
          </a:xfrm>
          <a:prstGeom prst="rect">
            <a:avLst/>
          </a:prstGeom>
          <a:solidFill>
            <a:srgbClr val="E6F0EA"/>
          </a:solidFill>
          <a:ln/>
        </p:spPr>
      </p:sp>
      <p:sp>
        <p:nvSpPr>
          <p:cNvPr id="39" name="Text 37"/>
          <p:cNvSpPr/>
          <p:nvPr/>
        </p:nvSpPr>
        <p:spPr>
          <a:xfrm>
            <a:off x="9933127" y="5715000"/>
            <a:ext cx="1243584" cy="256032"/>
          </a:xfrm>
          <a:prstGeom prst="rect">
            <a:avLst/>
          </a:prstGeom>
          <a:noFill/>
          <a:ln/>
        </p:spPr>
        <p:txBody>
          <a:bodyPr wrap="square" lIns="0" tIns="0" rIns="0" bIns="0" rtlCol="0" anchor="ctr"/>
          <a:lstStyle/>
          <a:p>
            <a:pPr algn="ctr" indent="0" marL="0">
              <a:buNone/>
            </a:pPr>
            <a:r>
              <a:rPr lang="en-US" sz="900" b="1" spc="100" kern="0" dirty="0">
                <a:solidFill>
                  <a:srgbClr val="2E7150"/>
                </a:solidFill>
                <a:latin typeface="Calibri" pitchFamily="34" charset="0"/>
                <a:ea typeface="Calibri" pitchFamily="34" charset="-122"/>
                <a:cs typeface="Calibri" pitchFamily="34" charset="-120"/>
              </a:rPr>
              <a:t>STRONG</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1D"/>
        </a:solidFill>
      </p:bgPr>
    </p:bg>
    <p:spTree>
      <p:nvGrpSpPr>
        <p:cNvPr id="1" name=""/>
        <p:cNvGrpSpPr/>
        <p:nvPr/>
      </p:nvGrpSpPr>
      <p:grpSpPr>
        <a:xfrm>
          <a:off x="0" y="0"/>
          <a:ext cx="0" cy="0"/>
          <a:chOff x="0" y="0"/>
          <a:chExt cx="0" cy="0"/>
        </a:xfrm>
      </p:grpSpPr>
      <p:sp>
        <p:nvSpPr>
          <p:cNvPr id="2" name="Text 0"/>
          <p:cNvSpPr/>
          <p:nvPr/>
        </p:nvSpPr>
        <p:spPr>
          <a:xfrm>
            <a:off x="777240" y="1600200"/>
            <a:ext cx="9601200" cy="1920240"/>
          </a:xfrm>
          <a:prstGeom prst="rect">
            <a:avLst/>
          </a:prstGeom>
          <a:noFill/>
          <a:ln/>
        </p:spPr>
        <p:txBody>
          <a:bodyPr wrap="square" lIns="0" tIns="0" rIns="0" bIns="0" rtlCol="0" anchor="ctr"/>
          <a:lstStyle/>
          <a:p>
            <a:pPr indent="0" marL="0">
              <a:lnSpc>
                <a:spcPts val="6000"/>
              </a:lnSpc>
              <a:buNone/>
            </a:pPr>
            <a:r>
              <a:rPr lang="en-US" sz="5000" b="1" spc="-100" kern="0" dirty="0">
                <a:solidFill>
                  <a:srgbClr val="FFFFFF"/>
                </a:solidFill>
                <a:latin typeface="Cambria" pitchFamily="34" charset="0"/>
                <a:ea typeface="Cambria" pitchFamily="34" charset="-122"/>
                <a:cs typeface="Cambria" pitchFamily="34" charset="-120"/>
              </a:rPr>
              <a:t>Zero footprint means</a:t>
            </a:r>
            <a:endParaRPr lang="en-US" sz="5000" dirty="0"/>
          </a:p>
          <a:p>
            <a:pPr indent="0" marL="0">
              <a:lnSpc>
                <a:spcPts val="6000"/>
              </a:lnSpc>
              <a:buNone/>
            </a:pPr>
            <a:r>
              <a:rPr lang="en-US" sz="5000" b="1" spc="-100" kern="0" dirty="0">
                <a:solidFill>
                  <a:srgbClr val="FFFFFF"/>
                </a:solidFill>
                <a:latin typeface="Cambria" pitchFamily="34" charset="0"/>
                <a:ea typeface="Cambria" pitchFamily="34" charset="-122"/>
                <a:cs typeface="Cambria" pitchFamily="34" charset="-120"/>
              </a:rPr>
              <a:t>zero baggage.</a:t>
            </a:r>
            <a:endParaRPr lang="en-US" sz="5000" dirty="0"/>
          </a:p>
        </p:txBody>
      </p:sp>
      <p:sp>
        <p:nvSpPr>
          <p:cNvPr id="3" name="Text 1"/>
          <p:cNvSpPr/>
          <p:nvPr/>
        </p:nvSpPr>
        <p:spPr>
          <a:xfrm>
            <a:off x="777240" y="3886200"/>
            <a:ext cx="8778240" cy="640080"/>
          </a:xfrm>
          <a:prstGeom prst="rect">
            <a:avLst/>
          </a:prstGeom>
          <a:noFill/>
          <a:ln/>
        </p:spPr>
        <p:txBody>
          <a:bodyPr wrap="square" lIns="0" tIns="0" rIns="0" bIns="0" rtlCol="0" anchor="ctr"/>
          <a:lstStyle/>
          <a:p>
            <a:pPr indent="0" marL="0">
              <a:lnSpc>
                <a:spcPts val="2600"/>
              </a:lnSpc>
              <a:buNone/>
            </a:pPr>
            <a:r>
              <a:rPr lang="en-US" sz="1700" dirty="0">
                <a:solidFill>
                  <a:srgbClr val="FFFFFF"/>
                </a:solidFill>
                <a:latin typeface="Calibri" pitchFamily="34" charset="0"/>
                <a:ea typeface="Calibri" pitchFamily="34" charset="-122"/>
                <a:cs typeface="Calibri" pitchFamily="34" charset="-120"/>
              </a:rPr>
              <a:t>No dead accounts. No abandoned campaigns. No complaints ranking on page one. No confused brand to unpick.</a:t>
            </a:r>
            <a:endParaRPr lang="en-US" sz="1700" dirty="0"/>
          </a:p>
        </p:txBody>
      </p:sp>
      <p:sp>
        <p:nvSpPr>
          <p:cNvPr id="4" name="Text 2"/>
          <p:cNvSpPr/>
          <p:nvPr/>
        </p:nvSpPr>
        <p:spPr>
          <a:xfrm>
            <a:off x="777240" y="4663440"/>
            <a:ext cx="8778240" cy="914400"/>
          </a:xfrm>
          <a:prstGeom prst="rect">
            <a:avLst/>
          </a:prstGeom>
          <a:noFill/>
          <a:ln/>
        </p:spPr>
        <p:txBody>
          <a:bodyPr wrap="square" lIns="0" tIns="0" rIns="0" bIns="0" rtlCol="0" anchor="ctr"/>
          <a:lstStyle/>
          <a:p>
            <a:pPr indent="0" marL="0">
              <a:lnSpc>
                <a:spcPts val="2400"/>
              </a:lnSpc>
              <a:buNone/>
            </a:pPr>
            <a:r>
              <a:rPr lang="en-US" sz="1500" dirty="0">
                <a:solidFill>
                  <a:srgbClr val="79818A"/>
                </a:solidFill>
                <a:latin typeface="Calibri" pitchFamily="34" charset="0"/>
                <a:ea typeface="Calibri" pitchFamily="34" charset="-122"/>
                <a:cs typeface="Calibri" pitchFamily="34" charset="-120"/>
              </a:rPr>
              <a:t>Every competitor in this deck carries years of that. OTHO gets to build it properly the first time — and if the ambition is national, the foundation matters more than the first campaign.</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777240" y="530352"/>
            <a:ext cx="10637215" cy="219456"/>
          </a:xfrm>
          <a:prstGeom prst="rect">
            <a:avLst/>
          </a:prstGeom>
          <a:noFill/>
          <a:ln/>
        </p:spPr>
        <p:txBody>
          <a:bodyPr wrap="square" lIns="0" tIns="0" rIns="0" bIns="0" rtlCol="0" anchor="ctr"/>
          <a:lstStyle/>
          <a:p>
            <a:pPr indent="0" marL="0">
              <a:buNone/>
            </a:pPr>
            <a:r>
              <a:rPr lang="en-US" sz="1100" b="1" spc="260" kern="0" dirty="0">
                <a:solidFill>
                  <a:srgbClr val="9A7A25"/>
                </a:solidFill>
                <a:latin typeface="Calibri" pitchFamily="34" charset="0"/>
                <a:ea typeface="Calibri" pitchFamily="34" charset="-122"/>
                <a:cs typeface="Calibri" pitchFamily="34" charset="-120"/>
              </a:rPr>
              <a:t>02</a:t>
            </a:r>
            <a:endParaRPr lang="en-US" sz="1100" dirty="0"/>
          </a:p>
        </p:txBody>
      </p:sp>
      <p:sp>
        <p:nvSpPr>
          <p:cNvPr id="3" name="Text 1"/>
          <p:cNvSpPr/>
          <p:nvPr/>
        </p:nvSpPr>
        <p:spPr>
          <a:xfrm>
            <a:off x="777240" y="768096"/>
            <a:ext cx="10637215" cy="603504"/>
          </a:xfrm>
          <a:prstGeom prst="rect">
            <a:avLst/>
          </a:prstGeom>
          <a:noFill/>
          <a:ln/>
        </p:spPr>
        <p:txBody>
          <a:bodyPr wrap="square" lIns="0" tIns="0" rIns="0" bIns="0" rtlCol="0" anchor="ctr"/>
          <a:lstStyle/>
          <a:p>
            <a:pPr indent="0" marL="0">
              <a:buNone/>
            </a:pPr>
            <a:r>
              <a:rPr lang="en-US" sz="3800" b="1" spc="-60" kern="0" dirty="0">
                <a:solidFill>
                  <a:srgbClr val="14181D"/>
                </a:solidFill>
                <a:latin typeface="Cambria" pitchFamily="34" charset="0"/>
                <a:ea typeface="Cambria" pitchFamily="34" charset="-122"/>
                <a:cs typeface="Cambria" pitchFamily="34" charset="-120"/>
              </a:rPr>
              <a:t>The market you're entering</a:t>
            </a:r>
            <a:endParaRPr lang="en-US" sz="3800" dirty="0"/>
          </a:p>
        </p:txBody>
      </p:sp>
      <p:sp>
        <p:nvSpPr>
          <p:cNvPr id="4" name="Shape 2"/>
          <p:cNvSpPr/>
          <p:nvPr/>
        </p:nvSpPr>
        <p:spPr>
          <a:xfrm>
            <a:off x="777240" y="1591056"/>
            <a:ext cx="2453564" cy="2057400"/>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5" name="Text 3"/>
          <p:cNvSpPr/>
          <p:nvPr/>
        </p:nvSpPr>
        <p:spPr>
          <a:xfrm>
            <a:off x="1033272" y="1810512"/>
            <a:ext cx="1941500" cy="658368"/>
          </a:xfrm>
          <a:prstGeom prst="rect">
            <a:avLst/>
          </a:prstGeom>
          <a:noFill/>
          <a:ln/>
        </p:spPr>
        <p:txBody>
          <a:bodyPr wrap="square" lIns="0" tIns="0" rIns="0" bIns="0" rtlCol="0" anchor="ctr"/>
          <a:lstStyle/>
          <a:p>
            <a:pPr indent="0" marL="0">
              <a:buNone/>
            </a:pPr>
            <a:r>
              <a:rPr lang="en-US" sz="2600" b="1" spc="-60" kern="0" dirty="0">
                <a:solidFill>
                  <a:srgbClr val="14181D"/>
                </a:solidFill>
                <a:latin typeface="Cambria" pitchFamily="34" charset="0"/>
                <a:ea typeface="Cambria" pitchFamily="34" charset="-122"/>
                <a:cs typeface="Cambria" pitchFamily="34" charset="-120"/>
              </a:rPr>
              <a:t>₹2.6 lakh cr</a:t>
            </a:r>
            <a:endParaRPr lang="en-US" sz="2600" dirty="0"/>
          </a:p>
        </p:txBody>
      </p:sp>
      <p:sp>
        <p:nvSpPr>
          <p:cNvPr id="6" name="Text 4"/>
          <p:cNvSpPr/>
          <p:nvPr/>
        </p:nvSpPr>
        <p:spPr>
          <a:xfrm>
            <a:off x="1033272" y="2523744"/>
            <a:ext cx="1941500" cy="749808"/>
          </a:xfrm>
          <a:prstGeom prst="rect">
            <a:avLst/>
          </a:prstGeom>
          <a:noFill/>
          <a:ln/>
        </p:spPr>
        <p:txBody>
          <a:bodyPr wrap="square" lIns="0" tIns="0" rIns="0" bIns="0" rtlCol="0" anchor="t"/>
          <a:lstStyle/>
          <a:p>
            <a:pPr indent="0" marL="0">
              <a:lnSpc>
                <a:spcPts val="1700"/>
              </a:lnSpc>
              <a:buNone/>
            </a:pPr>
            <a:r>
              <a:rPr lang="en-US" sz="1250" dirty="0">
                <a:solidFill>
                  <a:srgbClr val="555C64"/>
                </a:solidFill>
                <a:latin typeface="Calibri" pitchFamily="34" charset="0"/>
                <a:ea typeface="Calibri" pitchFamily="34" charset="-122"/>
                <a:cs typeface="Calibri" pitchFamily="34" charset="-120"/>
              </a:rPr>
              <a:t>Indian proptech market in 2025</a:t>
            </a:r>
            <a:endParaRPr lang="en-US" sz="1250" dirty="0"/>
          </a:p>
        </p:txBody>
      </p:sp>
      <p:sp>
        <p:nvSpPr>
          <p:cNvPr id="7" name="Text 5"/>
          <p:cNvSpPr/>
          <p:nvPr/>
        </p:nvSpPr>
        <p:spPr>
          <a:xfrm>
            <a:off x="1033272" y="3291840"/>
            <a:ext cx="1941500" cy="237744"/>
          </a:xfrm>
          <a:prstGeom prst="rect">
            <a:avLst/>
          </a:prstGeom>
          <a:noFill/>
          <a:ln/>
        </p:spPr>
        <p:txBody>
          <a:bodyPr wrap="square" lIns="0" tIns="0" rIns="0" bIns="0" rtlCol="0" anchor="ctr"/>
          <a:lstStyle/>
          <a:p>
            <a:pPr indent="0" marL="0">
              <a:buNone/>
            </a:pPr>
            <a:r>
              <a:rPr lang="en-US" sz="850" spc="110" kern="0" dirty="0">
                <a:solidFill>
                  <a:srgbClr val="8A9099"/>
                </a:solidFill>
                <a:latin typeface="Calibri" pitchFamily="34" charset="0"/>
                <a:ea typeface="Calibri" pitchFamily="34" charset="-122"/>
                <a:cs typeface="Calibri" pitchFamily="34" charset="-120"/>
              </a:rPr>
              <a:t>IMARC / KEN RESEARCH</a:t>
            </a:r>
            <a:endParaRPr lang="en-US" sz="850" dirty="0"/>
          </a:p>
        </p:txBody>
      </p:sp>
      <p:sp>
        <p:nvSpPr>
          <p:cNvPr id="8" name="Shape 6"/>
          <p:cNvSpPr/>
          <p:nvPr/>
        </p:nvSpPr>
        <p:spPr>
          <a:xfrm>
            <a:off x="3505124" y="1591056"/>
            <a:ext cx="2453564" cy="2057400"/>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9" name="Text 7"/>
          <p:cNvSpPr/>
          <p:nvPr/>
        </p:nvSpPr>
        <p:spPr>
          <a:xfrm>
            <a:off x="3761156" y="1810512"/>
            <a:ext cx="1941500" cy="658368"/>
          </a:xfrm>
          <a:prstGeom prst="rect">
            <a:avLst/>
          </a:prstGeom>
          <a:noFill/>
          <a:ln/>
        </p:spPr>
        <p:txBody>
          <a:bodyPr wrap="square" lIns="0" tIns="0" rIns="0" bIns="0" rtlCol="0" anchor="ctr"/>
          <a:lstStyle/>
          <a:p>
            <a:pPr indent="0" marL="0">
              <a:buNone/>
            </a:pPr>
            <a:r>
              <a:rPr lang="en-US" sz="2600" b="1" spc="-60" kern="0" dirty="0">
                <a:solidFill>
                  <a:srgbClr val="14181D"/>
                </a:solidFill>
                <a:latin typeface="Cambria" pitchFamily="34" charset="0"/>
                <a:ea typeface="Cambria" pitchFamily="34" charset="-122"/>
                <a:cs typeface="Cambria" pitchFamily="34" charset="-120"/>
              </a:rPr>
              <a:t>₹6.9 lakh cr</a:t>
            </a:r>
            <a:endParaRPr lang="en-US" sz="2600" dirty="0"/>
          </a:p>
        </p:txBody>
      </p:sp>
      <p:sp>
        <p:nvSpPr>
          <p:cNvPr id="10" name="Text 8"/>
          <p:cNvSpPr/>
          <p:nvPr/>
        </p:nvSpPr>
        <p:spPr>
          <a:xfrm>
            <a:off x="3761156" y="2523744"/>
            <a:ext cx="1941500" cy="749808"/>
          </a:xfrm>
          <a:prstGeom prst="rect">
            <a:avLst/>
          </a:prstGeom>
          <a:noFill/>
          <a:ln/>
        </p:spPr>
        <p:txBody>
          <a:bodyPr wrap="square" lIns="0" tIns="0" rIns="0" bIns="0" rtlCol="0" anchor="t"/>
          <a:lstStyle/>
          <a:p>
            <a:pPr indent="0" marL="0">
              <a:lnSpc>
                <a:spcPts val="1700"/>
              </a:lnSpc>
              <a:buNone/>
            </a:pPr>
            <a:r>
              <a:rPr lang="en-US" sz="1250" dirty="0">
                <a:solidFill>
                  <a:srgbClr val="555C64"/>
                </a:solidFill>
                <a:latin typeface="Calibri" pitchFamily="34" charset="0"/>
                <a:ea typeface="Calibri" pitchFamily="34" charset="-122"/>
                <a:cs typeface="Calibri" pitchFamily="34" charset="-120"/>
              </a:rPr>
              <a:t>Where it reaches by 2031</a:t>
            </a:r>
            <a:endParaRPr lang="en-US" sz="1250" dirty="0"/>
          </a:p>
        </p:txBody>
      </p:sp>
      <p:sp>
        <p:nvSpPr>
          <p:cNvPr id="11" name="Text 9"/>
          <p:cNvSpPr/>
          <p:nvPr/>
        </p:nvSpPr>
        <p:spPr>
          <a:xfrm>
            <a:off x="3761156" y="3291840"/>
            <a:ext cx="1941500" cy="237744"/>
          </a:xfrm>
          <a:prstGeom prst="rect">
            <a:avLst/>
          </a:prstGeom>
          <a:noFill/>
          <a:ln/>
        </p:spPr>
        <p:txBody>
          <a:bodyPr wrap="square" lIns="0" tIns="0" rIns="0" bIns="0" rtlCol="0" anchor="ctr"/>
          <a:lstStyle/>
          <a:p>
            <a:pPr indent="0" marL="0">
              <a:buNone/>
            </a:pPr>
            <a:r>
              <a:rPr lang="en-US" sz="850" spc="110" kern="0" dirty="0">
                <a:solidFill>
                  <a:srgbClr val="8A9099"/>
                </a:solidFill>
                <a:latin typeface="Calibri" pitchFamily="34" charset="0"/>
                <a:ea typeface="Calibri" pitchFamily="34" charset="-122"/>
                <a:cs typeface="Calibri" pitchFamily="34" charset="-120"/>
              </a:rPr>
              <a:t>IMARC / KEN RESEARCH</a:t>
            </a:r>
            <a:endParaRPr lang="en-US" sz="850" dirty="0"/>
          </a:p>
        </p:txBody>
      </p:sp>
      <p:sp>
        <p:nvSpPr>
          <p:cNvPr id="12" name="Shape 10"/>
          <p:cNvSpPr/>
          <p:nvPr/>
        </p:nvSpPr>
        <p:spPr>
          <a:xfrm>
            <a:off x="6233008" y="1591056"/>
            <a:ext cx="2453564" cy="2057400"/>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13" name="Text 11"/>
          <p:cNvSpPr/>
          <p:nvPr/>
        </p:nvSpPr>
        <p:spPr>
          <a:xfrm>
            <a:off x="6489040" y="1810512"/>
            <a:ext cx="1941500" cy="658368"/>
          </a:xfrm>
          <a:prstGeom prst="rect">
            <a:avLst/>
          </a:prstGeom>
          <a:noFill/>
          <a:ln/>
        </p:spPr>
        <p:txBody>
          <a:bodyPr wrap="square" lIns="0" tIns="0" rIns="0" bIns="0" rtlCol="0" anchor="ctr"/>
          <a:lstStyle/>
          <a:p>
            <a:pPr indent="0" marL="0">
              <a:buNone/>
            </a:pPr>
            <a:r>
              <a:rPr lang="en-US" sz="2600" b="1" spc="-60" kern="0" dirty="0">
                <a:solidFill>
                  <a:srgbClr val="14181D"/>
                </a:solidFill>
                <a:latin typeface="Cambria" pitchFamily="34" charset="0"/>
                <a:ea typeface="Cambria" pitchFamily="34" charset="-122"/>
                <a:cs typeface="Cambria" pitchFamily="34" charset="-120"/>
              </a:rPr>
              <a:t>19 months</a:t>
            </a:r>
            <a:endParaRPr lang="en-US" sz="2600" dirty="0"/>
          </a:p>
        </p:txBody>
      </p:sp>
      <p:sp>
        <p:nvSpPr>
          <p:cNvPr id="14" name="Text 12"/>
          <p:cNvSpPr/>
          <p:nvPr/>
        </p:nvSpPr>
        <p:spPr>
          <a:xfrm>
            <a:off x="6489040" y="2523744"/>
            <a:ext cx="1941500" cy="749808"/>
          </a:xfrm>
          <a:prstGeom prst="rect">
            <a:avLst/>
          </a:prstGeom>
          <a:noFill/>
          <a:ln/>
        </p:spPr>
        <p:txBody>
          <a:bodyPr wrap="square" lIns="0" tIns="0" rIns="0" bIns="0" rtlCol="0" anchor="t"/>
          <a:lstStyle/>
          <a:p>
            <a:pPr indent="0" marL="0">
              <a:lnSpc>
                <a:spcPts val="1700"/>
              </a:lnSpc>
              <a:buNone/>
            </a:pPr>
            <a:r>
              <a:rPr lang="en-US" sz="1250" dirty="0">
                <a:solidFill>
                  <a:srgbClr val="555C64"/>
                </a:solidFill>
                <a:latin typeface="Calibri" pitchFamily="34" charset="0"/>
                <a:ea typeface="Calibri" pitchFamily="34" charset="-122"/>
                <a:cs typeface="Calibri" pitchFamily="34" charset="-120"/>
              </a:rPr>
              <a:t>Unsold inventory in Hyderabad — worst in India</a:t>
            </a:r>
            <a:endParaRPr lang="en-US" sz="1250" dirty="0"/>
          </a:p>
        </p:txBody>
      </p:sp>
      <p:sp>
        <p:nvSpPr>
          <p:cNvPr id="15" name="Text 13"/>
          <p:cNvSpPr/>
          <p:nvPr/>
        </p:nvSpPr>
        <p:spPr>
          <a:xfrm>
            <a:off x="6489040" y="3291840"/>
            <a:ext cx="1941500" cy="237744"/>
          </a:xfrm>
          <a:prstGeom prst="rect">
            <a:avLst/>
          </a:prstGeom>
          <a:noFill/>
          <a:ln/>
        </p:spPr>
        <p:txBody>
          <a:bodyPr wrap="square" lIns="0" tIns="0" rIns="0" bIns="0" rtlCol="0" anchor="ctr"/>
          <a:lstStyle/>
          <a:p>
            <a:pPr indent="0" marL="0">
              <a:buNone/>
            </a:pPr>
            <a:r>
              <a:rPr lang="en-US" sz="850" spc="110" kern="0" dirty="0">
                <a:solidFill>
                  <a:srgbClr val="8A9099"/>
                </a:solidFill>
                <a:latin typeface="Calibri" pitchFamily="34" charset="0"/>
                <a:ea typeface="Calibri" pitchFamily="34" charset="-122"/>
                <a:cs typeface="Calibri" pitchFamily="34" charset="-120"/>
              </a:rPr>
              <a:t>ANAROCK</a:t>
            </a:r>
            <a:endParaRPr lang="en-US" sz="850" dirty="0"/>
          </a:p>
        </p:txBody>
      </p:sp>
      <p:sp>
        <p:nvSpPr>
          <p:cNvPr id="16" name="Shape 14"/>
          <p:cNvSpPr/>
          <p:nvPr/>
        </p:nvSpPr>
        <p:spPr>
          <a:xfrm>
            <a:off x="8960891" y="1591056"/>
            <a:ext cx="2453564" cy="2057400"/>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17" name="Text 15"/>
          <p:cNvSpPr/>
          <p:nvPr/>
        </p:nvSpPr>
        <p:spPr>
          <a:xfrm>
            <a:off x="9216923" y="1810512"/>
            <a:ext cx="1941500" cy="658368"/>
          </a:xfrm>
          <a:prstGeom prst="rect">
            <a:avLst/>
          </a:prstGeom>
          <a:noFill/>
          <a:ln/>
        </p:spPr>
        <p:txBody>
          <a:bodyPr wrap="square" lIns="0" tIns="0" rIns="0" bIns="0" rtlCol="0" anchor="ctr"/>
          <a:lstStyle/>
          <a:p>
            <a:pPr indent="0" marL="0">
              <a:buNone/>
            </a:pPr>
            <a:r>
              <a:rPr lang="en-US" sz="2600" b="1" spc="-60" kern="0" dirty="0">
                <a:solidFill>
                  <a:srgbClr val="14181D"/>
                </a:solidFill>
                <a:latin typeface="Cambria" pitchFamily="34" charset="0"/>
                <a:ea typeface="Cambria" pitchFamily="34" charset="-122"/>
                <a:cs typeface="Cambria" pitchFamily="34" charset="-120"/>
              </a:rPr>
              <a:t>40%</a:t>
            </a:r>
            <a:endParaRPr lang="en-US" sz="2600" dirty="0"/>
          </a:p>
        </p:txBody>
      </p:sp>
      <p:sp>
        <p:nvSpPr>
          <p:cNvPr id="18" name="Text 16"/>
          <p:cNvSpPr/>
          <p:nvPr/>
        </p:nvSpPr>
        <p:spPr>
          <a:xfrm>
            <a:off x="9216923" y="2523744"/>
            <a:ext cx="1941500" cy="749808"/>
          </a:xfrm>
          <a:prstGeom prst="rect">
            <a:avLst/>
          </a:prstGeom>
          <a:noFill/>
          <a:ln/>
        </p:spPr>
        <p:txBody>
          <a:bodyPr wrap="square" lIns="0" tIns="0" rIns="0" bIns="0" rtlCol="0" anchor="t"/>
          <a:lstStyle/>
          <a:p>
            <a:pPr indent="0" marL="0">
              <a:lnSpc>
                <a:spcPts val="1700"/>
              </a:lnSpc>
              <a:buNone/>
            </a:pPr>
            <a:r>
              <a:rPr lang="en-US" sz="1250" dirty="0">
                <a:solidFill>
                  <a:srgbClr val="555C64"/>
                </a:solidFill>
                <a:latin typeface="Calibri" pitchFamily="34" charset="0"/>
                <a:ea typeface="Calibri" pitchFamily="34" charset="-122"/>
                <a:cs typeface="Calibri" pitchFamily="34" charset="-120"/>
              </a:rPr>
              <a:t>Of ~10,000 Neopolis homes, still unsold</a:t>
            </a:r>
            <a:endParaRPr lang="en-US" sz="1250" dirty="0"/>
          </a:p>
        </p:txBody>
      </p:sp>
      <p:sp>
        <p:nvSpPr>
          <p:cNvPr id="19" name="Text 17"/>
          <p:cNvSpPr/>
          <p:nvPr/>
        </p:nvSpPr>
        <p:spPr>
          <a:xfrm>
            <a:off x="9216923" y="3291840"/>
            <a:ext cx="1941500" cy="237744"/>
          </a:xfrm>
          <a:prstGeom prst="rect">
            <a:avLst/>
          </a:prstGeom>
          <a:noFill/>
          <a:ln/>
        </p:spPr>
        <p:txBody>
          <a:bodyPr wrap="square" lIns="0" tIns="0" rIns="0" bIns="0" rtlCol="0" anchor="ctr"/>
          <a:lstStyle/>
          <a:p>
            <a:pPr indent="0" marL="0">
              <a:buNone/>
            </a:pPr>
            <a:r>
              <a:rPr lang="en-US" sz="850" spc="110" kern="0" dirty="0">
                <a:solidFill>
                  <a:srgbClr val="8A9099"/>
                </a:solidFill>
                <a:latin typeface="Calibri" pitchFamily="34" charset="0"/>
                <a:ea typeface="Calibri" pitchFamily="34" charset="-122"/>
                <a:cs typeface="Calibri" pitchFamily="34" charset="-120"/>
              </a:rPr>
              <a:t>TRADE PRESS 2026</a:t>
            </a:r>
            <a:endParaRPr lang="en-US" sz="850" dirty="0"/>
          </a:p>
        </p:txBody>
      </p:sp>
      <p:sp>
        <p:nvSpPr>
          <p:cNvPr id="20" name="Text 18"/>
          <p:cNvSpPr/>
          <p:nvPr/>
        </p:nvSpPr>
        <p:spPr>
          <a:xfrm>
            <a:off x="777240" y="3986784"/>
            <a:ext cx="10637215" cy="822960"/>
          </a:xfrm>
          <a:prstGeom prst="rect">
            <a:avLst/>
          </a:prstGeom>
          <a:noFill/>
          <a:ln/>
        </p:spPr>
        <p:txBody>
          <a:bodyPr wrap="square" lIns="0" tIns="0" rIns="0" bIns="0" rtlCol="0" anchor="ctr"/>
          <a:lstStyle/>
          <a:p>
            <a:pPr indent="0" marL="0">
              <a:lnSpc>
                <a:spcPts val="2400"/>
              </a:lnSpc>
              <a:buNone/>
            </a:pPr>
            <a:r>
              <a:rPr lang="en-US" sz="1550" dirty="0">
                <a:solidFill>
                  <a:srgbClr val="14181D"/>
                </a:solidFill>
                <a:latin typeface="Calibri" pitchFamily="34" charset="0"/>
                <a:ea typeface="Calibri" pitchFamily="34" charset="-122"/>
                <a:cs typeface="Calibri" pitchFamily="34" charset="-120"/>
              </a:rPr>
              <a:t>Two things are true at once. The category is large and growing fast. And in Hyderabad, developers are sitting on stock they cannot move — agents are quoting Neopolis units near ₹6,300/sq ft against list prices of ₹11,000–12,000.</a:t>
            </a:r>
            <a:endParaRPr lang="en-US" sz="1550" dirty="0"/>
          </a:p>
        </p:txBody>
      </p:sp>
      <p:sp>
        <p:nvSpPr>
          <p:cNvPr id="21" name="Text 19"/>
          <p:cNvSpPr/>
          <p:nvPr/>
        </p:nvSpPr>
        <p:spPr>
          <a:xfrm>
            <a:off x="777240" y="4864608"/>
            <a:ext cx="10637215" cy="822960"/>
          </a:xfrm>
          <a:prstGeom prst="rect">
            <a:avLst/>
          </a:prstGeom>
          <a:noFill/>
          <a:ln/>
        </p:spPr>
        <p:txBody>
          <a:bodyPr wrap="square" lIns="0" tIns="0" rIns="0" bIns="0" rtlCol="0" anchor="ctr"/>
          <a:lstStyle/>
          <a:p>
            <a:pPr indent="0" marL="0">
              <a:lnSpc>
                <a:spcPts val="2400"/>
              </a:lnSpc>
              <a:buNone/>
            </a:pPr>
            <a:r>
              <a:rPr lang="en-US" sz="1550" dirty="0">
                <a:solidFill>
                  <a:srgbClr val="555C64"/>
                </a:solidFill>
                <a:latin typeface="Calibri" pitchFamily="34" charset="0"/>
                <a:ea typeface="Calibri" pitchFamily="34" charset="-122"/>
                <a:cs typeface="Calibri" pitchFamily="34" charset="-120"/>
              </a:rPr>
              <a:t>That gap is the opening. When a developer's own pricing is undercut by half in the grey market, what they need is not another listings portal. It's someone who brings buyers who arrive already convinced.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777240" y="530352"/>
            <a:ext cx="10637215" cy="219456"/>
          </a:xfrm>
          <a:prstGeom prst="rect">
            <a:avLst/>
          </a:prstGeom>
          <a:noFill/>
          <a:ln/>
        </p:spPr>
        <p:txBody>
          <a:bodyPr wrap="square" lIns="0" tIns="0" rIns="0" bIns="0" rtlCol="0" anchor="ctr"/>
          <a:lstStyle/>
          <a:p>
            <a:pPr indent="0" marL="0">
              <a:buNone/>
            </a:pPr>
            <a:r>
              <a:rPr lang="en-US" sz="1100" b="1" spc="260" kern="0" dirty="0">
                <a:solidFill>
                  <a:srgbClr val="9A7A25"/>
                </a:solidFill>
                <a:latin typeface="Calibri" pitchFamily="34" charset="0"/>
                <a:ea typeface="Calibri" pitchFamily="34" charset="-122"/>
                <a:cs typeface="Calibri" pitchFamily="34" charset="-120"/>
              </a:rPr>
              <a:t>03</a:t>
            </a:r>
            <a:endParaRPr lang="en-US" sz="1100" dirty="0"/>
          </a:p>
        </p:txBody>
      </p:sp>
      <p:sp>
        <p:nvSpPr>
          <p:cNvPr id="3" name="Text 1"/>
          <p:cNvSpPr/>
          <p:nvPr/>
        </p:nvSpPr>
        <p:spPr>
          <a:xfrm>
            <a:off x="777240" y="768096"/>
            <a:ext cx="10637215" cy="603504"/>
          </a:xfrm>
          <a:prstGeom prst="rect">
            <a:avLst/>
          </a:prstGeom>
          <a:noFill/>
          <a:ln/>
        </p:spPr>
        <p:txBody>
          <a:bodyPr wrap="square" lIns="0" tIns="0" rIns="0" bIns="0" rtlCol="0" anchor="ctr"/>
          <a:lstStyle/>
          <a:p>
            <a:pPr indent="0" marL="0">
              <a:buNone/>
            </a:pPr>
            <a:r>
              <a:rPr lang="en-US" sz="3800" b="1" spc="-60" kern="0" dirty="0">
                <a:solidFill>
                  <a:srgbClr val="14181D"/>
                </a:solidFill>
                <a:latin typeface="Cambria" pitchFamily="34" charset="0"/>
                <a:ea typeface="Cambria" pitchFamily="34" charset="-122"/>
                <a:cs typeface="Cambria" pitchFamily="34" charset="-120"/>
              </a:rPr>
              <a:t>The gap</a:t>
            </a:r>
            <a:endParaRPr lang="en-US" sz="3800" dirty="0"/>
          </a:p>
        </p:txBody>
      </p:sp>
      <p:sp>
        <p:nvSpPr>
          <p:cNvPr id="4" name="Text 2"/>
          <p:cNvSpPr/>
          <p:nvPr/>
        </p:nvSpPr>
        <p:spPr>
          <a:xfrm>
            <a:off x="777240" y="1463040"/>
            <a:ext cx="9539935" cy="457200"/>
          </a:xfrm>
          <a:prstGeom prst="rect">
            <a:avLst/>
          </a:prstGeom>
          <a:noFill/>
          <a:ln/>
        </p:spPr>
        <p:txBody>
          <a:bodyPr wrap="square" lIns="0" tIns="0" rIns="0" bIns="0" rtlCol="0" anchor="t"/>
          <a:lstStyle/>
          <a:p>
            <a:pPr indent="0" marL="0">
              <a:lnSpc>
                <a:spcPts val="2200"/>
              </a:lnSpc>
              <a:buNone/>
            </a:pPr>
            <a:r>
              <a:rPr lang="en-US" sz="1550" dirty="0">
                <a:solidFill>
                  <a:srgbClr val="555C64"/>
                </a:solidFill>
                <a:latin typeface="Calibri" pitchFamily="34" charset="0"/>
                <a:ea typeface="Calibri" pitchFamily="34" charset="-122"/>
                <a:cs typeface="Calibri" pitchFamily="34" charset="-120"/>
              </a:rPr>
              <a:t>Every major Indian platform runs the same business: collect a lead, sell it to several brokers, let them fight over it.</a:t>
            </a:r>
            <a:endParaRPr lang="en-US" sz="1550" dirty="0"/>
          </a:p>
        </p:txBody>
      </p:sp>
      <p:sp>
        <p:nvSpPr>
          <p:cNvPr id="5" name="Shape 3"/>
          <p:cNvSpPr/>
          <p:nvPr/>
        </p:nvSpPr>
        <p:spPr>
          <a:xfrm>
            <a:off x="777240" y="2066544"/>
            <a:ext cx="5181448" cy="3063240"/>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6" name="Text 4"/>
          <p:cNvSpPr/>
          <p:nvPr/>
        </p:nvSpPr>
        <p:spPr>
          <a:xfrm>
            <a:off x="1069848" y="2304288"/>
            <a:ext cx="4596232" cy="365760"/>
          </a:xfrm>
          <a:prstGeom prst="rect">
            <a:avLst/>
          </a:prstGeom>
          <a:noFill/>
          <a:ln/>
        </p:spPr>
        <p:txBody>
          <a:bodyPr wrap="square" lIns="0" tIns="0" rIns="0" bIns="0" rtlCol="0" anchor="ctr"/>
          <a:lstStyle/>
          <a:p>
            <a:pPr indent="0" marL="0">
              <a:buNone/>
            </a:pPr>
            <a:r>
              <a:rPr lang="en-US" sz="1700" b="1" dirty="0">
                <a:solidFill>
                  <a:srgbClr val="14181D"/>
                </a:solidFill>
                <a:latin typeface="Cambria" pitchFamily="34" charset="0"/>
                <a:ea typeface="Cambria" pitchFamily="34" charset="-122"/>
                <a:cs typeface="Cambria" pitchFamily="34" charset="-120"/>
              </a:rPr>
              <a:t>What buyers complain about</a:t>
            </a:r>
            <a:endParaRPr lang="en-US" sz="1700" dirty="0"/>
          </a:p>
        </p:txBody>
      </p:sp>
      <p:sp>
        <p:nvSpPr>
          <p:cNvPr id="7" name="Text 5"/>
          <p:cNvSpPr/>
          <p:nvPr/>
        </p:nvSpPr>
        <p:spPr>
          <a:xfrm>
            <a:off x="1069848" y="2779776"/>
            <a:ext cx="4596232" cy="2148840"/>
          </a:xfrm>
          <a:prstGeom prst="rect">
            <a:avLst/>
          </a:prstGeom>
          <a:noFill/>
          <a:ln/>
        </p:spPr>
        <p:txBody>
          <a:bodyPr wrap="square" lIns="0" tIns="0" rIns="0" bIns="0" rtlCol="0" anchor="ctr"/>
          <a:lstStyle/>
          <a:p>
            <a:pPr marL="342900" indent="-342900">
              <a:lnSpc>
                <a:spcPts val="1800"/>
              </a:lnSpc>
              <a:spcAft>
                <a:spcPts val="1000"/>
              </a:spcAft>
              <a:buSzPct val="100000"/>
              <a:buChar char="•"/>
            </a:pPr>
            <a:r>
              <a:rPr lang="en-US" sz="1300" dirty="0">
                <a:solidFill>
                  <a:srgbClr val="555C64"/>
                </a:solidFill>
                <a:latin typeface="Calibri" pitchFamily="34" charset="0"/>
                <a:ea typeface="Calibri" pitchFamily="34" charset="-122"/>
                <a:cs typeface="Calibri" pitchFamily="34" charset="-120"/>
              </a:rPr>
              <a:t>Spam is complaint number one across reviews of every major portal</a:t>
            </a:r>
            <a:endParaRPr lang="en-US" sz="1300" dirty="0"/>
          </a:p>
          <a:p>
            <a:pPr marL="342900" indent="-342900">
              <a:lnSpc>
                <a:spcPts val="1800"/>
              </a:lnSpc>
              <a:spcAft>
                <a:spcPts val="1000"/>
              </a:spcAft>
              <a:buSzPct val="100000"/>
              <a:buChar char="•"/>
            </a:pPr>
            <a:r>
              <a:rPr lang="en-US" sz="1300" dirty="0">
                <a:solidFill>
                  <a:srgbClr val="555C64"/>
                </a:solidFill>
                <a:latin typeface="Calibri" pitchFamily="34" charset="0"/>
                <a:ea typeface="Calibri" pitchFamily="34" charset="-122"/>
                <a:cs typeface="Calibri" pitchFamily="34" charset="-120"/>
              </a:rPr>
              <a:t>People keep a second “property phone” — or change their number</a:t>
            </a:r>
            <a:endParaRPr lang="en-US" sz="1300" dirty="0"/>
          </a:p>
          <a:p>
            <a:pPr marL="342900" indent="-342900">
              <a:lnSpc>
                <a:spcPts val="1800"/>
              </a:lnSpc>
              <a:spcAft>
                <a:spcPts val="1000"/>
              </a:spcAft>
              <a:buSzPct val="100000"/>
              <a:buChar char="•"/>
            </a:pPr>
            <a:r>
              <a:rPr lang="en-US" sz="1300" dirty="0">
                <a:solidFill>
                  <a:srgbClr val="555C64"/>
                </a:solidFill>
                <a:latin typeface="Calibri" pitchFamily="34" charset="0"/>
                <a:ea typeface="Calibri" pitchFamily="34" charset="-122"/>
                <a:cs typeface="Calibri" pitchFamily="34" charset="-120"/>
              </a:rPr>
              <a:t>43% report encountering fraudulent listings</a:t>
            </a:r>
            <a:endParaRPr lang="en-US" sz="1300" dirty="0"/>
          </a:p>
          <a:p>
            <a:pPr marL="342900" indent="-342900">
              <a:lnSpc>
                <a:spcPts val="1800"/>
              </a:lnSpc>
              <a:spcAft>
                <a:spcPts val="1000"/>
              </a:spcAft>
              <a:buSzPct val="100000"/>
              <a:buChar char="•"/>
            </a:pPr>
            <a:r>
              <a:rPr lang="en-US" sz="1300" dirty="0">
                <a:solidFill>
                  <a:srgbClr val="555C64"/>
                </a:solidFill>
                <a:latin typeface="Calibri" pitchFamily="34" charset="0"/>
                <a:ea typeface="Calibri" pitchFamily="34" charset="-122"/>
                <a:cs typeface="Calibri" pitchFamily="34" charset="-120"/>
              </a:rPr>
              <a:t>Listings cloned across portals; AI-generated fake interiors</a:t>
            </a:r>
            <a:endParaRPr lang="en-US" sz="1300" dirty="0"/>
          </a:p>
          <a:p>
            <a:pPr marL="342900" indent="-342900">
              <a:lnSpc>
                <a:spcPts val="1800"/>
              </a:lnSpc>
              <a:spcAft>
                <a:spcPts val="1000"/>
              </a:spcAft>
              <a:buSzPct val="100000"/>
              <a:buChar char="•"/>
            </a:pPr>
            <a:r>
              <a:rPr lang="en-US" sz="1300" dirty="0">
                <a:solidFill>
                  <a:srgbClr val="555C64"/>
                </a:solidFill>
                <a:latin typeface="Calibri" pitchFamily="34" charset="0"/>
                <a:ea typeface="Calibri" pitchFamily="34" charset="-122"/>
                <a:cs typeface="Calibri" pitchFamily="34" charset="-120"/>
              </a:rPr>
              <a:t>The same flat listed by eight brokers at six different prices</a:t>
            </a:r>
            <a:endParaRPr lang="en-US" sz="1300" dirty="0"/>
          </a:p>
        </p:txBody>
      </p:sp>
      <p:sp>
        <p:nvSpPr>
          <p:cNvPr id="8" name="Shape 6"/>
          <p:cNvSpPr/>
          <p:nvPr/>
        </p:nvSpPr>
        <p:spPr>
          <a:xfrm>
            <a:off x="6233008" y="2066544"/>
            <a:ext cx="5181448" cy="3063240"/>
          </a:xfrm>
          <a:prstGeom prst="rect">
            <a:avLst/>
          </a:prstGeom>
          <a:solidFill>
            <a:srgbClr val="14181D"/>
          </a:solidFill>
          <a:ln/>
        </p:spPr>
      </p:sp>
      <p:sp>
        <p:nvSpPr>
          <p:cNvPr id="9" name="Text 7"/>
          <p:cNvSpPr/>
          <p:nvPr/>
        </p:nvSpPr>
        <p:spPr>
          <a:xfrm>
            <a:off x="6525616" y="2304288"/>
            <a:ext cx="4596232" cy="365760"/>
          </a:xfrm>
          <a:prstGeom prst="rect">
            <a:avLst/>
          </a:prstGeom>
          <a:noFill/>
          <a:ln/>
        </p:spPr>
        <p:txBody>
          <a:bodyPr wrap="square" lIns="0" tIns="0" rIns="0" bIns="0" rtlCol="0" anchor="ctr"/>
          <a:lstStyle/>
          <a:p>
            <a:pPr indent="0" marL="0">
              <a:buNone/>
            </a:pPr>
            <a:r>
              <a:rPr lang="en-US" sz="1700" b="1" dirty="0">
                <a:solidFill>
                  <a:srgbClr val="D9B061"/>
                </a:solidFill>
                <a:latin typeface="Cambria" pitchFamily="34" charset="0"/>
                <a:ea typeface="Cambria" pitchFamily="34" charset="-122"/>
                <a:cs typeface="Cambria" pitchFamily="34" charset="-120"/>
              </a:rPr>
              <a:t>Why nobody fixes it</a:t>
            </a:r>
            <a:endParaRPr lang="en-US" sz="1700" dirty="0"/>
          </a:p>
        </p:txBody>
      </p:sp>
      <p:sp>
        <p:nvSpPr>
          <p:cNvPr id="10" name="Text 8"/>
          <p:cNvSpPr/>
          <p:nvPr/>
        </p:nvSpPr>
        <p:spPr>
          <a:xfrm>
            <a:off x="6525616" y="2779776"/>
            <a:ext cx="4596232" cy="2148840"/>
          </a:xfrm>
          <a:prstGeom prst="rect">
            <a:avLst/>
          </a:prstGeom>
          <a:noFill/>
          <a:ln/>
        </p:spPr>
        <p:txBody>
          <a:bodyPr wrap="square" lIns="0" tIns="0" rIns="0" bIns="0" rtlCol="0" anchor="ctr"/>
          <a:lstStyle/>
          <a:p>
            <a:pPr indent="0" marL="0">
              <a:lnSpc>
                <a:spcPts val="2100"/>
              </a:lnSpc>
              <a:buNone/>
            </a:pPr>
            <a:r>
              <a:rPr lang="en-US" sz="1350" dirty="0">
                <a:solidFill>
                  <a:srgbClr val="B6BEC7"/>
                </a:solidFill>
                <a:latin typeface="Calibri" pitchFamily="34" charset="0"/>
                <a:ea typeface="Calibri" pitchFamily="34" charset="-122"/>
                <a:cs typeface="Calibri" pitchFamily="34" charset="-120"/>
              </a:rPr>
              <a:t>They can't. Reselling one lead to eight brokers IS the revenue model.</a:t>
            </a:r>
            <a:endParaRPr lang="en-US" sz="1350" dirty="0"/>
          </a:p>
          <a:p>
            <a:pPr indent="0" marL="0">
              <a:lnSpc>
                <a:spcPts val="2100"/>
              </a:lnSpc>
              <a:buNone/>
            </a:pPr>
            <a:endParaRPr lang="en-US" sz="1350" dirty="0"/>
          </a:p>
          <a:p>
            <a:pPr indent="0" marL="0">
              <a:lnSpc>
                <a:spcPts val="2100"/>
              </a:lnSpc>
              <a:buNone/>
            </a:pPr>
            <a:r>
              <a:rPr lang="en-US" sz="1350" dirty="0">
                <a:solidFill>
                  <a:srgbClr val="B6BEC7"/>
                </a:solidFill>
                <a:latin typeface="Calibri" pitchFamily="34" charset="0"/>
                <a:ea typeface="Calibri" pitchFamily="34" charset="-122"/>
                <a:cs typeface="Calibri" pitchFamily="34" charset="-120"/>
              </a:rPr>
              <a:t>A portal that promised never to share your number would have to dismantle its own P&amp;L to keep the promise.</a:t>
            </a:r>
            <a:endParaRPr lang="en-US" sz="1350" dirty="0"/>
          </a:p>
          <a:p>
            <a:pPr indent="0" marL="0">
              <a:lnSpc>
                <a:spcPts val="2100"/>
              </a:lnSpc>
              <a:buNone/>
            </a:pPr>
            <a:endParaRPr lang="en-US" sz="1350" dirty="0"/>
          </a:p>
          <a:p>
            <a:pPr indent="0" marL="0">
              <a:lnSpc>
                <a:spcPts val="2100"/>
              </a:lnSpc>
              <a:buNone/>
            </a:pPr>
            <a:r>
              <a:rPr lang="en-US" sz="1350" dirty="0">
                <a:solidFill>
                  <a:srgbClr val="B6BEC7"/>
                </a:solidFill>
                <a:latin typeface="Calibri" pitchFamily="34" charset="0"/>
                <a:ea typeface="Calibri" pitchFamily="34" charset="-122"/>
                <a:cs typeface="Calibri" pitchFamily="34" charset="-120"/>
              </a:rPr>
              <a:t>That's the gap. Not a feature they forgot — a door their business model locks from the inside.</a:t>
            </a:r>
            <a:endParaRPr lang="en-US" sz="1350" dirty="0"/>
          </a:p>
        </p:txBody>
      </p:sp>
      <p:sp>
        <p:nvSpPr>
          <p:cNvPr id="11" name="Text 9"/>
          <p:cNvSpPr/>
          <p:nvPr/>
        </p:nvSpPr>
        <p:spPr>
          <a:xfrm>
            <a:off x="777240" y="5440680"/>
            <a:ext cx="10637215" cy="731520"/>
          </a:xfrm>
          <a:prstGeom prst="rect">
            <a:avLst/>
          </a:prstGeom>
          <a:noFill/>
          <a:ln/>
        </p:spPr>
        <p:txBody>
          <a:bodyPr wrap="square" lIns="0" tIns="0" rIns="0" bIns="0" rtlCol="0" anchor="ctr"/>
          <a:lstStyle/>
          <a:p>
            <a:pPr indent="0" marL="0">
              <a:lnSpc>
                <a:spcPts val="2400"/>
              </a:lnSpc>
              <a:buNone/>
            </a:pPr>
            <a:r>
              <a:rPr lang="en-US" sz="1550" dirty="0">
                <a:solidFill>
                  <a:srgbClr val="14181D"/>
                </a:solidFill>
                <a:latin typeface="Calibri" pitchFamily="34" charset="0"/>
                <a:ea typeface="Calibri" pitchFamily="34" charset="-122"/>
                <a:cs typeface="Calibri" pitchFamily="34" charset="-120"/>
              </a:rPr>
              <a:t>Meanwhile the question buyers most want answered — which of these should I actually buy? — is served by nobody. Portals answer “what is available.” Nobody answers “what is good.”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1D"/>
        </a:solidFill>
      </p:bgPr>
    </p:bg>
    <p:spTree>
      <p:nvGrpSpPr>
        <p:cNvPr id="1" name=""/>
        <p:cNvGrpSpPr/>
        <p:nvPr/>
      </p:nvGrpSpPr>
      <p:grpSpPr>
        <a:xfrm>
          <a:off x="0" y="0"/>
          <a:ext cx="0" cy="0"/>
          <a:chOff x="0" y="0"/>
          <a:chExt cx="0" cy="0"/>
        </a:xfrm>
      </p:grpSpPr>
      <p:sp>
        <p:nvSpPr>
          <p:cNvPr id="2" name="Text 0"/>
          <p:cNvSpPr/>
          <p:nvPr/>
        </p:nvSpPr>
        <p:spPr>
          <a:xfrm>
            <a:off x="777240" y="1463040"/>
            <a:ext cx="10241280" cy="3657600"/>
          </a:xfrm>
          <a:prstGeom prst="rect">
            <a:avLst/>
          </a:prstGeom>
          <a:noFill/>
          <a:ln/>
        </p:spPr>
        <p:txBody>
          <a:bodyPr wrap="square" lIns="0" tIns="0" rIns="0" bIns="0" rtlCol="0" anchor="ctr"/>
          <a:lstStyle/>
          <a:p>
            <a:pPr indent="0" marL="0">
              <a:lnSpc>
                <a:spcPts val="5800"/>
              </a:lnSpc>
              <a:buNone/>
            </a:pPr>
            <a:r>
              <a:rPr lang="en-US" sz="4200" b="1" spc="-80" kern="0" dirty="0">
                <a:solidFill>
                  <a:srgbClr val="FFFFFF"/>
                </a:solidFill>
                <a:latin typeface="Cambria" pitchFamily="34" charset="0"/>
                <a:ea typeface="Cambria" pitchFamily="34" charset="-122"/>
                <a:cs typeface="Cambria" pitchFamily="34" charset="-120"/>
              </a:rPr>
              <a:t>A platform with two million</a:t>
            </a:r>
            <a:endParaRPr lang="en-US" sz="4200" dirty="0"/>
          </a:p>
          <a:p>
            <a:pPr indent="0" marL="0">
              <a:lnSpc>
                <a:spcPts val="5800"/>
              </a:lnSpc>
              <a:buNone/>
            </a:pPr>
            <a:r>
              <a:rPr lang="en-US" sz="4200" b="1" spc="-80" kern="0" dirty="0">
                <a:solidFill>
                  <a:srgbClr val="FFFFFF"/>
                </a:solidFill>
                <a:latin typeface="Cambria" pitchFamily="34" charset="0"/>
                <a:ea typeface="Cambria" pitchFamily="34" charset="-122"/>
                <a:cs typeface="Cambria" pitchFamily="34" charset="-120"/>
              </a:rPr>
              <a:t>listings is worthless if</a:t>
            </a:r>
            <a:endParaRPr lang="en-US" sz="4200" dirty="0"/>
          </a:p>
          <a:p>
            <a:pPr indent="0" marL="0">
              <a:lnSpc>
                <a:spcPts val="5800"/>
              </a:lnSpc>
              <a:buNone/>
            </a:pPr>
            <a:r>
              <a:rPr lang="en-US" sz="4200" b="1" spc="-80" kern="0" dirty="0">
                <a:solidFill>
                  <a:srgbClr val="FFFFFF"/>
                </a:solidFill>
                <a:latin typeface="Cambria" pitchFamily="34" charset="0"/>
                <a:ea typeface="Cambria" pitchFamily="34" charset="-122"/>
                <a:cs typeface="Cambria" pitchFamily="34" charset="-120"/>
              </a:rPr>
              <a:t>enquiring on one gets you</a:t>
            </a:r>
            <a:endParaRPr lang="en-US" sz="4200" dirty="0"/>
          </a:p>
          <a:p>
            <a:pPr indent="0" marL="0">
              <a:lnSpc>
                <a:spcPts val="5800"/>
              </a:lnSpc>
              <a:buNone/>
            </a:pPr>
            <a:r>
              <a:rPr lang="en-US" sz="4200" b="1" spc="-80" kern="0" dirty="0">
                <a:solidFill>
                  <a:srgbClr val="FFFFFF"/>
                </a:solidFill>
                <a:latin typeface="Cambria" pitchFamily="34" charset="0"/>
                <a:ea typeface="Cambria" pitchFamily="34" charset="-122"/>
                <a:cs typeface="Cambria" pitchFamily="34" charset="-120"/>
              </a:rPr>
              <a:t>eight phone calls.</a:t>
            </a:r>
            <a:endParaRPr lang="en-US" sz="4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777240" y="530352"/>
            <a:ext cx="10637215" cy="219456"/>
          </a:xfrm>
          <a:prstGeom prst="rect">
            <a:avLst/>
          </a:prstGeom>
          <a:noFill/>
          <a:ln/>
        </p:spPr>
        <p:txBody>
          <a:bodyPr wrap="square" lIns="0" tIns="0" rIns="0" bIns="0" rtlCol="0" anchor="ctr"/>
          <a:lstStyle/>
          <a:p>
            <a:pPr indent="0" marL="0">
              <a:buNone/>
            </a:pPr>
            <a:r>
              <a:rPr lang="en-US" sz="1100" b="1" spc="260" kern="0" dirty="0">
                <a:solidFill>
                  <a:srgbClr val="9A7A25"/>
                </a:solidFill>
                <a:latin typeface="Calibri" pitchFamily="34" charset="0"/>
                <a:ea typeface="Calibri" pitchFamily="34" charset="-122"/>
                <a:cs typeface="Calibri" pitchFamily="34" charset="-120"/>
              </a:rPr>
              <a:t>04</a:t>
            </a:r>
            <a:endParaRPr lang="en-US" sz="1100" dirty="0"/>
          </a:p>
        </p:txBody>
      </p:sp>
      <p:sp>
        <p:nvSpPr>
          <p:cNvPr id="3" name="Text 1"/>
          <p:cNvSpPr/>
          <p:nvPr/>
        </p:nvSpPr>
        <p:spPr>
          <a:xfrm>
            <a:off x="777240" y="768096"/>
            <a:ext cx="10637215" cy="603504"/>
          </a:xfrm>
          <a:prstGeom prst="rect">
            <a:avLst/>
          </a:prstGeom>
          <a:noFill/>
          <a:ln/>
        </p:spPr>
        <p:txBody>
          <a:bodyPr wrap="square" lIns="0" tIns="0" rIns="0" bIns="0" rtlCol="0" anchor="ctr"/>
          <a:lstStyle/>
          <a:p>
            <a:pPr indent="0" marL="0">
              <a:buNone/>
            </a:pPr>
            <a:r>
              <a:rPr lang="en-US" sz="3800" b="1" spc="-60" kern="0" dirty="0">
                <a:solidFill>
                  <a:srgbClr val="14181D"/>
                </a:solidFill>
                <a:latin typeface="Cambria" pitchFamily="34" charset="0"/>
                <a:ea typeface="Cambria" pitchFamily="34" charset="-122"/>
                <a:cs typeface="Cambria" pitchFamily="34" charset="-120"/>
              </a:rPr>
              <a:t>Who we're up against</a:t>
            </a:r>
            <a:endParaRPr lang="en-US" sz="3800" dirty="0"/>
          </a:p>
        </p:txBody>
      </p:sp>
      <p:sp>
        <p:nvSpPr>
          <p:cNvPr id="4" name="Shape 2"/>
          <p:cNvSpPr/>
          <p:nvPr/>
        </p:nvSpPr>
        <p:spPr>
          <a:xfrm>
            <a:off x="777240" y="1591056"/>
            <a:ext cx="10637215" cy="365760"/>
          </a:xfrm>
          <a:prstGeom prst="rect">
            <a:avLst/>
          </a:prstGeom>
          <a:solidFill>
            <a:srgbClr val="14181D"/>
          </a:solidFill>
          <a:ln/>
        </p:spPr>
      </p:sp>
      <p:sp>
        <p:nvSpPr>
          <p:cNvPr id="5" name="Text 3"/>
          <p:cNvSpPr/>
          <p:nvPr/>
        </p:nvSpPr>
        <p:spPr>
          <a:xfrm>
            <a:off x="978408" y="1591056"/>
            <a:ext cx="1417320" cy="365760"/>
          </a:xfrm>
          <a:prstGeom prst="rect">
            <a:avLst/>
          </a:prstGeom>
          <a:noFill/>
          <a:ln/>
        </p:spPr>
        <p:txBody>
          <a:bodyPr wrap="square" lIns="0" tIns="0" rIns="0" bIns="0" rtlCol="0" anchor="ctr"/>
          <a:lstStyle/>
          <a:p>
            <a:pPr indent="0" marL="0">
              <a:buNone/>
            </a:pPr>
            <a:r>
              <a:rPr lang="en-US" sz="900" b="1" spc="130" kern="0" dirty="0">
                <a:solidFill>
                  <a:srgbClr val="B6BEC7"/>
                </a:solidFill>
                <a:latin typeface="Calibri" pitchFamily="34" charset="0"/>
                <a:ea typeface="Calibri" pitchFamily="34" charset="-122"/>
                <a:cs typeface="Calibri" pitchFamily="34" charset="-120"/>
              </a:rPr>
              <a:t>PLAYER</a:t>
            </a:r>
            <a:endParaRPr lang="en-US" sz="900" dirty="0"/>
          </a:p>
        </p:txBody>
      </p:sp>
      <p:sp>
        <p:nvSpPr>
          <p:cNvPr id="6" name="Text 4"/>
          <p:cNvSpPr/>
          <p:nvPr/>
        </p:nvSpPr>
        <p:spPr>
          <a:xfrm>
            <a:off x="2670048" y="1591056"/>
            <a:ext cx="1691640" cy="365760"/>
          </a:xfrm>
          <a:prstGeom prst="rect">
            <a:avLst/>
          </a:prstGeom>
          <a:noFill/>
          <a:ln/>
        </p:spPr>
        <p:txBody>
          <a:bodyPr wrap="square" lIns="0" tIns="0" rIns="0" bIns="0" rtlCol="0" anchor="ctr"/>
          <a:lstStyle/>
          <a:p>
            <a:pPr indent="0" marL="0">
              <a:buNone/>
            </a:pPr>
            <a:r>
              <a:rPr lang="en-US" sz="900" b="1" spc="130" kern="0" dirty="0">
                <a:solidFill>
                  <a:srgbClr val="B6BEC7"/>
                </a:solidFill>
                <a:latin typeface="Calibri" pitchFamily="34" charset="0"/>
                <a:ea typeface="Calibri" pitchFamily="34" charset="-122"/>
                <a:cs typeface="Calibri" pitchFamily="34" charset="-120"/>
              </a:rPr>
              <a:t>SCALE</a:t>
            </a:r>
            <a:endParaRPr lang="en-US" sz="900" dirty="0"/>
          </a:p>
        </p:txBody>
      </p:sp>
      <p:sp>
        <p:nvSpPr>
          <p:cNvPr id="7" name="Text 5"/>
          <p:cNvSpPr/>
          <p:nvPr/>
        </p:nvSpPr>
        <p:spPr>
          <a:xfrm>
            <a:off x="4636008" y="1591056"/>
            <a:ext cx="3154680" cy="365760"/>
          </a:xfrm>
          <a:prstGeom prst="rect">
            <a:avLst/>
          </a:prstGeom>
          <a:noFill/>
          <a:ln/>
        </p:spPr>
        <p:txBody>
          <a:bodyPr wrap="square" lIns="0" tIns="0" rIns="0" bIns="0" rtlCol="0" anchor="ctr"/>
          <a:lstStyle/>
          <a:p>
            <a:pPr indent="0" marL="0">
              <a:buNone/>
            </a:pPr>
            <a:r>
              <a:rPr lang="en-US" sz="900" b="1" spc="130" kern="0" dirty="0">
                <a:solidFill>
                  <a:srgbClr val="B6BEC7"/>
                </a:solidFill>
                <a:latin typeface="Calibri" pitchFamily="34" charset="0"/>
                <a:ea typeface="Calibri" pitchFamily="34" charset="-122"/>
                <a:cs typeface="Calibri" pitchFamily="34" charset="-120"/>
              </a:rPr>
              <a:t>MODEL</a:t>
            </a:r>
            <a:endParaRPr lang="en-US" sz="900" dirty="0"/>
          </a:p>
        </p:txBody>
      </p:sp>
      <p:sp>
        <p:nvSpPr>
          <p:cNvPr id="8" name="Text 6"/>
          <p:cNvSpPr/>
          <p:nvPr/>
        </p:nvSpPr>
        <p:spPr>
          <a:xfrm>
            <a:off x="8065008" y="1591056"/>
            <a:ext cx="3273552" cy="365760"/>
          </a:xfrm>
          <a:prstGeom prst="rect">
            <a:avLst/>
          </a:prstGeom>
          <a:noFill/>
          <a:ln/>
        </p:spPr>
        <p:txBody>
          <a:bodyPr wrap="square" lIns="0" tIns="0" rIns="0" bIns="0" rtlCol="0" anchor="ctr"/>
          <a:lstStyle/>
          <a:p>
            <a:pPr indent="0" marL="0">
              <a:buNone/>
            </a:pPr>
            <a:r>
              <a:rPr lang="en-US" sz="900" b="1" spc="130" kern="0" dirty="0">
                <a:solidFill>
                  <a:srgbClr val="B6BEC7"/>
                </a:solidFill>
                <a:latin typeface="Calibri" pitchFamily="34" charset="0"/>
                <a:ea typeface="Calibri" pitchFamily="34" charset="-122"/>
                <a:cs typeface="Calibri" pitchFamily="34" charset="-120"/>
              </a:rPr>
              <a:t>WHERE THEY'RE WEAK</a:t>
            </a:r>
            <a:endParaRPr lang="en-US" sz="900" dirty="0"/>
          </a:p>
        </p:txBody>
      </p:sp>
      <p:sp>
        <p:nvSpPr>
          <p:cNvPr id="9" name="Shape 7"/>
          <p:cNvSpPr/>
          <p:nvPr/>
        </p:nvSpPr>
        <p:spPr>
          <a:xfrm>
            <a:off x="777240" y="2011680"/>
            <a:ext cx="10637215" cy="713232"/>
          </a:xfrm>
          <a:prstGeom prst="rect">
            <a:avLst/>
          </a:prstGeom>
          <a:solidFill>
            <a:srgbClr val="FFFFFF"/>
          </a:solidFill>
          <a:ln/>
        </p:spPr>
      </p:sp>
      <p:sp>
        <p:nvSpPr>
          <p:cNvPr id="10" name="Text 8"/>
          <p:cNvSpPr/>
          <p:nvPr/>
        </p:nvSpPr>
        <p:spPr>
          <a:xfrm>
            <a:off x="978408" y="2011680"/>
            <a:ext cx="1380744" cy="713232"/>
          </a:xfrm>
          <a:prstGeom prst="rect">
            <a:avLst/>
          </a:prstGeom>
          <a:noFill/>
          <a:ln/>
        </p:spPr>
        <p:txBody>
          <a:bodyPr wrap="square" lIns="0" tIns="0" rIns="0" bIns="0" rtlCol="0" anchor="ctr"/>
          <a:lstStyle/>
          <a:p>
            <a:pPr indent="0" marL="0">
              <a:lnSpc>
                <a:spcPts val="1500"/>
              </a:lnSpc>
              <a:buNone/>
            </a:pPr>
            <a:r>
              <a:rPr lang="en-US" sz="1350" b="1" dirty="0">
                <a:solidFill>
                  <a:srgbClr val="14181D"/>
                </a:solidFill>
                <a:latin typeface="Cambria" pitchFamily="34" charset="0"/>
                <a:ea typeface="Cambria" pitchFamily="34" charset="-122"/>
                <a:cs typeface="Cambria" pitchFamily="34" charset="-120"/>
              </a:rPr>
              <a:t>NoBroker</a:t>
            </a:r>
            <a:endParaRPr lang="en-US" sz="1350" dirty="0"/>
          </a:p>
        </p:txBody>
      </p:sp>
      <p:sp>
        <p:nvSpPr>
          <p:cNvPr id="11" name="Text 9"/>
          <p:cNvSpPr/>
          <p:nvPr/>
        </p:nvSpPr>
        <p:spPr>
          <a:xfrm>
            <a:off x="2670048" y="2011680"/>
            <a:ext cx="1655064" cy="713232"/>
          </a:xfrm>
          <a:prstGeom prst="rect">
            <a:avLst/>
          </a:prstGeom>
          <a:noFill/>
          <a:ln/>
        </p:spPr>
        <p:txBody>
          <a:bodyPr wrap="square" lIns="0" tIns="0" rIns="0" bIns="0" rtlCol="0" anchor="ctr"/>
          <a:lstStyle/>
          <a:p>
            <a:pPr indent="0" marL="0">
              <a:lnSpc>
                <a:spcPts val="1400"/>
              </a:lnSpc>
              <a:buNone/>
            </a:pPr>
            <a:r>
              <a:rPr lang="en-US" sz="1100" dirty="0">
                <a:solidFill>
                  <a:srgbClr val="555C64"/>
                </a:solidFill>
                <a:latin typeface="Calibri" pitchFamily="34" charset="0"/>
                <a:ea typeface="Calibri" pitchFamily="34" charset="-122"/>
                <a:cs typeface="Calibri" pitchFamily="34" charset="-120"/>
              </a:rPr>
              <a:t>₹803cr FY24, +32%</a:t>
            </a:r>
            <a:endParaRPr lang="en-US" sz="1100" dirty="0"/>
          </a:p>
          <a:p>
            <a:pPr indent="0" marL="0">
              <a:lnSpc>
                <a:spcPts val="1400"/>
              </a:lnSpc>
              <a:buNone/>
            </a:pPr>
            <a:r>
              <a:rPr lang="en-US" sz="1100" dirty="0">
                <a:solidFill>
                  <a:srgbClr val="555C64"/>
                </a:solidFill>
                <a:latin typeface="Calibri" pitchFamily="34" charset="0"/>
                <a:ea typeface="Calibri" pitchFamily="34" charset="-122"/>
                <a:cs typeface="Calibri" pitchFamily="34" charset="-120"/>
              </a:rPr>
              <a:t>34mn installs</a:t>
            </a:r>
            <a:endParaRPr lang="en-US" sz="1100" dirty="0"/>
          </a:p>
          <a:p>
            <a:pPr indent="0" marL="0">
              <a:lnSpc>
                <a:spcPts val="1400"/>
              </a:lnSpc>
              <a:buNone/>
            </a:pPr>
            <a:r>
              <a:rPr lang="en-US" sz="1100" dirty="0">
                <a:solidFill>
                  <a:srgbClr val="555C64"/>
                </a:solidFill>
                <a:latin typeface="Calibri" pitchFamily="34" charset="0"/>
                <a:ea typeface="Calibri" pitchFamily="34" charset="-122"/>
                <a:cs typeface="Calibri" pitchFamily="34" charset="-120"/>
              </a:rPr>
              <a:t>3.2mn monthly users</a:t>
            </a:r>
            <a:endParaRPr lang="en-US" sz="1100" dirty="0"/>
          </a:p>
        </p:txBody>
      </p:sp>
      <p:sp>
        <p:nvSpPr>
          <p:cNvPr id="12" name="Text 10"/>
          <p:cNvSpPr/>
          <p:nvPr/>
        </p:nvSpPr>
        <p:spPr>
          <a:xfrm>
            <a:off x="4636008" y="2011680"/>
            <a:ext cx="3118104" cy="713232"/>
          </a:xfrm>
          <a:prstGeom prst="rect">
            <a:avLst/>
          </a:prstGeom>
          <a:noFill/>
          <a:ln/>
        </p:spPr>
        <p:txBody>
          <a:bodyPr wrap="square" lIns="0" tIns="0" rIns="0" bIns="0" rtlCol="0" anchor="ctr"/>
          <a:lstStyle/>
          <a:p>
            <a:pPr indent="0" marL="0">
              <a:lnSpc>
                <a:spcPts val="1500"/>
              </a:lnSpc>
              <a:buNone/>
            </a:pPr>
            <a:r>
              <a:rPr lang="en-US" sz="1100" dirty="0">
                <a:solidFill>
                  <a:srgbClr val="555C64"/>
                </a:solidFill>
                <a:latin typeface="Calibri" pitchFamily="34" charset="0"/>
                <a:ea typeface="Calibri" pitchFamily="34" charset="-122"/>
                <a:cs typeface="Calibri" pitchFamily="34" charset="-120"/>
              </a:rPr>
              <a:t>Zero brokerage. ₹999 subscription. Services — loans, movers, interiors. Bank referrals ~₹120cr.</a:t>
            </a:r>
            <a:endParaRPr lang="en-US" sz="1100" dirty="0"/>
          </a:p>
        </p:txBody>
      </p:sp>
      <p:sp>
        <p:nvSpPr>
          <p:cNvPr id="13" name="Text 11"/>
          <p:cNvSpPr/>
          <p:nvPr/>
        </p:nvSpPr>
        <p:spPr>
          <a:xfrm>
            <a:off x="8065008" y="2011680"/>
            <a:ext cx="3236976" cy="713232"/>
          </a:xfrm>
          <a:prstGeom prst="rect">
            <a:avLst/>
          </a:prstGeom>
          <a:noFill/>
          <a:ln/>
        </p:spPr>
        <p:txBody>
          <a:bodyPr wrap="square" lIns="0" tIns="0" rIns="0" bIns="0" rtlCol="0" anchor="ctr"/>
          <a:lstStyle/>
          <a:p>
            <a:pPr indent="0" marL="0">
              <a:lnSpc>
                <a:spcPts val="1500"/>
              </a:lnSpc>
              <a:buNone/>
            </a:pPr>
            <a:r>
              <a:rPr lang="en-US" sz="1100" dirty="0">
                <a:solidFill>
                  <a:srgbClr val="555C64"/>
                </a:solidFill>
                <a:latin typeface="Calibri" pitchFamily="34" charset="0"/>
                <a:ea typeface="Calibri" pitchFamily="34" charset="-122"/>
                <a:cs typeface="Calibri" pitchFamily="34" charset="-120"/>
              </a:rPr>
              <a:t>Built for rentals and resale, not new launches. Thin on premium. No advisory layer.</a:t>
            </a:r>
            <a:endParaRPr lang="en-US" sz="1100" dirty="0"/>
          </a:p>
        </p:txBody>
      </p:sp>
      <p:sp>
        <p:nvSpPr>
          <p:cNvPr id="14" name="Shape 12"/>
          <p:cNvSpPr/>
          <p:nvPr/>
        </p:nvSpPr>
        <p:spPr>
          <a:xfrm>
            <a:off x="777240" y="2779776"/>
            <a:ext cx="10637215" cy="713232"/>
          </a:xfrm>
          <a:prstGeom prst="rect">
            <a:avLst/>
          </a:prstGeom>
          <a:solidFill>
            <a:srgbClr val="FFFFFF"/>
          </a:solidFill>
          <a:ln/>
        </p:spPr>
      </p:sp>
      <p:sp>
        <p:nvSpPr>
          <p:cNvPr id="15" name="Text 13"/>
          <p:cNvSpPr/>
          <p:nvPr/>
        </p:nvSpPr>
        <p:spPr>
          <a:xfrm>
            <a:off x="978408" y="2779776"/>
            <a:ext cx="1380744" cy="713232"/>
          </a:xfrm>
          <a:prstGeom prst="rect">
            <a:avLst/>
          </a:prstGeom>
          <a:noFill/>
          <a:ln/>
        </p:spPr>
        <p:txBody>
          <a:bodyPr wrap="square" lIns="0" tIns="0" rIns="0" bIns="0" rtlCol="0" anchor="ctr"/>
          <a:lstStyle/>
          <a:p>
            <a:pPr indent="0" marL="0">
              <a:lnSpc>
                <a:spcPts val="1500"/>
              </a:lnSpc>
              <a:buNone/>
            </a:pPr>
            <a:r>
              <a:rPr lang="en-US" sz="1350" b="1" dirty="0">
                <a:solidFill>
                  <a:srgbClr val="14181D"/>
                </a:solidFill>
                <a:latin typeface="Cambria" pitchFamily="34" charset="0"/>
                <a:ea typeface="Cambria" pitchFamily="34" charset="-122"/>
                <a:cs typeface="Cambria" pitchFamily="34" charset="-120"/>
              </a:rPr>
              <a:t>99acres</a:t>
            </a:r>
            <a:endParaRPr lang="en-US" sz="1350" dirty="0"/>
          </a:p>
        </p:txBody>
      </p:sp>
      <p:sp>
        <p:nvSpPr>
          <p:cNvPr id="16" name="Text 14"/>
          <p:cNvSpPr/>
          <p:nvPr/>
        </p:nvSpPr>
        <p:spPr>
          <a:xfrm>
            <a:off x="2670048" y="2779776"/>
            <a:ext cx="1655064" cy="713232"/>
          </a:xfrm>
          <a:prstGeom prst="rect">
            <a:avLst/>
          </a:prstGeom>
          <a:noFill/>
          <a:ln/>
        </p:spPr>
        <p:txBody>
          <a:bodyPr wrap="square" lIns="0" tIns="0" rIns="0" bIns="0" rtlCol="0" anchor="ctr"/>
          <a:lstStyle/>
          <a:p>
            <a:pPr indent="0" marL="0">
              <a:lnSpc>
                <a:spcPts val="1400"/>
              </a:lnSpc>
              <a:buNone/>
            </a:pPr>
            <a:r>
              <a:rPr lang="en-US" sz="1100" dirty="0">
                <a:solidFill>
                  <a:srgbClr val="555C64"/>
                </a:solidFill>
                <a:latin typeface="Calibri" pitchFamily="34" charset="0"/>
                <a:ea typeface="Calibri" pitchFamily="34" charset="-122"/>
                <a:cs typeface="Calibri" pitchFamily="34" charset="-120"/>
              </a:rPr>
              <a:t>~13.3mn visits / month</a:t>
            </a:r>
            <a:endParaRPr lang="en-US" sz="1100" dirty="0"/>
          </a:p>
        </p:txBody>
      </p:sp>
      <p:sp>
        <p:nvSpPr>
          <p:cNvPr id="17" name="Text 15"/>
          <p:cNvSpPr/>
          <p:nvPr/>
        </p:nvSpPr>
        <p:spPr>
          <a:xfrm>
            <a:off x="4636008" y="2779776"/>
            <a:ext cx="3118104" cy="713232"/>
          </a:xfrm>
          <a:prstGeom prst="rect">
            <a:avLst/>
          </a:prstGeom>
          <a:noFill/>
          <a:ln/>
        </p:spPr>
        <p:txBody>
          <a:bodyPr wrap="square" lIns="0" tIns="0" rIns="0" bIns="0" rtlCol="0" anchor="ctr"/>
          <a:lstStyle/>
          <a:p>
            <a:pPr indent="0" marL="0">
              <a:lnSpc>
                <a:spcPts val="1500"/>
              </a:lnSpc>
              <a:buNone/>
            </a:pPr>
            <a:r>
              <a:rPr lang="en-US" sz="1100" dirty="0">
                <a:solidFill>
                  <a:srgbClr val="555C64"/>
                </a:solidFill>
                <a:latin typeface="Calibri" pitchFamily="34" charset="0"/>
                <a:ea typeface="Calibri" pitchFamily="34" charset="-122"/>
                <a:cs typeface="Calibri" pitchFamily="34" charset="-120"/>
              </a:rPr>
              <a:t>Classifieds. Developers and brokers pay to list and be seen.</a:t>
            </a:r>
            <a:endParaRPr lang="en-US" sz="1100" dirty="0"/>
          </a:p>
        </p:txBody>
      </p:sp>
      <p:sp>
        <p:nvSpPr>
          <p:cNvPr id="18" name="Text 16"/>
          <p:cNvSpPr/>
          <p:nvPr/>
        </p:nvSpPr>
        <p:spPr>
          <a:xfrm>
            <a:off x="8065008" y="2779776"/>
            <a:ext cx="3236976" cy="713232"/>
          </a:xfrm>
          <a:prstGeom prst="rect">
            <a:avLst/>
          </a:prstGeom>
          <a:noFill/>
          <a:ln/>
        </p:spPr>
        <p:txBody>
          <a:bodyPr wrap="square" lIns="0" tIns="0" rIns="0" bIns="0" rtlCol="0" anchor="ctr"/>
          <a:lstStyle/>
          <a:p>
            <a:pPr indent="0" marL="0">
              <a:lnSpc>
                <a:spcPts val="1500"/>
              </a:lnSpc>
              <a:buNone/>
            </a:pPr>
            <a:r>
              <a:rPr lang="en-US" sz="1100" dirty="0">
                <a:solidFill>
                  <a:srgbClr val="555C64"/>
                </a:solidFill>
                <a:latin typeface="Calibri" pitchFamily="34" charset="0"/>
                <a:ea typeface="Calibri" pitchFamily="34" charset="-122"/>
                <a:cs typeface="Calibri" pitchFamily="34" charset="-120"/>
              </a:rPr>
              <a:t>Pure volume. Lead resold repeatedly. No opinion on anything.</a:t>
            </a:r>
            <a:endParaRPr lang="en-US" sz="1100" dirty="0"/>
          </a:p>
        </p:txBody>
      </p:sp>
      <p:sp>
        <p:nvSpPr>
          <p:cNvPr id="19" name="Shape 17"/>
          <p:cNvSpPr/>
          <p:nvPr/>
        </p:nvSpPr>
        <p:spPr>
          <a:xfrm>
            <a:off x="777240" y="3547872"/>
            <a:ext cx="10637215" cy="713232"/>
          </a:xfrm>
          <a:prstGeom prst="rect">
            <a:avLst/>
          </a:prstGeom>
          <a:solidFill>
            <a:srgbClr val="FFFFFF"/>
          </a:solidFill>
          <a:ln/>
        </p:spPr>
      </p:sp>
      <p:sp>
        <p:nvSpPr>
          <p:cNvPr id="20" name="Text 18"/>
          <p:cNvSpPr/>
          <p:nvPr/>
        </p:nvSpPr>
        <p:spPr>
          <a:xfrm>
            <a:off x="978408" y="3547872"/>
            <a:ext cx="1380744" cy="713232"/>
          </a:xfrm>
          <a:prstGeom prst="rect">
            <a:avLst/>
          </a:prstGeom>
          <a:noFill/>
          <a:ln/>
        </p:spPr>
        <p:txBody>
          <a:bodyPr wrap="square" lIns="0" tIns="0" rIns="0" bIns="0" rtlCol="0" anchor="ctr"/>
          <a:lstStyle/>
          <a:p>
            <a:pPr indent="0" marL="0">
              <a:lnSpc>
                <a:spcPts val="1500"/>
              </a:lnSpc>
              <a:buNone/>
            </a:pPr>
            <a:r>
              <a:rPr lang="en-US" sz="1350" b="1" dirty="0">
                <a:solidFill>
                  <a:srgbClr val="14181D"/>
                </a:solidFill>
                <a:latin typeface="Cambria" pitchFamily="34" charset="0"/>
                <a:ea typeface="Cambria" pitchFamily="34" charset="-122"/>
                <a:cs typeface="Cambria" pitchFamily="34" charset="-120"/>
              </a:rPr>
              <a:t>MagicBricks</a:t>
            </a:r>
            <a:endParaRPr lang="en-US" sz="1350" dirty="0"/>
          </a:p>
        </p:txBody>
      </p:sp>
      <p:sp>
        <p:nvSpPr>
          <p:cNvPr id="21" name="Text 19"/>
          <p:cNvSpPr/>
          <p:nvPr/>
        </p:nvSpPr>
        <p:spPr>
          <a:xfrm>
            <a:off x="2670048" y="3547872"/>
            <a:ext cx="1655064" cy="713232"/>
          </a:xfrm>
          <a:prstGeom prst="rect">
            <a:avLst/>
          </a:prstGeom>
          <a:noFill/>
          <a:ln/>
        </p:spPr>
        <p:txBody>
          <a:bodyPr wrap="square" lIns="0" tIns="0" rIns="0" bIns="0" rtlCol="0" anchor="ctr"/>
          <a:lstStyle/>
          <a:p>
            <a:pPr indent="0" marL="0">
              <a:lnSpc>
                <a:spcPts val="1400"/>
              </a:lnSpc>
              <a:buNone/>
            </a:pPr>
            <a:r>
              <a:rPr lang="en-US" sz="1100" dirty="0">
                <a:solidFill>
                  <a:srgbClr val="555C64"/>
                </a:solidFill>
                <a:latin typeface="Calibri" pitchFamily="34" charset="0"/>
                <a:ea typeface="Calibri" pitchFamily="34" charset="-122"/>
                <a:cs typeface="Calibri" pitchFamily="34" charset="-120"/>
              </a:rPr>
              <a:t>~12.1mn visits / month</a:t>
            </a:r>
            <a:endParaRPr lang="en-US" sz="1100" dirty="0"/>
          </a:p>
        </p:txBody>
      </p:sp>
      <p:sp>
        <p:nvSpPr>
          <p:cNvPr id="22" name="Text 20"/>
          <p:cNvSpPr/>
          <p:nvPr/>
        </p:nvSpPr>
        <p:spPr>
          <a:xfrm>
            <a:off x="4636008" y="3547872"/>
            <a:ext cx="3118104" cy="713232"/>
          </a:xfrm>
          <a:prstGeom prst="rect">
            <a:avLst/>
          </a:prstGeom>
          <a:noFill/>
          <a:ln/>
        </p:spPr>
        <p:txBody>
          <a:bodyPr wrap="square" lIns="0" tIns="0" rIns="0" bIns="0" rtlCol="0" anchor="ctr"/>
          <a:lstStyle/>
          <a:p>
            <a:pPr indent="0" marL="0">
              <a:lnSpc>
                <a:spcPts val="1500"/>
              </a:lnSpc>
              <a:buNone/>
            </a:pPr>
            <a:r>
              <a:rPr lang="en-US" sz="1100" dirty="0">
                <a:solidFill>
                  <a:srgbClr val="555C64"/>
                </a:solidFill>
                <a:latin typeface="Calibri" pitchFamily="34" charset="0"/>
                <a:ea typeface="Calibri" pitchFamily="34" charset="-122"/>
                <a:cs typeface="Calibri" pitchFamily="34" charset="-120"/>
              </a:rPr>
              <a:t>Classifieds plus locality data and price trend tools.</a:t>
            </a:r>
            <a:endParaRPr lang="en-US" sz="1100" dirty="0"/>
          </a:p>
        </p:txBody>
      </p:sp>
      <p:sp>
        <p:nvSpPr>
          <p:cNvPr id="23" name="Text 21"/>
          <p:cNvSpPr/>
          <p:nvPr/>
        </p:nvSpPr>
        <p:spPr>
          <a:xfrm>
            <a:off x="8065008" y="3547872"/>
            <a:ext cx="3236976" cy="713232"/>
          </a:xfrm>
          <a:prstGeom prst="rect">
            <a:avLst/>
          </a:prstGeom>
          <a:noFill/>
          <a:ln/>
        </p:spPr>
        <p:txBody>
          <a:bodyPr wrap="square" lIns="0" tIns="0" rIns="0" bIns="0" rtlCol="0" anchor="ctr"/>
          <a:lstStyle/>
          <a:p>
            <a:pPr indent="0" marL="0">
              <a:lnSpc>
                <a:spcPts val="1500"/>
              </a:lnSpc>
              <a:buNone/>
            </a:pPr>
            <a:r>
              <a:rPr lang="en-US" sz="1100" dirty="0">
                <a:solidFill>
                  <a:srgbClr val="555C64"/>
                </a:solidFill>
                <a:latin typeface="Calibri" pitchFamily="34" charset="0"/>
                <a:ea typeface="Calibri" pitchFamily="34" charset="-122"/>
                <a:cs typeface="Calibri" pitchFamily="34" charset="-120"/>
              </a:rPr>
              <a:t>Has data but no judgement. Tools sit beside the same lead-resale engine.</a:t>
            </a:r>
            <a:endParaRPr lang="en-US" sz="1100" dirty="0"/>
          </a:p>
        </p:txBody>
      </p:sp>
      <p:sp>
        <p:nvSpPr>
          <p:cNvPr id="24" name="Shape 22"/>
          <p:cNvSpPr/>
          <p:nvPr/>
        </p:nvSpPr>
        <p:spPr>
          <a:xfrm>
            <a:off x="777240" y="4315968"/>
            <a:ext cx="10637215" cy="713232"/>
          </a:xfrm>
          <a:prstGeom prst="rect">
            <a:avLst/>
          </a:prstGeom>
          <a:solidFill>
            <a:srgbClr val="FFFFFF"/>
          </a:solidFill>
          <a:ln/>
        </p:spPr>
      </p:sp>
      <p:sp>
        <p:nvSpPr>
          <p:cNvPr id="25" name="Text 23"/>
          <p:cNvSpPr/>
          <p:nvPr/>
        </p:nvSpPr>
        <p:spPr>
          <a:xfrm>
            <a:off x="978408" y="4315968"/>
            <a:ext cx="1380744" cy="713232"/>
          </a:xfrm>
          <a:prstGeom prst="rect">
            <a:avLst/>
          </a:prstGeom>
          <a:noFill/>
          <a:ln/>
        </p:spPr>
        <p:txBody>
          <a:bodyPr wrap="square" lIns="0" tIns="0" rIns="0" bIns="0" rtlCol="0" anchor="ctr"/>
          <a:lstStyle/>
          <a:p>
            <a:pPr indent="0" marL="0">
              <a:lnSpc>
                <a:spcPts val="1500"/>
              </a:lnSpc>
              <a:buNone/>
            </a:pPr>
            <a:r>
              <a:rPr lang="en-US" sz="1350" b="1" dirty="0">
                <a:solidFill>
                  <a:srgbClr val="14181D"/>
                </a:solidFill>
                <a:latin typeface="Cambria" pitchFamily="34" charset="0"/>
                <a:ea typeface="Cambria" pitchFamily="34" charset="-122"/>
                <a:cs typeface="Cambria" pitchFamily="34" charset="-120"/>
              </a:rPr>
              <a:t>Housing.com</a:t>
            </a:r>
            <a:endParaRPr lang="en-US" sz="1350" dirty="0"/>
          </a:p>
        </p:txBody>
      </p:sp>
      <p:sp>
        <p:nvSpPr>
          <p:cNvPr id="26" name="Text 24"/>
          <p:cNvSpPr/>
          <p:nvPr/>
        </p:nvSpPr>
        <p:spPr>
          <a:xfrm>
            <a:off x="2670048" y="4315968"/>
            <a:ext cx="1655064" cy="713232"/>
          </a:xfrm>
          <a:prstGeom prst="rect">
            <a:avLst/>
          </a:prstGeom>
          <a:noFill/>
          <a:ln/>
        </p:spPr>
        <p:txBody>
          <a:bodyPr wrap="square" lIns="0" tIns="0" rIns="0" bIns="0" rtlCol="0" anchor="ctr"/>
          <a:lstStyle/>
          <a:p>
            <a:pPr indent="0" marL="0">
              <a:lnSpc>
                <a:spcPts val="1400"/>
              </a:lnSpc>
              <a:buNone/>
            </a:pPr>
            <a:r>
              <a:rPr lang="en-US" sz="1100" dirty="0">
                <a:solidFill>
                  <a:srgbClr val="555C64"/>
                </a:solidFill>
                <a:latin typeface="Calibri" pitchFamily="34" charset="0"/>
                <a:ea typeface="Calibri" pitchFamily="34" charset="-122"/>
                <a:cs typeface="Calibri" pitchFamily="34" charset="-120"/>
              </a:rPr>
              <a:t>~9.8mn visits / month</a:t>
            </a:r>
            <a:endParaRPr lang="en-US" sz="1100" dirty="0"/>
          </a:p>
        </p:txBody>
      </p:sp>
      <p:sp>
        <p:nvSpPr>
          <p:cNvPr id="27" name="Text 25"/>
          <p:cNvSpPr/>
          <p:nvPr/>
        </p:nvSpPr>
        <p:spPr>
          <a:xfrm>
            <a:off x="4636008" y="4315968"/>
            <a:ext cx="3118104" cy="713232"/>
          </a:xfrm>
          <a:prstGeom prst="rect">
            <a:avLst/>
          </a:prstGeom>
          <a:noFill/>
          <a:ln/>
        </p:spPr>
        <p:txBody>
          <a:bodyPr wrap="square" lIns="0" tIns="0" rIns="0" bIns="0" rtlCol="0" anchor="ctr"/>
          <a:lstStyle/>
          <a:p>
            <a:pPr indent="0" marL="0">
              <a:lnSpc>
                <a:spcPts val="1500"/>
              </a:lnSpc>
              <a:buNone/>
            </a:pPr>
            <a:r>
              <a:rPr lang="en-US" sz="1100" dirty="0">
                <a:solidFill>
                  <a:srgbClr val="555C64"/>
                </a:solidFill>
                <a:latin typeface="Calibri" pitchFamily="34" charset="0"/>
                <a:ea typeface="Calibri" pitchFamily="34" charset="-122"/>
                <a:cs typeface="Calibri" pitchFamily="34" charset="-120"/>
              </a:rPr>
              <a:t>Classifieds with better design and mapping.</a:t>
            </a:r>
            <a:endParaRPr lang="en-US" sz="1100" dirty="0"/>
          </a:p>
        </p:txBody>
      </p:sp>
      <p:sp>
        <p:nvSpPr>
          <p:cNvPr id="28" name="Text 26"/>
          <p:cNvSpPr/>
          <p:nvPr/>
        </p:nvSpPr>
        <p:spPr>
          <a:xfrm>
            <a:off x="8065008" y="4315968"/>
            <a:ext cx="3236976" cy="713232"/>
          </a:xfrm>
          <a:prstGeom prst="rect">
            <a:avLst/>
          </a:prstGeom>
          <a:noFill/>
          <a:ln/>
        </p:spPr>
        <p:txBody>
          <a:bodyPr wrap="square" lIns="0" tIns="0" rIns="0" bIns="0" rtlCol="0" anchor="ctr"/>
          <a:lstStyle/>
          <a:p>
            <a:pPr indent="0" marL="0">
              <a:lnSpc>
                <a:spcPts val="1500"/>
              </a:lnSpc>
              <a:buNone/>
            </a:pPr>
            <a:r>
              <a:rPr lang="en-US" sz="1100" dirty="0">
                <a:solidFill>
                  <a:srgbClr val="555C64"/>
                </a:solidFill>
                <a:latin typeface="Calibri" pitchFamily="34" charset="0"/>
                <a:ea typeface="Calibri" pitchFamily="34" charset="-122"/>
                <a:cs typeface="Calibri" pitchFamily="34" charset="-120"/>
              </a:rPr>
              <a:t>Best interface of the four, same underlying business.</a:t>
            </a:r>
            <a:endParaRPr lang="en-US" sz="1100" dirty="0"/>
          </a:p>
        </p:txBody>
      </p:sp>
      <p:sp>
        <p:nvSpPr>
          <p:cNvPr id="29" name="Shape 27"/>
          <p:cNvSpPr/>
          <p:nvPr/>
        </p:nvSpPr>
        <p:spPr>
          <a:xfrm>
            <a:off x="777240" y="5084064"/>
            <a:ext cx="10637215" cy="713232"/>
          </a:xfrm>
          <a:prstGeom prst="rect">
            <a:avLst/>
          </a:prstGeom>
          <a:solidFill>
            <a:srgbClr val="1D242C"/>
          </a:solidFill>
          <a:ln/>
        </p:spPr>
      </p:sp>
      <p:sp>
        <p:nvSpPr>
          <p:cNvPr id="30" name="Text 28"/>
          <p:cNvSpPr/>
          <p:nvPr/>
        </p:nvSpPr>
        <p:spPr>
          <a:xfrm>
            <a:off x="978408" y="5084064"/>
            <a:ext cx="1380744" cy="713232"/>
          </a:xfrm>
          <a:prstGeom prst="rect">
            <a:avLst/>
          </a:prstGeom>
          <a:noFill/>
          <a:ln/>
        </p:spPr>
        <p:txBody>
          <a:bodyPr wrap="square" lIns="0" tIns="0" rIns="0" bIns="0" rtlCol="0" anchor="ctr"/>
          <a:lstStyle/>
          <a:p>
            <a:pPr indent="0" marL="0">
              <a:lnSpc>
                <a:spcPts val="1500"/>
              </a:lnSpc>
              <a:buNone/>
            </a:pPr>
            <a:r>
              <a:rPr lang="en-US" sz="1350" b="1" dirty="0">
                <a:solidFill>
                  <a:srgbClr val="D9B061"/>
                </a:solidFill>
                <a:latin typeface="Cambria" pitchFamily="34" charset="0"/>
                <a:ea typeface="Cambria" pitchFamily="34" charset="-122"/>
                <a:cs typeface="Cambria" pitchFamily="34" charset="-120"/>
              </a:rPr>
              <a:t>Square Yards</a:t>
            </a:r>
            <a:endParaRPr lang="en-US" sz="1350" dirty="0"/>
          </a:p>
        </p:txBody>
      </p:sp>
      <p:sp>
        <p:nvSpPr>
          <p:cNvPr id="31" name="Text 29"/>
          <p:cNvSpPr/>
          <p:nvPr/>
        </p:nvSpPr>
        <p:spPr>
          <a:xfrm>
            <a:off x="2670048" y="5084064"/>
            <a:ext cx="1655064" cy="713232"/>
          </a:xfrm>
          <a:prstGeom prst="rect">
            <a:avLst/>
          </a:prstGeom>
          <a:noFill/>
          <a:ln/>
        </p:spPr>
        <p:txBody>
          <a:bodyPr wrap="square" lIns="0" tIns="0" rIns="0" bIns="0" rtlCol="0" anchor="ctr"/>
          <a:lstStyle/>
          <a:p>
            <a:pPr indent="0" marL="0">
              <a:lnSpc>
                <a:spcPts val="1400"/>
              </a:lnSpc>
              <a:buNone/>
            </a:pPr>
            <a:r>
              <a:rPr lang="en-US" sz="1100" dirty="0">
                <a:solidFill>
                  <a:srgbClr val="B6BEC7"/>
                </a:solidFill>
                <a:latin typeface="Calibri" pitchFamily="34" charset="0"/>
                <a:ea typeface="Calibri" pitchFamily="34" charset="-122"/>
                <a:cs typeface="Calibri" pitchFamily="34" charset="-120"/>
              </a:rPr>
              <a:t>₹1,410cr FY25</a:t>
            </a:r>
            <a:endParaRPr lang="en-US" sz="1100" dirty="0"/>
          </a:p>
          <a:p>
            <a:pPr indent="0" marL="0">
              <a:lnSpc>
                <a:spcPts val="1400"/>
              </a:lnSpc>
              <a:buNone/>
            </a:pPr>
            <a:r>
              <a:rPr lang="en-US" sz="1100" dirty="0">
                <a:solidFill>
                  <a:srgbClr val="B6BEC7"/>
                </a:solidFill>
                <a:latin typeface="Calibri" pitchFamily="34" charset="0"/>
                <a:ea typeface="Calibri" pitchFamily="34" charset="-122"/>
                <a:cs typeface="Calibri" pitchFamily="34" charset="-120"/>
              </a:rPr>
              <a:t>EBITDA ₹46cr</a:t>
            </a:r>
            <a:endParaRPr lang="en-US" sz="1100" dirty="0"/>
          </a:p>
        </p:txBody>
      </p:sp>
      <p:sp>
        <p:nvSpPr>
          <p:cNvPr id="32" name="Text 30"/>
          <p:cNvSpPr/>
          <p:nvPr/>
        </p:nvSpPr>
        <p:spPr>
          <a:xfrm>
            <a:off x="4636008" y="5084064"/>
            <a:ext cx="3118104" cy="713232"/>
          </a:xfrm>
          <a:prstGeom prst="rect">
            <a:avLst/>
          </a:prstGeom>
          <a:noFill/>
          <a:ln/>
        </p:spPr>
        <p:txBody>
          <a:bodyPr wrap="square" lIns="0" tIns="0" rIns="0" bIns="0" rtlCol="0" anchor="ctr"/>
          <a:lstStyle/>
          <a:p>
            <a:pPr indent="0" marL="0">
              <a:lnSpc>
                <a:spcPts val="1500"/>
              </a:lnSpc>
              <a:buNone/>
            </a:pPr>
            <a:r>
              <a:rPr lang="en-US" sz="1100" dirty="0">
                <a:solidFill>
                  <a:srgbClr val="B6BEC7"/>
                </a:solidFill>
                <a:latin typeface="Calibri" pitchFamily="34" charset="0"/>
                <a:ea typeface="Calibri" pitchFamily="34" charset="-122"/>
                <a:cs typeface="Calibri" pitchFamily="34" charset="-120"/>
              </a:rPr>
              <a:t>Full-service brokerage at volume.</a:t>
            </a:r>
            <a:endParaRPr lang="en-US" sz="1100" dirty="0"/>
          </a:p>
        </p:txBody>
      </p:sp>
      <p:sp>
        <p:nvSpPr>
          <p:cNvPr id="33" name="Text 31"/>
          <p:cNvSpPr/>
          <p:nvPr/>
        </p:nvSpPr>
        <p:spPr>
          <a:xfrm>
            <a:off x="8065008" y="5084064"/>
            <a:ext cx="3236976" cy="713232"/>
          </a:xfrm>
          <a:prstGeom prst="rect">
            <a:avLst/>
          </a:prstGeom>
          <a:noFill/>
          <a:ln/>
        </p:spPr>
        <p:txBody>
          <a:bodyPr wrap="square" lIns="0" tIns="0" rIns="0" bIns="0" rtlCol="0" anchor="ctr"/>
          <a:lstStyle/>
          <a:p>
            <a:pPr indent="0" marL="0">
              <a:lnSpc>
                <a:spcPts val="1500"/>
              </a:lnSpc>
              <a:buNone/>
            </a:pPr>
            <a:r>
              <a:rPr lang="en-US" sz="1100" dirty="0">
                <a:solidFill>
                  <a:srgbClr val="B6BEC7"/>
                </a:solidFill>
                <a:latin typeface="Calibri" pitchFamily="34" charset="0"/>
                <a:ea typeface="Calibri" pitchFamily="34" charset="-122"/>
                <a:cs typeface="Calibri" pitchFamily="34" charset="-120"/>
              </a:rPr>
              <a:t>3.3% margin. Proof that chasing transaction volume is a trap.</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81D"/>
        </a:solidFill>
      </p:bgPr>
    </p:bg>
    <p:spTree>
      <p:nvGrpSpPr>
        <p:cNvPr id="1" name=""/>
        <p:cNvGrpSpPr/>
        <p:nvPr/>
      </p:nvGrpSpPr>
      <p:grpSpPr>
        <a:xfrm>
          <a:off x="0" y="0"/>
          <a:ext cx="0" cy="0"/>
          <a:chOff x="0" y="0"/>
          <a:chExt cx="0" cy="0"/>
        </a:xfrm>
      </p:grpSpPr>
      <p:sp>
        <p:nvSpPr>
          <p:cNvPr id="2" name="Text 0"/>
          <p:cNvSpPr/>
          <p:nvPr/>
        </p:nvSpPr>
        <p:spPr>
          <a:xfrm>
            <a:off x="777240" y="1325880"/>
            <a:ext cx="10637215" cy="274320"/>
          </a:xfrm>
          <a:prstGeom prst="rect">
            <a:avLst/>
          </a:prstGeom>
          <a:noFill/>
          <a:ln/>
        </p:spPr>
        <p:txBody>
          <a:bodyPr wrap="square" lIns="0" tIns="0" rIns="0" bIns="0" rtlCol="0" anchor="ctr"/>
          <a:lstStyle/>
          <a:p>
            <a:pPr indent="0" marL="0">
              <a:buNone/>
            </a:pPr>
            <a:r>
              <a:rPr lang="en-US" sz="1050" b="1" spc="260" kern="0" dirty="0">
                <a:solidFill>
                  <a:srgbClr val="D9B061"/>
                </a:solidFill>
                <a:latin typeface="Calibri" pitchFamily="34" charset="0"/>
                <a:ea typeface="Calibri" pitchFamily="34" charset="-122"/>
                <a:cs typeface="Calibri" pitchFamily="34" charset="-120"/>
              </a:rPr>
              <a:t>THE LESSON IN THE LAST ROW</a:t>
            </a:r>
            <a:endParaRPr lang="en-US" sz="1050" dirty="0"/>
          </a:p>
        </p:txBody>
      </p:sp>
      <p:sp>
        <p:nvSpPr>
          <p:cNvPr id="3" name="Text 1"/>
          <p:cNvSpPr/>
          <p:nvPr/>
        </p:nvSpPr>
        <p:spPr>
          <a:xfrm>
            <a:off x="777240" y="1874520"/>
            <a:ext cx="5486400" cy="2011680"/>
          </a:xfrm>
          <a:prstGeom prst="rect">
            <a:avLst/>
          </a:prstGeom>
          <a:noFill/>
          <a:ln/>
        </p:spPr>
        <p:txBody>
          <a:bodyPr wrap="square" lIns="0" tIns="0" rIns="0" bIns="0" rtlCol="0" anchor="ctr"/>
          <a:lstStyle/>
          <a:p>
            <a:pPr indent="0" marL="0">
              <a:lnSpc>
                <a:spcPts val="6600"/>
              </a:lnSpc>
              <a:buNone/>
            </a:pPr>
            <a:r>
              <a:rPr lang="en-US" sz="5400" b="1" spc="-140" kern="0" dirty="0">
                <a:solidFill>
                  <a:srgbClr val="FFFFFF"/>
                </a:solidFill>
                <a:latin typeface="Cambria" pitchFamily="34" charset="0"/>
                <a:ea typeface="Cambria" pitchFamily="34" charset="-122"/>
                <a:cs typeface="Cambria" pitchFamily="34" charset="-120"/>
              </a:rPr>
              <a:t>₹1,410cr in.</a:t>
            </a:r>
            <a:endParaRPr lang="en-US" sz="5400" dirty="0"/>
          </a:p>
          <a:p>
            <a:pPr indent="0" marL="0">
              <a:lnSpc>
                <a:spcPts val="6600"/>
              </a:lnSpc>
              <a:buNone/>
            </a:pPr>
            <a:r>
              <a:rPr lang="en-US" sz="5400" b="1" spc="-140" kern="0" dirty="0">
                <a:solidFill>
                  <a:srgbClr val="FFFFFF"/>
                </a:solidFill>
                <a:latin typeface="Cambria" pitchFamily="34" charset="0"/>
                <a:ea typeface="Cambria" pitchFamily="34" charset="-122"/>
                <a:cs typeface="Cambria" pitchFamily="34" charset="-120"/>
              </a:rPr>
              <a:t>₹46cr kept.</a:t>
            </a:r>
            <a:endParaRPr lang="en-US" sz="5400" dirty="0"/>
          </a:p>
        </p:txBody>
      </p:sp>
      <p:sp>
        <p:nvSpPr>
          <p:cNvPr id="4" name="Text 2"/>
          <p:cNvSpPr/>
          <p:nvPr/>
        </p:nvSpPr>
        <p:spPr>
          <a:xfrm>
            <a:off x="6720840" y="1965960"/>
            <a:ext cx="4693615" cy="2468880"/>
          </a:xfrm>
          <a:prstGeom prst="rect">
            <a:avLst/>
          </a:prstGeom>
          <a:noFill/>
          <a:ln/>
        </p:spPr>
        <p:txBody>
          <a:bodyPr wrap="square" lIns="0" tIns="0" rIns="0" bIns="0" rtlCol="0" anchor="ctr"/>
          <a:lstStyle/>
          <a:p>
            <a:pPr indent="0" marL="0">
              <a:lnSpc>
                <a:spcPts val="2500"/>
              </a:lnSpc>
              <a:buNone/>
            </a:pPr>
            <a:r>
              <a:rPr lang="en-US" sz="1550" dirty="0">
                <a:solidFill>
                  <a:srgbClr val="B6BEC7"/>
                </a:solidFill>
                <a:latin typeface="Calibri" pitchFamily="34" charset="0"/>
                <a:ea typeface="Calibri" pitchFamily="34" charset="-122"/>
                <a:cs typeface="Calibri" pitchFamily="34" charset="-120"/>
              </a:rPr>
              <a:t>Volume brokerage in India is a treadmill.</a:t>
            </a:r>
            <a:endParaRPr lang="en-US" sz="1550" dirty="0"/>
          </a:p>
          <a:p>
            <a:pPr indent="0" marL="0">
              <a:lnSpc>
                <a:spcPts val="2500"/>
              </a:lnSpc>
              <a:buNone/>
            </a:pPr>
            <a:endParaRPr lang="en-US" sz="1550" dirty="0"/>
          </a:p>
          <a:p>
            <a:pPr indent="0" marL="0">
              <a:lnSpc>
                <a:spcPts val="2500"/>
              </a:lnSpc>
              <a:buNone/>
            </a:pPr>
            <a:r>
              <a:rPr lang="en-US" sz="1550" dirty="0">
                <a:solidFill>
                  <a:srgbClr val="B6BEC7"/>
                </a:solidFill>
                <a:latin typeface="Calibri" pitchFamily="34" charset="0"/>
                <a:ea typeface="Calibri" pitchFamily="34" charset="-122"/>
                <a:cs typeface="Calibri" pitchFamily="34" charset="-120"/>
              </a:rPr>
              <a:t>OTHO should never compete on listing count or transaction volume. That race is won by whoever burns the most money, and the prize is a 3% margin.</a:t>
            </a:r>
            <a:endParaRPr lang="en-US" sz="1550" dirty="0"/>
          </a:p>
          <a:p>
            <a:pPr indent="0" marL="0">
              <a:lnSpc>
                <a:spcPts val="2500"/>
              </a:lnSpc>
              <a:buNone/>
            </a:pPr>
            <a:endParaRPr lang="en-US" sz="1550" dirty="0"/>
          </a:p>
          <a:p>
            <a:pPr indent="0" marL="0">
              <a:lnSpc>
                <a:spcPts val="2500"/>
              </a:lnSpc>
              <a:buNone/>
            </a:pPr>
            <a:r>
              <a:rPr lang="en-US" sz="1550" dirty="0">
                <a:solidFill>
                  <a:srgbClr val="B6BEC7"/>
                </a:solidFill>
                <a:latin typeface="Calibri" pitchFamily="34" charset="0"/>
                <a:ea typeface="Calibri" pitchFamily="34" charset="-122"/>
                <a:cs typeface="Calibri" pitchFamily="34" charset="-120"/>
              </a:rPr>
              <a:t>Compete on judgement instead. Judgement has margin.</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777240" y="530352"/>
            <a:ext cx="10637215" cy="219456"/>
          </a:xfrm>
          <a:prstGeom prst="rect">
            <a:avLst/>
          </a:prstGeom>
          <a:noFill/>
          <a:ln/>
        </p:spPr>
        <p:txBody>
          <a:bodyPr wrap="square" lIns="0" tIns="0" rIns="0" bIns="0" rtlCol="0" anchor="ctr"/>
          <a:lstStyle/>
          <a:p>
            <a:pPr indent="0" marL="0">
              <a:buNone/>
            </a:pPr>
            <a:r>
              <a:rPr lang="en-US" sz="1100" b="1" spc="260" kern="0" dirty="0">
                <a:solidFill>
                  <a:srgbClr val="9A7A25"/>
                </a:solidFill>
                <a:latin typeface="Calibri" pitchFamily="34" charset="0"/>
                <a:ea typeface="Calibri" pitchFamily="34" charset="-122"/>
                <a:cs typeface="Calibri" pitchFamily="34" charset="-120"/>
              </a:rPr>
              <a:t>05</a:t>
            </a:r>
            <a:endParaRPr lang="en-US" sz="1100" dirty="0"/>
          </a:p>
        </p:txBody>
      </p:sp>
      <p:sp>
        <p:nvSpPr>
          <p:cNvPr id="3" name="Text 1"/>
          <p:cNvSpPr/>
          <p:nvPr/>
        </p:nvSpPr>
        <p:spPr>
          <a:xfrm>
            <a:off x="777240" y="768096"/>
            <a:ext cx="10637215" cy="603504"/>
          </a:xfrm>
          <a:prstGeom prst="rect">
            <a:avLst/>
          </a:prstGeom>
          <a:noFill/>
          <a:ln/>
        </p:spPr>
        <p:txBody>
          <a:bodyPr wrap="square" lIns="0" tIns="0" rIns="0" bIns="0" rtlCol="0" anchor="ctr"/>
          <a:lstStyle/>
          <a:p>
            <a:pPr indent="0" marL="0">
              <a:buNone/>
            </a:pPr>
            <a:r>
              <a:rPr lang="en-US" sz="3800" b="1" spc="-60" kern="0" dirty="0">
                <a:solidFill>
                  <a:srgbClr val="14181D"/>
                </a:solidFill>
                <a:latin typeface="Cambria" pitchFamily="34" charset="0"/>
                <a:ea typeface="Cambria" pitchFamily="34" charset="-122"/>
                <a:cs typeface="Cambria" pitchFamily="34" charset="-120"/>
              </a:rPr>
              <a:t>SWOT — what we have, what we lack</a:t>
            </a:r>
            <a:endParaRPr lang="en-US" sz="3800" dirty="0"/>
          </a:p>
        </p:txBody>
      </p:sp>
      <p:sp>
        <p:nvSpPr>
          <p:cNvPr id="4" name="Shape 2"/>
          <p:cNvSpPr/>
          <p:nvPr/>
        </p:nvSpPr>
        <p:spPr>
          <a:xfrm>
            <a:off x="777240" y="1591056"/>
            <a:ext cx="5181448" cy="4718304"/>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5" name="Shape 3"/>
          <p:cNvSpPr/>
          <p:nvPr/>
        </p:nvSpPr>
        <p:spPr>
          <a:xfrm>
            <a:off x="1088136" y="1901952"/>
            <a:ext cx="137160" cy="137160"/>
          </a:xfrm>
          <a:prstGeom prst="ellipse">
            <a:avLst/>
          </a:prstGeom>
          <a:solidFill>
            <a:srgbClr val="2E7150"/>
          </a:solidFill>
          <a:ln/>
        </p:spPr>
      </p:sp>
      <p:sp>
        <p:nvSpPr>
          <p:cNvPr id="6" name="Text 4"/>
          <p:cNvSpPr/>
          <p:nvPr/>
        </p:nvSpPr>
        <p:spPr>
          <a:xfrm>
            <a:off x="1344168" y="1810512"/>
            <a:ext cx="4321912" cy="329184"/>
          </a:xfrm>
          <a:prstGeom prst="rect">
            <a:avLst/>
          </a:prstGeom>
          <a:noFill/>
          <a:ln/>
        </p:spPr>
        <p:txBody>
          <a:bodyPr wrap="square" lIns="0" tIns="0" rIns="0" bIns="0" rtlCol="0" anchor="ctr"/>
          <a:lstStyle/>
          <a:p>
            <a:pPr indent="0" marL="0">
              <a:buNone/>
            </a:pPr>
            <a:r>
              <a:rPr lang="en-US" sz="1800" b="1" dirty="0">
                <a:solidFill>
                  <a:srgbClr val="14181D"/>
                </a:solidFill>
                <a:latin typeface="Cambria" pitchFamily="34" charset="0"/>
                <a:ea typeface="Cambria" pitchFamily="34" charset="-122"/>
                <a:cs typeface="Cambria" pitchFamily="34" charset="-120"/>
              </a:rPr>
              <a:t>Strengths</a:t>
            </a:r>
            <a:endParaRPr lang="en-US" sz="1800" dirty="0"/>
          </a:p>
        </p:txBody>
      </p:sp>
      <p:sp>
        <p:nvSpPr>
          <p:cNvPr id="7" name="Text 5"/>
          <p:cNvSpPr/>
          <p:nvPr/>
        </p:nvSpPr>
        <p:spPr>
          <a:xfrm>
            <a:off x="1088136" y="2286000"/>
            <a:ext cx="4559656" cy="3758184"/>
          </a:xfrm>
          <a:prstGeom prst="rect">
            <a:avLst/>
          </a:prstGeom>
          <a:noFill/>
          <a:ln/>
        </p:spPr>
        <p:txBody>
          <a:bodyPr wrap="square" lIns="0" tIns="0" rIns="0" bIns="0" rtlCol="0" anchor="t"/>
          <a:lstStyle/>
          <a:p>
            <a:pPr indent="0" marL="0">
              <a:lnSpc>
                <a:spcPts val="1600"/>
              </a:lnSpc>
              <a:spcAft>
                <a:spcPts val="900"/>
              </a:spcAft>
              <a:buNone/>
            </a:pPr>
            <a:r>
              <a:rPr lang="en-US" sz="1150" b="1" dirty="0">
                <a:solidFill>
                  <a:srgbClr val="14181D"/>
                </a:solidFill>
                <a:latin typeface="Calibri" pitchFamily="34" charset="0"/>
                <a:ea typeface="Calibri" pitchFamily="34" charset="-122"/>
                <a:cs typeface="Calibri" pitchFamily="34" charset="-120"/>
              </a:rPr>
              <a:t>Tier-one relationships</a:t>
            </a:r>
            <a:endParaRPr lang="en-US" sz="1150" dirty="0"/>
          </a:p>
          <a:p>
            <a:pPr indent="0" marL="0">
              <a:lnSpc>
                <a:spcPts val="1600"/>
              </a:lnSpc>
              <a:spcAft>
                <a:spcPts val="900"/>
              </a:spcAft>
              <a:buNone/>
            </a:pPr>
            <a:r>
              <a:rPr lang="en-US" sz="1150" dirty="0">
                <a:solidFill>
                  <a:srgbClr val="555C64"/>
                </a:solidFill>
                <a:latin typeface="Calibri" pitchFamily="34" charset="0"/>
                <a:ea typeface="Calibri" pitchFamily="34" charset="-122"/>
                <a:cs typeface="Calibri" pitchFamily="34" charset="-120"/>
              </a:rPr>
              <a:t>Direct access to DSR, Sattva, My Home, Aparna, Prestige. Around 70% of Indian residential sales run through channel partners. A funded startup can buy engineers; it cannot buy twenty years of trust with a developer's sales head.</a:t>
            </a:r>
            <a:endParaRPr lang="en-US" sz="1150" dirty="0"/>
          </a:p>
          <a:p>
            <a:pPr indent="0" marL="0">
              <a:lnSpc>
                <a:spcPts val="1600"/>
              </a:lnSpc>
              <a:spcAft>
                <a:spcPts val="900"/>
              </a:spcAft>
              <a:buNone/>
            </a:pPr>
            <a:r>
              <a:rPr lang="en-US" sz="1150" b="1" dirty="0">
                <a:solidFill>
                  <a:srgbClr val="14181D"/>
                </a:solidFill>
                <a:latin typeface="Calibri" pitchFamily="34" charset="0"/>
                <a:ea typeface="Calibri" pitchFamily="34" charset="-122"/>
                <a:cs typeface="Calibri" pitchFamily="34" charset="-120"/>
              </a:rPr>
              <a:t>Timing</a:t>
            </a:r>
            <a:endParaRPr lang="en-US" sz="1150" dirty="0"/>
          </a:p>
          <a:p>
            <a:pPr indent="0" marL="0">
              <a:lnSpc>
                <a:spcPts val="1600"/>
              </a:lnSpc>
              <a:spcAft>
                <a:spcPts val="900"/>
              </a:spcAft>
              <a:buNone/>
            </a:pPr>
            <a:r>
              <a:rPr lang="en-US" sz="1150" dirty="0">
                <a:solidFill>
                  <a:srgbClr val="555C64"/>
                </a:solidFill>
                <a:latin typeface="Calibri" pitchFamily="34" charset="0"/>
                <a:ea typeface="Calibri" pitchFamily="34" charset="-122"/>
                <a:cs typeface="Calibri" pitchFamily="34" charset="-120"/>
              </a:rPr>
              <a:t>A 19-month overhang means developers are actively looking for a better answer right now.</a:t>
            </a:r>
            <a:endParaRPr lang="en-US" sz="1150" dirty="0"/>
          </a:p>
          <a:p>
            <a:pPr indent="0" marL="0">
              <a:lnSpc>
                <a:spcPts val="1600"/>
              </a:lnSpc>
              <a:spcAft>
                <a:spcPts val="900"/>
              </a:spcAft>
              <a:buNone/>
            </a:pPr>
            <a:r>
              <a:rPr lang="en-US" sz="1150" b="1" dirty="0">
                <a:solidFill>
                  <a:srgbClr val="14181D"/>
                </a:solidFill>
                <a:latin typeface="Calibri" pitchFamily="34" charset="0"/>
                <a:ea typeface="Calibri" pitchFamily="34" charset="-122"/>
                <a:cs typeface="Calibri" pitchFamily="34" charset="-120"/>
              </a:rPr>
              <a:t>No legacy tech debt</a:t>
            </a:r>
            <a:endParaRPr lang="en-US" sz="1150" dirty="0"/>
          </a:p>
          <a:p>
            <a:pPr indent="0" marL="0">
              <a:lnSpc>
                <a:spcPts val="1600"/>
              </a:lnSpc>
              <a:spcAft>
                <a:spcPts val="900"/>
              </a:spcAft>
              <a:buNone/>
            </a:pPr>
            <a:r>
              <a:rPr lang="en-US" sz="1150" dirty="0">
                <a:solidFill>
                  <a:srgbClr val="555C64"/>
                </a:solidFill>
                <a:latin typeface="Calibri" pitchFamily="34" charset="0"/>
                <a:ea typeface="Calibri" pitchFamily="34" charset="-122"/>
                <a:cs typeface="Calibri" pitchFamily="34" charset="-120"/>
              </a:rPr>
              <a:t>The portals are locked into the shared-lead P&amp;L. OTHO can build the clean architecture from zero.</a:t>
            </a:r>
            <a:endParaRPr lang="en-US" sz="1150" dirty="0"/>
          </a:p>
          <a:p>
            <a:pPr indent="0" marL="0">
              <a:lnSpc>
                <a:spcPts val="1600"/>
              </a:lnSpc>
              <a:spcAft>
                <a:spcPts val="900"/>
              </a:spcAft>
              <a:buNone/>
            </a:pPr>
            <a:r>
              <a:rPr lang="en-US" sz="1150" b="1" dirty="0">
                <a:solidFill>
                  <a:srgbClr val="14181D"/>
                </a:solidFill>
                <a:latin typeface="Calibri" pitchFamily="34" charset="0"/>
                <a:ea typeface="Calibri" pitchFamily="34" charset="-122"/>
                <a:cs typeface="Calibri" pitchFamily="34" charset="-120"/>
              </a:rPr>
              <a:t>Regulatory tailwind</a:t>
            </a:r>
            <a:endParaRPr lang="en-US" sz="1150" dirty="0"/>
          </a:p>
          <a:p>
            <a:pPr indent="0" marL="0">
              <a:lnSpc>
                <a:spcPts val="1600"/>
              </a:lnSpc>
              <a:spcAft>
                <a:spcPts val="900"/>
              </a:spcAft>
              <a:buNone/>
            </a:pPr>
            <a:r>
              <a:rPr lang="en-US" sz="1150" dirty="0">
                <a:solidFill>
                  <a:srgbClr val="555C64"/>
                </a:solidFill>
                <a:latin typeface="Calibri" pitchFamily="34" charset="0"/>
                <a:ea typeface="Calibri" pitchFamily="34" charset="-122"/>
                <a:cs typeface="Calibri" pitchFamily="34" charset="-120"/>
              </a:rPr>
              <a:t>TRAI and DPDP rules make the spam-and-resell model steadily more expensive.</a:t>
            </a:r>
            <a:endParaRPr lang="en-US" sz="1150" dirty="0"/>
          </a:p>
        </p:txBody>
      </p:sp>
      <p:sp>
        <p:nvSpPr>
          <p:cNvPr id="8" name="Shape 6"/>
          <p:cNvSpPr/>
          <p:nvPr/>
        </p:nvSpPr>
        <p:spPr>
          <a:xfrm>
            <a:off x="6233008" y="1591056"/>
            <a:ext cx="5181448" cy="4718304"/>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9" name="Shape 7"/>
          <p:cNvSpPr/>
          <p:nvPr/>
        </p:nvSpPr>
        <p:spPr>
          <a:xfrm>
            <a:off x="6543904" y="1901952"/>
            <a:ext cx="137160" cy="137160"/>
          </a:xfrm>
          <a:prstGeom prst="ellipse">
            <a:avLst/>
          </a:prstGeom>
          <a:solidFill>
            <a:srgbClr val="A8382C"/>
          </a:solidFill>
          <a:ln/>
        </p:spPr>
      </p:sp>
      <p:sp>
        <p:nvSpPr>
          <p:cNvPr id="10" name="Text 8"/>
          <p:cNvSpPr/>
          <p:nvPr/>
        </p:nvSpPr>
        <p:spPr>
          <a:xfrm>
            <a:off x="6799936" y="1810512"/>
            <a:ext cx="4321912" cy="329184"/>
          </a:xfrm>
          <a:prstGeom prst="rect">
            <a:avLst/>
          </a:prstGeom>
          <a:noFill/>
          <a:ln/>
        </p:spPr>
        <p:txBody>
          <a:bodyPr wrap="square" lIns="0" tIns="0" rIns="0" bIns="0" rtlCol="0" anchor="ctr"/>
          <a:lstStyle/>
          <a:p>
            <a:pPr indent="0" marL="0">
              <a:buNone/>
            </a:pPr>
            <a:r>
              <a:rPr lang="en-US" sz="1800" b="1" dirty="0">
                <a:solidFill>
                  <a:srgbClr val="14181D"/>
                </a:solidFill>
                <a:latin typeface="Cambria" pitchFamily="34" charset="0"/>
                <a:ea typeface="Cambria" pitchFamily="34" charset="-122"/>
                <a:cs typeface="Cambria" pitchFamily="34" charset="-120"/>
              </a:rPr>
              <a:t>Weaknesses</a:t>
            </a:r>
            <a:endParaRPr lang="en-US" sz="1800" dirty="0"/>
          </a:p>
        </p:txBody>
      </p:sp>
      <p:sp>
        <p:nvSpPr>
          <p:cNvPr id="11" name="Text 9"/>
          <p:cNvSpPr/>
          <p:nvPr/>
        </p:nvSpPr>
        <p:spPr>
          <a:xfrm>
            <a:off x="6543904" y="2286000"/>
            <a:ext cx="4559656" cy="3758184"/>
          </a:xfrm>
          <a:prstGeom prst="rect">
            <a:avLst/>
          </a:prstGeom>
          <a:noFill/>
          <a:ln/>
        </p:spPr>
        <p:txBody>
          <a:bodyPr wrap="square" lIns="0" tIns="0" rIns="0" bIns="0" rtlCol="0" anchor="t"/>
          <a:lstStyle/>
          <a:p>
            <a:pPr indent="0" marL="0">
              <a:lnSpc>
                <a:spcPts val="1600"/>
              </a:lnSpc>
              <a:spcAft>
                <a:spcPts val="900"/>
              </a:spcAft>
              <a:buNone/>
            </a:pPr>
            <a:r>
              <a:rPr lang="en-US" sz="1150" b="1" dirty="0">
                <a:solidFill>
                  <a:srgbClr val="14181D"/>
                </a:solidFill>
                <a:latin typeface="Calibri" pitchFamily="34" charset="0"/>
                <a:ea typeface="Calibri" pitchFamily="34" charset="-122"/>
                <a:cs typeface="Calibri" pitchFamily="34" charset="-120"/>
              </a:rPr>
              <a:t>No product or data engineering yet</a:t>
            </a:r>
            <a:endParaRPr lang="en-US" sz="1150" dirty="0"/>
          </a:p>
          <a:p>
            <a:pPr indent="0" marL="0">
              <a:lnSpc>
                <a:spcPts val="1600"/>
              </a:lnSpc>
              <a:spcAft>
                <a:spcPts val="900"/>
              </a:spcAft>
              <a:buNone/>
            </a:pPr>
            <a:r>
              <a:rPr lang="en-US" sz="1150" dirty="0">
                <a:solidFill>
                  <a:srgbClr val="555C64"/>
                </a:solidFill>
                <a:latin typeface="Calibri" pitchFamily="34" charset="0"/>
                <a:ea typeface="Calibri" pitchFamily="34" charset="-122"/>
                <a:cs typeface="Calibri" pitchFamily="34" charset="-120"/>
              </a:rPr>
              <a:t>The comparison engine is a data acquisition and verification problem across RERA, HMDA and registration records. This is what kills proptech startups.</a:t>
            </a:r>
            <a:endParaRPr lang="en-US" sz="1150" dirty="0"/>
          </a:p>
          <a:p>
            <a:pPr indent="0" marL="0">
              <a:lnSpc>
                <a:spcPts val="1600"/>
              </a:lnSpc>
              <a:spcAft>
                <a:spcPts val="900"/>
              </a:spcAft>
              <a:buNone/>
            </a:pPr>
            <a:r>
              <a:rPr lang="en-US" sz="1150" b="1" dirty="0">
                <a:solidFill>
                  <a:srgbClr val="14181D"/>
                </a:solidFill>
                <a:latin typeface="Calibri" pitchFamily="34" charset="0"/>
                <a:ea typeface="Calibri" pitchFamily="34" charset="-122"/>
                <a:cs typeface="Calibri" pitchFamily="34" charset="-120"/>
              </a:rPr>
              <a:t>Zero digital brand equity</a:t>
            </a:r>
            <a:endParaRPr lang="en-US" sz="1150" dirty="0"/>
          </a:p>
          <a:p>
            <a:pPr indent="0" marL="0">
              <a:lnSpc>
                <a:spcPts val="1600"/>
              </a:lnSpc>
              <a:spcAft>
                <a:spcPts val="900"/>
              </a:spcAft>
              <a:buNone/>
            </a:pPr>
            <a:r>
              <a:rPr lang="en-US" sz="1150" dirty="0">
                <a:solidFill>
                  <a:srgbClr val="555C64"/>
                </a:solidFill>
                <a:latin typeface="Calibri" pitchFamily="34" charset="0"/>
                <a:ea typeface="Calibri" pitchFamily="34" charset="-122"/>
                <a:cs typeface="Calibri" pitchFamily="34" charset="-120"/>
              </a:rPr>
              <a:t>Twenty years of word-of-mouth does not transfer to search.</a:t>
            </a:r>
            <a:endParaRPr lang="en-US" sz="1150" dirty="0"/>
          </a:p>
          <a:p>
            <a:pPr indent="0" marL="0">
              <a:lnSpc>
                <a:spcPts val="1600"/>
              </a:lnSpc>
              <a:spcAft>
                <a:spcPts val="900"/>
              </a:spcAft>
              <a:buNone/>
            </a:pPr>
            <a:r>
              <a:rPr lang="en-US" sz="1150" b="1" dirty="0">
                <a:solidFill>
                  <a:srgbClr val="14181D"/>
                </a:solidFill>
                <a:latin typeface="Calibri" pitchFamily="34" charset="0"/>
                <a:ea typeface="Calibri" pitchFamily="34" charset="-122"/>
                <a:cs typeface="Calibri" pitchFamily="34" charset="-120"/>
              </a:rPr>
              <a:t>Advisory doesn't scale linearly</a:t>
            </a:r>
            <a:endParaRPr lang="en-US" sz="1150" dirty="0"/>
          </a:p>
          <a:p>
            <a:pPr indent="0" marL="0">
              <a:lnSpc>
                <a:spcPts val="1600"/>
              </a:lnSpc>
              <a:spcAft>
                <a:spcPts val="900"/>
              </a:spcAft>
              <a:buNone/>
            </a:pPr>
            <a:r>
              <a:rPr lang="en-US" sz="1150" dirty="0">
                <a:solidFill>
                  <a:srgbClr val="555C64"/>
                </a:solidFill>
                <a:latin typeface="Calibri" pitchFamily="34" charset="0"/>
                <a:ea typeface="Calibri" pitchFamily="34" charset="-122"/>
                <a:cs typeface="Calibri" pitchFamily="34" charset="-120"/>
              </a:rPr>
              <a:t>Every mandate consumes senior human time.</a:t>
            </a:r>
            <a:endParaRPr lang="en-US" sz="1150" dirty="0"/>
          </a:p>
          <a:p>
            <a:pPr indent="0" marL="0">
              <a:lnSpc>
                <a:spcPts val="1600"/>
              </a:lnSpc>
              <a:spcAft>
                <a:spcPts val="900"/>
              </a:spcAft>
              <a:buNone/>
            </a:pPr>
            <a:r>
              <a:rPr lang="en-US" sz="1150" b="1" dirty="0">
                <a:solidFill>
                  <a:srgbClr val="14181D"/>
                </a:solidFill>
                <a:latin typeface="Calibri" pitchFamily="34" charset="0"/>
                <a:ea typeface="Calibri" pitchFamily="34" charset="-122"/>
                <a:cs typeface="Calibri" pitchFamily="34" charset="-120"/>
              </a:rPr>
              <a:t>Key-person dependency</a:t>
            </a:r>
            <a:endParaRPr lang="en-US" sz="1150" dirty="0"/>
          </a:p>
          <a:p>
            <a:pPr indent="0" marL="0">
              <a:lnSpc>
                <a:spcPts val="1600"/>
              </a:lnSpc>
              <a:spcAft>
                <a:spcPts val="900"/>
              </a:spcAft>
              <a:buNone/>
            </a:pPr>
            <a:r>
              <a:rPr lang="en-US" sz="1150" dirty="0">
                <a:solidFill>
                  <a:srgbClr val="555C64"/>
                </a:solidFill>
                <a:latin typeface="Calibri" pitchFamily="34" charset="0"/>
                <a:ea typeface="Calibri" pitchFamily="34" charset="-122"/>
                <a:cs typeface="Calibri" pitchFamily="34" charset="-120"/>
              </a:rPr>
              <a:t>Relationships and podcast authority both sit with the founders.</a:t>
            </a:r>
            <a:endParaRPr lang="en-US" sz="1150" dirty="0"/>
          </a:p>
          <a:p>
            <a:pPr indent="0" marL="0">
              <a:lnSpc>
                <a:spcPts val="1600"/>
              </a:lnSpc>
              <a:spcAft>
                <a:spcPts val="900"/>
              </a:spcAft>
              <a:buNone/>
            </a:pPr>
            <a:r>
              <a:rPr lang="en-US" sz="1150" b="1" dirty="0">
                <a:solidFill>
                  <a:srgbClr val="14181D"/>
                </a:solidFill>
                <a:latin typeface="Calibri" pitchFamily="34" charset="0"/>
                <a:ea typeface="Calibri" pitchFamily="34" charset="-122"/>
                <a:cs typeface="Calibri" pitchFamily="34" charset="-120"/>
              </a:rPr>
              <a:t>Working capital</a:t>
            </a:r>
            <a:endParaRPr lang="en-US" sz="1150" dirty="0"/>
          </a:p>
          <a:p>
            <a:pPr indent="0" marL="0">
              <a:lnSpc>
                <a:spcPts val="1600"/>
              </a:lnSpc>
              <a:spcAft>
                <a:spcPts val="900"/>
              </a:spcAft>
              <a:buNone/>
            </a:pPr>
            <a:r>
              <a:rPr lang="en-US" sz="1150" dirty="0">
                <a:solidFill>
                  <a:srgbClr val="555C64"/>
                </a:solidFill>
                <a:latin typeface="Calibri" pitchFamily="34" charset="0"/>
                <a:ea typeface="Calibri" pitchFamily="34" charset="-122"/>
                <a:cs typeface="Calibri" pitchFamily="34" charset="-120"/>
              </a:rPr>
              <a:t>Commission pays on registration, so cash lands 3–9 months behind the cost.</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777240" y="530352"/>
            <a:ext cx="10637215" cy="219456"/>
          </a:xfrm>
          <a:prstGeom prst="rect">
            <a:avLst/>
          </a:prstGeom>
          <a:noFill/>
          <a:ln/>
        </p:spPr>
        <p:txBody>
          <a:bodyPr wrap="square" lIns="0" tIns="0" rIns="0" bIns="0" rtlCol="0" anchor="ctr"/>
          <a:lstStyle/>
          <a:p>
            <a:pPr indent="0" marL="0">
              <a:buNone/>
            </a:pPr>
            <a:r>
              <a:rPr lang="en-US" sz="1100" b="1" spc="260" kern="0" dirty="0">
                <a:solidFill>
                  <a:srgbClr val="9A7A25"/>
                </a:solidFill>
                <a:latin typeface="Calibri" pitchFamily="34" charset="0"/>
                <a:ea typeface="Calibri" pitchFamily="34" charset="-122"/>
                <a:cs typeface="Calibri" pitchFamily="34" charset="-120"/>
              </a:rPr>
              <a:t>05</a:t>
            </a:r>
            <a:endParaRPr lang="en-US" sz="1100" dirty="0"/>
          </a:p>
        </p:txBody>
      </p:sp>
      <p:sp>
        <p:nvSpPr>
          <p:cNvPr id="3" name="Text 1"/>
          <p:cNvSpPr/>
          <p:nvPr/>
        </p:nvSpPr>
        <p:spPr>
          <a:xfrm>
            <a:off x="777240" y="768096"/>
            <a:ext cx="10637215" cy="603504"/>
          </a:xfrm>
          <a:prstGeom prst="rect">
            <a:avLst/>
          </a:prstGeom>
          <a:noFill/>
          <a:ln/>
        </p:spPr>
        <p:txBody>
          <a:bodyPr wrap="square" lIns="0" tIns="0" rIns="0" bIns="0" rtlCol="0" anchor="ctr"/>
          <a:lstStyle/>
          <a:p>
            <a:pPr indent="0" marL="0">
              <a:buNone/>
            </a:pPr>
            <a:r>
              <a:rPr lang="en-US" sz="3800" b="1" spc="-60" kern="0" dirty="0">
                <a:solidFill>
                  <a:srgbClr val="14181D"/>
                </a:solidFill>
                <a:latin typeface="Cambria" pitchFamily="34" charset="0"/>
                <a:ea typeface="Cambria" pitchFamily="34" charset="-122"/>
                <a:cs typeface="Cambria" pitchFamily="34" charset="-120"/>
              </a:rPr>
              <a:t>SWOT — the opening, and what could go wrong</a:t>
            </a:r>
            <a:endParaRPr lang="en-US" sz="3800" dirty="0"/>
          </a:p>
        </p:txBody>
      </p:sp>
      <p:sp>
        <p:nvSpPr>
          <p:cNvPr id="4" name="Shape 2"/>
          <p:cNvSpPr/>
          <p:nvPr/>
        </p:nvSpPr>
        <p:spPr>
          <a:xfrm>
            <a:off x="777240" y="1591056"/>
            <a:ext cx="5181448" cy="4718304"/>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5" name="Shape 3"/>
          <p:cNvSpPr/>
          <p:nvPr/>
        </p:nvSpPr>
        <p:spPr>
          <a:xfrm>
            <a:off x="1088136" y="1901952"/>
            <a:ext cx="137160" cy="137160"/>
          </a:xfrm>
          <a:prstGeom prst="ellipse">
            <a:avLst/>
          </a:prstGeom>
          <a:solidFill>
            <a:srgbClr val="27548F"/>
          </a:solidFill>
          <a:ln/>
        </p:spPr>
      </p:sp>
      <p:sp>
        <p:nvSpPr>
          <p:cNvPr id="6" name="Text 4"/>
          <p:cNvSpPr/>
          <p:nvPr/>
        </p:nvSpPr>
        <p:spPr>
          <a:xfrm>
            <a:off x="1344168" y="1810512"/>
            <a:ext cx="4321912" cy="329184"/>
          </a:xfrm>
          <a:prstGeom prst="rect">
            <a:avLst/>
          </a:prstGeom>
          <a:noFill/>
          <a:ln/>
        </p:spPr>
        <p:txBody>
          <a:bodyPr wrap="square" lIns="0" tIns="0" rIns="0" bIns="0" rtlCol="0" anchor="ctr"/>
          <a:lstStyle/>
          <a:p>
            <a:pPr indent="0" marL="0">
              <a:buNone/>
            </a:pPr>
            <a:r>
              <a:rPr lang="en-US" sz="1800" b="1" dirty="0">
                <a:solidFill>
                  <a:srgbClr val="14181D"/>
                </a:solidFill>
                <a:latin typeface="Cambria" pitchFamily="34" charset="0"/>
                <a:ea typeface="Cambria" pitchFamily="34" charset="-122"/>
                <a:cs typeface="Cambria" pitchFamily="34" charset="-120"/>
              </a:rPr>
              <a:t>Opportunities</a:t>
            </a:r>
            <a:endParaRPr lang="en-US" sz="1800" dirty="0"/>
          </a:p>
        </p:txBody>
      </p:sp>
      <p:sp>
        <p:nvSpPr>
          <p:cNvPr id="7" name="Text 5"/>
          <p:cNvSpPr/>
          <p:nvPr/>
        </p:nvSpPr>
        <p:spPr>
          <a:xfrm>
            <a:off x="1088136" y="2286000"/>
            <a:ext cx="4559656" cy="3758184"/>
          </a:xfrm>
          <a:prstGeom prst="rect">
            <a:avLst/>
          </a:prstGeom>
          <a:noFill/>
          <a:ln/>
        </p:spPr>
        <p:txBody>
          <a:bodyPr wrap="square" lIns="0" tIns="0" rIns="0" bIns="0" rtlCol="0" anchor="t"/>
          <a:lstStyle/>
          <a:p>
            <a:pPr indent="0" marL="0">
              <a:lnSpc>
                <a:spcPts val="1600"/>
              </a:lnSpc>
              <a:spcAft>
                <a:spcPts val="900"/>
              </a:spcAft>
              <a:buNone/>
            </a:pPr>
            <a:r>
              <a:rPr lang="en-US" sz="1150" b="1" dirty="0">
                <a:solidFill>
                  <a:srgbClr val="14181D"/>
                </a:solidFill>
                <a:latin typeface="Calibri" pitchFamily="34" charset="0"/>
                <a:ea typeface="Calibri" pitchFamily="34" charset="-122"/>
                <a:cs typeface="Calibri" pitchFamily="34" charset="-120"/>
              </a:rPr>
              <a:t>The overhang itself</a:t>
            </a:r>
            <a:endParaRPr lang="en-US" sz="1150" dirty="0"/>
          </a:p>
          <a:p>
            <a:pPr indent="0" marL="0">
              <a:lnSpc>
                <a:spcPts val="1600"/>
              </a:lnSpc>
              <a:spcAft>
                <a:spcPts val="900"/>
              </a:spcAft>
              <a:buNone/>
            </a:pPr>
            <a:r>
              <a:rPr lang="en-US" sz="1150" dirty="0">
                <a:solidFill>
                  <a:srgbClr val="555C64"/>
                </a:solidFill>
                <a:latin typeface="Calibri" pitchFamily="34" charset="0"/>
                <a:ea typeface="Calibri" pitchFamily="34" charset="-122"/>
                <a:cs typeface="Calibri" pitchFamily="34" charset="-120"/>
              </a:rPr>
              <a:t>Roughly 97,000 unsold units is a large, motivated mandate pipeline. Every stuck project is a sales conversation.</a:t>
            </a:r>
            <a:endParaRPr lang="en-US" sz="1150" dirty="0"/>
          </a:p>
          <a:p>
            <a:pPr indent="0" marL="0">
              <a:lnSpc>
                <a:spcPts val="1600"/>
              </a:lnSpc>
              <a:spcAft>
                <a:spcPts val="900"/>
              </a:spcAft>
              <a:buNone/>
            </a:pPr>
            <a:r>
              <a:rPr lang="en-US" sz="1150" b="1" dirty="0">
                <a:solidFill>
                  <a:srgbClr val="14181D"/>
                </a:solidFill>
                <a:latin typeface="Calibri" pitchFamily="34" charset="0"/>
                <a:ea typeface="Calibri" pitchFamily="34" charset="-122"/>
                <a:cs typeface="Calibri" pitchFamily="34" charset="-120"/>
              </a:rPr>
              <a:t>The transparency vacuum</a:t>
            </a:r>
            <a:endParaRPr lang="en-US" sz="1150" dirty="0"/>
          </a:p>
          <a:p>
            <a:pPr indent="0" marL="0">
              <a:lnSpc>
                <a:spcPts val="1600"/>
              </a:lnSpc>
              <a:spcAft>
                <a:spcPts val="900"/>
              </a:spcAft>
              <a:buNone/>
            </a:pPr>
            <a:r>
              <a:rPr lang="en-US" sz="1150" dirty="0">
                <a:solidFill>
                  <a:srgbClr val="555C64"/>
                </a:solidFill>
                <a:latin typeface="Calibri" pitchFamily="34" charset="0"/>
                <a:ea typeface="Calibri" pitchFamily="34" charset="-122"/>
                <a:cs typeface="Calibri" pitchFamily="34" charset="-120"/>
              </a:rPr>
              <a:t>No Indian portal publishes loading factor, true density or UDS as standard fields.</a:t>
            </a:r>
            <a:endParaRPr lang="en-US" sz="1150" dirty="0"/>
          </a:p>
          <a:p>
            <a:pPr indent="0" marL="0">
              <a:lnSpc>
                <a:spcPts val="1600"/>
              </a:lnSpc>
              <a:spcAft>
                <a:spcPts val="900"/>
              </a:spcAft>
              <a:buNone/>
            </a:pPr>
            <a:r>
              <a:rPr lang="en-US" sz="1150" b="1" dirty="0">
                <a:solidFill>
                  <a:srgbClr val="14181D"/>
                </a:solidFill>
                <a:latin typeface="Calibri" pitchFamily="34" charset="0"/>
                <a:ea typeface="Calibri" pitchFamily="34" charset="-122"/>
                <a:cs typeface="Calibri" pitchFamily="34" charset="-120"/>
              </a:rPr>
              <a:t>AI citation land-grab</a:t>
            </a:r>
            <a:endParaRPr lang="en-US" sz="1150" dirty="0"/>
          </a:p>
          <a:p>
            <a:pPr indent="0" marL="0">
              <a:lnSpc>
                <a:spcPts val="1600"/>
              </a:lnSpc>
              <a:spcAft>
                <a:spcPts val="900"/>
              </a:spcAft>
              <a:buNone/>
            </a:pPr>
            <a:r>
              <a:rPr lang="en-US" sz="1150" dirty="0">
                <a:solidFill>
                  <a:srgbClr val="555C64"/>
                </a:solidFill>
                <a:latin typeface="Calibri" pitchFamily="34" charset="0"/>
                <a:ea typeface="Calibri" pitchFamily="34" charset="-122"/>
                <a:cs typeface="Calibri" pitchFamily="34" charset="-120"/>
              </a:rPr>
              <a:t>Brands cited in AI answers earn far more clicks, and AI referral traffic converts around 3x. That window is open now.</a:t>
            </a:r>
            <a:endParaRPr lang="en-US" sz="1150" dirty="0"/>
          </a:p>
          <a:p>
            <a:pPr indent="0" marL="0">
              <a:lnSpc>
                <a:spcPts val="1600"/>
              </a:lnSpc>
              <a:spcAft>
                <a:spcPts val="900"/>
              </a:spcAft>
              <a:buNone/>
            </a:pPr>
            <a:r>
              <a:rPr lang="en-US" sz="1150" b="1" dirty="0">
                <a:solidFill>
                  <a:srgbClr val="14181D"/>
                </a:solidFill>
                <a:latin typeface="Calibri" pitchFamily="34" charset="0"/>
                <a:ea typeface="Calibri" pitchFamily="34" charset="-122"/>
                <a:cs typeface="Calibri" pitchFamily="34" charset="-120"/>
              </a:rPr>
              <a:t>Bharat Future City</a:t>
            </a:r>
            <a:endParaRPr lang="en-US" sz="1150" dirty="0"/>
          </a:p>
          <a:p>
            <a:pPr indent="0" marL="0">
              <a:lnSpc>
                <a:spcPts val="1600"/>
              </a:lnSpc>
              <a:spcAft>
                <a:spcPts val="900"/>
              </a:spcAft>
              <a:buNone/>
            </a:pPr>
            <a:r>
              <a:rPr lang="en-US" sz="1150" dirty="0">
                <a:solidFill>
                  <a:srgbClr val="555C64"/>
                </a:solidFill>
                <a:latin typeface="Calibri" pitchFamily="34" charset="0"/>
                <a:ea typeface="Calibri" pitchFamily="34" charset="-122"/>
                <a:cs typeface="Calibri" pitchFamily="34" charset="-120"/>
              </a:rPr>
              <a:t>Master plan and zoning due December 2026 — a dateable, high-search event with no incumbent authority.</a:t>
            </a:r>
            <a:endParaRPr lang="en-US" sz="1150" dirty="0"/>
          </a:p>
          <a:p>
            <a:pPr indent="0" marL="0">
              <a:lnSpc>
                <a:spcPts val="1600"/>
              </a:lnSpc>
              <a:spcAft>
                <a:spcPts val="900"/>
              </a:spcAft>
              <a:buNone/>
            </a:pPr>
            <a:r>
              <a:rPr lang="en-US" sz="1150" b="1" dirty="0">
                <a:solidFill>
                  <a:srgbClr val="14181D"/>
                </a:solidFill>
                <a:latin typeface="Calibri" pitchFamily="34" charset="0"/>
                <a:ea typeface="Calibri" pitchFamily="34" charset="-122"/>
                <a:cs typeface="Calibri" pitchFamily="34" charset="-120"/>
              </a:rPr>
              <a:t>NRI buyers</a:t>
            </a:r>
            <a:endParaRPr lang="en-US" sz="1150" dirty="0"/>
          </a:p>
          <a:p>
            <a:pPr indent="0" marL="0">
              <a:lnSpc>
                <a:spcPts val="1600"/>
              </a:lnSpc>
              <a:spcAft>
                <a:spcPts val="900"/>
              </a:spcAft>
              <a:buNone/>
            </a:pPr>
            <a:r>
              <a:rPr lang="en-US" sz="1150" dirty="0">
                <a:solidFill>
                  <a:srgbClr val="555C64"/>
                </a:solidFill>
                <a:latin typeface="Calibri" pitchFamily="34" charset="0"/>
                <a:ea typeface="Calibri" pitchFamily="34" charset="-122"/>
                <a:cs typeface="Calibri" pitchFamily="34" charset="-120"/>
              </a:rPr>
              <a:t>Under-served, higher ticket sizes, and they need an honest proxy on the ground.</a:t>
            </a:r>
            <a:endParaRPr lang="en-US" sz="1150" dirty="0"/>
          </a:p>
        </p:txBody>
      </p:sp>
      <p:sp>
        <p:nvSpPr>
          <p:cNvPr id="8" name="Shape 6"/>
          <p:cNvSpPr/>
          <p:nvPr/>
        </p:nvSpPr>
        <p:spPr>
          <a:xfrm>
            <a:off x="6233008" y="1591056"/>
            <a:ext cx="5181448" cy="4718304"/>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9" name="Shape 7"/>
          <p:cNvSpPr/>
          <p:nvPr/>
        </p:nvSpPr>
        <p:spPr>
          <a:xfrm>
            <a:off x="6543904" y="1901952"/>
            <a:ext cx="137160" cy="137160"/>
          </a:xfrm>
          <a:prstGeom prst="ellipse">
            <a:avLst/>
          </a:prstGeom>
          <a:solidFill>
            <a:srgbClr val="9A7A25"/>
          </a:solidFill>
          <a:ln/>
        </p:spPr>
      </p:sp>
      <p:sp>
        <p:nvSpPr>
          <p:cNvPr id="10" name="Text 8"/>
          <p:cNvSpPr/>
          <p:nvPr/>
        </p:nvSpPr>
        <p:spPr>
          <a:xfrm>
            <a:off x="6799936" y="1810512"/>
            <a:ext cx="4321912" cy="329184"/>
          </a:xfrm>
          <a:prstGeom prst="rect">
            <a:avLst/>
          </a:prstGeom>
          <a:noFill/>
          <a:ln/>
        </p:spPr>
        <p:txBody>
          <a:bodyPr wrap="square" lIns="0" tIns="0" rIns="0" bIns="0" rtlCol="0" anchor="ctr"/>
          <a:lstStyle/>
          <a:p>
            <a:pPr indent="0" marL="0">
              <a:buNone/>
            </a:pPr>
            <a:r>
              <a:rPr lang="en-US" sz="1800" b="1" dirty="0">
                <a:solidFill>
                  <a:srgbClr val="14181D"/>
                </a:solidFill>
                <a:latin typeface="Cambria" pitchFamily="34" charset="0"/>
                <a:ea typeface="Cambria" pitchFamily="34" charset="-122"/>
                <a:cs typeface="Cambria" pitchFamily="34" charset="-120"/>
              </a:rPr>
              <a:t>Threats</a:t>
            </a:r>
            <a:endParaRPr lang="en-US" sz="1800" dirty="0"/>
          </a:p>
        </p:txBody>
      </p:sp>
      <p:sp>
        <p:nvSpPr>
          <p:cNvPr id="11" name="Text 9"/>
          <p:cNvSpPr/>
          <p:nvPr/>
        </p:nvSpPr>
        <p:spPr>
          <a:xfrm>
            <a:off x="6543904" y="2286000"/>
            <a:ext cx="4559656" cy="3758184"/>
          </a:xfrm>
          <a:prstGeom prst="rect">
            <a:avLst/>
          </a:prstGeom>
          <a:noFill/>
          <a:ln/>
        </p:spPr>
        <p:txBody>
          <a:bodyPr wrap="square" lIns="0" tIns="0" rIns="0" bIns="0" rtlCol="0" anchor="t"/>
          <a:lstStyle/>
          <a:p>
            <a:pPr indent="0" marL="0">
              <a:lnSpc>
                <a:spcPts val="1600"/>
              </a:lnSpc>
              <a:spcAft>
                <a:spcPts val="900"/>
              </a:spcAft>
              <a:buNone/>
            </a:pPr>
            <a:r>
              <a:rPr lang="en-US" sz="1150" b="1" dirty="0">
                <a:solidFill>
                  <a:srgbClr val="14181D"/>
                </a:solidFill>
                <a:latin typeface="Calibri" pitchFamily="34" charset="0"/>
                <a:ea typeface="Calibri" pitchFamily="34" charset="-122"/>
                <a:cs typeface="Calibri" pitchFamily="34" charset="-120"/>
              </a:rPr>
              <a:t>Developer backlash on honest negatives</a:t>
            </a:r>
            <a:endParaRPr lang="en-US" sz="1150" dirty="0"/>
          </a:p>
          <a:p>
            <a:pPr indent="0" marL="0">
              <a:lnSpc>
                <a:spcPts val="1600"/>
              </a:lnSpc>
              <a:spcAft>
                <a:spcPts val="900"/>
              </a:spcAft>
              <a:buNone/>
            </a:pPr>
            <a:r>
              <a:rPr lang="en-US" sz="1150" dirty="0">
                <a:solidFill>
                  <a:srgbClr val="555C64"/>
                </a:solidFill>
                <a:latin typeface="Calibri" pitchFamily="34" charset="0"/>
                <a:ea typeface="Calibri" pitchFamily="34" charset="-122"/>
                <a:cs typeface="Calibri" pitchFamily="34" charset="-120"/>
              </a:rPr>
              <a:t>We earn from developers while publishing unflattering facts. Needs a written editorial charter, agreed up front.</a:t>
            </a:r>
            <a:endParaRPr lang="en-US" sz="1150" dirty="0"/>
          </a:p>
          <a:p>
            <a:pPr indent="0" marL="0">
              <a:lnSpc>
                <a:spcPts val="1600"/>
              </a:lnSpc>
              <a:spcAft>
                <a:spcPts val="900"/>
              </a:spcAft>
              <a:buNone/>
            </a:pPr>
            <a:r>
              <a:rPr lang="en-US" sz="1150" b="1" dirty="0">
                <a:solidFill>
                  <a:srgbClr val="14181D"/>
                </a:solidFill>
                <a:latin typeface="Calibri" pitchFamily="34" charset="0"/>
                <a:ea typeface="Calibri" pitchFamily="34" charset="-122"/>
                <a:cs typeface="Calibri" pitchFamily="34" charset="-120"/>
              </a:rPr>
              <a:t>Incumbent capital response</a:t>
            </a:r>
            <a:endParaRPr lang="en-US" sz="1150" dirty="0"/>
          </a:p>
          <a:p>
            <a:pPr indent="0" marL="0">
              <a:lnSpc>
                <a:spcPts val="1600"/>
              </a:lnSpc>
              <a:spcAft>
                <a:spcPts val="900"/>
              </a:spcAft>
              <a:buNone/>
            </a:pPr>
            <a:r>
              <a:rPr lang="en-US" sz="1150" dirty="0">
                <a:solidFill>
                  <a:srgbClr val="555C64"/>
                </a:solidFill>
                <a:latin typeface="Calibri" pitchFamily="34" charset="0"/>
                <a:ea typeface="Calibri" pitchFamily="34" charset="-122"/>
                <a:cs typeface="Calibri" pitchFamily="34" charset="-120"/>
              </a:rPr>
              <a:t>Housing or 99acres can copy a comparison engine faster than we can build a brand. Defensibility is exclusive inventory and verified data, not features.</a:t>
            </a:r>
            <a:endParaRPr lang="en-US" sz="1150" dirty="0"/>
          </a:p>
          <a:p>
            <a:pPr indent="0" marL="0">
              <a:lnSpc>
                <a:spcPts val="1600"/>
              </a:lnSpc>
              <a:spcAft>
                <a:spcPts val="900"/>
              </a:spcAft>
              <a:buNone/>
            </a:pPr>
            <a:r>
              <a:rPr lang="en-US" sz="1150" b="1" dirty="0">
                <a:solidFill>
                  <a:srgbClr val="14181D"/>
                </a:solidFill>
                <a:latin typeface="Calibri" pitchFamily="34" charset="0"/>
                <a:ea typeface="Calibri" pitchFamily="34" charset="-122"/>
                <a:cs typeface="Calibri" pitchFamily="34" charset="-120"/>
              </a:rPr>
              <a:t>A deepening downturn</a:t>
            </a:r>
            <a:endParaRPr lang="en-US" sz="1150" dirty="0"/>
          </a:p>
          <a:p>
            <a:pPr indent="0" marL="0">
              <a:lnSpc>
                <a:spcPts val="1600"/>
              </a:lnSpc>
              <a:spcAft>
                <a:spcPts val="900"/>
              </a:spcAft>
              <a:buNone/>
            </a:pPr>
            <a:r>
              <a:rPr lang="en-US" sz="1150" dirty="0">
                <a:solidFill>
                  <a:srgbClr val="555C64"/>
                </a:solidFill>
                <a:latin typeface="Calibri" pitchFamily="34" charset="0"/>
                <a:ea typeface="Calibri" pitchFamily="34" charset="-122"/>
                <a:cs typeface="Calibri" pitchFamily="34" charset="-120"/>
              </a:rPr>
              <a:t>If the overhang passes 24 months, marketing budgets and commissions get cut together.</a:t>
            </a:r>
            <a:endParaRPr lang="en-US" sz="1150" dirty="0"/>
          </a:p>
          <a:p>
            <a:pPr indent="0" marL="0">
              <a:lnSpc>
                <a:spcPts val="1600"/>
              </a:lnSpc>
              <a:spcAft>
                <a:spcPts val="900"/>
              </a:spcAft>
              <a:buNone/>
            </a:pPr>
            <a:r>
              <a:rPr lang="en-US" sz="1150" b="1" dirty="0">
                <a:solidFill>
                  <a:srgbClr val="14181D"/>
                </a:solidFill>
                <a:latin typeface="Calibri" pitchFamily="34" charset="0"/>
                <a:ea typeface="Calibri" pitchFamily="34" charset="-122"/>
                <a:cs typeface="Calibri" pitchFamily="34" charset="-120"/>
              </a:rPr>
              <a:t>RERA exposure</a:t>
            </a:r>
            <a:endParaRPr lang="en-US" sz="1150" dirty="0"/>
          </a:p>
          <a:p>
            <a:pPr indent="0" marL="0">
              <a:lnSpc>
                <a:spcPts val="1600"/>
              </a:lnSpc>
              <a:spcAft>
                <a:spcPts val="900"/>
              </a:spcAft>
              <a:buNone/>
            </a:pPr>
            <a:r>
              <a:rPr lang="en-US" sz="1150" dirty="0">
                <a:solidFill>
                  <a:srgbClr val="555C64"/>
                </a:solidFill>
                <a:latin typeface="Calibri" pitchFamily="34" charset="0"/>
                <a:ea typeface="Calibri" pitchFamily="34" charset="-122"/>
                <a:cs typeface="Calibri" pitchFamily="34" charset="-120"/>
              </a:rPr>
              <a:t>₹10,000/day penalties and mandatory RERA numbers in every ad. One sloppy campaign is existential for a firm selling trust.</a:t>
            </a:r>
            <a:endParaRPr lang="en-US" sz="1150" dirty="0"/>
          </a:p>
          <a:p>
            <a:pPr indent="0" marL="0">
              <a:lnSpc>
                <a:spcPts val="1600"/>
              </a:lnSpc>
              <a:spcAft>
                <a:spcPts val="900"/>
              </a:spcAft>
              <a:buNone/>
            </a:pPr>
            <a:r>
              <a:rPr lang="en-US" sz="1150" b="1" dirty="0">
                <a:solidFill>
                  <a:srgbClr val="14181D"/>
                </a:solidFill>
                <a:latin typeface="Calibri" pitchFamily="34" charset="0"/>
                <a:ea typeface="Calibri" pitchFamily="34" charset="-122"/>
                <a:cs typeface="Calibri" pitchFamily="34" charset="-120"/>
              </a:rPr>
              <a:t>Defamation risk</a:t>
            </a:r>
            <a:endParaRPr lang="en-US" sz="1150" dirty="0"/>
          </a:p>
          <a:p>
            <a:pPr indent="0" marL="0">
              <a:lnSpc>
                <a:spcPts val="1600"/>
              </a:lnSpc>
              <a:spcAft>
                <a:spcPts val="900"/>
              </a:spcAft>
              <a:buNone/>
            </a:pPr>
            <a:r>
              <a:rPr lang="en-US" sz="1150" dirty="0">
                <a:solidFill>
                  <a:srgbClr val="555C64"/>
                </a:solidFill>
                <a:latin typeface="Calibri" pitchFamily="34" charset="0"/>
                <a:ea typeface="Calibri" pitchFamily="34" charset="-122"/>
                <a:cs typeface="Calibri" pitchFamily="34" charset="-120"/>
              </a:rPr>
              <a:t>“This project is bad” is litigable. A cited pollution reading is not. The distinction must be enforced editorially.</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81D"/>
        </a:solidFill>
      </p:bgPr>
    </p:bg>
    <p:spTree>
      <p:nvGrpSpPr>
        <p:cNvPr id="1" name=""/>
        <p:cNvGrpSpPr/>
        <p:nvPr/>
      </p:nvGrpSpPr>
      <p:grpSpPr>
        <a:xfrm>
          <a:off x="0" y="0"/>
          <a:ext cx="0" cy="0"/>
          <a:chOff x="0" y="0"/>
          <a:chExt cx="0" cy="0"/>
        </a:xfrm>
      </p:grpSpPr>
      <p:sp>
        <p:nvSpPr>
          <p:cNvPr id="2" name="Text 0"/>
          <p:cNvSpPr/>
          <p:nvPr/>
        </p:nvSpPr>
        <p:spPr>
          <a:xfrm>
            <a:off x="777240" y="914400"/>
            <a:ext cx="10637215" cy="274320"/>
          </a:xfrm>
          <a:prstGeom prst="rect">
            <a:avLst/>
          </a:prstGeom>
          <a:noFill/>
          <a:ln/>
        </p:spPr>
        <p:txBody>
          <a:bodyPr wrap="square" lIns="0" tIns="0" rIns="0" bIns="0" rtlCol="0" anchor="ctr"/>
          <a:lstStyle/>
          <a:p>
            <a:pPr indent="0" marL="0">
              <a:buNone/>
            </a:pPr>
            <a:r>
              <a:rPr lang="en-US" sz="1050" b="1" spc="260" kern="0" dirty="0">
                <a:solidFill>
                  <a:srgbClr val="D9B061"/>
                </a:solidFill>
                <a:latin typeface="Calibri" pitchFamily="34" charset="0"/>
                <a:ea typeface="Calibri" pitchFamily="34" charset="-122"/>
                <a:cs typeface="Calibri" pitchFamily="34" charset="-120"/>
              </a:rPr>
              <a:t>WHAT THE SWOT FORCES</a:t>
            </a:r>
            <a:endParaRPr lang="en-US" sz="1050" dirty="0"/>
          </a:p>
        </p:txBody>
      </p:sp>
      <p:sp>
        <p:nvSpPr>
          <p:cNvPr id="3" name="Text 1"/>
          <p:cNvSpPr/>
          <p:nvPr/>
        </p:nvSpPr>
        <p:spPr>
          <a:xfrm>
            <a:off x="777240" y="1463040"/>
            <a:ext cx="10058400" cy="1463040"/>
          </a:xfrm>
          <a:prstGeom prst="rect">
            <a:avLst/>
          </a:prstGeom>
          <a:noFill/>
          <a:ln/>
        </p:spPr>
        <p:txBody>
          <a:bodyPr wrap="square" lIns="0" tIns="0" rIns="0" bIns="0" rtlCol="0" anchor="ctr"/>
          <a:lstStyle/>
          <a:p>
            <a:pPr indent="0" marL="0">
              <a:lnSpc>
                <a:spcPts val="5000"/>
              </a:lnSpc>
              <a:buNone/>
            </a:pPr>
            <a:r>
              <a:rPr lang="en-US" sz="4000" b="1" spc="-90" kern="0" dirty="0">
                <a:solidFill>
                  <a:srgbClr val="FFFFFF"/>
                </a:solidFill>
                <a:latin typeface="Cambria" pitchFamily="34" charset="0"/>
                <a:ea typeface="Cambria" pitchFamily="34" charset="-122"/>
                <a:cs typeface="Cambria" pitchFamily="34" charset="-120"/>
              </a:rPr>
              <a:t>The moat is not the platform.</a:t>
            </a:r>
            <a:endParaRPr lang="en-US" sz="4000" dirty="0"/>
          </a:p>
          <a:p>
            <a:pPr indent="0" marL="0">
              <a:lnSpc>
                <a:spcPts val="5000"/>
              </a:lnSpc>
              <a:buNone/>
            </a:pPr>
            <a:r>
              <a:rPr lang="en-US" sz="4000" b="1" spc="-90" kern="0" dirty="0">
                <a:solidFill>
                  <a:srgbClr val="FFFFFF"/>
                </a:solidFill>
                <a:latin typeface="Cambria" pitchFamily="34" charset="0"/>
                <a:ea typeface="Cambria" pitchFamily="34" charset="-122"/>
                <a:cs typeface="Cambria" pitchFamily="34" charset="-120"/>
              </a:rPr>
              <a:t>Features get copied.</a:t>
            </a:r>
            <a:endParaRPr lang="en-US" sz="4000" dirty="0"/>
          </a:p>
        </p:txBody>
      </p:sp>
      <p:sp>
        <p:nvSpPr>
          <p:cNvPr id="4" name="Shape 2"/>
          <p:cNvSpPr/>
          <p:nvPr/>
        </p:nvSpPr>
        <p:spPr>
          <a:xfrm>
            <a:off x="777240" y="3310128"/>
            <a:ext cx="3362858" cy="1783080"/>
          </a:xfrm>
          <a:prstGeom prst="rect">
            <a:avLst/>
          </a:prstGeom>
          <a:solidFill>
            <a:srgbClr val="1D242C"/>
          </a:solidFill>
          <a:ln/>
        </p:spPr>
      </p:sp>
      <p:sp>
        <p:nvSpPr>
          <p:cNvPr id="5" name="Text 3"/>
          <p:cNvSpPr/>
          <p:nvPr/>
        </p:nvSpPr>
        <p:spPr>
          <a:xfrm>
            <a:off x="1069848" y="3547872"/>
            <a:ext cx="2777642" cy="402336"/>
          </a:xfrm>
          <a:prstGeom prst="rect">
            <a:avLst/>
          </a:prstGeom>
          <a:noFill/>
          <a:ln/>
        </p:spPr>
        <p:txBody>
          <a:bodyPr wrap="square" lIns="0" tIns="0" rIns="0" bIns="0" rtlCol="0" anchor="ctr"/>
          <a:lstStyle/>
          <a:p>
            <a:pPr indent="0" marL="0">
              <a:buNone/>
            </a:pPr>
            <a:r>
              <a:rPr lang="en-US" sz="1600" b="1" dirty="0">
                <a:solidFill>
                  <a:srgbClr val="D9B061"/>
                </a:solidFill>
                <a:latin typeface="Cambria" pitchFamily="34" charset="0"/>
                <a:ea typeface="Cambria" pitchFamily="34" charset="-122"/>
                <a:cs typeface="Cambria" pitchFamily="34" charset="-120"/>
              </a:rPr>
              <a:t>Exclusive inventory</a:t>
            </a:r>
            <a:endParaRPr lang="en-US" sz="1600" dirty="0"/>
          </a:p>
        </p:txBody>
      </p:sp>
      <p:sp>
        <p:nvSpPr>
          <p:cNvPr id="6" name="Text 4"/>
          <p:cNvSpPr/>
          <p:nvPr/>
        </p:nvSpPr>
        <p:spPr>
          <a:xfrm>
            <a:off x="1069848" y="4005072"/>
            <a:ext cx="2777642" cy="914400"/>
          </a:xfrm>
          <a:prstGeom prst="rect">
            <a:avLst/>
          </a:prstGeom>
          <a:noFill/>
          <a:ln/>
        </p:spPr>
        <p:txBody>
          <a:bodyPr wrap="square" lIns="0" tIns="0" rIns="0" bIns="0" rtlCol="0" anchor="ctr"/>
          <a:lstStyle/>
          <a:p>
            <a:pPr indent="0" marL="0">
              <a:lnSpc>
                <a:spcPts val="1900"/>
              </a:lnSpc>
              <a:buNone/>
            </a:pPr>
            <a:r>
              <a:rPr lang="en-US" sz="1250" dirty="0">
                <a:solidFill>
                  <a:srgbClr val="B6BEC7"/>
                </a:solidFill>
                <a:latin typeface="Calibri" pitchFamily="34" charset="0"/>
                <a:ea typeface="Calibri" pitchFamily="34" charset="-122"/>
                <a:cs typeface="Calibri" pitchFamily="34" charset="-120"/>
              </a:rPr>
              <a:t>Mandates competitors literally cannot list.</a:t>
            </a:r>
            <a:endParaRPr lang="en-US" sz="1250" dirty="0"/>
          </a:p>
        </p:txBody>
      </p:sp>
      <p:sp>
        <p:nvSpPr>
          <p:cNvPr id="7" name="Shape 5"/>
          <p:cNvSpPr/>
          <p:nvPr/>
        </p:nvSpPr>
        <p:spPr>
          <a:xfrm>
            <a:off x="4414418" y="3310128"/>
            <a:ext cx="3362858" cy="1783080"/>
          </a:xfrm>
          <a:prstGeom prst="rect">
            <a:avLst/>
          </a:prstGeom>
          <a:solidFill>
            <a:srgbClr val="1D242C"/>
          </a:solidFill>
          <a:ln/>
        </p:spPr>
      </p:sp>
      <p:sp>
        <p:nvSpPr>
          <p:cNvPr id="8" name="Text 6"/>
          <p:cNvSpPr/>
          <p:nvPr/>
        </p:nvSpPr>
        <p:spPr>
          <a:xfrm>
            <a:off x="4707026" y="3547872"/>
            <a:ext cx="2777642" cy="402336"/>
          </a:xfrm>
          <a:prstGeom prst="rect">
            <a:avLst/>
          </a:prstGeom>
          <a:noFill/>
          <a:ln/>
        </p:spPr>
        <p:txBody>
          <a:bodyPr wrap="square" lIns="0" tIns="0" rIns="0" bIns="0" rtlCol="0" anchor="ctr"/>
          <a:lstStyle/>
          <a:p>
            <a:pPr indent="0" marL="0">
              <a:buNone/>
            </a:pPr>
            <a:r>
              <a:rPr lang="en-US" sz="1600" b="1" dirty="0">
                <a:solidFill>
                  <a:srgbClr val="D9B061"/>
                </a:solidFill>
                <a:latin typeface="Cambria" pitchFamily="34" charset="0"/>
                <a:ea typeface="Cambria" pitchFamily="34" charset="-122"/>
                <a:cs typeface="Cambria" pitchFamily="34" charset="-120"/>
              </a:rPr>
              <a:t>Verified data</a:t>
            </a:r>
            <a:endParaRPr lang="en-US" sz="1600" dirty="0"/>
          </a:p>
        </p:txBody>
      </p:sp>
      <p:sp>
        <p:nvSpPr>
          <p:cNvPr id="9" name="Text 7"/>
          <p:cNvSpPr/>
          <p:nvPr/>
        </p:nvSpPr>
        <p:spPr>
          <a:xfrm>
            <a:off x="4707026" y="4005072"/>
            <a:ext cx="2777642" cy="914400"/>
          </a:xfrm>
          <a:prstGeom prst="rect">
            <a:avLst/>
          </a:prstGeom>
          <a:noFill/>
          <a:ln/>
        </p:spPr>
        <p:txBody>
          <a:bodyPr wrap="square" lIns="0" tIns="0" rIns="0" bIns="0" rtlCol="0" anchor="ctr"/>
          <a:lstStyle/>
          <a:p>
            <a:pPr indent="0" marL="0">
              <a:lnSpc>
                <a:spcPts val="1900"/>
              </a:lnSpc>
              <a:buNone/>
            </a:pPr>
            <a:r>
              <a:rPr lang="en-US" sz="1250" dirty="0">
                <a:solidFill>
                  <a:srgbClr val="B6BEC7"/>
                </a:solidFill>
                <a:latin typeface="Calibri" pitchFamily="34" charset="0"/>
                <a:ea typeface="Calibri" pitchFamily="34" charset="-122"/>
                <a:cs typeface="Calibri" pitchFamily="34" charset="-120"/>
              </a:rPr>
              <a:t>A proprietary dataset built by physically auditing projects.</a:t>
            </a:r>
            <a:endParaRPr lang="en-US" sz="1250" dirty="0"/>
          </a:p>
        </p:txBody>
      </p:sp>
      <p:sp>
        <p:nvSpPr>
          <p:cNvPr id="10" name="Shape 8"/>
          <p:cNvSpPr/>
          <p:nvPr/>
        </p:nvSpPr>
        <p:spPr>
          <a:xfrm>
            <a:off x="8051597" y="3310128"/>
            <a:ext cx="3362858" cy="1783080"/>
          </a:xfrm>
          <a:prstGeom prst="rect">
            <a:avLst/>
          </a:prstGeom>
          <a:solidFill>
            <a:srgbClr val="1D242C"/>
          </a:solidFill>
          <a:ln/>
        </p:spPr>
      </p:sp>
      <p:sp>
        <p:nvSpPr>
          <p:cNvPr id="11" name="Text 9"/>
          <p:cNvSpPr/>
          <p:nvPr/>
        </p:nvSpPr>
        <p:spPr>
          <a:xfrm>
            <a:off x="8344205" y="3547872"/>
            <a:ext cx="2777642" cy="402336"/>
          </a:xfrm>
          <a:prstGeom prst="rect">
            <a:avLst/>
          </a:prstGeom>
          <a:noFill/>
          <a:ln/>
        </p:spPr>
        <p:txBody>
          <a:bodyPr wrap="square" lIns="0" tIns="0" rIns="0" bIns="0" rtlCol="0" anchor="ctr"/>
          <a:lstStyle/>
          <a:p>
            <a:pPr indent="0" marL="0">
              <a:buNone/>
            </a:pPr>
            <a:r>
              <a:rPr lang="en-US" sz="1600" b="1" dirty="0">
                <a:solidFill>
                  <a:srgbClr val="D9B061"/>
                </a:solidFill>
                <a:latin typeface="Cambria" pitchFamily="34" charset="0"/>
                <a:ea typeface="Cambria" pitchFamily="34" charset="-122"/>
                <a:cs typeface="Cambria" pitchFamily="34" charset="-120"/>
              </a:rPr>
              <a:t>A trust brand</a:t>
            </a:r>
            <a:endParaRPr lang="en-US" sz="1600" dirty="0"/>
          </a:p>
        </p:txBody>
      </p:sp>
      <p:sp>
        <p:nvSpPr>
          <p:cNvPr id="12" name="Text 10"/>
          <p:cNvSpPr/>
          <p:nvPr/>
        </p:nvSpPr>
        <p:spPr>
          <a:xfrm>
            <a:off x="8344205" y="4005072"/>
            <a:ext cx="2777642" cy="914400"/>
          </a:xfrm>
          <a:prstGeom prst="rect">
            <a:avLst/>
          </a:prstGeom>
          <a:noFill/>
          <a:ln/>
        </p:spPr>
        <p:txBody>
          <a:bodyPr wrap="square" lIns="0" tIns="0" rIns="0" bIns="0" rtlCol="0" anchor="ctr"/>
          <a:lstStyle/>
          <a:p>
            <a:pPr indent="0" marL="0">
              <a:lnSpc>
                <a:spcPts val="1900"/>
              </a:lnSpc>
              <a:buNone/>
            </a:pPr>
            <a:r>
              <a:rPr lang="en-US" sz="1250" dirty="0">
                <a:solidFill>
                  <a:srgbClr val="B6BEC7"/>
                </a:solidFill>
                <a:latin typeface="Calibri" pitchFamily="34" charset="0"/>
                <a:ea typeface="Calibri" pitchFamily="34" charset="-122"/>
                <a:cs typeface="Calibri" pitchFamily="34" charset="-120"/>
              </a:rPr>
              <a:t>One the portals cannot adopt without cannibalising their own revenue.</a:t>
            </a:r>
            <a:endParaRPr lang="en-US" sz="1250" dirty="0"/>
          </a:p>
        </p:txBody>
      </p:sp>
      <p:sp>
        <p:nvSpPr>
          <p:cNvPr id="13" name="Text 11"/>
          <p:cNvSpPr/>
          <p:nvPr/>
        </p:nvSpPr>
        <p:spPr>
          <a:xfrm>
            <a:off x="777240" y="5413248"/>
            <a:ext cx="10637215" cy="457200"/>
          </a:xfrm>
          <a:prstGeom prst="rect">
            <a:avLst/>
          </a:prstGeom>
          <a:noFill/>
          <a:ln/>
        </p:spPr>
        <p:txBody>
          <a:bodyPr wrap="square" lIns="0" tIns="0" rIns="0" bIns="0" rtlCol="0" anchor="ctr"/>
          <a:lstStyle/>
          <a:p>
            <a:pPr indent="0" marL="0">
              <a:buNone/>
            </a:pPr>
            <a:r>
              <a:rPr lang="en-US" sz="1600" i="1" dirty="0">
                <a:solidFill>
                  <a:srgbClr val="FFFFFF"/>
                </a:solidFill>
                <a:latin typeface="Calibri" pitchFamily="34" charset="0"/>
                <a:ea typeface="Calibri" pitchFamily="34" charset="-122"/>
                <a:cs typeface="Calibri" pitchFamily="34" charset="-120"/>
              </a:rPr>
              <a:t>The platform is the delivery mechanism for those three. Build in that order.</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81D"/>
        </a:solidFill>
      </p:bgPr>
    </p:bg>
    <p:spTree>
      <p:nvGrpSpPr>
        <p:cNvPr id="1" name=""/>
        <p:cNvGrpSpPr/>
        <p:nvPr/>
      </p:nvGrpSpPr>
      <p:grpSpPr>
        <a:xfrm>
          <a:off x="0" y="0"/>
          <a:ext cx="0" cy="0"/>
          <a:chOff x="0" y="0"/>
          <a:chExt cx="0" cy="0"/>
        </a:xfrm>
      </p:grpSpPr>
      <p:sp>
        <p:nvSpPr>
          <p:cNvPr id="2" name="Text 0"/>
          <p:cNvSpPr/>
          <p:nvPr/>
        </p:nvSpPr>
        <p:spPr>
          <a:xfrm>
            <a:off x="777240" y="1417320"/>
            <a:ext cx="1097280" cy="365760"/>
          </a:xfrm>
          <a:prstGeom prst="rect">
            <a:avLst/>
          </a:prstGeom>
          <a:noFill/>
          <a:ln/>
        </p:spPr>
        <p:txBody>
          <a:bodyPr wrap="square" lIns="0" tIns="0" rIns="0" bIns="0" rtlCol="0" anchor="ctr"/>
          <a:lstStyle/>
          <a:p>
            <a:pPr indent="0" marL="0">
              <a:buNone/>
            </a:pPr>
            <a:r>
              <a:rPr lang="en-US" sz="1100" b="1" spc="260" kern="0" dirty="0">
                <a:solidFill>
                  <a:srgbClr val="D9B061"/>
                </a:solidFill>
                <a:latin typeface="Calibri" pitchFamily="34" charset="0"/>
                <a:ea typeface="Calibri" pitchFamily="34" charset="-122"/>
                <a:cs typeface="Calibri" pitchFamily="34" charset="-120"/>
              </a:rPr>
              <a:t>06</a:t>
            </a:r>
            <a:endParaRPr lang="en-US" sz="1100" dirty="0"/>
          </a:p>
        </p:txBody>
      </p:sp>
      <p:sp>
        <p:nvSpPr>
          <p:cNvPr id="3" name="Text 1"/>
          <p:cNvSpPr/>
          <p:nvPr/>
        </p:nvSpPr>
        <p:spPr>
          <a:xfrm>
            <a:off x="777240" y="1874520"/>
            <a:ext cx="9601200" cy="1828800"/>
          </a:xfrm>
          <a:prstGeom prst="rect">
            <a:avLst/>
          </a:prstGeom>
          <a:noFill/>
          <a:ln/>
        </p:spPr>
        <p:txBody>
          <a:bodyPr wrap="square" lIns="0" tIns="0" rIns="0" bIns="0" rtlCol="0" anchor="ctr"/>
          <a:lstStyle/>
          <a:p>
            <a:pPr indent="0" marL="0">
              <a:lnSpc>
                <a:spcPts val="6000"/>
              </a:lnSpc>
              <a:buNone/>
            </a:pPr>
            <a:r>
              <a:rPr lang="en-US" sz="4800" b="1" spc="-120" kern="0" dirty="0">
                <a:solidFill>
                  <a:srgbClr val="FFFFFF"/>
                </a:solidFill>
                <a:latin typeface="Cambria" pitchFamily="34" charset="0"/>
                <a:ea typeface="Cambria" pitchFamily="34" charset="-122"/>
                <a:cs typeface="Cambria" pitchFamily="34" charset="-120"/>
              </a:rPr>
              <a:t>The model:</a:t>
            </a:r>
            <a:endParaRPr lang="en-US" sz="4800" dirty="0"/>
          </a:p>
          <a:p>
            <a:pPr indent="0" marL="0">
              <a:lnSpc>
                <a:spcPts val="6000"/>
              </a:lnSpc>
              <a:buNone/>
            </a:pPr>
            <a:r>
              <a:rPr lang="en-US" sz="4800" b="1" spc="-120" kern="0" dirty="0">
                <a:solidFill>
                  <a:srgbClr val="FFFFFF"/>
                </a:solidFill>
                <a:latin typeface="Cambria" pitchFamily="34" charset="0"/>
                <a:ea typeface="Cambria" pitchFamily="34" charset="-122"/>
                <a:cs typeface="Cambria" pitchFamily="34" charset="-120"/>
              </a:rPr>
              <a:t>CarWale, for property.</a:t>
            </a:r>
            <a:endParaRPr lang="en-US" sz="4800" dirty="0"/>
          </a:p>
        </p:txBody>
      </p:sp>
      <p:sp>
        <p:nvSpPr>
          <p:cNvPr id="4" name="Text 2"/>
          <p:cNvSpPr/>
          <p:nvPr/>
        </p:nvSpPr>
        <p:spPr>
          <a:xfrm>
            <a:off x="777240" y="4023360"/>
            <a:ext cx="9326880" cy="731520"/>
          </a:xfrm>
          <a:prstGeom prst="rect">
            <a:avLst/>
          </a:prstGeom>
          <a:noFill/>
          <a:ln/>
        </p:spPr>
        <p:txBody>
          <a:bodyPr wrap="square" lIns="0" tIns="0" rIns="0" bIns="0" rtlCol="0" anchor="ctr"/>
          <a:lstStyle/>
          <a:p>
            <a:pPr indent="0" marL="0">
              <a:lnSpc>
                <a:spcPts val="2500"/>
              </a:lnSpc>
              <a:buNone/>
            </a:pPr>
            <a:r>
              <a:rPr lang="en-US" sz="1600" dirty="0">
                <a:solidFill>
                  <a:srgbClr val="FFFFFF"/>
                </a:solidFill>
                <a:latin typeface="Calibri" pitchFamily="34" charset="0"/>
                <a:ea typeface="Calibri" pitchFamily="34" charset="-122"/>
                <a:cs typeface="Calibri" pitchFamily="34" charset="-120"/>
              </a:rPr>
              <a:t>CarWale did not beat the classifieds by having more cars. It won by owning the step before the transaction — expert reviews, side-by-side comparisons, price guides, owner ratings, EMI calculators.</a:t>
            </a:r>
            <a:endParaRPr lang="en-US" sz="1600" dirty="0"/>
          </a:p>
        </p:txBody>
      </p:sp>
      <p:sp>
        <p:nvSpPr>
          <p:cNvPr id="5" name="Text 3"/>
          <p:cNvSpPr/>
          <p:nvPr/>
        </p:nvSpPr>
        <p:spPr>
          <a:xfrm>
            <a:off x="777240" y="4892040"/>
            <a:ext cx="9326880" cy="731520"/>
          </a:xfrm>
          <a:prstGeom prst="rect">
            <a:avLst/>
          </a:prstGeom>
          <a:noFill/>
          <a:ln/>
        </p:spPr>
        <p:txBody>
          <a:bodyPr wrap="square" lIns="0" tIns="0" rIns="0" bIns="0" rtlCol="0" anchor="ctr"/>
          <a:lstStyle/>
          <a:p>
            <a:pPr indent="0" marL="0">
              <a:lnSpc>
                <a:spcPts val="2500"/>
              </a:lnSpc>
              <a:buNone/>
            </a:pPr>
            <a:r>
              <a:rPr lang="en-US" sz="1600" dirty="0">
                <a:solidFill>
                  <a:srgbClr val="79818A"/>
                </a:solidFill>
                <a:latin typeface="Calibri" pitchFamily="34" charset="0"/>
                <a:ea typeface="Calibri" pitchFamily="34" charset="-122"/>
                <a:cs typeface="Calibri" pitchFamily="34" charset="-120"/>
              </a:rPr>
              <a:t>It became where Indians go to decide. It reached 65 million car buyers and built roughly ₹1,260cr of revenue on the intent it had already earned.</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777240" y="530352"/>
            <a:ext cx="10637215" cy="219456"/>
          </a:xfrm>
          <a:prstGeom prst="rect">
            <a:avLst/>
          </a:prstGeom>
          <a:noFill/>
          <a:ln/>
        </p:spPr>
        <p:txBody>
          <a:bodyPr wrap="square" lIns="0" tIns="0" rIns="0" bIns="0" rtlCol="0" anchor="ctr"/>
          <a:lstStyle/>
          <a:p>
            <a:pPr indent="0" marL="0">
              <a:buNone/>
            </a:pPr>
            <a:r>
              <a:rPr lang="en-US" sz="1100" b="1" spc="260" kern="0" dirty="0">
                <a:solidFill>
                  <a:srgbClr val="9A7A25"/>
                </a:solidFill>
                <a:latin typeface="Calibri" pitchFamily="34" charset="0"/>
                <a:ea typeface="Calibri" pitchFamily="34" charset="-122"/>
                <a:cs typeface="Calibri" pitchFamily="34" charset="-120"/>
              </a:rPr>
              <a:t>06</a:t>
            </a:r>
            <a:endParaRPr lang="en-US" sz="1100" dirty="0"/>
          </a:p>
        </p:txBody>
      </p:sp>
      <p:sp>
        <p:nvSpPr>
          <p:cNvPr id="3" name="Text 1"/>
          <p:cNvSpPr/>
          <p:nvPr/>
        </p:nvSpPr>
        <p:spPr>
          <a:xfrm>
            <a:off x="777240" y="768096"/>
            <a:ext cx="10637215" cy="603504"/>
          </a:xfrm>
          <a:prstGeom prst="rect">
            <a:avLst/>
          </a:prstGeom>
          <a:noFill/>
          <a:ln/>
        </p:spPr>
        <p:txBody>
          <a:bodyPr wrap="square" lIns="0" tIns="0" rIns="0" bIns="0" rtlCol="0" anchor="ctr"/>
          <a:lstStyle/>
          <a:p>
            <a:pPr indent="0" marL="0">
              <a:buNone/>
            </a:pPr>
            <a:r>
              <a:rPr lang="en-US" sz="3800" b="1" spc="-60" kern="0" dirty="0">
                <a:solidFill>
                  <a:srgbClr val="14181D"/>
                </a:solidFill>
                <a:latin typeface="Cambria" pitchFamily="34" charset="0"/>
                <a:ea typeface="Cambria" pitchFamily="34" charset="-122"/>
                <a:cs typeface="Cambria" pitchFamily="34" charset="-120"/>
              </a:rPr>
              <a:t>Two different businesses</a:t>
            </a:r>
            <a:endParaRPr lang="en-US" sz="3800" dirty="0"/>
          </a:p>
        </p:txBody>
      </p:sp>
      <p:sp>
        <p:nvSpPr>
          <p:cNvPr id="4" name="Shape 2"/>
          <p:cNvSpPr/>
          <p:nvPr/>
        </p:nvSpPr>
        <p:spPr>
          <a:xfrm>
            <a:off x="777240" y="1591056"/>
            <a:ext cx="5181448" cy="2651760"/>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5" name="Text 3"/>
          <p:cNvSpPr/>
          <p:nvPr/>
        </p:nvSpPr>
        <p:spPr>
          <a:xfrm>
            <a:off x="1069848" y="1828800"/>
            <a:ext cx="4596232" cy="256032"/>
          </a:xfrm>
          <a:prstGeom prst="rect">
            <a:avLst/>
          </a:prstGeom>
          <a:noFill/>
          <a:ln/>
        </p:spPr>
        <p:txBody>
          <a:bodyPr wrap="square" lIns="0" tIns="0" rIns="0" bIns="0" rtlCol="0" anchor="ctr"/>
          <a:lstStyle/>
          <a:p>
            <a:pPr indent="0" marL="0">
              <a:buNone/>
            </a:pPr>
            <a:r>
              <a:rPr lang="en-US" sz="900" b="1" spc="180" kern="0" dirty="0">
                <a:solidFill>
                  <a:srgbClr val="8A9099"/>
                </a:solidFill>
                <a:latin typeface="Calibri" pitchFamily="34" charset="0"/>
                <a:ea typeface="Calibri" pitchFamily="34" charset="-122"/>
                <a:cs typeface="Calibri" pitchFamily="34" charset="-120"/>
              </a:rPr>
              <a:t>EVERYONE ELSE</a:t>
            </a:r>
            <a:endParaRPr lang="en-US" sz="900" dirty="0"/>
          </a:p>
        </p:txBody>
      </p:sp>
      <p:sp>
        <p:nvSpPr>
          <p:cNvPr id="6" name="Text 4"/>
          <p:cNvSpPr/>
          <p:nvPr/>
        </p:nvSpPr>
        <p:spPr>
          <a:xfrm>
            <a:off x="1069848" y="2121408"/>
            <a:ext cx="4596232" cy="420624"/>
          </a:xfrm>
          <a:prstGeom prst="rect">
            <a:avLst/>
          </a:prstGeom>
          <a:noFill/>
          <a:ln/>
        </p:spPr>
        <p:txBody>
          <a:bodyPr wrap="square" lIns="0" tIns="0" rIns="0" bIns="0" rtlCol="0" anchor="ctr"/>
          <a:lstStyle/>
          <a:p>
            <a:pPr indent="0" marL="0">
              <a:buNone/>
            </a:pPr>
            <a:r>
              <a:rPr lang="en-US" sz="2000" b="1" dirty="0">
                <a:solidFill>
                  <a:srgbClr val="14181D"/>
                </a:solidFill>
                <a:latin typeface="Cambria" pitchFamily="34" charset="0"/>
                <a:ea typeface="Cambria" pitchFamily="34" charset="-122"/>
                <a:cs typeface="Cambria" pitchFamily="34" charset="-120"/>
              </a:rPr>
              <a:t>Classifieds business</a:t>
            </a:r>
            <a:endParaRPr lang="en-US" sz="2000" dirty="0"/>
          </a:p>
        </p:txBody>
      </p:sp>
      <p:sp>
        <p:nvSpPr>
          <p:cNvPr id="7" name="Text 5"/>
          <p:cNvSpPr/>
          <p:nvPr/>
        </p:nvSpPr>
        <p:spPr>
          <a:xfrm>
            <a:off x="1069848" y="2651760"/>
            <a:ext cx="4596232" cy="137160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555C64"/>
                </a:solidFill>
                <a:latin typeface="Calibri" pitchFamily="34" charset="0"/>
                <a:ea typeface="Calibri" pitchFamily="34" charset="-122"/>
                <a:cs typeface="Calibri" pitchFamily="34" charset="-120"/>
              </a:rPr>
              <a:t>Answers “what's available”</a:t>
            </a:r>
            <a:endParaRPr lang="en-US" sz="1300" dirty="0"/>
          </a:p>
          <a:p>
            <a:pPr marL="342900" indent="-342900">
              <a:spcAft>
                <a:spcPts val="800"/>
              </a:spcAft>
              <a:buSzPct val="100000"/>
              <a:buChar char="•"/>
            </a:pPr>
            <a:r>
              <a:rPr lang="en-US" sz="1300" dirty="0">
                <a:solidFill>
                  <a:srgbClr val="555C64"/>
                </a:solidFill>
                <a:latin typeface="Calibri" pitchFamily="34" charset="0"/>
                <a:ea typeface="Calibri" pitchFamily="34" charset="-122"/>
                <a:cs typeface="Calibri" pitchFamily="34" charset="-120"/>
              </a:rPr>
              <a:t>Monetises by reselling your attention</a:t>
            </a:r>
            <a:endParaRPr lang="en-US" sz="1300" dirty="0"/>
          </a:p>
          <a:p>
            <a:pPr marL="342900" indent="-342900">
              <a:spcAft>
                <a:spcPts val="800"/>
              </a:spcAft>
              <a:buSzPct val="100000"/>
              <a:buChar char="•"/>
            </a:pPr>
            <a:r>
              <a:rPr lang="en-US" sz="1300" dirty="0">
                <a:solidFill>
                  <a:srgbClr val="555C64"/>
                </a:solidFill>
                <a:latin typeface="Calibri" pitchFamily="34" charset="0"/>
                <a:ea typeface="Calibri" pitchFamily="34" charset="-122"/>
                <a:cs typeface="Calibri" pitchFamily="34" charset="-120"/>
              </a:rPr>
              <a:t>Wins on volume and ad spend</a:t>
            </a:r>
            <a:endParaRPr lang="en-US" sz="1300" dirty="0"/>
          </a:p>
          <a:p>
            <a:pPr marL="342900" indent="-342900">
              <a:spcAft>
                <a:spcPts val="800"/>
              </a:spcAft>
              <a:buSzPct val="100000"/>
              <a:buChar char="•"/>
            </a:pPr>
            <a:r>
              <a:rPr lang="en-US" sz="1300" dirty="0">
                <a:solidFill>
                  <a:srgbClr val="555C64"/>
                </a:solidFill>
                <a:latin typeface="Calibri" pitchFamily="34" charset="0"/>
                <a:ea typeface="Calibri" pitchFamily="34" charset="-122"/>
                <a:cs typeface="Calibri" pitchFamily="34" charset="-120"/>
              </a:rPr>
              <a:t>The buyer is the product</a:t>
            </a:r>
            <a:endParaRPr lang="en-US" sz="1300" dirty="0"/>
          </a:p>
        </p:txBody>
      </p:sp>
      <p:sp>
        <p:nvSpPr>
          <p:cNvPr id="8" name="Shape 6"/>
          <p:cNvSpPr/>
          <p:nvPr/>
        </p:nvSpPr>
        <p:spPr>
          <a:xfrm>
            <a:off x="6233008" y="1591056"/>
            <a:ext cx="5181448" cy="2651760"/>
          </a:xfrm>
          <a:prstGeom prst="rect">
            <a:avLst/>
          </a:prstGeom>
          <a:solidFill>
            <a:srgbClr val="14181D"/>
          </a:solidFill>
          <a:ln/>
        </p:spPr>
      </p:sp>
      <p:sp>
        <p:nvSpPr>
          <p:cNvPr id="9" name="Text 7"/>
          <p:cNvSpPr/>
          <p:nvPr/>
        </p:nvSpPr>
        <p:spPr>
          <a:xfrm>
            <a:off x="6525616" y="1828800"/>
            <a:ext cx="4596232" cy="256032"/>
          </a:xfrm>
          <a:prstGeom prst="rect">
            <a:avLst/>
          </a:prstGeom>
          <a:noFill/>
          <a:ln/>
        </p:spPr>
        <p:txBody>
          <a:bodyPr wrap="square" lIns="0" tIns="0" rIns="0" bIns="0" rtlCol="0" anchor="ctr"/>
          <a:lstStyle/>
          <a:p>
            <a:pPr indent="0" marL="0">
              <a:buNone/>
            </a:pPr>
            <a:r>
              <a:rPr lang="en-US" sz="900" b="1" spc="180" kern="0" dirty="0">
                <a:solidFill>
                  <a:srgbClr val="D9B061"/>
                </a:solidFill>
                <a:latin typeface="Calibri" pitchFamily="34" charset="0"/>
                <a:ea typeface="Calibri" pitchFamily="34" charset="-122"/>
                <a:cs typeface="Calibri" pitchFamily="34" charset="-120"/>
              </a:rPr>
              <a:t>OTHO</a:t>
            </a:r>
            <a:endParaRPr lang="en-US" sz="900" dirty="0"/>
          </a:p>
        </p:txBody>
      </p:sp>
      <p:sp>
        <p:nvSpPr>
          <p:cNvPr id="10" name="Text 8"/>
          <p:cNvSpPr/>
          <p:nvPr/>
        </p:nvSpPr>
        <p:spPr>
          <a:xfrm>
            <a:off x="6525616" y="2121408"/>
            <a:ext cx="4596232" cy="420624"/>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Research business</a:t>
            </a:r>
            <a:endParaRPr lang="en-US" sz="2000" dirty="0"/>
          </a:p>
        </p:txBody>
      </p:sp>
      <p:sp>
        <p:nvSpPr>
          <p:cNvPr id="11" name="Text 9"/>
          <p:cNvSpPr/>
          <p:nvPr/>
        </p:nvSpPr>
        <p:spPr>
          <a:xfrm>
            <a:off x="6525616" y="2651760"/>
            <a:ext cx="4596232" cy="137160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B6BEC7"/>
                </a:solidFill>
                <a:latin typeface="Calibri" pitchFamily="34" charset="0"/>
                <a:ea typeface="Calibri" pitchFamily="34" charset="-122"/>
                <a:cs typeface="Calibri" pitchFamily="34" charset="-120"/>
              </a:rPr>
              <a:t>Answers “what should I buy”</a:t>
            </a:r>
            <a:endParaRPr lang="en-US" sz="1300" dirty="0"/>
          </a:p>
          <a:p>
            <a:pPr marL="342900" indent="-342900">
              <a:spcAft>
                <a:spcPts val="800"/>
              </a:spcAft>
              <a:buSzPct val="100000"/>
              <a:buChar char="•"/>
            </a:pPr>
            <a:r>
              <a:rPr lang="en-US" sz="1300" dirty="0">
                <a:solidFill>
                  <a:srgbClr val="B6BEC7"/>
                </a:solidFill>
                <a:latin typeface="Calibri" pitchFamily="34" charset="0"/>
                <a:ea typeface="Calibri" pitchFamily="34" charset="-122"/>
                <a:cs typeface="Calibri" pitchFamily="34" charset="-120"/>
              </a:rPr>
              <a:t>Monetises intent it has already earned</a:t>
            </a:r>
            <a:endParaRPr lang="en-US" sz="1300" dirty="0"/>
          </a:p>
          <a:p>
            <a:pPr marL="342900" indent="-342900">
              <a:spcAft>
                <a:spcPts val="800"/>
              </a:spcAft>
              <a:buSzPct val="100000"/>
              <a:buChar char="•"/>
            </a:pPr>
            <a:r>
              <a:rPr lang="en-US" sz="1300" dirty="0">
                <a:solidFill>
                  <a:srgbClr val="B6BEC7"/>
                </a:solidFill>
                <a:latin typeface="Calibri" pitchFamily="34" charset="0"/>
                <a:ea typeface="Calibri" pitchFamily="34" charset="-122"/>
                <a:cs typeface="Calibri" pitchFamily="34" charset="-120"/>
              </a:rPr>
              <a:t>Wins on trust and depth</a:t>
            </a:r>
            <a:endParaRPr lang="en-US" sz="1300" dirty="0"/>
          </a:p>
          <a:p>
            <a:pPr marL="342900" indent="-342900">
              <a:spcAft>
                <a:spcPts val="800"/>
              </a:spcAft>
              <a:buSzPct val="100000"/>
              <a:buChar char="•"/>
            </a:pPr>
            <a:r>
              <a:rPr lang="en-US" sz="1300" dirty="0">
                <a:solidFill>
                  <a:srgbClr val="B6BEC7"/>
                </a:solidFill>
                <a:latin typeface="Calibri" pitchFamily="34" charset="0"/>
                <a:ea typeface="Calibri" pitchFamily="34" charset="-122"/>
                <a:cs typeface="Calibri" pitchFamily="34" charset="-120"/>
              </a:rPr>
              <a:t>The buyer is the customer</a:t>
            </a:r>
            <a:endParaRPr lang="en-US" sz="1300" dirty="0"/>
          </a:p>
        </p:txBody>
      </p:sp>
      <p:sp>
        <p:nvSpPr>
          <p:cNvPr id="12" name="Text 10"/>
          <p:cNvSpPr/>
          <p:nvPr/>
        </p:nvSpPr>
        <p:spPr>
          <a:xfrm>
            <a:off x="777240" y="4553712"/>
            <a:ext cx="10637215" cy="475488"/>
          </a:xfrm>
          <a:prstGeom prst="rect">
            <a:avLst/>
          </a:prstGeom>
          <a:noFill/>
          <a:ln/>
        </p:spPr>
        <p:txBody>
          <a:bodyPr wrap="square" lIns="0" tIns="0" rIns="0" bIns="0" rtlCol="0" anchor="ctr"/>
          <a:lstStyle/>
          <a:p>
            <a:pPr indent="0" marL="0">
              <a:buNone/>
            </a:pPr>
            <a:r>
              <a:rPr lang="en-US" sz="2300" b="1" spc="-40" kern="0" dirty="0">
                <a:solidFill>
                  <a:srgbClr val="14181D"/>
                </a:solidFill>
                <a:latin typeface="Cambria" pitchFamily="34" charset="0"/>
                <a:ea typeface="Cambria" pitchFamily="34" charset="-122"/>
                <a:cs typeface="Cambria" pitchFamily="34" charset="-120"/>
              </a:rPr>
              <a:t>In Indian real estate, the research layer is empty.</a:t>
            </a:r>
            <a:endParaRPr lang="en-US" sz="2300" dirty="0"/>
          </a:p>
        </p:txBody>
      </p:sp>
      <p:sp>
        <p:nvSpPr>
          <p:cNvPr id="13" name="Text 11"/>
          <p:cNvSpPr/>
          <p:nvPr/>
        </p:nvSpPr>
        <p:spPr>
          <a:xfrm>
            <a:off x="777240" y="5102352"/>
            <a:ext cx="10637215" cy="640080"/>
          </a:xfrm>
          <a:prstGeom prst="rect">
            <a:avLst/>
          </a:prstGeom>
          <a:noFill/>
          <a:ln/>
        </p:spPr>
        <p:txBody>
          <a:bodyPr wrap="square" lIns="0" tIns="0" rIns="0" bIns="0" rtlCol="0" anchor="ctr"/>
          <a:lstStyle/>
          <a:p>
            <a:pPr indent="0" marL="0">
              <a:lnSpc>
                <a:spcPts val="2300"/>
              </a:lnSpc>
              <a:buNone/>
            </a:pPr>
            <a:r>
              <a:rPr lang="en-US" sz="1500" dirty="0">
                <a:solidFill>
                  <a:srgbClr val="555C64"/>
                </a:solidFill>
                <a:latin typeface="Calibri" pitchFamily="34" charset="0"/>
                <a:ea typeface="Calibri" pitchFamily="34" charset="-122"/>
                <a:cs typeface="Calibri" pitchFamily="34" charset="-120"/>
              </a:rPr>
              <a:t>No price estimate, no expert project reviews, no honest comparison engine, no resident ratings. Every player is fighting over the classifieds half of the market.</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181D"/>
        </a:solidFill>
      </p:bgPr>
    </p:bg>
    <p:spTree>
      <p:nvGrpSpPr>
        <p:cNvPr id="1" name=""/>
        <p:cNvGrpSpPr/>
        <p:nvPr/>
      </p:nvGrpSpPr>
      <p:grpSpPr>
        <a:xfrm>
          <a:off x="0" y="0"/>
          <a:ext cx="0" cy="0"/>
          <a:chOff x="0" y="0"/>
          <a:chExt cx="0" cy="0"/>
        </a:xfrm>
      </p:grpSpPr>
      <p:sp>
        <p:nvSpPr>
          <p:cNvPr id="2" name="Text 0"/>
          <p:cNvSpPr/>
          <p:nvPr/>
        </p:nvSpPr>
        <p:spPr>
          <a:xfrm>
            <a:off x="777240" y="1874520"/>
            <a:ext cx="10424160" cy="1371600"/>
          </a:xfrm>
          <a:prstGeom prst="rect">
            <a:avLst/>
          </a:prstGeom>
          <a:noFill/>
          <a:ln/>
        </p:spPr>
        <p:txBody>
          <a:bodyPr wrap="square" lIns="0" tIns="0" rIns="0" bIns="0" rtlCol="0" anchor="ctr"/>
          <a:lstStyle/>
          <a:p>
            <a:pPr indent="0" marL="0">
              <a:lnSpc>
                <a:spcPts val="4800"/>
              </a:lnSpc>
              <a:buNone/>
            </a:pPr>
            <a:r>
              <a:rPr lang="en-US" sz="3400" dirty="0">
                <a:solidFill>
                  <a:srgbClr val="79818A"/>
                </a:solidFill>
                <a:latin typeface="Cambria" pitchFamily="34" charset="0"/>
                <a:ea typeface="Cambria" pitchFamily="34" charset="-122"/>
                <a:cs typeface="Cambria" pitchFamily="34" charset="-120"/>
              </a:rPr>
              <a:t>Every property platform tells you</a:t>
            </a:r>
            <a:endParaRPr lang="en-US" sz="3400" dirty="0"/>
          </a:p>
          <a:p>
            <a:pPr indent="0" marL="0">
              <a:lnSpc>
                <a:spcPts val="4800"/>
              </a:lnSpc>
              <a:buNone/>
            </a:pPr>
            <a:r>
              <a:rPr lang="en-US" sz="3400" dirty="0">
                <a:solidFill>
                  <a:srgbClr val="79818A"/>
                </a:solidFill>
                <a:latin typeface="Cambria" pitchFamily="34" charset="0"/>
                <a:ea typeface="Cambria" pitchFamily="34" charset="-122"/>
                <a:cs typeface="Cambria" pitchFamily="34" charset="-120"/>
              </a:rPr>
              <a:t>what's for sale.</a:t>
            </a:r>
            <a:endParaRPr lang="en-US" sz="3400" dirty="0"/>
          </a:p>
        </p:txBody>
      </p:sp>
      <p:sp>
        <p:nvSpPr>
          <p:cNvPr id="3" name="Text 1"/>
          <p:cNvSpPr/>
          <p:nvPr/>
        </p:nvSpPr>
        <p:spPr>
          <a:xfrm>
            <a:off x="777240" y="3429000"/>
            <a:ext cx="10424160" cy="1554480"/>
          </a:xfrm>
          <a:prstGeom prst="rect">
            <a:avLst/>
          </a:prstGeom>
          <a:noFill/>
          <a:ln/>
        </p:spPr>
        <p:txBody>
          <a:bodyPr wrap="square" lIns="0" tIns="0" rIns="0" bIns="0" rtlCol="0" anchor="ctr"/>
          <a:lstStyle/>
          <a:p>
            <a:pPr indent="0" marL="0">
              <a:lnSpc>
                <a:spcPts val="6000"/>
              </a:lnSpc>
              <a:buNone/>
            </a:pPr>
            <a:r>
              <a:rPr lang="en-US" sz="4800" b="1" spc="-120" kern="0" dirty="0">
                <a:solidFill>
                  <a:srgbClr val="FFFFFF"/>
                </a:solidFill>
                <a:latin typeface="Cambria" pitchFamily="34" charset="0"/>
                <a:ea typeface="Cambria" pitchFamily="34" charset="-122"/>
                <a:cs typeface="Cambria" pitchFamily="34" charset="-120"/>
              </a:rPr>
              <a:t>OTHO tells you what's</a:t>
            </a:r>
            <a:endParaRPr lang="en-US" sz="4800" dirty="0"/>
          </a:p>
          <a:p>
            <a:pPr indent="0" marL="0">
              <a:lnSpc>
                <a:spcPts val="6000"/>
              </a:lnSpc>
              <a:buNone/>
            </a:pPr>
            <a:r>
              <a:rPr lang="en-US" sz="4800" b="1" spc="-120" kern="0" dirty="0">
                <a:solidFill>
                  <a:srgbClr val="FFFFFF"/>
                </a:solidFill>
                <a:latin typeface="Cambria" pitchFamily="34" charset="0"/>
                <a:ea typeface="Cambria" pitchFamily="34" charset="-122"/>
                <a:cs typeface="Cambria" pitchFamily="34" charset="-120"/>
              </a:rPr>
              <a:t>worth buying.</a:t>
            </a:r>
            <a:endParaRPr lang="en-US" sz="4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777240" y="530352"/>
            <a:ext cx="10637215" cy="219456"/>
          </a:xfrm>
          <a:prstGeom prst="rect">
            <a:avLst/>
          </a:prstGeom>
          <a:noFill/>
          <a:ln/>
        </p:spPr>
        <p:txBody>
          <a:bodyPr wrap="square" lIns="0" tIns="0" rIns="0" bIns="0" rtlCol="0" anchor="ctr"/>
          <a:lstStyle/>
          <a:p>
            <a:pPr indent="0" marL="0">
              <a:buNone/>
            </a:pPr>
            <a:r>
              <a:rPr lang="en-US" sz="1100" b="1" spc="260" kern="0" dirty="0">
                <a:solidFill>
                  <a:srgbClr val="9A7A25"/>
                </a:solidFill>
                <a:latin typeface="Calibri" pitchFamily="34" charset="0"/>
                <a:ea typeface="Calibri" pitchFamily="34" charset="-122"/>
                <a:cs typeface="Calibri" pitchFamily="34" charset="-120"/>
              </a:rPr>
              <a:t>07</a:t>
            </a:r>
            <a:endParaRPr lang="en-US" sz="1100" dirty="0"/>
          </a:p>
        </p:txBody>
      </p:sp>
      <p:sp>
        <p:nvSpPr>
          <p:cNvPr id="3" name="Text 1"/>
          <p:cNvSpPr/>
          <p:nvPr/>
        </p:nvSpPr>
        <p:spPr>
          <a:xfrm>
            <a:off x="777240" y="768096"/>
            <a:ext cx="10637215" cy="603504"/>
          </a:xfrm>
          <a:prstGeom prst="rect">
            <a:avLst/>
          </a:prstGeom>
          <a:noFill/>
          <a:ln/>
        </p:spPr>
        <p:txBody>
          <a:bodyPr wrap="square" lIns="0" tIns="0" rIns="0" bIns="0" rtlCol="0" anchor="ctr"/>
          <a:lstStyle/>
          <a:p>
            <a:pPr indent="0" marL="0">
              <a:buNone/>
            </a:pPr>
            <a:r>
              <a:rPr lang="en-US" sz="3800" b="1" spc="-60" kern="0" dirty="0">
                <a:solidFill>
                  <a:srgbClr val="14181D"/>
                </a:solidFill>
                <a:latin typeface="Cambria" pitchFamily="34" charset="0"/>
                <a:ea typeface="Cambria" pitchFamily="34" charset="-122"/>
                <a:cs typeface="Cambria" pitchFamily="34" charset="-120"/>
              </a:rPr>
              <a:t>The signature screen</a:t>
            </a:r>
            <a:endParaRPr lang="en-US" sz="3800" dirty="0"/>
          </a:p>
        </p:txBody>
      </p:sp>
      <p:sp>
        <p:nvSpPr>
          <p:cNvPr id="4" name="Text 2"/>
          <p:cNvSpPr/>
          <p:nvPr/>
        </p:nvSpPr>
        <p:spPr>
          <a:xfrm>
            <a:off x="777240" y="1463040"/>
            <a:ext cx="9539935" cy="457200"/>
          </a:xfrm>
          <a:prstGeom prst="rect">
            <a:avLst/>
          </a:prstGeom>
          <a:noFill/>
          <a:ln/>
        </p:spPr>
        <p:txBody>
          <a:bodyPr wrap="square" lIns="0" tIns="0" rIns="0" bIns="0" rtlCol="0" anchor="t"/>
          <a:lstStyle/>
          <a:p>
            <a:pPr indent="0" marL="0">
              <a:lnSpc>
                <a:spcPts val="2200"/>
              </a:lnSpc>
              <a:buNone/>
            </a:pPr>
            <a:r>
              <a:rPr lang="en-US" sz="1550" dirty="0">
                <a:solidFill>
                  <a:srgbClr val="555C64"/>
                </a:solidFill>
                <a:latin typeface="Calibri" pitchFamily="34" charset="0"/>
                <a:ea typeface="Calibri" pitchFamily="34" charset="-122"/>
                <a:cs typeface="Calibri" pitchFamily="34" charset="-120"/>
              </a:rPr>
              <a:t>Two projects. One is 5% cheaper on the board, and 2% dearer in reality.</a:t>
            </a:r>
            <a:endParaRPr lang="en-US" sz="1550" dirty="0"/>
          </a:p>
        </p:txBody>
      </p:sp>
      <p:sp>
        <p:nvSpPr>
          <p:cNvPr id="5" name="Shape 3"/>
          <p:cNvSpPr/>
          <p:nvPr/>
        </p:nvSpPr>
        <p:spPr>
          <a:xfrm>
            <a:off x="777240" y="2066544"/>
            <a:ext cx="4114800" cy="475488"/>
          </a:xfrm>
          <a:prstGeom prst="rect">
            <a:avLst/>
          </a:prstGeom>
          <a:solidFill>
            <a:srgbClr val="14181D"/>
          </a:solidFill>
          <a:ln/>
        </p:spPr>
      </p:sp>
      <p:sp>
        <p:nvSpPr>
          <p:cNvPr id="6" name="Text 4"/>
          <p:cNvSpPr/>
          <p:nvPr/>
        </p:nvSpPr>
        <p:spPr>
          <a:xfrm>
            <a:off x="1014984" y="2066544"/>
            <a:ext cx="3703320" cy="475488"/>
          </a:xfrm>
          <a:prstGeom prst="rect">
            <a:avLst/>
          </a:prstGeom>
          <a:noFill/>
          <a:ln/>
        </p:spPr>
        <p:txBody>
          <a:bodyPr wrap="square" lIns="0" tIns="0" rIns="0" bIns="0" rtlCol="0" anchor="ctr"/>
          <a:lstStyle/>
          <a:p>
            <a:pPr indent="0" marL="0">
              <a:buNone/>
            </a:pPr>
            <a:endParaRPr lang="en-US" sz="1250" dirty="0"/>
          </a:p>
        </p:txBody>
      </p:sp>
      <p:sp>
        <p:nvSpPr>
          <p:cNvPr id="7" name="Shape 5"/>
          <p:cNvSpPr/>
          <p:nvPr/>
        </p:nvSpPr>
        <p:spPr>
          <a:xfrm>
            <a:off x="4937760" y="2066544"/>
            <a:ext cx="3192628" cy="475488"/>
          </a:xfrm>
          <a:prstGeom prst="rect">
            <a:avLst/>
          </a:prstGeom>
          <a:solidFill>
            <a:srgbClr val="14181D"/>
          </a:solidFill>
          <a:ln/>
        </p:spPr>
      </p:sp>
      <p:sp>
        <p:nvSpPr>
          <p:cNvPr id="8" name="Text 6"/>
          <p:cNvSpPr/>
          <p:nvPr/>
        </p:nvSpPr>
        <p:spPr>
          <a:xfrm>
            <a:off x="4937760" y="2066544"/>
            <a:ext cx="3192628" cy="47548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Project A</a:t>
            </a:r>
            <a:endParaRPr lang="en-US" sz="1200" dirty="0"/>
          </a:p>
        </p:txBody>
      </p:sp>
      <p:sp>
        <p:nvSpPr>
          <p:cNvPr id="9" name="Shape 7"/>
          <p:cNvSpPr/>
          <p:nvPr/>
        </p:nvSpPr>
        <p:spPr>
          <a:xfrm>
            <a:off x="8176108" y="2066544"/>
            <a:ext cx="3238348" cy="475488"/>
          </a:xfrm>
          <a:prstGeom prst="rect">
            <a:avLst/>
          </a:prstGeom>
          <a:solidFill>
            <a:srgbClr val="14181D"/>
          </a:solidFill>
          <a:ln/>
        </p:spPr>
      </p:sp>
      <p:sp>
        <p:nvSpPr>
          <p:cNvPr id="10" name="Text 8"/>
          <p:cNvSpPr/>
          <p:nvPr/>
        </p:nvSpPr>
        <p:spPr>
          <a:xfrm>
            <a:off x="8176108" y="2066544"/>
            <a:ext cx="3238348" cy="47548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Project B</a:t>
            </a:r>
            <a:endParaRPr lang="en-US" sz="1200" dirty="0"/>
          </a:p>
        </p:txBody>
      </p:sp>
      <p:sp>
        <p:nvSpPr>
          <p:cNvPr id="11" name="Shape 9"/>
          <p:cNvSpPr/>
          <p:nvPr/>
        </p:nvSpPr>
        <p:spPr>
          <a:xfrm>
            <a:off x="777240" y="2587752"/>
            <a:ext cx="4114800" cy="475488"/>
          </a:xfrm>
          <a:prstGeom prst="rect">
            <a:avLst/>
          </a:prstGeom>
          <a:solidFill>
            <a:srgbClr val="FFFFFF"/>
          </a:solidFill>
          <a:ln/>
        </p:spPr>
      </p:sp>
      <p:sp>
        <p:nvSpPr>
          <p:cNvPr id="12" name="Text 10"/>
          <p:cNvSpPr/>
          <p:nvPr/>
        </p:nvSpPr>
        <p:spPr>
          <a:xfrm>
            <a:off x="1014984" y="2587752"/>
            <a:ext cx="3703320" cy="475488"/>
          </a:xfrm>
          <a:prstGeom prst="rect">
            <a:avLst/>
          </a:prstGeom>
          <a:noFill/>
          <a:ln/>
        </p:spPr>
        <p:txBody>
          <a:bodyPr wrap="square" lIns="0" tIns="0" rIns="0" bIns="0" rtlCol="0" anchor="ctr"/>
          <a:lstStyle/>
          <a:p>
            <a:pPr indent="0" marL="0">
              <a:buNone/>
            </a:pPr>
            <a:r>
              <a:rPr lang="en-US" sz="1250" dirty="0">
                <a:solidFill>
                  <a:srgbClr val="14181D"/>
                </a:solidFill>
                <a:latin typeface="Calibri" pitchFamily="34" charset="0"/>
                <a:ea typeface="Calibri" pitchFamily="34" charset="-122"/>
                <a:cs typeface="Calibri" pitchFamily="34" charset="-120"/>
              </a:rPr>
              <a:t>Advertised rate</a:t>
            </a:r>
            <a:endParaRPr lang="en-US" sz="1250" dirty="0"/>
          </a:p>
        </p:txBody>
      </p:sp>
      <p:sp>
        <p:nvSpPr>
          <p:cNvPr id="13" name="Shape 11"/>
          <p:cNvSpPr/>
          <p:nvPr/>
        </p:nvSpPr>
        <p:spPr>
          <a:xfrm>
            <a:off x="4937760" y="2587752"/>
            <a:ext cx="3192628" cy="475488"/>
          </a:xfrm>
          <a:prstGeom prst="rect">
            <a:avLst/>
          </a:prstGeom>
          <a:solidFill>
            <a:srgbClr val="E6F0EA"/>
          </a:solidFill>
          <a:ln/>
        </p:spPr>
      </p:sp>
      <p:sp>
        <p:nvSpPr>
          <p:cNvPr id="14" name="Text 12"/>
          <p:cNvSpPr/>
          <p:nvPr/>
        </p:nvSpPr>
        <p:spPr>
          <a:xfrm>
            <a:off x="4937760" y="2587752"/>
            <a:ext cx="3192628" cy="475488"/>
          </a:xfrm>
          <a:prstGeom prst="rect">
            <a:avLst/>
          </a:prstGeom>
          <a:noFill/>
          <a:ln/>
        </p:spPr>
        <p:txBody>
          <a:bodyPr wrap="square" lIns="0" tIns="0" rIns="0" bIns="0" rtlCol="0" anchor="ctr"/>
          <a:lstStyle/>
          <a:p>
            <a:pPr algn="ctr" indent="0" marL="0">
              <a:buNone/>
            </a:pPr>
            <a:r>
              <a:rPr lang="en-US" sz="1350" b="1" dirty="0">
                <a:solidFill>
                  <a:srgbClr val="2E7150"/>
                </a:solidFill>
                <a:latin typeface="Cambria" pitchFamily="34" charset="0"/>
                <a:ea typeface="Cambria" pitchFamily="34" charset="-122"/>
                <a:cs typeface="Cambria" pitchFamily="34" charset="-120"/>
              </a:rPr>
              <a:t>₹9,483</a:t>
            </a:r>
            <a:endParaRPr lang="en-US" sz="1350" dirty="0"/>
          </a:p>
        </p:txBody>
      </p:sp>
      <p:sp>
        <p:nvSpPr>
          <p:cNvPr id="15" name="Shape 13"/>
          <p:cNvSpPr/>
          <p:nvPr/>
        </p:nvSpPr>
        <p:spPr>
          <a:xfrm>
            <a:off x="8176108" y="2587752"/>
            <a:ext cx="3238348" cy="475488"/>
          </a:xfrm>
          <a:prstGeom prst="rect">
            <a:avLst/>
          </a:prstGeom>
          <a:solidFill>
            <a:srgbClr val="FFFFFF"/>
          </a:solidFill>
          <a:ln/>
        </p:spPr>
      </p:sp>
      <p:sp>
        <p:nvSpPr>
          <p:cNvPr id="16" name="Text 14"/>
          <p:cNvSpPr/>
          <p:nvPr/>
        </p:nvSpPr>
        <p:spPr>
          <a:xfrm>
            <a:off x="8176108" y="2587752"/>
            <a:ext cx="3238348" cy="475488"/>
          </a:xfrm>
          <a:prstGeom prst="rect">
            <a:avLst/>
          </a:prstGeom>
          <a:noFill/>
          <a:ln/>
        </p:spPr>
        <p:txBody>
          <a:bodyPr wrap="square" lIns="0" tIns="0" rIns="0" bIns="0" rtlCol="0" anchor="ctr"/>
          <a:lstStyle/>
          <a:p>
            <a:pPr algn="ctr" indent="0" marL="0">
              <a:buNone/>
            </a:pPr>
            <a:r>
              <a:rPr lang="en-US" sz="1350" b="1" dirty="0">
                <a:solidFill>
                  <a:srgbClr val="14181D"/>
                </a:solidFill>
                <a:latin typeface="Cambria" pitchFamily="34" charset="0"/>
                <a:ea typeface="Cambria" pitchFamily="34" charset="-122"/>
                <a:cs typeface="Cambria" pitchFamily="34" charset="-120"/>
              </a:rPr>
              <a:t>₹9,994</a:t>
            </a:r>
            <a:endParaRPr lang="en-US" sz="1350" dirty="0"/>
          </a:p>
        </p:txBody>
      </p:sp>
      <p:sp>
        <p:nvSpPr>
          <p:cNvPr id="17" name="Shape 15"/>
          <p:cNvSpPr/>
          <p:nvPr/>
        </p:nvSpPr>
        <p:spPr>
          <a:xfrm>
            <a:off x="777240" y="3108960"/>
            <a:ext cx="4114800" cy="475488"/>
          </a:xfrm>
          <a:prstGeom prst="rect">
            <a:avLst/>
          </a:prstGeom>
          <a:solidFill>
            <a:srgbClr val="FFFFFF"/>
          </a:solidFill>
          <a:ln/>
        </p:spPr>
      </p:sp>
      <p:sp>
        <p:nvSpPr>
          <p:cNvPr id="18" name="Text 16"/>
          <p:cNvSpPr/>
          <p:nvPr/>
        </p:nvSpPr>
        <p:spPr>
          <a:xfrm>
            <a:off x="1014984" y="3108960"/>
            <a:ext cx="3703320" cy="475488"/>
          </a:xfrm>
          <a:prstGeom prst="rect">
            <a:avLst/>
          </a:prstGeom>
          <a:noFill/>
          <a:ln/>
        </p:spPr>
        <p:txBody>
          <a:bodyPr wrap="square" lIns="0" tIns="0" rIns="0" bIns="0" rtlCol="0" anchor="ctr"/>
          <a:lstStyle/>
          <a:p>
            <a:pPr indent="0" marL="0">
              <a:buNone/>
            </a:pPr>
            <a:r>
              <a:rPr lang="en-US" sz="1250" dirty="0">
                <a:solidFill>
                  <a:srgbClr val="14181D"/>
                </a:solidFill>
                <a:latin typeface="Calibri" pitchFamily="34" charset="0"/>
                <a:ea typeface="Calibri" pitchFamily="34" charset="-122"/>
                <a:cs typeface="Calibri" pitchFamily="34" charset="-120"/>
              </a:rPr>
              <a:t>RERA carpet area</a:t>
            </a:r>
            <a:endParaRPr lang="en-US" sz="1250" dirty="0"/>
          </a:p>
        </p:txBody>
      </p:sp>
      <p:sp>
        <p:nvSpPr>
          <p:cNvPr id="19" name="Shape 17"/>
          <p:cNvSpPr/>
          <p:nvPr/>
        </p:nvSpPr>
        <p:spPr>
          <a:xfrm>
            <a:off x="4937760" y="3108960"/>
            <a:ext cx="3192628" cy="475488"/>
          </a:xfrm>
          <a:prstGeom prst="rect">
            <a:avLst/>
          </a:prstGeom>
          <a:solidFill>
            <a:srgbClr val="FFFFFF"/>
          </a:solidFill>
          <a:ln/>
        </p:spPr>
      </p:sp>
      <p:sp>
        <p:nvSpPr>
          <p:cNvPr id="20" name="Text 18"/>
          <p:cNvSpPr/>
          <p:nvPr/>
        </p:nvSpPr>
        <p:spPr>
          <a:xfrm>
            <a:off x="4937760" y="3108960"/>
            <a:ext cx="3192628" cy="475488"/>
          </a:xfrm>
          <a:prstGeom prst="rect">
            <a:avLst/>
          </a:prstGeom>
          <a:noFill/>
          <a:ln/>
        </p:spPr>
        <p:txBody>
          <a:bodyPr wrap="square" lIns="0" tIns="0" rIns="0" bIns="0" rtlCol="0" anchor="ctr"/>
          <a:lstStyle/>
          <a:p>
            <a:pPr algn="ctr" indent="0" marL="0">
              <a:buNone/>
            </a:pPr>
            <a:r>
              <a:rPr lang="en-US" sz="1350" b="1" dirty="0">
                <a:solidFill>
                  <a:srgbClr val="14181D"/>
                </a:solidFill>
                <a:latin typeface="Cambria" pitchFamily="34" charset="0"/>
                <a:ea typeface="Cambria" pitchFamily="34" charset="-122"/>
                <a:cs typeface="Cambria" pitchFamily="34" charset="-120"/>
              </a:rPr>
              <a:t>1,842 sq ft</a:t>
            </a:r>
            <a:endParaRPr lang="en-US" sz="1350" dirty="0"/>
          </a:p>
        </p:txBody>
      </p:sp>
      <p:sp>
        <p:nvSpPr>
          <p:cNvPr id="21" name="Shape 19"/>
          <p:cNvSpPr/>
          <p:nvPr/>
        </p:nvSpPr>
        <p:spPr>
          <a:xfrm>
            <a:off x="8176108" y="3108960"/>
            <a:ext cx="3238348" cy="475488"/>
          </a:xfrm>
          <a:prstGeom prst="rect">
            <a:avLst/>
          </a:prstGeom>
          <a:solidFill>
            <a:srgbClr val="FFFFFF"/>
          </a:solidFill>
          <a:ln/>
        </p:spPr>
      </p:sp>
      <p:sp>
        <p:nvSpPr>
          <p:cNvPr id="22" name="Text 20"/>
          <p:cNvSpPr/>
          <p:nvPr/>
        </p:nvSpPr>
        <p:spPr>
          <a:xfrm>
            <a:off x="8176108" y="3108960"/>
            <a:ext cx="3238348" cy="475488"/>
          </a:xfrm>
          <a:prstGeom prst="rect">
            <a:avLst/>
          </a:prstGeom>
          <a:noFill/>
          <a:ln/>
        </p:spPr>
        <p:txBody>
          <a:bodyPr wrap="square" lIns="0" tIns="0" rIns="0" bIns="0" rtlCol="0" anchor="ctr"/>
          <a:lstStyle/>
          <a:p>
            <a:pPr algn="ctr" indent="0" marL="0">
              <a:buNone/>
            </a:pPr>
            <a:r>
              <a:rPr lang="en-US" sz="1350" b="1" dirty="0">
                <a:solidFill>
                  <a:srgbClr val="14181D"/>
                </a:solidFill>
                <a:latin typeface="Cambria" pitchFamily="34" charset="0"/>
                <a:ea typeface="Cambria" pitchFamily="34" charset="-122"/>
                <a:cs typeface="Cambria" pitchFamily="34" charset="-120"/>
              </a:rPr>
              <a:t>1,861 sq ft</a:t>
            </a:r>
            <a:endParaRPr lang="en-US" sz="1350" dirty="0"/>
          </a:p>
        </p:txBody>
      </p:sp>
      <p:sp>
        <p:nvSpPr>
          <p:cNvPr id="23" name="Shape 21"/>
          <p:cNvSpPr/>
          <p:nvPr/>
        </p:nvSpPr>
        <p:spPr>
          <a:xfrm>
            <a:off x="777240" y="3630168"/>
            <a:ext cx="4114800" cy="475488"/>
          </a:xfrm>
          <a:prstGeom prst="rect">
            <a:avLst/>
          </a:prstGeom>
          <a:solidFill>
            <a:srgbClr val="FFFFFF"/>
          </a:solidFill>
          <a:ln/>
        </p:spPr>
      </p:sp>
      <p:sp>
        <p:nvSpPr>
          <p:cNvPr id="24" name="Text 22"/>
          <p:cNvSpPr/>
          <p:nvPr/>
        </p:nvSpPr>
        <p:spPr>
          <a:xfrm>
            <a:off x="1014984" y="3630168"/>
            <a:ext cx="3703320" cy="475488"/>
          </a:xfrm>
          <a:prstGeom prst="rect">
            <a:avLst/>
          </a:prstGeom>
          <a:noFill/>
          <a:ln/>
        </p:spPr>
        <p:txBody>
          <a:bodyPr wrap="square" lIns="0" tIns="0" rIns="0" bIns="0" rtlCol="0" anchor="ctr"/>
          <a:lstStyle/>
          <a:p>
            <a:pPr indent="0" marL="0">
              <a:buNone/>
            </a:pPr>
            <a:r>
              <a:rPr lang="en-US" sz="1250" dirty="0">
                <a:solidFill>
                  <a:srgbClr val="14181D"/>
                </a:solidFill>
                <a:latin typeface="Calibri" pitchFamily="34" charset="0"/>
                <a:ea typeface="Calibri" pitchFamily="34" charset="-122"/>
                <a:cs typeface="Calibri" pitchFamily="34" charset="-120"/>
              </a:rPr>
              <a:t>Loading factor</a:t>
            </a:r>
            <a:endParaRPr lang="en-US" sz="1250" dirty="0"/>
          </a:p>
        </p:txBody>
      </p:sp>
      <p:sp>
        <p:nvSpPr>
          <p:cNvPr id="25" name="Shape 23"/>
          <p:cNvSpPr/>
          <p:nvPr/>
        </p:nvSpPr>
        <p:spPr>
          <a:xfrm>
            <a:off x="4937760" y="3630168"/>
            <a:ext cx="3192628" cy="475488"/>
          </a:xfrm>
          <a:prstGeom prst="rect">
            <a:avLst/>
          </a:prstGeom>
          <a:solidFill>
            <a:srgbClr val="F8E9E7"/>
          </a:solidFill>
          <a:ln/>
        </p:spPr>
      </p:sp>
      <p:sp>
        <p:nvSpPr>
          <p:cNvPr id="26" name="Text 24"/>
          <p:cNvSpPr/>
          <p:nvPr/>
        </p:nvSpPr>
        <p:spPr>
          <a:xfrm>
            <a:off x="4937760" y="3630168"/>
            <a:ext cx="3192628" cy="475488"/>
          </a:xfrm>
          <a:prstGeom prst="rect">
            <a:avLst/>
          </a:prstGeom>
          <a:noFill/>
          <a:ln/>
        </p:spPr>
        <p:txBody>
          <a:bodyPr wrap="square" lIns="0" tIns="0" rIns="0" bIns="0" rtlCol="0" anchor="ctr"/>
          <a:lstStyle/>
          <a:p>
            <a:pPr algn="ctr" indent="0" marL="0">
              <a:buNone/>
            </a:pPr>
            <a:r>
              <a:rPr lang="en-US" sz="1350" b="1" dirty="0">
                <a:solidFill>
                  <a:srgbClr val="A8382C"/>
                </a:solidFill>
                <a:latin typeface="Cambria" pitchFamily="34" charset="0"/>
                <a:ea typeface="Cambria" pitchFamily="34" charset="-122"/>
                <a:cs typeface="Cambria" pitchFamily="34" charset="-120"/>
              </a:rPr>
              <a:t>44%</a:t>
            </a:r>
            <a:endParaRPr lang="en-US" sz="1350" dirty="0"/>
          </a:p>
        </p:txBody>
      </p:sp>
      <p:sp>
        <p:nvSpPr>
          <p:cNvPr id="27" name="Shape 25"/>
          <p:cNvSpPr/>
          <p:nvPr/>
        </p:nvSpPr>
        <p:spPr>
          <a:xfrm>
            <a:off x="8176108" y="3630168"/>
            <a:ext cx="3238348" cy="475488"/>
          </a:xfrm>
          <a:prstGeom prst="rect">
            <a:avLst/>
          </a:prstGeom>
          <a:solidFill>
            <a:srgbClr val="E6F0EA"/>
          </a:solidFill>
          <a:ln/>
        </p:spPr>
      </p:sp>
      <p:sp>
        <p:nvSpPr>
          <p:cNvPr id="28" name="Text 26"/>
          <p:cNvSpPr/>
          <p:nvPr/>
        </p:nvSpPr>
        <p:spPr>
          <a:xfrm>
            <a:off x="8176108" y="3630168"/>
            <a:ext cx="3238348" cy="475488"/>
          </a:xfrm>
          <a:prstGeom prst="rect">
            <a:avLst/>
          </a:prstGeom>
          <a:noFill/>
          <a:ln/>
        </p:spPr>
        <p:txBody>
          <a:bodyPr wrap="square" lIns="0" tIns="0" rIns="0" bIns="0" rtlCol="0" anchor="ctr"/>
          <a:lstStyle/>
          <a:p>
            <a:pPr algn="ctr" indent="0" marL="0">
              <a:buNone/>
            </a:pPr>
            <a:r>
              <a:rPr lang="en-US" sz="1350" b="1" dirty="0">
                <a:solidFill>
                  <a:srgbClr val="2E7150"/>
                </a:solidFill>
                <a:latin typeface="Cambria" pitchFamily="34" charset="0"/>
                <a:ea typeface="Cambria" pitchFamily="34" charset="-122"/>
                <a:cs typeface="Cambria" pitchFamily="34" charset="-120"/>
              </a:rPr>
              <a:t>36%</a:t>
            </a:r>
            <a:endParaRPr lang="en-US" sz="1350" dirty="0"/>
          </a:p>
        </p:txBody>
      </p:sp>
      <p:sp>
        <p:nvSpPr>
          <p:cNvPr id="29" name="Shape 27"/>
          <p:cNvSpPr/>
          <p:nvPr/>
        </p:nvSpPr>
        <p:spPr>
          <a:xfrm>
            <a:off x="777240" y="4151376"/>
            <a:ext cx="4114800" cy="475488"/>
          </a:xfrm>
          <a:prstGeom prst="rect">
            <a:avLst/>
          </a:prstGeom>
          <a:solidFill>
            <a:srgbClr val="FFFFFF"/>
          </a:solidFill>
          <a:ln/>
        </p:spPr>
      </p:sp>
      <p:sp>
        <p:nvSpPr>
          <p:cNvPr id="30" name="Text 28"/>
          <p:cNvSpPr/>
          <p:nvPr/>
        </p:nvSpPr>
        <p:spPr>
          <a:xfrm>
            <a:off x="1014984" y="4151376"/>
            <a:ext cx="3703320" cy="475488"/>
          </a:xfrm>
          <a:prstGeom prst="rect">
            <a:avLst/>
          </a:prstGeom>
          <a:noFill/>
          <a:ln/>
        </p:spPr>
        <p:txBody>
          <a:bodyPr wrap="square" lIns="0" tIns="0" rIns="0" bIns="0" rtlCol="0" anchor="ctr"/>
          <a:lstStyle/>
          <a:p>
            <a:pPr indent="0" marL="0">
              <a:buNone/>
            </a:pPr>
            <a:r>
              <a:rPr lang="en-US" sz="1250" dirty="0">
                <a:solidFill>
                  <a:srgbClr val="14181D"/>
                </a:solidFill>
                <a:latin typeface="Calibri" pitchFamily="34" charset="0"/>
                <a:ea typeface="Calibri" pitchFamily="34" charset="-122"/>
                <a:cs typeface="Calibri" pitchFamily="34" charset="-120"/>
              </a:rPr>
              <a:t>Real rate on carpet</a:t>
            </a:r>
            <a:endParaRPr lang="en-US" sz="1250" dirty="0"/>
          </a:p>
        </p:txBody>
      </p:sp>
      <p:sp>
        <p:nvSpPr>
          <p:cNvPr id="31" name="Shape 29"/>
          <p:cNvSpPr/>
          <p:nvPr/>
        </p:nvSpPr>
        <p:spPr>
          <a:xfrm>
            <a:off x="4937760" y="4151376"/>
            <a:ext cx="3192628" cy="475488"/>
          </a:xfrm>
          <a:prstGeom prst="rect">
            <a:avLst/>
          </a:prstGeom>
          <a:solidFill>
            <a:srgbClr val="F8E9E7"/>
          </a:solidFill>
          <a:ln/>
        </p:spPr>
      </p:sp>
      <p:sp>
        <p:nvSpPr>
          <p:cNvPr id="32" name="Text 30"/>
          <p:cNvSpPr/>
          <p:nvPr/>
        </p:nvSpPr>
        <p:spPr>
          <a:xfrm>
            <a:off x="4937760" y="4151376"/>
            <a:ext cx="3192628" cy="475488"/>
          </a:xfrm>
          <a:prstGeom prst="rect">
            <a:avLst/>
          </a:prstGeom>
          <a:noFill/>
          <a:ln/>
        </p:spPr>
        <p:txBody>
          <a:bodyPr wrap="square" lIns="0" tIns="0" rIns="0" bIns="0" rtlCol="0" anchor="ctr"/>
          <a:lstStyle/>
          <a:p>
            <a:pPr algn="ctr" indent="0" marL="0">
              <a:buNone/>
            </a:pPr>
            <a:r>
              <a:rPr lang="en-US" sz="1350" b="1" dirty="0">
                <a:solidFill>
                  <a:srgbClr val="A8382C"/>
                </a:solidFill>
                <a:latin typeface="Cambria" pitchFamily="34" charset="0"/>
                <a:ea typeface="Cambria" pitchFamily="34" charset="-122"/>
                <a:cs typeface="Cambria" pitchFamily="34" charset="-120"/>
              </a:rPr>
              <a:t>₹13,720</a:t>
            </a:r>
            <a:endParaRPr lang="en-US" sz="1350" dirty="0"/>
          </a:p>
        </p:txBody>
      </p:sp>
      <p:sp>
        <p:nvSpPr>
          <p:cNvPr id="33" name="Shape 31"/>
          <p:cNvSpPr/>
          <p:nvPr/>
        </p:nvSpPr>
        <p:spPr>
          <a:xfrm>
            <a:off x="8176108" y="4151376"/>
            <a:ext cx="3238348" cy="475488"/>
          </a:xfrm>
          <a:prstGeom prst="rect">
            <a:avLst/>
          </a:prstGeom>
          <a:solidFill>
            <a:srgbClr val="E6F0EA"/>
          </a:solidFill>
          <a:ln/>
        </p:spPr>
      </p:sp>
      <p:sp>
        <p:nvSpPr>
          <p:cNvPr id="34" name="Text 32"/>
          <p:cNvSpPr/>
          <p:nvPr/>
        </p:nvSpPr>
        <p:spPr>
          <a:xfrm>
            <a:off x="8176108" y="4151376"/>
            <a:ext cx="3238348" cy="475488"/>
          </a:xfrm>
          <a:prstGeom prst="rect">
            <a:avLst/>
          </a:prstGeom>
          <a:noFill/>
          <a:ln/>
        </p:spPr>
        <p:txBody>
          <a:bodyPr wrap="square" lIns="0" tIns="0" rIns="0" bIns="0" rtlCol="0" anchor="ctr"/>
          <a:lstStyle/>
          <a:p>
            <a:pPr algn="ctr" indent="0" marL="0">
              <a:buNone/>
            </a:pPr>
            <a:r>
              <a:rPr lang="en-US" sz="1350" b="1" dirty="0">
                <a:solidFill>
                  <a:srgbClr val="2E7150"/>
                </a:solidFill>
                <a:latin typeface="Cambria" pitchFamily="34" charset="0"/>
                <a:ea typeface="Cambria" pitchFamily="34" charset="-122"/>
                <a:cs typeface="Cambria" pitchFamily="34" charset="-120"/>
              </a:rPr>
              <a:t>₹13,440</a:t>
            </a:r>
            <a:endParaRPr lang="en-US" sz="1350" dirty="0"/>
          </a:p>
        </p:txBody>
      </p:sp>
      <p:sp>
        <p:nvSpPr>
          <p:cNvPr id="35" name="Shape 33"/>
          <p:cNvSpPr/>
          <p:nvPr/>
        </p:nvSpPr>
        <p:spPr>
          <a:xfrm>
            <a:off x="777240" y="4672584"/>
            <a:ext cx="4114800" cy="475488"/>
          </a:xfrm>
          <a:prstGeom prst="rect">
            <a:avLst/>
          </a:prstGeom>
          <a:solidFill>
            <a:srgbClr val="FFFFFF"/>
          </a:solidFill>
          <a:ln/>
        </p:spPr>
      </p:sp>
      <p:sp>
        <p:nvSpPr>
          <p:cNvPr id="36" name="Text 34"/>
          <p:cNvSpPr/>
          <p:nvPr/>
        </p:nvSpPr>
        <p:spPr>
          <a:xfrm>
            <a:off x="1014984" y="4672584"/>
            <a:ext cx="3703320" cy="475488"/>
          </a:xfrm>
          <a:prstGeom prst="rect">
            <a:avLst/>
          </a:prstGeom>
          <a:noFill/>
          <a:ln/>
        </p:spPr>
        <p:txBody>
          <a:bodyPr wrap="square" lIns="0" tIns="0" rIns="0" bIns="0" rtlCol="0" anchor="ctr"/>
          <a:lstStyle/>
          <a:p>
            <a:pPr indent="0" marL="0">
              <a:buNone/>
            </a:pPr>
            <a:r>
              <a:rPr lang="en-US" sz="1250" dirty="0">
                <a:solidFill>
                  <a:srgbClr val="14181D"/>
                </a:solidFill>
                <a:latin typeface="Calibri" pitchFamily="34" charset="0"/>
                <a:ea typeface="Calibri" pitchFamily="34" charset="-122"/>
                <a:cs typeface="Calibri" pitchFamily="34" charset="-120"/>
              </a:rPr>
              <a:t>Land share per unit</a:t>
            </a:r>
            <a:endParaRPr lang="en-US" sz="1250" dirty="0"/>
          </a:p>
        </p:txBody>
      </p:sp>
      <p:sp>
        <p:nvSpPr>
          <p:cNvPr id="37" name="Shape 35"/>
          <p:cNvSpPr/>
          <p:nvPr/>
        </p:nvSpPr>
        <p:spPr>
          <a:xfrm>
            <a:off x="4937760" y="4672584"/>
            <a:ext cx="3192628" cy="475488"/>
          </a:xfrm>
          <a:prstGeom prst="rect">
            <a:avLst/>
          </a:prstGeom>
          <a:solidFill>
            <a:srgbClr val="F8E9E7"/>
          </a:solidFill>
          <a:ln/>
        </p:spPr>
      </p:sp>
      <p:sp>
        <p:nvSpPr>
          <p:cNvPr id="38" name="Text 36"/>
          <p:cNvSpPr/>
          <p:nvPr/>
        </p:nvSpPr>
        <p:spPr>
          <a:xfrm>
            <a:off x="4937760" y="4672584"/>
            <a:ext cx="3192628" cy="475488"/>
          </a:xfrm>
          <a:prstGeom prst="rect">
            <a:avLst/>
          </a:prstGeom>
          <a:noFill/>
          <a:ln/>
        </p:spPr>
        <p:txBody>
          <a:bodyPr wrap="square" lIns="0" tIns="0" rIns="0" bIns="0" rtlCol="0" anchor="ctr"/>
          <a:lstStyle/>
          <a:p>
            <a:pPr algn="ctr" indent="0" marL="0">
              <a:buNone/>
            </a:pPr>
            <a:r>
              <a:rPr lang="en-US" sz="1350" b="1" dirty="0">
                <a:solidFill>
                  <a:srgbClr val="A8382C"/>
                </a:solidFill>
                <a:latin typeface="Cambria" pitchFamily="34" charset="0"/>
                <a:ea typeface="Cambria" pitchFamily="34" charset="-122"/>
                <a:cs typeface="Cambria" pitchFamily="34" charset="-120"/>
              </a:rPr>
              <a:t>Lower</a:t>
            </a:r>
            <a:endParaRPr lang="en-US" sz="1350" dirty="0"/>
          </a:p>
        </p:txBody>
      </p:sp>
      <p:sp>
        <p:nvSpPr>
          <p:cNvPr id="39" name="Shape 37"/>
          <p:cNvSpPr/>
          <p:nvPr/>
        </p:nvSpPr>
        <p:spPr>
          <a:xfrm>
            <a:off x="8176108" y="4672584"/>
            <a:ext cx="3238348" cy="475488"/>
          </a:xfrm>
          <a:prstGeom prst="rect">
            <a:avLst/>
          </a:prstGeom>
          <a:solidFill>
            <a:srgbClr val="E6F0EA"/>
          </a:solidFill>
          <a:ln/>
        </p:spPr>
      </p:sp>
      <p:sp>
        <p:nvSpPr>
          <p:cNvPr id="40" name="Text 38"/>
          <p:cNvSpPr/>
          <p:nvPr/>
        </p:nvSpPr>
        <p:spPr>
          <a:xfrm>
            <a:off x="8176108" y="4672584"/>
            <a:ext cx="3238348" cy="475488"/>
          </a:xfrm>
          <a:prstGeom prst="rect">
            <a:avLst/>
          </a:prstGeom>
          <a:noFill/>
          <a:ln/>
        </p:spPr>
        <p:txBody>
          <a:bodyPr wrap="square" lIns="0" tIns="0" rIns="0" bIns="0" rtlCol="0" anchor="ctr"/>
          <a:lstStyle/>
          <a:p>
            <a:pPr algn="ctr" indent="0" marL="0">
              <a:buNone/>
            </a:pPr>
            <a:r>
              <a:rPr lang="en-US" sz="1350" b="1" dirty="0">
                <a:solidFill>
                  <a:srgbClr val="2E7150"/>
                </a:solidFill>
                <a:latin typeface="Cambria" pitchFamily="34" charset="0"/>
                <a:ea typeface="Cambria" pitchFamily="34" charset="-122"/>
                <a:cs typeface="Cambria" pitchFamily="34" charset="-120"/>
              </a:rPr>
              <a:t>18% more</a:t>
            </a:r>
            <a:endParaRPr lang="en-US" sz="1350" dirty="0"/>
          </a:p>
        </p:txBody>
      </p:sp>
      <p:sp>
        <p:nvSpPr>
          <p:cNvPr id="41" name="Shape 39"/>
          <p:cNvSpPr/>
          <p:nvPr/>
        </p:nvSpPr>
        <p:spPr>
          <a:xfrm>
            <a:off x="777240" y="5193792"/>
            <a:ext cx="4114800" cy="475488"/>
          </a:xfrm>
          <a:prstGeom prst="rect">
            <a:avLst/>
          </a:prstGeom>
          <a:solidFill>
            <a:srgbClr val="FFFFFF"/>
          </a:solidFill>
          <a:ln/>
        </p:spPr>
      </p:sp>
      <p:sp>
        <p:nvSpPr>
          <p:cNvPr id="42" name="Text 40"/>
          <p:cNvSpPr/>
          <p:nvPr/>
        </p:nvSpPr>
        <p:spPr>
          <a:xfrm>
            <a:off x="1014984" y="5193792"/>
            <a:ext cx="3703320" cy="475488"/>
          </a:xfrm>
          <a:prstGeom prst="rect">
            <a:avLst/>
          </a:prstGeom>
          <a:noFill/>
          <a:ln/>
        </p:spPr>
        <p:txBody>
          <a:bodyPr wrap="square" lIns="0" tIns="0" rIns="0" bIns="0" rtlCol="0" anchor="ctr"/>
          <a:lstStyle/>
          <a:p>
            <a:pPr indent="0" marL="0">
              <a:buNone/>
            </a:pPr>
            <a:r>
              <a:rPr lang="en-US" sz="1250" dirty="0">
                <a:solidFill>
                  <a:srgbClr val="14181D"/>
                </a:solidFill>
                <a:latin typeface="Calibri" pitchFamily="34" charset="0"/>
                <a:ea typeface="Calibri" pitchFamily="34" charset="-122"/>
                <a:cs typeface="Calibri" pitchFamily="34" charset="-120"/>
              </a:rPr>
              <a:t>OTHO verdict</a:t>
            </a:r>
            <a:endParaRPr lang="en-US" sz="1250" dirty="0"/>
          </a:p>
        </p:txBody>
      </p:sp>
      <p:sp>
        <p:nvSpPr>
          <p:cNvPr id="43" name="Shape 41"/>
          <p:cNvSpPr/>
          <p:nvPr/>
        </p:nvSpPr>
        <p:spPr>
          <a:xfrm>
            <a:off x="4937760" y="5193792"/>
            <a:ext cx="3192628" cy="475488"/>
          </a:xfrm>
          <a:prstGeom prst="rect">
            <a:avLst/>
          </a:prstGeom>
          <a:solidFill>
            <a:srgbClr val="F8E9E7"/>
          </a:solidFill>
          <a:ln/>
        </p:spPr>
      </p:sp>
      <p:sp>
        <p:nvSpPr>
          <p:cNvPr id="44" name="Text 42"/>
          <p:cNvSpPr/>
          <p:nvPr/>
        </p:nvSpPr>
        <p:spPr>
          <a:xfrm>
            <a:off x="4937760" y="5193792"/>
            <a:ext cx="3192628" cy="475488"/>
          </a:xfrm>
          <a:prstGeom prst="rect">
            <a:avLst/>
          </a:prstGeom>
          <a:noFill/>
          <a:ln/>
        </p:spPr>
        <p:txBody>
          <a:bodyPr wrap="square" lIns="0" tIns="0" rIns="0" bIns="0" rtlCol="0" anchor="ctr"/>
          <a:lstStyle/>
          <a:p>
            <a:pPr algn="ctr" indent="0" marL="0">
              <a:buNone/>
            </a:pPr>
            <a:r>
              <a:rPr lang="en-US" sz="1350" b="1" dirty="0">
                <a:solidFill>
                  <a:srgbClr val="A8382C"/>
                </a:solidFill>
                <a:latin typeface="Cambria" pitchFamily="34" charset="0"/>
                <a:ea typeface="Cambria" pitchFamily="34" charset="-122"/>
                <a:cs typeface="Cambria" pitchFamily="34" charset="-120"/>
              </a:rPr>
              <a:t>Looks cheaper</a:t>
            </a:r>
            <a:endParaRPr lang="en-US" sz="1350" dirty="0"/>
          </a:p>
        </p:txBody>
      </p:sp>
      <p:sp>
        <p:nvSpPr>
          <p:cNvPr id="45" name="Shape 43"/>
          <p:cNvSpPr/>
          <p:nvPr/>
        </p:nvSpPr>
        <p:spPr>
          <a:xfrm>
            <a:off x="8176108" y="5193792"/>
            <a:ext cx="3238348" cy="475488"/>
          </a:xfrm>
          <a:prstGeom prst="rect">
            <a:avLst/>
          </a:prstGeom>
          <a:solidFill>
            <a:srgbClr val="E6F0EA"/>
          </a:solidFill>
          <a:ln/>
        </p:spPr>
      </p:sp>
      <p:sp>
        <p:nvSpPr>
          <p:cNvPr id="46" name="Text 44"/>
          <p:cNvSpPr/>
          <p:nvPr/>
        </p:nvSpPr>
        <p:spPr>
          <a:xfrm>
            <a:off x="8176108" y="5193792"/>
            <a:ext cx="3238348" cy="475488"/>
          </a:xfrm>
          <a:prstGeom prst="rect">
            <a:avLst/>
          </a:prstGeom>
          <a:noFill/>
          <a:ln/>
        </p:spPr>
        <p:txBody>
          <a:bodyPr wrap="square" lIns="0" tIns="0" rIns="0" bIns="0" rtlCol="0" anchor="ctr"/>
          <a:lstStyle/>
          <a:p>
            <a:pPr algn="ctr" indent="0" marL="0">
              <a:buNone/>
            </a:pPr>
            <a:r>
              <a:rPr lang="en-US" sz="1350" b="1" dirty="0">
                <a:solidFill>
                  <a:srgbClr val="2E7150"/>
                </a:solidFill>
                <a:latin typeface="Cambria" pitchFamily="34" charset="0"/>
                <a:ea typeface="Cambria" pitchFamily="34" charset="-122"/>
                <a:cs typeface="Cambria" pitchFamily="34" charset="-120"/>
              </a:rPr>
              <a:t>Actually cheaper</a:t>
            </a:r>
            <a:endParaRPr lang="en-US" sz="1350" dirty="0"/>
          </a:p>
        </p:txBody>
      </p:sp>
      <p:sp>
        <p:nvSpPr>
          <p:cNvPr id="47" name="Text 45"/>
          <p:cNvSpPr/>
          <p:nvPr/>
        </p:nvSpPr>
        <p:spPr>
          <a:xfrm>
            <a:off x="777240" y="5916168"/>
            <a:ext cx="10637215" cy="548640"/>
          </a:xfrm>
          <a:prstGeom prst="rect">
            <a:avLst/>
          </a:prstGeom>
          <a:noFill/>
          <a:ln/>
        </p:spPr>
        <p:txBody>
          <a:bodyPr wrap="square" lIns="0" tIns="0" rIns="0" bIns="0" rtlCol="0" anchor="ctr"/>
          <a:lstStyle/>
          <a:p>
            <a:pPr indent="0" marL="0">
              <a:lnSpc>
                <a:spcPts val="2000"/>
              </a:lnSpc>
              <a:buNone/>
            </a:pPr>
            <a:r>
              <a:rPr lang="en-US" sz="1300" i="1" dirty="0">
                <a:solidFill>
                  <a:srgbClr val="8A9099"/>
                </a:solidFill>
                <a:latin typeface="Calibri" pitchFamily="34" charset="0"/>
                <a:ea typeface="Calibri" pitchFamily="34" charset="-122"/>
                <a:cs typeface="Calibri" pitchFamily="34" charset="-120"/>
              </a:rPr>
              <a:t>Every portal in India shows the two advertised numbers and lets you pick the wrong flat. Figures illustrative until built from live TG-RERA filings.</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777240" y="530352"/>
            <a:ext cx="10637215" cy="219456"/>
          </a:xfrm>
          <a:prstGeom prst="rect">
            <a:avLst/>
          </a:prstGeom>
          <a:noFill/>
          <a:ln/>
        </p:spPr>
        <p:txBody>
          <a:bodyPr wrap="square" lIns="0" tIns="0" rIns="0" bIns="0" rtlCol="0" anchor="ctr"/>
          <a:lstStyle/>
          <a:p>
            <a:pPr indent="0" marL="0">
              <a:buNone/>
            </a:pPr>
            <a:r>
              <a:rPr lang="en-US" sz="1100" b="1" spc="260" kern="0" dirty="0">
                <a:solidFill>
                  <a:srgbClr val="9A7A25"/>
                </a:solidFill>
                <a:latin typeface="Calibri" pitchFamily="34" charset="0"/>
                <a:ea typeface="Calibri" pitchFamily="34" charset="-122"/>
                <a:cs typeface="Calibri" pitchFamily="34" charset="-120"/>
              </a:rPr>
              <a:t>07</a:t>
            </a:r>
            <a:endParaRPr lang="en-US" sz="1100" dirty="0"/>
          </a:p>
        </p:txBody>
      </p:sp>
      <p:sp>
        <p:nvSpPr>
          <p:cNvPr id="3" name="Text 1"/>
          <p:cNvSpPr/>
          <p:nvPr/>
        </p:nvSpPr>
        <p:spPr>
          <a:xfrm>
            <a:off x="777240" y="768096"/>
            <a:ext cx="10637215" cy="603504"/>
          </a:xfrm>
          <a:prstGeom prst="rect">
            <a:avLst/>
          </a:prstGeom>
          <a:noFill/>
          <a:ln/>
        </p:spPr>
        <p:txBody>
          <a:bodyPr wrap="square" lIns="0" tIns="0" rIns="0" bIns="0" rtlCol="0" anchor="ctr"/>
          <a:lstStyle/>
          <a:p>
            <a:pPr indent="0" marL="0">
              <a:buNone/>
            </a:pPr>
            <a:r>
              <a:rPr lang="en-US" sz="3800" b="1" spc="-60" kern="0" dirty="0">
                <a:solidFill>
                  <a:srgbClr val="14181D"/>
                </a:solidFill>
                <a:latin typeface="Cambria" pitchFamily="34" charset="0"/>
                <a:ea typeface="Cambria" pitchFamily="34" charset="-122"/>
                <a:cs typeface="Cambria" pitchFamily="34" charset="-120"/>
              </a:rPr>
              <a:t>What goes in the platform</a:t>
            </a:r>
            <a:endParaRPr lang="en-US" sz="3800" dirty="0"/>
          </a:p>
        </p:txBody>
      </p:sp>
      <p:sp>
        <p:nvSpPr>
          <p:cNvPr id="4" name="Text 2"/>
          <p:cNvSpPr/>
          <p:nvPr/>
        </p:nvSpPr>
        <p:spPr>
          <a:xfrm>
            <a:off x="777240" y="1463040"/>
            <a:ext cx="9539935" cy="457200"/>
          </a:xfrm>
          <a:prstGeom prst="rect">
            <a:avLst/>
          </a:prstGeom>
          <a:noFill/>
          <a:ln/>
        </p:spPr>
        <p:txBody>
          <a:bodyPr wrap="square" lIns="0" tIns="0" rIns="0" bIns="0" rtlCol="0" anchor="t"/>
          <a:lstStyle/>
          <a:p>
            <a:pPr indent="0" marL="0">
              <a:lnSpc>
                <a:spcPts val="2200"/>
              </a:lnSpc>
              <a:buNone/>
            </a:pPr>
            <a:r>
              <a:rPr lang="en-US" sz="1550" dirty="0">
                <a:solidFill>
                  <a:srgbClr val="555C64"/>
                </a:solidFill>
                <a:latin typeface="Calibri" pitchFamily="34" charset="0"/>
                <a:ea typeface="Calibri" pitchFamily="34" charset="-122"/>
                <a:cs typeface="Calibri" pitchFamily="34" charset="-120"/>
              </a:rPr>
              <a:t>Nothing here is unproven. It's proven elsewhere and missing in Indian property.</a:t>
            </a:r>
            <a:endParaRPr lang="en-US" sz="1550" dirty="0"/>
          </a:p>
        </p:txBody>
      </p:sp>
      <p:sp>
        <p:nvSpPr>
          <p:cNvPr id="5" name="Shape 3"/>
          <p:cNvSpPr/>
          <p:nvPr/>
        </p:nvSpPr>
        <p:spPr>
          <a:xfrm>
            <a:off x="777240" y="2066544"/>
            <a:ext cx="3362858" cy="1874520"/>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6" name="Text 4"/>
          <p:cNvSpPr/>
          <p:nvPr/>
        </p:nvSpPr>
        <p:spPr>
          <a:xfrm>
            <a:off x="1051560" y="2286000"/>
            <a:ext cx="2814218" cy="365760"/>
          </a:xfrm>
          <a:prstGeom prst="rect">
            <a:avLst/>
          </a:prstGeom>
          <a:noFill/>
          <a:ln/>
        </p:spPr>
        <p:txBody>
          <a:bodyPr wrap="square" lIns="0" tIns="0" rIns="0" bIns="0" rtlCol="0" anchor="ctr"/>
          <a:lstStyle/>
          <a:p>
            <a:pPr indent="0" marL="0">
              <a:buNone/>
            </a:pPr>
            <a:r>
              <a:rPr lang="en-US" sz="1500" b="1" dirty="0">
                <a:solidFill>
                  <a:srgbClr val="14181D"/>
                </a:solidFill>
                <a:latin typeface="Cambria" pitchFamily="34" charset="0"/>
                <a:ea typeface="Cambria" pitchFamily="34" charset="-122"/>
                <a:cs typeface="Cambria" pitchFamily="34" charset="-120"/>
              </a:rPr>
              <a:t>Comparison engine</a:t>
            </a:r>
            <a:endParaRPr lang="en-US" sz="1500" dirty="0"/>
          </a:p>
        </p:txBody>
      </p:sp>
      <p:sp>
        <p:nvSpPr>
          <p:cNvPr id="7" name="Text 5"/>
          <p:cNvSpPr/>
          <p:nvPr/>
        </p:nvSpPr>
        <p:spPr>
          <a:xfrm>
            <a:off x="1051560" y="2706624"/>
            <a:ext cx="2814218" cy="868680"/>
          </a:xfrm>
          <a:prstGeom prst="rect">
            <a:avLst/>
          </a:prstGeom>
          <a:noFill/>
          <a:ln/>
        </p:spPr>
        <p:txBody>
          <a:bodyPr wrap="square" lIns="0" tIns="0" rIns="0" bIns="0" rtlCol="0" anchor="ctr"/>
          <a:lstStyle/>
          <a:p>
            <a:pPr indent="0" marL="0">
              <a:lnSpc>
                <a:spcPts val="1700"/>
              </a:lnSpc>
              <a:buNone/>
            </a:pPr>
            <a:r>
              <a:rPr lang="en-US" sz="1150" dirty="0">
                <a:solidFill>
                  <a:srgbClr val="555C64"/>
                </a:solidFill>
                <a:latin typeface="Calibri" pitchFamily="34" charset="0"/>
                <a:ea typeface="Calibri" pitchFamily="34" charset="-122"/>
                <a:cs typeface="Calibri" pitchFamily="34" charset="-120"/>
              </a:rPr>
              <a:t>Any two projects side by side on carpet, real rate, land share, density, possession.</a:t>
            </a:r>
            <a:endParaRPr lang="en-US" sz="1150" dirty="0"/>
          </a:p>
        </p:txBody>
      </p:sp>
      <p:sp>
        <p:nvSpPr>
          <p:cNvPr id="8" name="Text 6"/>
          <p:cNvSpPr/>
          <p:nvPr/>
        </p:nvSpPr>
        <p:spPr>
          <a:xfrm>
            <a:off x="1051560" y="3602736"/>
            <a:ext cx="2814218" cy="237744"/>
          </a:xfrm>
          <a:prstGeom prst="rect">
            <a:avLst/>
          </a:prstGeom>
          <a:noFill/>
          <a:ln/>
        </p:spPr>
        <p:txBody>
          <a:bodyPr wrap="square" lIns="0" tIns="0" rIns="0" bIns="0" rtlCol="0" anchor="ctr"/>
          <a:lstStyle/>
          <a:p>
            <a:pPr indent="0" marL="0">
              <a:buNone/>
            </a:pPr>
            <a:r>
              <a:rPr lang="en-US" sz="850" b="1" spc="110" kern="0" dirty="0">
                <a:solidFill>
                  <a:srgbClr val="9A7A25"/>
                </a:solidFill>
                <a:latin typeface="Calibri" pitchFamily="34" charset="0"/>
                <a:ea typeface="Calibri" pitchFamily="34" charset="-122"/>
                <a:cs typeface="Calibri" pitchFamily="34" charset="-120"/>
              </a:rPr>
              <a:t>FROM CARWALE</a:t>
            </a:r>
            <a:endParaRPr lang="en-US" sz="850" dirty="0"/>
          </a:p>
        </p:txBody>
      </p:sp>
      <p:sp>
        <p:nvSpPr>
          <p:cNvPr id="9" name="Shape 7"/>
          <p:cNvSpPr/>
          <p:nvPr/>
        </p:nvSpPr>
        <p:spPr>
          <a:xfrm>
            <a:off x="4414418" y="2066544"/>
            <a:ext cx="3362858" cy="1874520"/>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10" name="Text 8"/>
          <p:cNvSpPr/>
          <p:nvPr/>
        </p:nvSpPr>
        <p:spPr>
          <a:xfrm>
            <a:off x="4688738" y="2286000"/>
            <a:ext cx="2814218" cy="365760"/>
          </a:xfrm>
          <a:prstGeom prst="rect">
            <a:avLst/>
          </a:prstGeom>
          <a:noFill/>
          <a:ln/>
        </p:spPr>
        <p:txBody>
          <a:bodyPr wrap="square" lIns="0" tIns="0" rIns="0" bIns="0" rtlCol="0" anchor="ctr"/>
          <a:lstStyle/>
          <a:p>
            <a:pPr indent="0" marL="0">
              <a:buNone/>
            </a:pPr>
            <a:r>
              <a:rPr lang="en-US" sz="1500" b="1" dirty="0">
                <a:solidFill>
                  <a:srgbClr val="14181D"/>
                </a:solidFill>
                <a:latin typeface="Cambria" pitchFamily="34" charset="0"/>
                <a:ea typeface="Cambria" pitchFamily="34" charset="-122"/>
                <a:cs typeface="Cambria" pitchFamily="34" charset="-120"/>
              </a:rPr>
              <a:t>Expert project reviews</a:t>
            </a:r>
            <a:endParaRPr lang="en-US" sz="1500" dirty="0"/>
          </a:p>
        </p:txBody>
      </p:sp>
      <p:sp>
        <p:nvSpPr>
          <p:cNvPr id="11" name="Text 9"/>
          <p:cNvSpPr/>
          <p:nvPr/>
        </p:nvSpPr>
        <p:spPr>
          <a:xfrm>
            <a:off x="4688738" y="2706624"/>
            <a:ext cx="2814218" cy="868680"/>
          </a:xfrm>
          <a:prstGeom prst="rect">
            <a:avLst/>
          </a:prstGeom>
          <a:noFill/>
          <a:ln/>
        </p:spPr>
        <p:txBody>
          <a:bodyPr wrap="square" lIns="0" tIns="0" rIns="0" bIns="0" rtlCol="0" anchor="ctr"/>
          <a:lstStyle/>
          <a:p>
            <a:pPr indent="0" marL="0">
              <a:lnSpc>
                <a:spcPts val="1700"/>
              </a:lnSpc>
              <a:buNone/>
            </a:pPr>
            <a:r>
              <a:rPr lang="en-US" sz="1150" dirty="0">
                <a:solidFill>
                  <a:srgbClr val="555C64"/>
                </a:solidFill>
                <a:latin typeface="Calibri" pitchFamily="34" charset="0"/>
                <a:ea typeface="Calibri" pitchFamily="34" charset="-122"/>
                <a:cs typeface="Calibri" pitchFamily="34" charset="-120"/>
              </a:rPr>
              <a:t>OTHO rates every project it covers, with a score and a written verdict. Including the bad ones.</a:t>
            </a:r>
            <a:endParaRPr lang="en-US" sz="1150" dirty="0"/>
          </a:p>
        </p:txBody>
      </p:sp>
      <p:sp>
        <p:nvSpPr>
          <p:cNvPr id="12" name="Text 10"/>
          <p:cNvSpPr/>
          <p:nvPr/>
        </p:nvSpPr>
        <p:spPr>
          <a:xfrm>
            <a:off x="4688738" y="3602736"/>
            <a:ext cx="2814218" cy="237744"/>
          </a:xfrm>
          <a:prstGeom prst="rect">
            <a:avLst/>
          </a:prstGeom>
          <a:noFill/>
          <a:ln/>
        </p:spPr>
        <p:txBody>
          <a:bodyPr wrap="square" lIns="0" tIns="0" rIns="0" bIns="0" rtlCol="0" anchor="ctr"/>
          <a:lstStyle/>
          <a:p>
            <a:pPr indent="0" marL="0">
              <a:buNone/>
            </a:pPr>
            <a:r>
              <a:rPr lang="en-US" sz="850" b="1" spc="110" kern="0" dirty="0">
                <a:solidFill>
                  <a:srgbClr val="9A7A25"/>
                </a:solidFill>
                <a:latin typeface="Calibri" pitchFamily="34" charset="0"/>
                <a:ea typeface="Calibri" pitchFamily="34" charset="-122"/>
                <a:cs typeface="Calibri" pitchFamily="34" charset="-120"/>
              </a:rPr>
              <a:t>FROM CARWALE</a:t>
            </a:r>
            <a:endParaRPr lang="en-US" sz="850" dirty="0"/>
          </a:p>
        </p:txBody>
      </p:sp>
      <p:sp>
        <p:nvSpPr>
          <p:cNvPr id="13" name="Shape 11"/>
          <p:cNvSpPr/>
          <p:nvPr/>
        </p:nvSpPr>
        <p:spPr>
          <a:xfrm>
            <a:off x="8051597" y="2066544"/>
            <a:ext cx="3362858" cy="1874520"/>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14" name="Text 12"/>
          <p:cNvSpPr/>
          <p:nvPr/>
        </p:nvSpPr>
        <p:spPr>
          <a:xfrm>
            <a:off x="8325917" y="2286000"/>
            <a:ext cx="2814218" cy="365760"/>
          </a:xfrm>
          <a:prstGeom prst="rect">
            <a:avLst/>
          </a:prstGeom>
          <a:noFill/>
          <a:ln/>
        </p:spPr>
        <p:txBody>
          <a:bodyPr wrap="square" lIns="0" tIns="0" rIns="0" bIns="0" rtlCol="0" anchor="ctr"/>
          <a:lstStyle/>
          <a:p>
            <a:pPr indent="0" marL="0">
              <a:buNone/>
            </a:pPr>
            <a:r>
              <a:rPr lang="en-US" sz="1500" b="1" dirty="0">
                <a:solidFill>
                  <a:srgbClr val="14181D"/>
                </a:solidFill>
                <a:latin typeface="Cambria" pitchFamily="34" charset="0"/>
                <a:ea typeface="Cambria" pitchFamily="34" charset="-122"/>
                <a:cs typeface="Cambria" pitchFamily="34" charset="-120"/>
              </a:rPr>
              <a:t>Resident reviews</a:t>
            </a:r>
            <a:endParaRPr lang="en-US" sz="1500" dirty="0"/>
          </a:p>
        </p:txBody>
      </p:sp>
      <p:sp>
        <p:nvSpPr>
          <p:cNvPr id="15" name="Text 13"/>
          <p:cNvSpPr/>
          <p:nvPr/>
        </p:nvSpPr>
        <p:spPr>
          <a:xfrm>
            <a:off x="8325917" y="2706624"/>
            <a:ext cx="2814218" cy="868680"/>
          </a:xfrm>
          <a:prstGeom prst="rect">
            <a:avLst/>
          </a:prstGeom>
          <a:noFill/>
          <a:ln/>
        </p:spPr>
        <p:txBody>
          <a:bodyPr wrap="square" lIns="0" tIns="0" rIns="0" bIns="0" rtlCol="0" anchor="ctr"/>
          <a:lstStyle/>
          <a:p>
            <a:pPr indent="0" marL="0">
              <a:lnSpc>
                <a:spcPts val="1700"/>
              </a:lnSpc>
              <a:buNone/>
            </a:pPr>
            <a:r>
              <a:rPr lang="en-US" sz="1150" dirty="0">
                <a:solidFill>
                  <a:srgbClr val="555C64"/>
                </a:solidFill>
                <a:latin typeface="Calibri" pitchFamily="34" charset="0"/>
                <a:ea typeface="Calibri" pitchFamily="34" charset="-122"/>
                <a:cs typeface="Calibri" pitchFamily="34" charset="-120"/>
              </a:rPr>
              <a:t>People who live there rate build quality, management, and what broke first.</a:t>
            </a:r>
            <a:endParaRPr lang="en-US" sz="1150" dirty="0"/>
          </a:p>
        </p:txBody>
      </p:sp>
      <p:sp>
        <p:nvSpPr>
          <p:cNvPr id="16" name="Text 14"/>
          <p:cNvSpPr/>
          <p:nvPr/>
        </p:nvSpPr>
        <p:spPr>
          <a:xfrm>
            <a:off x="8325917" y="3602736"/>
            <a:ext cx="2814218" cy="237744"/>
          </a:xfrm>
          <a:prstGeom prst="rect">
            <a:avLst/>
          </a:prstGeom>
          <a:noFill/>
          <a:ln/>
        </p:spPr>
        <p:txBody>
          <a:bodyPr wrap="square" lIns="0" tIns="0" rIns="0" bIns="0" rtlCol="0" anchor="ctr"/>
          <a:lstStyle/>
          <a:p>
            <a:pPr indent="0" marL="0">
              <a:buNone/>
            </a:pPr>
            <a:r>
              <a:rPr lang="en-US" sz="850" b="1" spc="110" kern="0" dirty="0">
                <a:solidFill>
                  <a:srgbClr val="9A7A25"/>
                </a:solidFill>
                <a:latin typeface="Calibri" pitchFamily="34" charset="0"/>
                <a:ea typeface="Calibri" pitchFamily="34" charset="-122"/>
                <a:cs typeface="Calibri" pitchFamily="34" charset="-120"/>
              </a:rPr>
              <a:t>FROM CARWALE</a:t>
            </a:r>
            <a:endParaRPr lang="en-US" sz="850" dirty="0"/>
          </a:p>
        </p:txBody>
      </p:sp>
      <p:sp>
        <p:nvSpPr>
          <p:cNvPr id="17" name="Shape 15"/>
          <p:cNvSpPr/>
          <p:nvPr/>
        </p:nvSpPr>
        <p:spPr>
          <a:xfrm>
            <a:off x="777240" y="4151376"/>
            <a:ext cx="3362858" cy="1874520"/>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18" name="Text 16"/>
          <p:cNvSpPr/>
          <p:nvPr/>
        </p:nvSpPr>
        <p:spPr>
          <a:xfrm>
            <a:off x="1051560" y="4370832"/>
            <a:ext cx="2814218" cy="365760"/>
          </a:xfrm>
          <a:prstGeom prst="rect">
            <a:avLst/>
          </a:prstGeom>
          <a:noFill/>
          <a:ln/>
        </p:spPr>
        <p:txBody>
          <a:bodyPr wrap="square" lIns="0" tIns="0" rIns="0" bIns="0" rtlCol="0" anchor="ctr"/>
          <a:lstStyle/>
          <a:p>
            <a:pPr indent="0" marL="0">
              <a:buNone/>
            </a:pPr>
            <a:r>
              <a:rPr lang="en-US" sz="1500" b="1" dirty="0">
                <a:solidFill>
                  <a:srgbClr val="14181D"/>
                </a:solidFill>
                <a:latin typeface="Cambria" pitchFamily="34" charset="0"/>
                <a:ea typeface="Cambria" pitchFamily="34" charset="-122"/>
                <a:cs typeface="Cambria" pitchFamily="34" charset="-120"/>
              </a:rPr>
              <a:t>Real rate calculator</a:t>
            </a:r>
            <a:endParaRPr lang="en-US" sz="1500" dirty="0"/>
          </a:p>
        </p:txBody>
      </p:sp>
      <p:sp>
        <p:nvSpPr>
          <p:cNvPr id="19" name="Text 17"/>
          <p:cNvSpPr/>
          <p:nvPr/>
        </p:nvSpPr>
        <p:spPr>
          <a:xfrm>
            <a:off x="1051560" y="4791456"/>
            <a:ext cx="2814218" cy="868680"/>
          </a:xfrm>
          <a:prstGeom prst="rect">
            <a:avLst/>
          </a:prstGeom>
          <a:noFill/>
          <a:ln/>
        </p:spPr>
        <p:txBody>
          <a:bodyPr wrap="square" lIns="0" tIns="0" rIns="0" bIns="0" rtlCol="0" anchor="ctr"/>
          <a:lstStyle/>
          <a:p>
            <a:pPr indent="0" marL="0">
              <a:lnSpc>
                <a:spcPts val="1700"/>
              </a:lnSpc>
              <a:buNone/>
            </a:pPr>
            <a:r>
              <a:rPr lang="en-US" sz="1150" dirty="0">
                <a:solidFill>
                  <a:srgbClr val="555C64"/>
                </a:solidFill>
                <a:latin typeface="Calibri" pitchFamily="34" charset="0"/>
                <a:ea typeface="Calibri" pitchFamily="34" charset="-122"/>
                <a:cs typeface="Calibri" pitchFamily="34" charset="-120"/>
              </a:rPr>
              <a:t>Loading factor exposed. What you pay per usable foot, not per marketing foot.</a:t>
            </a:r>
            <a:endParaRPr lang="en-US" sz="1150" dirty="0"/>
          </a:p>
        </p:txBody>
      </p:sp>
      <p:sp>
        <p:nvSpPr>
          <p:cNvPr id="20" name="Text 18"/>
          <p:cNvSpPr/>
          <p:nvPr/>
        </p:nvSpPr>
        <p:spPr>
          <a:xfrm>
            <a:off x="1051560" y="5687568"/>
            <a:ext cx="2814218" cy="237744"/>
          </a:xfrm>
          <a:prstGeom prst="rect">
            <a:avLst/>
          </a:prstGeom>
          <a:noFill/>
          <a:ln/>
        </p:spPr>
        <p:txBody>
          <a:bodyPr wrap="square" lIns="0" tIns="0" rIns="0" bIns="0" rtlCol="0" anchor="ctr"/>
          <a:lstStyle/>
          <a:p>
            <a:pPr indent="0" marL="0">
              <a:buNone/>
            </a:pPr>
            <a:r>
              <a:rPr lang="en-US" sz="850" b="1" spc="110" kern="0" dirty="0">
                <a:solidFill>
                  <a:srgbClr val="9A7A25"/>
                </a:solidFill>
                <a:latin typeface="Calibri" pitchFamily="34" charset="0"/>
                <a:ea typeface="Calibri" pitchFamily="34" charset="-122"/>
                <a:cs typeface="Calibri" pitchFamily="34" charset="-120"/>
              </a:rPr>
              <a:t>OTHO ORIGINAL</a:t>
            </a:r>
            <a:endParaRPr lang="en-US" sz="850" dirty="0"/>
          </a:p>
        </p:txBody>
      </p:sp>
      <p:sp>
        <p:nvSpPr>
          <p:cNvPr id="21" name="Shape 19"/>
          <p:cNvSpPr/>
          <p:nvPr/>
        </p:nvSpPr>
        <p:spPr>
          <a:xfrm>
            <a:off x="4414418" y="4151376"/>
            <a:ext cx="3362858" cy="1874520"/>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22" name="Text 20"/>
          <p:cNvSpPr/>
          <p:nvPr/>
        </p:nvSpPr>
        <p:spPr>
          <a:xfrm>
            <a:off x="4688738" y="4370832"/>
            <a:ext cx="2814218" cy="365760"/>
          </a:xfrm>
          <a:prstGeom prst="rect">
            <a:avLst/>
          </a:prstGeom>
          <a:noFill/>
          <a:ln/>
        </p:spPr>
        <p:txBody>
          <a:bodyPr wrap="square" lIns="0" tIns="0" rIns="0" bIns="0" rtlCol="0" anchor="ctr"/>
          <a:lstStyle/>
          <a:p>
            <a:pPr indent="0" marL="0">
              <a:buNone/>
            </a:pPr>
            <a:r>
              <a:rPr lang="en-US" sz="1500" b="1" dirty="0">
                <a:solidFill>
                  <a:srgbClr val="14181D"/>
                </a:solidFill>
                <a:latin typeface="Cambria" pitchFamily="34" charset="0"/>
                <a:ea typeface="Cambria" pitchFamily="34" charset="-122"/>
                <a:cs typeface="Cambria" pitchFamily="34" charset="-120"/>
              </a:rPr>
              <a:t>Honest negatives</a:t>
            </a:r>
            <a:endParaRPr lang="en-US" sz="1500" dirty="0"/>
          </a:p>
        </p:txBody>
      </p:sp>
      <p:sp>
        <p:nvSpPr>
          <p:cNvPr id="23" name="Text 21"/>
          <p:cNvSpPr/>
          <p:nvPr/>
        </p:nvSpPr>
        <p:spPr>
          <a:xfrm>
            <a:off x="4688738" y="4791456"/>
            <a:ext cx="2814218" cy="868680"/>
          </a:xfrm>
          <a:prstGeom prst="rect">
            <a:avLst/>
          </a:prstGeom>
          <a:noFill/>
          <a:ln/>
        </p:spPr>
        <p:txBody>
          <a:bodyPr wrap="square" lIns="0" tIns="0" rIns="0" bIns="0" rtlCol="0" anchor="ctr"/>
          <a:lstStyle/>
          <a:p>
            <a:pPr indent="0" marL="0">
              <a:lnSpc>
                <a:spcPts val="1700"/>
              </a:lnSpc>
              <a:buNone/>
            </a:pPr>
            <a:r>
              <a:rPr lang="en-US" sz="1150" dirty="0">
                <a:solidFill>
                  <a:srgbClr val="555C64"/>
                </a:solidFill>
                <a:latin typeface="Calibri" pitchFamily="34" charset="0"/>
                <a:ea typeface="Calibri" pitchFamily="34" charset="-122"/>
                <a:cs typeface="Calibri" pitchFamily="34" charset="-120"/>
              </a:rPr>
              <a:t>Every project page lists what's wrong with it. The trust engine of the whole platform.</a:t>
            </a:r>
            <a:endParaRPr lang="en-US" sz="1150" dirty="0"/>
          </a:p>
        </p:txBody>
      </p:sp>
      <p:sp>
        <p:nvSpPr>
          <p:cNvPr id="24" name="Text 22"/>
          <p:cNvSpPr/>
          <p:nvPr/>
        </p:nvSpPr>
        <p:spPr>
          <a:xfrm>
            <a:off x="4688738" y="5687568"/>
            <a:ext cx="2814218" cy="237744"/>
          </a:xfrm>
          <a:prstGeom prst="rect">
            <a:avLst/>
          </a:prstGeom>
          <a:noFill/>
          <a:ln/>
        </p:spPr>
        <p:txBody>
          <a:bodyPr wrap="square" lIns="0" tIns="0" rIns="0" bIns="0" rtlCol="0" anchor="ctr"/>
          <a:lstStyle/>
          <a:p>
            <a:pPr indent="0" marL="0">
              <a:buNone/>
            </a:pPr>
            <a:r>
              <a:rPr lang="en-US" sz="850" b="1" spc="110" kern="0" dirty="0">
                <a:solidFill>
                  <a:srgbClr val="9A7A25"/>
                </a:solidFill>
                <a:latin typeface="Calibri" pitchFamily="34" charset="0"/>
                <a:ea typeface="Calibri" pitchFamily="34" charset="-122"/>
                <a:cs typeface="Calibri" pitchFamily="34" charset="-120"/>
              </a:rPr>
              <a:t>OTHO ORIGINAL</a:t>
            </a:r>
            <a:endParaRPr lang="en-US" sz="850" dirty="0"/>
          </a:p>
        </p:txBody>
      </p:sp>
      <p:sp>
        <p:nvSpPr>
          <p:cNvPr id="25" name="Shape 23"/>
          <p:cNvSpPr/>
          <p:nvPr/>
        </p:nvSpPr>
        <p:spPr>
          <a:xfrm>
            <a:off x="8051597" y="4151376"/>
            <a:ext cx="3362858" cy="1874520"/>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26" name="Text 24"/>
          <p:cNvSpPr/>
          <p:nvPr/>
        </p:nvSpPr>
        <p:spPr>
          <a:xfrm>
            <a:off x="8325917" y="4370832"/>
            <a:ext cx="2814218" cy="365760"/>
          </a:xfrm>
          <a:prstGeom prst="rect">
            <a:avLst/>
          </a:prstGeom>
          <a:noFill/>
          <a:ln/>
        </p:spPr>
        <p:txBody>
          <a:bodyPr wrap="square" lIns="0" tIns="0" rIns="0" bIns="0" rtlCol="0" anchor="ctr"/>
          <a:lstStyle/>
          <a:p>
            <a:pPr indent="0" marL="0">
              <a:buNone/>
            </a:pPr>
            <a:r>
              <a:rPr lang="en-US" sz="1500" b="1" dirty="0">
                <a:solidFill>
                  <a:srgbClr val="14181D"/>
                </a:solidFill>
                <a:latin typeface="Cambria" pitchFamily="34" charset="0"/>
                <a:ea typeface="Cambria" pitchFamily="34" charset="-122"/>
                <a:cs typeface="Cambria" pitchFamily="34" charset="-120"/>
              </a:rPr>
              <a:t>Price estimate</a:t>
            </a:r>
            <a:endParaRPr lang="en-US" sz="1500" dirty="0"/>
          </a:p>
        </p:txBody>
      </p:sp>
      <p:sp>
        <p:nvSpPr>
          <p:cNvPr id="27" name="Text 25"/>
          <p:cNvSpPr/>
          <p:nvPr/>
        </p:nvSpPr>
        <p:spPr>
          <a:xfrm>
            <a:off x="8325917" y="4791456"/>
            <a:ext cx="2814218" cy="868680"/>
          </a:xfrm>
          <a:prstGeom prst="rect">
            <a:avLst/>
          </a:prstGeom>
          <a:noFill/>
          <a:ln/>
        </p:spPr>
        <p:txBody>
          <a:bodyPr wrap="square" lIns="0" tIns="0" rIns="0" bIns="0" rtlCol="0" anchor="ctr"/>
          <a:lstStyle/>
          <a:p>
            <a:pPr indent="0" marL="0">
              <a:lnSpc>
                <a:spcPts val="1700"/>
              </a:lnSpc>
              <a:buNone/>
            </a:pPr>
            <a:r>
              <a:rPr lang="en-US" sz="1150" dirty="0">
                <a:solidFill>
                  <a:srgbClr val="555C64"/>
                </a:solidFill>
                <a:latin typeface="Calibri" pitchFamily="34" charset="0"/>
                <a:ea typeface="Calibri" pitchFamily="34" charset="-122"/>
                <a:cs typeface="Calibri" pitchFamily="34" charset="-120"/>
              </a:rPr>
              <a:t>What a unit is actually worth, from registration data — not from the asking price.</a:t>
            </a:r>
            <a:endParaRPr lang="en-US" sz="1150" dirty="0"/>
          </a:p>
        </p:txBody>
      </p:sp>
      <p:sp>
        <p:nvSpPr>
          <p:cNvPr id="28" name="Text 26"/>
          <p:cNvSpPr/>
          <p:nvPr/>
        </p:nvSpPr>
        <p:spPr>
          <a:xfrm>
            <a:off x="8325917" y="5687568"/>
            <a:ext cx="2814218" cy="237744"/>
          </a:xfrm>
          <a:prstGeom prst="rect">
            <a:avLst/>
          </a:prstGeom>
          <a:noFill/>
          <a:ln/>
        </p:spPr>
        <p:txBody>
          <a:bodyPr wrap="square" lIns="0" tIns="0" rIns="0" bIns="0" rtlCol="0" anchor="ctr"/>
          <a:lstStyle/>
          <a:p>
            <a:pPr indent="0" marL="0">
              <a:buNone/>
            </a:pPr>
            <a:r>
              <a:rPr lang="en-US" sz="850" b="1" spc="110" kern="0" dirty="0">
                <a:solidFill>
                  <a:srgbClr val="9A7A25"/>
                </a:solidFill>
                <a:latin typeface="Calibri" pitchFamily="34" charset="0"/>
                <a:ea typeface="Calibri" pitchFamily="34" charset="-122"/>
                <a:cs typeface="Calibri" pitchFamily="34" charset="-120"/>
              </a:rPr>
              <a:t>FROM ZILLOW</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777240" y="530352"/>
            <a:ext cx="10637215" cy="219456"/>
          </a:xfrm>
          <a:prstGeom prst="rect">
            <a:avLst/>
          </a:prstGeom>
          <a:noFill/>
          <a:ln/>
        </p:spPr>
        <p:txBody>
          <a:bodyPr wrap="square" lIns="0" tIns="0" rIns="0" bIns="0" rtlCol="0" anchor="ctr"/>
          <a:lstStyle/>
          <a:p>
            <a:pPr indent="0" marL="0">
              <a:buNone/>
            </a:pPr>
            <a:r>
              <a:rPr lang="en-US" sz="1100" b="1" spc="260" kern="0" dirty="0">
                <a:solidFill>
                  <a:srgbClr val="9A7A25"/>
                </a:solidFill>
                <a:latin typeface="Calibri" pitchFamily="34" charset="0"/>
                <a:ea typeface="Calibri" pitchFamily="34" charset="-122"/>
                <a:cs typeface="Calibri" pitchFamily="34" charset="-120"/>
              </a:rPr>
              <a:t>07</a:t>
            </a:r>
            <a:endParaRPr lang="en-US" sz="1100" dirty="0"/>
          </a:p>
        </p:txBody>
      </p:sp>
      <p:sp>
        <p:nvSpPr>
          <p:cNvPr id="3" name="Text 1"/>
          <p:cNvSpPr/>
          <p:nvPr/>
        </p:nvSpPr>
        <p:spPr>
          <a:xfrm>
            <a:off x="777240" y="768096"/>
            <a:ext cx="10637215" cy="603504"/>
          </a:xfrm>
          <a:prstGeom prst="rect">
            <a:avLst/>
          </a:prstGeom>
          <a:noFill/>
          <a:ln/>
        </p:spPr>
        <p:txBody>
          <a:bodyPr wrap="square" lIns="0" tIns="0" rIns="0" bIns="0" rtlCol="0" anchor="ctr"/>
          <a:lstStyle/>
          <a:p>
            <a:pPr indent="0" marL="0">
              <a:buNone/>
            </a:pPr>
            <a:r>
              <a:rPr lang="en-US" sz="3800" b="1" spc="-60" kern="0" dirty="0">
                <a:solidFill>
                  <a:srgbClr val="14181D"/>
                </a:solidFill>
                <a:latin typeface="Cambria" pitchFamily="34" charset="0"/>
                <a:ea typeface="Cambria" pitchFamily="34" charset="-122"/>
                <a:cs typeface="Cambria" pitchFamily="34" charset="-120"/>
              </a:rPr>
              <a:t>What goes in the platform</a:t>
            </a:r>
            <a:endParaRPr lang="en-US" sz="3800" dirty="0"/>
          </a:p>
        </p:txBody>
      </p:sp>
      <p:sp>
        <p:nvSpPr>
          <p:cNvPr id="4" name="Text 2"/>
          <p:cNvSpPr/>
          <p:nvPr/>
        </p:nvSpPr>
        <p:spPr>
          <a:xfrm>
            <a:off x="777240" y="1463040"/>
            <a:ext cx="9539935" cy="457200"/>
          </a:xfrm>
          <a:prstGeom prst="rect">
            <a:avLst/>
          </a:prstGeom>
          <a:noFill/>
          <a:ln/>
        </p:spPr>
        <p:txBody>
          <a:bodyPr wrap="square" lIns="0" tIns="0" rIns="0" bIns="0" rtlCol="0" anchor="t"/>
          <a:lstStyle/>
          <a:p>
            <a:pPr indent="0" marL="0">
              <a:lnSpc>
                <a:spcPts val="2200"/>
              </a:lnSpc>
              <a:buNone/>
            </a:pPr>
            <a:r>
              <a:rPr lang="en-US" sz="1550" dirty="0">
                <a:solidFill>
                  <a:srgbClr val="555C64"/>
                </a:solidFill>
                <a:latin typeface="Calibri" pitchFamily="34" charset="0"/>
                <a:ea typeface="Calibri" pitchFamily="34" charset="-122"/>
                <a:cs typeface="Calibri" pitchFamily="34" charset="-120"/>
              </a:rPr>
              <a:t>Continued — the trust and service layer.</a:t>
            </a:r>
            <a:endParaRPr lang="en-US" sz="1550" dirty="0"/>
          </a:p>
        </p:txBody>
      </p:sp>
      <p:sp>
        <p:nvSpPr>
          <p:cNvPr id="5" name="Shape 3"/>
          <p:cNvSpPr/>
          <p:nvPr/>
        </p:nvSpPr>
        <p:spPr>
          <a:xfrm>
            <a:off x="777240" y="2066544"/>
            <a:ext cx="3362858" cy="1874520"/>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6" name="Text 4"/>
          <p:cNvSpPr/>
          <p:nvPr/>
        </p:nvSpPr>
        <p:spPr>
          <a:xfrm>
            <a:off x="1051560" y="2286000"/>
            <a:ext cx="2814218" cy="365760"/>
          </a:xfrm>
          <a:prstGeom prst="rect">
            <a:avLst/>
          </a:prstGeom>
          <a:noFill/>
          <a:ln/>
        </p:spPr>
        <p:txBody>
          <a:bodyPr wrap="square" lIns="0" tIns="0" rIns="0" bIns="0" rtlCol="0" anchor="ctr"/>
          <a:lstStyle/>
          <a:p>
            <a:pPr indent="0" marL="0">
              <a:buNone/>
            </a:pPr>
            <a:r>
              <a:rPr lang="en-US" sz="1500" b="1" dirty="0">
                <a:solidFill>
                  <a:srgbClr val="14181D"/>
                </a:solidFill>
                <a:latin typeface="Cambria" pitchFamily="34" charset="0"/>
                <a:ea typeface="Cambria" pitchFamily="34" charset="-122"/>
                <a:cs typeface="Cambria" pitchFamily="34" charset="-120"/>
              </a:rPr>
              <a:t>Locality pages</a:t>
            </a:r>
            <a:endParaRPr lang="en-US" sz="1500" dirty="0"/>
          </a:p>
        </p:txBody>
      </p:sp>
      <p:sp>
        <p:nvSpPr>
          <p:cNvPr id="7" name="Text 5"/>
          <p:cNvSpPr/>
          <p:nvPr/>
        </p:nvSpPr>
        <p:spPr>
          <a:xfrm>
            <a:off x="1051560" y="2706624"/>
            <a:ext cx="2814218" cy="868680"/>
          </a:xfrm>
          <a:prstGeom prst="rect">
            <a:avLst/>
          </a:prstGeom>
          <a:noFill/>
          <a:ln/>
        </p:spPr>
        <p:txBody>
          <a:bodyPr wrap="square" lIns="0" tIns="0" rIns="0" bIns="0" rtlCol="0" anchor="ctr"/>
          <a:lstStyle/>
          <a:p>
            <a:pPr indent="0" marL="0">
              <a:lnSpc>
                <a:spcPts val="1700"/>
              </a:lnSpc>
              <a:buNone/>
            </a:pPr>
            <a:r>
              <a:rPr lang="en-US" sz="1150" dirty="0">
                <a:solidFill>
                  <a:srgbClr val="555C64"/>
                </a:solidFill>
                <a:latin typeface="Calibri" pitchFamily="34" charset="0"/>
                <a:ea typeface="Calibri" pitchFamily="34" charset="-122"/>
                <a:cs typeface="Calibri" pitchFamily="34" charset="-120"/>
              </a:rPr>
              <a:t>Price history, infrastructure status, commute times measured at peak hour, schools, water.</a:t>
            </a:r>
            <a:endParaRPr lang="en-US" sz="1150" dirty="0"/>
          </a:p>
        </p:txBody>
      </p:sp>
      <p:sp>
        <p:nvSpPr>
          <p:cNvPr id="8" name="Text 6"/>
          <p:cNvSpPr/>
          <p:nvPr/>
        </p:nvSpPr>
        <p:spPr>
          <a:xfrm>
            <a:off x="1051560" y="3602736"/>
            <a:ext cx="2814218" cy="237744"/>
          </a:xfrm>
          <a:prstGeom prst="rect">
            <a:avLst/>
          </a:prstGeom>
          <a:noFill/>
          <a:ln/>
        </p:spPr>
        <p:txBody>
          <a:bodyPr wrap="square" lIns="0" tIns="0" rIns="0" bIns="0" rtlCol="0" anchor="ctr"/>
          <a:lstStyle/>
          <a:p>
            <a:pPr indent="0" marL="0">
              <a:buNone/>
            </a:pPr>
            <a:r>
              <a:rPr lang="en-US" sz="850" b="1" spc="110" kern="0" dirty="0">
                <a:solidFill>
                  <a:srgbClr val="9A7A25"/>
                </a:solidFill>
                <a:latin typeface="Calibri" pitchFamily="34" charset="0"/>
                <a:ea typeface="Calibri" pitchFamily="34" charset="-122"/>
                <a:cs typeface="Calibri" pitchFamily="34" charset="-120"/>
              </a:rPr>
              <a:t>FROM MAGICBRICKS</a:t>
            </a:r>
            <a:endParaRPr lang="en-US" sz="850" dirty="0"/>
          </a:p>
        </p:txBody>
      </p:sp>
      <p:sp>
        <p:nvSpPr>
          <p:cNvPr id="9" name="Shape 7"/>
          <p:cNvSpPr/>
          <p:nvPr/>
        </p:nvSpPr>
        <p:spPr>
          <a:xfrm>
            <a:off x="4414418" y="2066544"/>
            <a:ext cx="3362858" cy="1874520"/>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10" name="Text 8"/>
          <p:cNvSpPr/>
          <p:nvPr/>
        </p:nvSpPr>
        <p:spPr>
          <a:xfrm>
            <a:off x="4688738" y="2286000"/>
            <a:ext cx="2814218" cy="365760"/>
          </a:xfrm>
          <a:prstGeom prst="rect">
            <a:avLst/>
          </a:prstGeom>
          <a:noFill/>
          <a:ln/>
        </p:spPr>
        <p:txBody>
          <a:bodyPr wrap="square" lIns="0" tIns="0" rIns="0" bIns="0" rtlCol="0" anchor="ctr"/>
          <a:lstStyle/>
          <a:p>
            <a:pPr indent="0" marL="0">
              <a:buNone/>
            </a:pPr>
            <a:r>
              <a:rPr lang="en-US" sz="1500" b="1" dirty="0">
                <a:solidFill>
                  <a:srgbClr val="14181D"/>
                </a:solidFill>
                <a:latin typeface="Cambria" pitchFamily="34" charset="0"/>
                <a:ea typeface="Cambria" pitchFamily="34" charset="-122"/>
                <a:cs typeface="Cambria" pitchFamily="34" charset="-120"/>
              </a:rPr>
              <a:t>Your number stays private</a:t>
            </a:r>
            <a:endParaRPr lang="en-US" sz="1500" dirty="0"/>
          </a:p>
        </p:txBody>
      </p:sp>
      <p:sp>
        <p:nvSpPr>
          <p:cNvPr id="11" name="Text 9"/>
          <p:cNvSpPr/>
          <p:nvPr/>
        </p:nvSpPr>
        <p:spPr>
          <a:xfrm>
            <a:off x="4688738" y="2706624"/>
            <a:ext cx="2814218" cy="868680"/>
          </a:xfrm>
          <a:prstGeom prst="rect">
            <a:avLst/>
          </a:prstGeom>
          <a:noFill/>
          <a:ln/>
        </p:spPr>
        <p:txBody>
          <a:bodyPr wrap="square" lIns="0" tIns="0" rIns="0" bIns="0" rtlCol="0" anchor="ctr"/>
          <a:lstStyle/>
          <a:p>
            <a:pPr indent="0" marL="0">
              <a:lnSpc>
                <a:spcPts val="1700"/>
              </a:lnSpc>
              <a:buNone/>
            </a:pPr>
            <a:r>
              <a:rPr lang="en-US" sz="1150" dirty="0">
                <a:solidFill>
                  <a:srgbClr val="555C64"/>
                </a:solidFill>
                <a:latin typeface="Calibri" pitchFamily="34" charset="0"/>
                <a:ea typeface="Calibri" pitchFamily="34" charset="-122"/>
                <a:cs typeface="Calibri" pitchFamily="34" charset="-120"/>
              </a:rPr>
              <a:t>Never sold, never shared with brokers. One conversation, with OTHO.</a:t>
            </a:r>
            <a:endParaRPr lang="en-US" sz="1150" dirty="0"/>
          </a:p>
        </p:txBody>
      </p:sp>
      <p:sp>
        <p:nvSpPr>
          <p:cNvPr id="12" name="Text 10"/>
          <p:cNvSpPr/>
          <p:nvPr/>
        </p:nvSpPr>
        <p:spPr>
          <a:xfrm>
            <a:off x="4688738" y="3602736"/>
            <a:ext cx="2814218" cy="237744"/>
          </a:xfrm>
          <a:prstGeom prst="rect">
            <a:avLst/>
          </a:prstGeom>
          <a:noFill/>
          <a:ln/>
        </p:spPr>
        <p:txBody>
          <a:bodyPr wrap="square" lIns="0" tIns="0" rIns="0" bIns="0" rtlCol="0" anchor="ctr"/>
          <a:lstStyle/>
          <a:p>
            <a:pPr indent="0" marL="0">
              <a:buNone/>
            </a:pPr>
            <a:r>
              <a:rPr lang="en-US" sz="850" b="1" spc="110" kern="0" dirty="0">
                <a:solidFill>
                  <a:srgbClr val="9A7A25"/>
                </a:solidFill>
                <a:latin typeface="Calibri" pitchFamily="34" charset="0"/>
                <a:ea typeface="Calibri" pitchFamily="34" charset="-122"/>
                <a:cs typeface="Calibri" pitchFamily="34" charset="-120"/>
              </a:rPr>
              <a:t>FROM NOBROKER</a:t>
            </a:r>
            <a:endParaRPr lang="en-US" sz="850" dirty="0"/>
          </a:p>
        </p:txBody>
      </p:sp>
      <p:sp>
        <p:nvSpPr>
          <p:cNvPr id="13" name="Shape 11"/>
          <p:cNvSpPr/>
          <p:nvPr/>
        </p:nvSpPr>
        <p:spPr>
          <a:xfrm>
            <a:off x="8051597" y="2066544"/>
            <a:ext cx="3362858" cy="1874520"/>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14" name="Text 12"/>
          <p:cNvSpPr/>
          <p:nvPr/>
        </p:nvSpPr>
        <p:spPr>
          <a:xfrm>
            <a:off x="8325917" y="2286000"/>
            <a:ext cx="2814218" cy="365760"/>
          </a:xfrm>
          <a:prstGeom prst="rect">
            <a:avLst/>
          </a:prstGeom>
          <a:noFill/>
          <a:ln/>
        </p:spPr>
        <p:txBody>
          <a:bodyPr wrap="square" lIns="0" tIns="0" rIns="0" bIns="0" rtlCol="0" anchor="ctr"/>
          <a:lstStyle/>
          <a:p>
            <a:pPr indent="0" marL="0">
              <a:buNone/>
            </a:pPr>
            <a:r>
              <a:rPr lang="en-US" sz="1500" b="1" dirty="0">
                <a:solidFill>
                  <a:srgbClr val="14181D"/>
                </a:solidFill>
                <a:latin typeface="Cambria" pitchFamily="34" charset="0"/>
                <a:ea typeface="Cambria" pitchFamily="34" charset="-122"/>
                <a:cs typeface="Cambria" pitchFamily="34" charset="-120"/>
              </a:rPr>
              <a:t>Verified listings only</a:t>
            </a:r>
            <a:endParaRPr lang="en-US" sz="1500" dirty="0"/>
          </a:p>
        </p:txBody>
      </p:sp>
      <p:sp>
        <p:nvSpPr>
          <p:cNvPr id="15" name="Text 13"/>
          <p:cNvSpPr/>
          <p:nvPr/>
        </p:nvSpPr>
        <p:spPr>
          <a:xfrm>
            <a:off x="8325917" y="2706624"/>
            <a:ext cx="2814218" cy="868680"/>
          </a:xfrm>
          <a:prstGeom prst="rect">
            <a:avLst/>
          </a:prstGeom>
          <a:noFill/>
          <a:ln/>
        </p:spPr>
        <p:txBody>
          <a:bodyPr wrap="square" lIns="0" tIns="0" rIns="0" bIns="0" rtlCol="0" anchor="ctr"/>
          <a:lstStyle/>
          <a:p>
            <a:pPr indent="0" marL="0">
              <a:lnSpc>
                <a:spcPts val="1700"/>
              </a:lnSpc>
              <a:buNone/>
            </a:pPr>
            <a:r>
              <a:rPr lang="en-US" sz="1150" dirty="0">
                <a:solidFill>
                  <a:srgbClr val="555C64"/>
                </a:solidFill>
                <a:latin typeface="Calibri" pitchFamily="34" charset="0"/>
                <a:ea typeface="Calibri" pitchFamily="34" charset="-122"/>
                <a:cs typeface="Calibri" pitchFamily="34" charset="-120"/>
              </a:rPr>
              <a:t>Every project checked against its RERA filing before it appears. No cloned photos.</a:t>
            </a:r>
            <a:endParaRPr lang="en-US" sz="1150" dirty="0"/>
          </a:p>
        </p:txBody>
      </p:sp>
      <p:sp>
        <p:nvSpPr>
          <p:cNvPr id="16" name="Text 14"/>
          <p:cNvSpPr/>
          <p:nvPr/>
        </p:nvSpPr>
        <p:spPr>
          <a:xfrm>
            <a:off x="8325917" y="3602736"/>
            <a:ext cx="2814218" cy="237744"/>
          </a:xfrm>
          <a:prstGeom prst="rect">
            <a:avLst/>
          </a:prstGeom>
          <a:noFill/>
          <a:ln/>
        </p:spPr>
        <p:txBody>
          <a:bodyPr wrap="square" lIns="0" tIns="0" rIns="0" bIns="0" rtlCol="0" anchor="ctr"/>
          <a:lstStyle/>
          <a:p>
            <a:pPr indent="0" marL="0">
              <a:buNone/>
            </a:pPr>
            <a:r>
              <a:rPr lang="en-US" sz="850" b="1" spc="110" kern="0" dirty="0">
                <a:solidFill>
                  <a:srgbClr val="9A7A25"/>
                </a:solidFill>
                <a:latin typeface="Calibri" pitchFamily="34" charset="0"/>
                <a:ea typeface="Calibri" pitchFamily="34" charset="-122"/>
                <a:cs typeface="Calibri" pitchFamily="34" charset="-120"/>
              </a:rPr>
              <a:t>FIXES THE #1 COMPLAINT</a:t>
            </a:r>
            <a:endParaRPr lang="en-US" sz="850" dirty="0"/>
          </a:p>
        </p:txBody>
      </p:sp>
      <p:sp>
        <p:nvSpPr>
          <p:cNvPr id="17" name="Shape 15"/>
          <p:cNvSpPr/>
          <p:nvPr/>
        </p:nvSpPr>
        <p:spPr>
          <a:xfrm>
            <a:off x="777240" y="4151376"/>
            <a:ext cx="3362858" cy="1874520"/>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18" name="Text 16"/>
          <p:cNvSpPr/>
          <p:nvPr/>
        </p:nvSpPr>
        <p:spPr>
          <a:xfrm>
            <a:off x="1051560" y="4370832"/>
            <a:ext cx="2814218" cy="365760"/>
          </a:xfrm>
          <a:prstGeom prst="rect">
            <a:avLst/>
          </a:prstGeom>
          <a:noFill/>
          <a:ln/>
        </p:spPr>
        <p:txBody>
          <a:bodyPr wrap="square" lIns="0" tIns="0" rIns="0" bIns="0" rtlCol="0" anchor="ctr"/>
          <a:lstStyle/>
          <a:p>
            <a:pPr indent="0" marL="0">
              <a:buNone/>
            </a:pPr>
            <a:r>
              <a:rPr lang="en-US" sz="1500" b="1" dirty="0">
                <a:solidFill>
                  <a:srgbClr val="14181D"/>
                </a:solidFill>
                <a:latin typeface="Cambria" pitchFamily="34" charset="0"/>
                <a:ea typeface="Cambria" pitchFamily="34" charset="-122"/>
                <a:cs typeface="Cambria" pitchFamily="34" charset="-120"/>
              </a:rPr>
              <a:t>Site visit booking</a:t>
            </a:r>
            <a:endParaRPr lang="en-US" sz="1500" dirty="0"/>
          </a:p>
        </p:txBody>
      </p:sp>
      <p:sp>
        <p:nvSpPr>
          <p:cNvPr id="19" name="Text 17"/>
          <p:cNvSpPr/>
          <p:nvPr/>
        </p:nvSpPr>
        <p:spPr>
          <a:xfrm>
            <a:off x="1051560" y="4791456"/>
            <a:ext cx="2814218" cy="868680"/>
          </a:xfrm>
          <a:prstGeom prst="rect">
            <a:avLst/>
          </a:prstGeom>
          <a:noFill/>
          <a:ln/>
        </p:spPr>
        <p:txBody>
          <a:bodyPr wrap="square" lIns="0" tIns="0" rIns="0" bIns="0" rtlCol="0" anchor="ctr"/>
          <a:lstStyle/>
          <a:p>
            <a:pPr indent="0" marL="0">
              <a:lnSpc>
                <a:spcPts val="1700"/>
              </a:lnSpc>
              <a:buNone/>
            </a:pPr>
            <a:r>
              <a:rPr lang="en-US" sz="1150" dirty="0">
                <a:solidFill>
                  <a:srgbClr val="555C64"/>
                </a:solidFill>
                <a:latin typeface="Calibri" pitchFamily="34" charset="0"/>
                <a:ea typeface="Calibri" pitchFamily="34" charset="-122"/>
                <a:cs typeface="Calibri" pitchFamily="34" charset="-120"/>
              </a:rPr>
              <a:t>Real calendar slots, confirmed on WhatsApp. Not a form promising a callback.</a:t>
            </a:r>
            <a:endParaRPr lang="en-US" sz="1150" dirty="0"/>
          </a:p>
        </p:txBody>
      </p:sp>
      <p:sp>
        <p:nvSpPr>
          <p:cNvPr id="20" name="Text 18"/>
          <p:cNvSpPr/>
          <p:nvPr/>
        </p:nvSpPr>
        <p:spPr>
          <a:xfrm>
            <a:off x="1051560" y="5687568"/>
            <a:ext cx="2814218" cy="237744"/>
          </a:xfrm>
          <a:prstGeom prst="rect">
            <a:avLst/>
          </a:prstGeom>
          <a:noFill/>
          <a:ln/>
        </p:spPr>
        <p:txBody>
          <a:bodyPr wrap="square" lIns="0" tIns="0" rIns="0" bIns="0" rtlCol="0" anchor="ctr"/>
          <a:lstStyle/>
          <a:p>
            <a:pPr indent="0" marL="0">
              <a:buNone/>
            </a:pPr>
            <a:r>
              <a:rPr lang="en-US" sz="850" b="1" spc="110" kern="0" dirty="0">
                <a:solidFill>
                  <a:srgbClr val="9A7A25"/>
                </a:solidFill>
                <a:latin typeface="Calibri" pitchFamily="34" charset="0"/>
                <a:ea typeface="Calibri" pitchFamily="34" charset="-122"/>
                <a:cs typeface="Calibri" pitchFamily="34" charset="-120"/>
              </a:rPr>
              <a:t>FROM NOBROKER</a:t>
            </a:r>
            <a:endParaRPr lang="en-US" sz="850" dirty="0"/>
          </a:p>
        </p:txBody>
      </p:sp>
      <p:sp>
        <p:nvSpPr>
          <p:cNvPr id="21" name="Shape 19"/>
          <p:cNvSpPr/>
          <p:nvPr/>
        </p:nvSpPr>
        <p:spPr>
          <a:xfrm>
            <a:off x="4414418" y="4151376"/>
            <a:ext cx="3362858" cy="1874520"/>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22" name="Text 20"/>
          <p:cNvSpPr/>
          <p:nvPr/>
        </p:nvSpPr>
        <p:spPr>
          <a:xfrm>
            <a:off x="4688738" y="4370832"/>
            <a:ext cx="2814218" cy="365760"/>
          </a:xfrm>
          <a:prstGeom prst="rect">
            <a:avLst/>
          </a:prstGeom>
          <a:noFill/>
          <a:ln/>
        </p:spPr>
        <p:txBody>
          <a:bodyPr wrap="square" lIns="0" tIns="0" rIns="0" bIns="0" rtlCol="0" anchor="ctr"/>
          <a:lstStyle/>
          <a:p>
            <a:pPr indent="0" marL="0">
              <a:buNone/>
            </a:pPr>
            <a:r>
              <a:rPr lang="en-US" sz="1500" b="1" dirty="0">
                <a:solidFill>
                  <a:srgbClr val="14181D"/>
                </a:solidFill>
                <a:latin typeface="Cambria" pitchFamily="34" charset="0"/>
                <a:ea typeface="Cambria" pitchFamily="34" charset="-122"/>
                <a:cs typeface="Cambria" pitchFamily="34" charset="-120"/>
              </a:rPr>
              <a:t>Infrastructure tracker</a:t>
            </a:r>
            <a:endParaRPr lang="en-US" sz="1500" dirty="0"/>
          </a:p>
        </p:txBody>
      </p:sp>
      <p:sp>
        <p:nvSpPr>
          <p:cNvPr id="23" name="Text 21"/>
          <p:cNvSpPr/>
          <p:nvPr/>
        </p:nvSpPr>
        <p:spPr>
          <a:xfrm>
            <a:off x="4688738" y="4791456"/>
            <a:ext cx="2814218" cy="868680"/>
          </a:xfrm>
          <a:prstGeom prst="rect">
            <a:avLst/>
          </a:prstGeom>
          <a:noFill/>
          <a:ln/>
        </p:spPr>
        <p:txBody>
          <a:bodyPr wrap="square" lIns="0" tIns="0" rIns="0" bIns="0" rtlCol="0" anchor="ctr"/>
          <a:lstStyle/>
          <a:p>
            <a:pPr indent="0" marL="0">
              <a:lnSpc>
                <a:spcPts val="1700"/>
              </a:lnSpc>
              <a:buNone/>
            </a:pPr>
            <a:r>
              <a:rPr lang="en-US" sz="1150" dirty="0">
                <a:solidFill>
                  <a:srgbClr val="555C64"/>
                </a:solidFill>
                <a:latin typeface="Calibri" pitchFamily="34" charset="0"/>
                <a:ea typeface="Calibri" pitchFamily="34" charset="-122"/>
                <a:cs typeface="Calibri" pitchFamily="34" charset="-120"/>
              </a:rPr>
              <a:t>Metro Phase 2 and Future City with funding and construction status, not developer promises.</a:t>
            </a:r>
            <a:endParaRPr lang="en-US" sz="1150" dirty="0"/>
          </a:p>
        </p:txBody>
      </p:sp>
      <p:sp>
        <p:nvSpPr>
          <p:cNvPr id="24" name="Text 22"/>
          <p:cNvSpPr/>
          <p:nvPr/>
        </p:nvSpPr>
        <p:spPr>
          <a:xfrm>
            <a:off x="4688738" y="5687568"/>
            <a:ext cx="2814218" cy="237744"/>
          </a:xfrm>
          <a:prstGeom prst="rect">
            <a:avLst/>
          </a:prstGeom>
          <a:noFill/>
          <a:ln/>
        </p:spPr>
        <p:txBody>
          <a:bodyPr wrap="square" lIns="0" tIns="0" rIns="0" bIns="0" rtlCol="0" anchor="ctr"/>
          <a:lstStyle/>
          <a:p>
            <a:pPr indent="0" marL="0">
              <a:buNone/>
            </a:pPr>
            <a:r>
              <a:rPr lang="en-US" sz="850" b="1" spc="110" kern="0" dirty="0">
                <a:solidFill>
                  <a:srgbClr val="9A7A25"/>
                </a:solidFill>
                <a:latin typeface="Calibri" pitchFamily="34" charset="0"/>
                <a:ea typeface="Calibri" pitchFamily="34" charset="-122"/>
                <a:cs typeface="Calibri" pitchFamily="34" charset="-120"/>
              </a:rPr>
              <a:t>OTHO ORIGINAL</a:t>
            </a:r>
            <a:endParaRPr lang="en-US" sz="850" dirty="0"/>
          </a:p>
        </p:txBody>
      </p:sp>
      <p:sp>
        <p:nvSpPr>
          <p:cNvPr id="25" name="Shape 23"/>
          <p:cNvSpPr/>
          <p:nvPr/>
        </p:nvSpPr>
        <p:spPr>
          <a:xfrm>
            <a:off x="8051597" y="4151376"/>
            <a:ext cx="3362858" cy="1874520"/>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26" name="Text 24"/>
          <p:cNvSpPr/>
          <p:nvPr/>
        </p:nvSpPr>
        <p:spPr>
          <a:xfrm>
            <a:off x="8325917" y="4370832"/>
            <a:ext cx="2814218" cy="365760"/>
          </a:xfrm>
          <a:prstGeom prst="rect">
            <a:avLst/>
          </a:prstGeom>
          <a:noFill/>
          <a:ln/>
        </p:spPr>
        <p:txBody>
          <a:bodyPr wrap="square" lIns="0" tIns="0" rIns="0" bIns="0" rtlCol="0" anchor="ctr"/>
          <a:lstStyle/>
          <a:p>
            <a:pPr indent="0" marL="0">
              <a:buNone/>
            </a:pPr>
            <a:r>
              <a:rPr lang="en-US" sz="1500" b="1" dirty="0">
                <a:solidFill>
                  <a:srgbClr val="14181D"/>
                </a:solidFill>
                <a:latin typeface="Cambria" pitchFamily="34" charset="0"/>
                <a:ea typeface="Cambria" pitchFamily="34" charset="-122"/>
                <a:cs typeface="Cambria" pitchFamily="34" charset="-120"/>
              </a:rPr>
              <a:t>Services layer</a:t>
            </a:r>
            <a:endParaRPr lang="en-US" sz="1500" dirty="0"/>
          </a:p>
        </p:txBody>
      </p:sp>
      <p:sp>
        <p:nvSpPr>
          <p:cNvPr id="27" name="Text 25"/>
          <p:cNvSpPr/>
          <p:nvPr/>
        </p:nvSpPr>
        <p:spPr>
          <a:xfrm>
            <a:off x="8325917" y="4791456"/>
            <a:ext cx="2814218" cy="868680"/>
          </a:xfrm>
          <a:prstGeom prst="rect">
            <a:avLst/>
          </a:prstGeom>
          <a:noFill/>
          <a:ln/>
        </p:spPr>
        <p:txBody>
          <a:bodyPr wrap="square" lIns="0" tIns="0" rIns="0" bIns="0" rtlCol="0" anchor="ctr"/>
          <a:lstStyle/>
          <a:p>
            <a:pPr indent="0" marL="0">
              <a:lnSpc>
                <a:spcPts val="1700"/>
              </a:lnSpc>
              <a:buNone/>
            </a:pPr>
            <a:r>
              <a:rPr lang="en-US" sz="1150" dirty="0">
                <a:solidFill>
                  <a:srgbClr val="555C64"/>
                </a:solidFill>
                <a:latin typeface="Calibri" pitchFamily="34" charset="0"/>
                <a:ea typeface="Calibri" pitchFamily="34" charset="-122"/>
                <a:cs typeface="Calibri" pitchFamily="34" charset="-120"/>
              </a:rPr>
              <a:t>Home loans, legal checks, registration, interiors. Added later, once trust exists.</a:t>
            </a:r>
            <a:endParaRPr lang="en-US" sz="1150" dirty="0"/>
          </a:p>
        </p:txBody>
      </p:sp>
      <p:sp>
        <p:nvSpPr>
          <p:cNvPr id="28" name="Text 26"/>
          <p:cNvSpPr/>
          <p:nvPr/>
        </p:nvSpPr>
        <p:spPr>
          <a:xfrm>
            <a:off x="8325917" y="5687568"/>
            <a:ext cx="2814218" cy="237744"/>
          </a:xfrm>
          <a:prstGeom prst="rect">
            <a:avLst/>
          </a:prstGeom>
          <a:noFill/>
          <a:ln/>
        </p:spPr>
        <p:txBody>
          <a:bodyPr wrap="square" lIns="0" tIns="0" rIns="0" bIns="0" rtlCol="0" anchor="ctr"/>
          <a:lstStyle/>
          <a:p>
            <a:pPr indent="0" marL="0">
              <a:buNone/>
            </a:pPr>
            <a:r>
              <a:rPr lang="en-US" sz="850" b="1" spc="110" kern="0" dirty="0">
                <a:solidFill>
                  <a:srgbClr val="9A7A25"/>
                </a:solidFill>
                <a:latin typeface="Calibri" pitchFamily="34" charset="0"/>
                <a:ea typeface="Calibri" pitchFamily="34" charset="-122"/>
                <a:cs typeface="Calibri" pitchFamily="34" charset="-120"/>
              </a:rPr>
              <a:t>FROM NOBROKER</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777240" y="530352"/>
            <a:ext cx="10637215" cy="219456"/>
          </a:xfrm>
          <a:prstGeom prst="rect">
            <a:avLst/>
          </a:prstGeom>
          <a:noFill/>
          <a:ln/>
        </p:spPr>
        <p:txBody>
          <a:bodyPr wrap="square" lIns="0" tIns="0" rIns="0" bIns="0" rtlCol="0" anchor="ctr"/>
          <a:lstStyle/>
          <a:p>
            <a:pPr indent="0" marL="0">
              <a:buNone/>
            </a:pPr>
            <a:r>
              <a:rPr lang="en-US" sz="1100" b="1" spc="260" kern="0" dirty="0">
                <a:solidFill>
                  <a:srgbClr val="9A7A25"/>
                </a:solidFill>
                <a:latin typeface="Calibri" pitchFamily="34" charset="0"/>
                <a:ea typeface="Calibri" pitchFamily="34" charset="-122"/>
                <a:cs typeface="Calibri" pitchFamily="34" charset="-120"/>
              </a:rPr>
              <a:t>08</a:t>
            </a:r>
            <a:endParaRPr lang="en-US" sz="1100" dirty="0"/>
          </a:p>
        </p:txBody>
      </p:sp>
      <p:sp>
        <p:nvSpPr>
          <p:cNvPr id="3" name="Text 1"/>
          <p:cNvSpPr/>
          <p:nvPr/>
        </p:nvSpPr>
        <p:spPr>
          <a:xfrm>
            <a:off x="777240" y="768096"/>
            <a:ext cx="10637215" cy="603504"/>
          </a:xfrm>
          <a:prstGeom prst="rect">
            <a:avLst/>
          </a:prstGeom>
          <a:noFill/>
          <a:ln/>
        </p:spPr>
        <p:txBody>
          <a:bodyPr wrap="square" lIns="0" tIns="0" rIns="0" bIns="0" rtlCol="0" anchor="ctr"/>
          <a:lstStyle/>
          <a:p>
            <a:pPr indent="0" marL="0">
              <a:buNone/>
            </a:pPr>
            <a:r>
              <a:rPr lang="en-US" sz="3800" b="1" spc="-60" kern="0" dirty="0">
                <a:solidFill>
                  <a:srgbClr val="14181D"/>
                </a:solidFill>
                <a:latin typeface="Cambria" pitchFamily="34" charset="0"/>
                <a:ea typeface="Cambria" pitchFamily="34" charset="-122"/>
                <a:cs typeface="Cambria" pitchFamily="34" charset="-120"/>
              </a:rPr>
              <a:t>Built in four layers</a:t>
            </a:r>
            <a:endParaRPr lang="en-US" sz="3800" dirty="0"/>
          </a:p>
        </p:txBody>
      </p:sp>
      <p:sp>
        <p:nvSpPr>
          <p:cNvPr id="4" name="Shape 2"/>
          <p:cNvSpPr/>
          <p:nvPr/>
        </p:nvSpPr>
        <p:spPr>
          <a:xfrm>
            <a:off x="777240" y="1591056"/>
            <a:ext cx="10637215" cy="969264"/>
          </a:xfrm>
          <a:prstGeom prst="rect">
            <a:avLst/>
          </a:prstGeom>
          <a:solidFill>
            <a:srgbClr val="14181D"/>
          </a:solidFill>
          <a:ln/>
        </p:spPr>
      </p:sp>
      <p:sp>
        <p:nvSpPr>
          <p:cNvPr id="5" name="Text 3"/>
          <p:cNvSpPr/>
          <p:nvPr/>
        </p:nvSpPr>
        <p:spPr>
          <a:xfrm>
            <a:off x="1069848" y="1755648"/>
            <a:ext cx="1371600" cy="274320"/>
          </a:xfrm>
          <a:prstGeom prst="rect">
            <a:avLst/>
          </a:prstGeom>
          <a:noFill/>
          <a:ln/>
        </p:spPr>
        <p:txBody>
          <a:bodyPr wrap="square" lIns="0" tIns="0" rIns="0" bIns="0" rtlCol="0" anchor="ctr"/>
          <a:lstStyle/>
          <a:p>
            <a:pPr indent="0" marL="0">
              <a:buNone/>
            </a:pPr>
            <a:r>
              <a:rPr lang="en-US" sz="900" b="1" spc="140" kern="0" dirty="0">
                <a:solidFill>
                  <a:srgbClr val="D9B061"/>
                </a:solidFill>
                <a:latin typeface="Calibri" pitchFamily="34" charset="0"/>
                <a:ea typeface="Calibri" pitchFamily="34" charset="-122"/>
                <a:cs typeface="Calibri" pitchFamily="34" charset="-120"/>
              </a:rPr>
              <a:t>LAYER 1</a:t>
            </a:r>
            <a:endParaRPr lang="en-US" sz="900" dirty="0"/>
          </a:p>
        </p:txBody>
      </p:sp>
      <p:sp>
        <p:nvSpPr>
          <p:cNvPr id="6" name="Text 4"/>
          <p:cNvSpPr/>
          <p:nvPr/>
        </p:nvSpPr>
        <p:spPr>
          <a:xfrm>
            <a:off x="1069848" y="2066544"/>
            <a:ext cx="1371600" cy="292608"/>
          </a:xfrm>
          <a:prstGeom prst="rect">
            <a:avLst/>
          </a:prstGeom>
          <a:noFill/>
          <a:ln/>
        </p:spPr>
        <p:txBody>
          <a:bodyPr wrap="square" lIns="0" tIns="0" rIns="0" bIns="0" rtlCol="0" anchor="ctr"/>
          <a:lstStyle/>
          <a:p>
            <a:pPr indent="0" marL="0">
              <a:buNone/>
            </a:pPr>
            <a:r>
              <a:rPr lang="en-US" sz="1100" dirty="0">
                <a:solidFill>
                  <a:srgbClr val="79818A"/>
                </a:solidFill>
                <a:latin typeface="Calibri" pitchFamily="34" charset="0"/>
                <a:ea typeface="Calibri" pitchFamily="34" charset="-122"/>
                <a:cs typeface="Calibri" pitchFamily="34" charset="-120"/>
              </a:rPr>
              <a:t>Days 1–90</a:t>
            </a:r>
            <a:endParaRPr lang="en-US" sz="1100" dirty="0"/>
          </a:p>
        </p:txBody>
      </p:sp>
      <p:sp>
        <p:nvSpPr>
          <p:cNvPr id="7" name="Text 5"/>
          <p:cNvSpPr/>
          <p:nvPr/>
        </p:nvSpPr>
        <p:spPr>
          <a:xfrm>
            <a:off x="2697480" y="1591056"/>
            <a:ext cx="2286000" cy="969264"/>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Trust</a:t>
            </a:r>
            <a:endParaRPr lang="en-US" sz="1900" dirty="0"/>
          </a:p>
        </p:txBody>
      </p:sp>
      <p:sp>
        <p:nvSpPr>
          <p:cNvPr id="8" name="Text 6"/>
          <p:cNvSpPr/>
          <p:nvPr/>
        </p:nvSpPr>
        <p:spPr>
          <a:xfrm>
            <a:off x="5120640" y="1591056"/>
            <a:ext cx="6019495" cy="969264"/>
          </a:xfrm>
          <a:prstGeom prst="rect">
            <a:avLst/>
          </a:prstGeom>
          <a:noFill/>
          <a:ln/>
        </p:spPr>
        <p:txBody>
          <a:bodyPr wrap="square" lIns="0" tIns="0" rIns="0" bIns="0" rtlCol="0" anchor="ctr"/>
          <a:lstStyle/>
          <a:p>
            <a:pPr indent="0" marL="0">
              <a:lnSpc>
                <a:spcPts val="1800"/>
              </a:lnSpc>
              <a:buNone/>
            </a:pPr>
            <a:r>
              <a:rPr lang="en-US" sz="1250" dirty="0">
                <a:solidFill>
                  <a:srgbClr val="B6BEC7"/>
                </a:solidFill>
                <a:latin typeface="Calibri" pitchFamily="34" charset="0"/>
                <a:ea typeface="Calibri" pitchFamily="34" charset="-122"/>
                <a:cs typeface="Calibri" pitchFamily="34" charset="-120"/>
              </a:rPr>
              <a:t>Website, project pages, comparison engine, reviews and guides. No listings, no transactions. We earn the right to be believed before we ask for anything.</a:t>
            </a:r>
            <a:endParaRPr lang="en-US" sz="1250" dirty="0"/>
          </a:p>
        </p:txBody>
      </p:sp>
      <p:sp>
        <p:nvSpPr>
          <p:cNvPr id="9" name="Shape 7"/>
          <p:cNvSpPr/>
          <p:nvPr/>
        </p:nvSpPr>
        <p:spPr>
          <a:xfrm>
            <a:off x="777240" y="2633472"/>
            <a:ext cx="10637215" cy="969264"/>
          </a:xfrm>
          <a:prstGeom prst="rect">
            <a:avLst/>
          </a:prstGeom>
          <a:solidFill>
            <a:srgbClr val="222C36"/>
          </a:solidFill>
          <a:ln/>
        </p:spPr>
      </p:sp>
      <p:sp>
        <p:nvSpPr>
          <p:cNvPr id="10" name="Text 8"/>
          <p:cNvSpPr/>
          <p:nvPr/>
        </p:nvSpPr>
        <p:spPr>
          <a:xfrm>
            <a:off x="1069848" y="2798064"/>
            <a:ext cx="1371600" cy="274320"/>
          </a:xfrm>
          <a:prstGeom prst="rect">
            <a:avLst/>
          </a:prstGeom>
          <a:noFill/>
          <a:ln/>
        </p:spPr>
        <p:txBody>
          <a:bodyPr wrap="square" lIns="0" tIns="0" rIns="0" bIns="0" rtlCol="0" anchor="ctr"/>
          <a:lstStyle/>
          <a:p>
            <a:pPr indent="0" marL="0">
              <a:buNone/>
            </a:pPr>
            <a:r>
              <a:rPr lang="en-US" sz="900" b="1" spc="140" kern="0" dirty="0">
                <a:solidFill>
                  <a:srgbClr val="D9B061"/>
                </a:solidFill>
                <a:latin typeface="Calibri" pitchFamily="34" charset="0"/>
                <a:ea typeface="Calibri" pitchFamily="34" charset="-122"/>
                <a:cs typeface="Calibri" pitchFamily="34" charset="-120"/>
              </a:rPr>
              <a:t>LAYER 2</a:t>
            </a:r>
            <a:endParaRPr lang="en-US" sz="900" dirty="0"/>
          </a:p>
        </p:txBody>
      </p:sp>
      <p:sp>
        <p:nvSpPr>
          <p:cNvPr id="11" name="Text 9"/>
          <p:cNvSpPr/>
          <p:nvPr/>
        </p:nvSpPr>
        <p:spPr>
          <a:xfrm>
            <a:off x="1069848" y="3108960"/>
            <a:ext cx="1371600" cy="292608"/>
          </a:xfrm>
          <a:prstGeom prst="rect">
            <a:avLst/>
          </a:prstGeom>
          <a:noFill/>
          <a:ln/>
        </p:spPr>
        <p:txBody>
          <a:bodyPr wrap="square" lIns="0" tIns="0" rIns="0" bIns="0" rtlCol="0" anchor="ctr"/>
          <a:lstStyle/>
          <a:p>
            <a:pPr indent="0" marL="0">
              <a:buNone/>
            </a:pPr>
            <a:r>
              <a:rPr lang="en-US" sz="1100" dirty="0">
                <a:solidFill>
                  <a:srgbClr val="79818A"/>
                </a:solidFill>
                <a:latin typeface="Calibri" pitchFamily="34" charset="0"/>
                <a:ea typeface="Calibri" pitchFamily="34" charset="-122"/>
                <a:cs typeface="Calibri" pitchFamily="34" charset="-120"/>
              </a:rPr>
              <a:t>Months 4–12</a:t>
            </a:r>
            <a:endParaRPr lang="en-US" sz="1100" dirty="0"/>
          </a:p>
        </p:txBody>
      </p:sp>
      <p:sp>
        <p:nvSpPr>
          <p:cNvPr id="12" name="Text 10"/>
          <p:cNvSpPr/>
          <p:nvPr/>
        </p:nvSpPr>
        <p:spPr>
          <a:xfrm>
            <a:off x="2697480" y="2633472"/>
            <a:ext cx="2286000" cy="969264"/>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Coverage</a:t>
            </a:r>
            <a:endParaRPr lang="en-US" sz="1900" dirty="0"/>
          </a:p>
        </p:txBody>
      </p:sp>
      <p:sp>
        <p:nvSpPr>
          <p:cNvPr id="13" name="Text 11"/>
          <p:cNvSpPr/>
          <p:nvPr/>
        </p:nvSpPr>
        <p:spPr>
          <a:xfrm>
            <a:off x="5120640" y="2633472"/>
            <a:ext cx="6019495" cy="969264"/>
          </a:xfrm>
          <a:prstGeom prst="rect">
            <a:avLst/>
          </a:prstGeom>
          <a:noFill/>
          <a:ln/>
        </p:spPr>
        <p:txBody>
          <a:bodyPr wrap="square" lIns="0" tIns="0" rIns="0" bIns="0" rtlCol="0" anchor="ctr"/>
          <a:lstStyle/>
          <a:p>
            <a:pPr indent="0" marL="0">
              <a:lnSpc>
                <a:spcPts val="1800"/>
              </a:lnSpc>
              <a:buNone/>
            </a:pPr>
            <a:r>
              <a:rPr lang="en-US" sz="1250" dirty="0">
                <a:solidFill>
                  <a:srgbClr val="B6BEC7"/>
                </a:solidFill>
                <a:latin typeface="Calibri" pitchFamily="34" charset="0"/>
                <a:ea typeface="Calibri" pitchFamily="34" charset="-122"/>
                <a:cs typeface="Calibri" pitchFamily="34" charset="-120"/>
              </a:rPr>
              <a:t>Every meaningful Hyderabad project reviewed and comparable. Resident reviews live. Price estimates from registration data. The default check before buying in this city.</a:t>
            </a:r>
            <a:endParaRPr lang="en-US" sz="1250" dirty="0"/>
          </a:p>
        </p:txBody>
      </p:sp>
      <p:sp>
        <p:nvSpPr>
          <p:cNvPr id="14" name="Shape 12"/>
          <p:cNvSpPr/>
          <p:nvPr/>
        </p:nvSpPr>
        <p:spPr>
          <a:xfrm>
            <a:off x="777240" y="3675888"/>
            <a:ext cx="10637215" cy="969264"/>
          </a:xfrm>
          <a:prstGeom prst="rect">
            <a:avLst/>
          </a:prstGeom>
          <a:solidFill>
            <a:srgbClr val="2E3B47"/>
          </a:solidFill>
          <a:ln/>
        </p:spPr>
      </p:sp>
      <p:sp>
        <p:nvSpPr>
          <p:cNvPr id="15" name="Text 13"/>
          <p:cNvSpPr/>
          <p:nvPr/>
        </p:nvSpPr>
        <p:spPr>
          <a:xfrm>
            <a:off x="1069848" y="3840480"/>
            <a:ext cx="1371600" cy="274320"/>
          </a:xfrm>
          <a:prstGeom prst="rect">
            <a:avLst/>
          </a:prstGeom>
          <a:noFill/>
          <a:ln/>
        </p:spPr>
        <p:txBody>
          <a:bodyPr wrap="square" lIns="0" tIns="0" rIns="0" bIns="0" rtlCol="0" anchor="ctr"/>
          <a:lstStyle/>
          <a:p>
            <a:pPr indent="0" marL="0">
              <a:buNone/>
            </a:pPr>
            <a:r>
              <a:rPr lang="en-US" sz="900" b="1" spc="140" kern="0" dirty="0">
                <a:solidFill>
                  <a:srgbClr val="D9B061"/>
                </a:solidFill>
                <a:latin typeface="Calibri" pitchFamily="34" charset="0"/>
                <a:ea typeface="Calibri" pitchFamily="34" charset="-122"/>
                <a:cs typeface="Calibri" pitchFamily="34" charset="-120"/>
              </a:rPr>
              <a:t>LAYER 3</a:t>
            </a:r>
            <a:endParaRPr lang="en-US" sz="900" dirty="0"/>
          </a:p>
        </p:txBody>
      </p:sp>
      <p:sp>
        <p:nvSpPr>
          <p:cNvPr id="16" name="Text 14"/>
          <p:cNvSpPr/>
          <p:nvPr/>
        </p:nvSpPr>
        <p:spPr>
          <a:xfrm>
            <a:off x="1069848" y="4151376"/>
            <a:ext cx="1371600" cy="292608"/>
          </a:xfrm>
          <a:prstGeom prst="rect">
            <a:avLst/>
          </a:prstGeom>
          <a:noFill/>
          <a:ln/>
        </p:spPr>
        <p:txBody>
          <a:bodyPr wrap="square" lIns="0" tIns="0" rIns="0" bIns="0" rtlCol="0" anchor="ctr"/>
          <a:lstStyle/>
          <a:p>
            <a:pPr indent="0" marL="0">
              <a:buNone/>
            </a:pPr>
            <a:r>
              <a:rPr lang="en-US" sz="1100" dirty="0">
                <a:solidFill>
                  <a:srgbClr val="79818A"/>
                </a:solidFill>
                <a:latin typeface="Calibri" pitchFamily="34" charset="0"/>
                <a:ea typeface="Calibri" pitchFamily="34" charset="-122"/>
                <a:cs typeface="Calibri" pitchFamily="34" charset="-120"/>
              </a:rPr>
              <a:t>Year 2</a:t>
            </a:r>
            <a:endParaRPr lang="en-US" sz="1100" dirty="0"/>
          </a:p>
        </p:txBody>
      </p:sp>
      <p:sp>
        <p:nvSpPr>
          <p:cNvPr id="17" name="Text 15"/>
          <p:cNvSpPr/>
          <p:nvPr/>
        </p:nvSpPr>
        <p:spPr>
          <a:xfrm>
            <a:off x="2697480" y="3675888"/>
            <a:ext cx="2286000" cy="969264"/>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Transactions</a:t>
            </a:r>
            <a:endParaRPr lang="en-US" sz="1900" dirty="0"/>
          </a:p>
        </p:txBody>
      </p:sp>
      <p:sp>
        <p:nvSpPr>
          <p:cNvPr id="18" name="Text 16"/>
          <p:cNvSpPr/>
          <p:nvPr/>
        </p:nvSpPr>
        <p:spPr>
          <a:xfrm>
            <a:off x="5120640" y="3675888"/>
            <a:ext cx="6019495" cy="969264"/>
          </a:xfrm>
          <a:prstGeom prst="rect">
            <a:avLst/>
          </a:prstGeom>
          <a:noFill/>
          <a:ln/>
        </p:spPr>
        <p:txBody>
          <a:bodyPr wrap="square" lIns="0" tIns="0" rIns="0" bIns="0" rtlCol="0" anchor="ctr"/>
          <a:lstStyle/>
          <a:p>
            <a:pPr indent="0" marL="0">
              <a:lnSpc>
                <a:spcPts val="1800"/>
              </a:lnSpc>
              <a:buNone/>
            </a:pPr>
            <a:r>
              <a:rPr lang="en-US" sz="1250" dirty="0">
                <a:solidFill>
                  <a:srgbClr val="B6BEC7"/>
                </a:solidFill>
                <a:latin typeface="Calibri" pitchFamily="34" charset="0"/>
                <a:ea typeface="Calibri" pitchFamily="34" charset="-122"/>
                <a:cs typeface="Calibri" pitchFamily="34" charset="-120"/>
              </a:rPr>
              <a:t>Exclusive developer mandates, site visits, bookings. Revenue arrives on intent we already own, so cost per booking is a fraction of portal leads.</a:t>
            </a:r>
            <a:endParaRPr lang="en-US" sz="1250" dirty="0"/>
          </a:p>
        </p:txBody>
      </p:sp>
      <p:sp>
        <p:nvSpPr>
          <p:cNvPr id="19" name="Shape 17"/>
          <p:cNvSpPr/>
          <p:nvPr/>
        </p:nvSpPr>
        <p:spPr>
          <a:xfrm>
            <a:off x="777240" y="4718304"/>
            <a:ext cx="10637215" cy="969264"/>
          </a:xfrm>
          <a:prstGeom prst="rect">
            <a:avLst/>
          </a:prstGeom>
          <a:solidFill>
            <a:srgbClr val="3B4B59"/>
          </a:solidFill>
          <a:ln/>
        </p:spPr>
      </p:sp>
      <p:sp>
        <p:nvSpPr>
          <p:cNvPr id="20" name="Text 18"/>
          <p:cNvSpPr/>
          <p:nvPr/>
        </p:nvSpPr>
        <p:spPr>
          <a:xfrm>
            <a:off x="1069848" y="4882896"/>
            <a:ext cx="1371600" cy="274320"/>
          </a:xfrm>
          <a:prstGeom prst="rect">
            <a:avLst/>
          </a:prstGeom>
          <a:noFill/>
          <a:ln/>
        </p:spPr>
        <p:txBody>
          <a:bodyPr wrap="square" lIns="0" tIns="0" rIns="0" bIns="0" rtlCol="0" anchor="ctr"/>
          <a:lstStyle/>
          <a:p>
            <a:pPr indent="0" marL="0">
              <a:buNone/>
            </a:pPr>
            <a:r>
              <a:rPr lang="en-US" sz="900" b="1" spc="140" kern="0" dirty="0">
                <a:solidFill>
                  <a:srgbClr val="D9B061"/>
                </a:solidFill>
                <a:latin typeface="Calibri" pitchFamily="34" charset="0"/>
                <a:ea typeface="Calibri" pitchFamily="34" charset="-122"/>
                <a:cs typeface="Calibri" pitchFamily="34" charset="-120"/>
              </a:rPr>
              <a:t>LAYER 4</a:t>
            </a:r>
            <a:endParaRPr lang="en-US" sz="900" dirty="0"/>
          </a:p>
        </p:txBody>
      </p:sp>
      <p:sp>
        <p:nvSpPr>
          <p:cNvPr id="21" name="Text 19"/>
          <p:cNvSpPr/>
          <p:nvPr/>
        </p:nvSpPr>
        <p:spPr>
          <a:xfrm>
            <a:off x="1069848" y="5193792"/>
            <a:ext cx="1371600" cy="292608"/>
          </a:xfrm>
          <a:prstGeom prst="rect">
            <a:avLst/>
          </a:prstGeom>
          <a:noFill/>
          <a:ln/>
        </p:spPr>
        <p:txBody>
          <a:bodyPr wrap="square" lIns="0" tIns="0" rIns="0" bIns="0" rtlCol="0" anchor="ctr"/>
          <a:lstStyle/>
          <a:p>
            <a:pPr indent="0" marL="0">
              <a:buNone/>
            </a:pPr>
            <a:r>
              <a:rPr lang="en-US" sz="1100" dirty="0">
                <a:solidFill>
                  <a:srgbClr val="79818A"/>
                </a:solidFill>
                <a:latin typeface="Calibri" pitchFamily="34" charset="0"/>
                <a:ea typeface="Calibri" pitchFamily="34" charset="-122"/>
                <a:cs typeface="Calibri" pitchFamily="34" charset="-120"/>
              </a:rPr>
              <a:t>Year 3+</a:t>
            </a:r>
            <a:endParaRPr lang="en-US" sz="1100" dirty="0"/>
          </a:p>
        </p:txBody>
      </p:sp>
      <p:sp>
        <p:nvSpPr>
          <p:cNvPr id="22" name="Text 20"/>
          <p:cNvSpPr/>
          <p:nvPr/>
        </p:nvSpPr>
        <p:spPr>
          <a:xfrm>
            <a:off x="2697480" y="4718304"/>
            <a:ext cx="2286000" cy="969264"/>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Services and data</a:t>
            </a:r>
            <a:endParaRPr lang="en-US" sz="1900" dirty="0"/>
          </a:p>
        </p:txBody>
      </p:sp>
      <p:sp>
        <p:nvSpPr>
          <p:cNvPr id="23" name="Text 21"/>
          <p:cNvSpPr/>
          <p:nvPr/>
        </p:nvSpPr>
        <p:spPr>
          <a:xfrm>
            <a:off x="5120640" y="4718304"/>
            <a:ext cx="6019495" cy="969264"/>
          </a:xfrm>
          <a:prstGeom prst="rect">
            <a:avLst/>
          </a:prstGeom>
          <a:noFill/>
          <a:ln/>
        </p:spPr>
        <p:txBody>
          <a:bodyPr wrap="square" lIns="0" tIns="0" rIns="0" bIns="0" rtlCol="0" anchor="ctr"/>
          <a:lstStyle/>
          <a:p>
            <a:pPr indent="0" marL="0">
              <a:lnSpc>
                <a:spcPts val="1800"/>
              </a:lnSpc>
              <a:buNone/>
            </a:pPr>
            <a:r>
              <a:rPr lang="en-US" sz="1250" dirty="0">
                <a:solidFill>
                  <a:srgbClr val="B6BEC7"/>
                </a:solidFill>
                <a:latin typeface="Calibri" pitchFamily="34" charset="0"/>
                <a:ea typeface="Calibri" pitchFamily="34" charset="-122"/>
                <a:cs typeface="Calibri" pitchFamily="34" charset="-120"/>
              </a:rPr>
              <a:t>Loans, legal, registration, interiors. And the data business — developers and banks paying for what OTHO knows about demand. The high-margin end.</a:t>
            </a:r>
            <a:endParaRPr lang="en-US" sz="1250" dirty="0"/>
          </a:p>
        </p:txBody>
      </p:sp>
      <p:sp>
        <p:nvSpPr>
          <p:cNvPr id="24" name="Text 22"/>
          <p:cNvSpPr/>
          <p:nvPr/>
        </p:nvSpPr>
        <p:spPr>
          <a:xfrm>
            <a:off x="777240" y="5925312"/>
            <a:ext cx="10637215" cy="548640"/>
          </a:xfrm>
          <a:prstGeom prst="rect">
            <a:avLst/>
          </a:prstGeom>
          <a:noFill/>
          <a:ln/>
        </p:spPr>
        <p:txBody>
          <a:bodyPr wrap="square" lIns="0" tIns="0" rIns="0" bIns="0" rtlCol="0" anchor="ctr"/>
          <a:lstStyle/>
          <a:p>
            <a:pPr indent="0" marL="0">
              <a:lnSpc>
                <a:spcPts val="2100"/>
              </a:lnSpc>
              <a:buNone/>
            </a:pPr>
            <a:r>
              <a:rPr lang="en-US" sz="1450" i="1" dirty="0">
                <a:solidFill>
                  <a:srgbClr val="14181D"/>
                </a:solidFill>
                <a:latin typeface="Calibri" pitchFamily="34" charset="0"/>
                <a:ea typeface="Calibri" pitchFamily="34" charset="-122"/>
                <a:cs typeface="Calibri" pitchFamily="34" charset="-120"/>
              </a:rPr>
              <a:t>Every competitor started at Layer 3 and tried to reverse into trust. It doesn't work — you can't earn credibility from people already annoyed by your calls.</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777240" y="530352"/>
            <a:ext cx="10637215" cy="219456"/>
          </a:xfrm>
          <a:prstGeom prst="rect">
            <a:avLst/>
          </a:prstGeom>
          <a:noFill/>
          <a:ln/>
        </p:spPr>
        <p:txBody>
          <a:bodyPr wrap="square" lIns="0" tIns="0" rIns="0" bIns="0" rtlCol="0" anchor="ctr"/>
          <a:lstStyle/>
          <a:p>
            <a:pPr indent="0" marL="0">
              <a:buNone/>
            </a:pPr>
            <a:r>
              <a:rPr lang="en-US" sz="1100" b="1" spc="260" kern="0" dirty="0">
                <a:solidFill>
                  <a:srgbClr val="9A7A25"/>
                </a:solidFill>
                <a:latin typeface="Calibri" pitchFamily="34" charset="0"/>
                <a:ea typeface="Calibri" pitchFamily="34" charset="-122"/>
                <a:cs typeface="Calibri" pitchFamily="34" charset="-120"/>
              </a:rPr>
              <a:t>09</a:t>
            </a:r>
            <a:endParaRPr lang="en-US" sz="1100" dirty="0"/>
          </a:p>
        </p:txBody>
      </p:sp>
      <p:sp>
        <p:nvSpPr>
          <p:cNvPr id="3" name="Text 1"/>
          <p:cNvSpPr/>
          <p:nvPr/>
        </p:nvSpPr>
        <p:spPr>
          <a:xfrm>
            <a:off x="777240" y="768096"/>
            <a:ext cx="10637215" cy="603504"/>
          </a:xfrm>
          <a:prstGeom prst="rect">
            <a:avLst/>
          </a:prstGeom>
          <a:noFill/>
          <a:ln/>
        </p:spPr>
        <p:txBody>
          <a:bodyPr wrap="square" lIns="0" tIns="0" rIns="0" bIns="0" rtlCol="0" anchor="ctr"/>
          <a:lstStyle/>
          <a:p>
            <a:pPr indent="0" marL="0">
              <a:buNone/>
            </a:pPr>
            <a:r>
              <a:rPr lang="en-US" sz="3800" b="1" spc="-60" kern="0" dirty="0">
                <a:solidFill>
                  <a:srgbClr val="14181D"/>
                </a:solidFill>
                <a:latin typeface="Cambria" pitchFamily="34" charset="0"/>
                <a:ea typeface="Cambria" pitchFamily="34" charset="-122"/>
                <a:cs typeface="Cambria" pitchFamily="34" charset="-120"/>
              </a:rPr>
              <a:t>What we produce</a:t>
            </a:r>
            <a:endParaRPr lang="en-US" sz="3800" dirty="0"/>
          </a:p>
        </p:txBody>
      </p:sp>
      <p:sp>
        <p:nvSpPr>
          <p:cNvPr id="4" name="Shape 2"/>
          <p:cNvSpPr/>
          <p:nvPr/>
        </p:nvSpPr>
        <p:spPr>
          <a:xfrm>
            <a:off x="777240" y="1591056"/>
            <a:ext cx="10637215" cy="365760"/>
          </a:xfrm>
          <a:prstGeom prst="rect">
            <a:avLst/>
          </a:prstGeom>
          <a:solidFill>
            <a:srgbClr val="14181D"/>
          </a:solidFill>
          <a:ln/>
        </p:spPr>
      </p:sp>
      <p:sp>
        <p:nvSpPr>
          <p:cNvPr id="5" name="Text 3"/>
          <p:cNvSpPr/>
          <p:nvPr/>
        </p:nvSpPr>
        <p:spPr>
          <a:xfrm>
            <a:off x="978408" y="1591056"/>
            <a:ext cx="1874520" cy="365760"/>
          </a:xfrm>
          <a:prstGeom prst="rect">
            <a:avLst/>
          </a:prstGeom>
          <a:noFill/>
          <a:ln/>
        </p:spPr>
        <p:txBody>
          <a:bodyPr wrap="square" lIns="0" tIns="0" rIns="0" bIns="0" rtlCol="0" anchor="ctr"/>
          <a:lstStyle/>
          <a:p>
            <a:pPr indent="0" marL="0">
              <a:buNone/>
            </a:pPr>
            <a:r>
              <a:rPr lang="en-US" sz="900" b="1" spc="130" kern="0" dirty="0">
                <a:solidFill>
                  <a:srgbClr val="B6BEC7"/>
                </a:solidFill>
                <a:latin typeface="Calibri" pitchFamily="34" charset="0"/>
                <a:ea typeface="Calibri" pitchFamily="34" charset="-122"/>
                <a:cs typeface="Calibri" pitchFamily="34" charset="-120"/>
              </a:rPr>
              <a:t>FORMAT</a:t>
            </a:r>
            <a:endParaRPr lang="en-US" sz="900" dirty="0"/>
          </a:p>
        </p:txBody>
      </p:sp>
      <p:sp>
        <p:nvSpPr>
          <p:cNvPr id="6" name="Text 4"/>
          <p:cNvSpPr/>
          <p:nvPr/>
        </p:nvSpPr>
        <p:spPr>
          <a:xfrm>
            <a:off x="3127248" y="1591056"/>
            <a:ext cx="3703320" cy="365760"/>
          </a:xfrm>
          <a:prstGeom prst="rect">
            <a:avLst/>
          </a:prstGeom>
          <a:noFill/>
          <a:ln/>
        </p:spPr>
        <p:txBody>
          <a:bodyPr wrap="square" lIns="0" tIns="0" rIns="0" bIns="0" rtlCol="0" anchor="ctr"/>
          <a:lstStyle/>
          <a:p>
            <a:pPr indent="0" marL="0">
              <a:buNone/>
            </a:pPr>
            <a:r>
              <a:rPr lang="en-US" sz="900" b="1" spc="130" kern="0" dirty="0">
                <a:solidFill>
                  <a:srgbClr val="B6BEC7"/>
                </a:solidFill>
                <a:latin typeface="Calibri" pitchFamily="34" charset="0"/>
                <a:ea typeface="Calibri" pitchFamily="34" charset="-122"/>
                <a:cs typeface="Calibri" pitchFamily="34" charset="-120"/>
              </a:rPr>
              <a:t>WHAT IT IS</a:t>
            </a:r>
            <a:endParaRPr lang="en-US" sz="900" dirty="0"/>
          </a:p>
        </p:txBody>
      </p:sp>
      <p:sp>
        <p:nvSpPr>
          <p:cNvPr id="7" name="Text 5"/>
          <p:cNvSpPr/>
          <p:nvPr/>
        </p:nvSpPr>
        <p:spPr>
          <a:xfrm>
            <a:off x="7104888" y="1591056"/>
            <a:ext cx="1097280" cy="365760"/>
          </a:xfrm>
          <a:prstGeom prst="rect">
            <a:avLst/>
          </a:prstGeom>
          <a:noFill/>
          <a:ln/>
        </p:spPr>
        <p:txBody>
          <a:bodyPr wrap="square" lIns="0" tIns="0" rIns="0" bIns="0" rtlCol="0" anchor="ctr"/>
          <a:lstStyle/>
          <a:p>
            <a:pPr indent="0" marL="0">
              <a:buNone/>
            </a:pPr>
            <a:r>
              <a:rPr lang="en-US" sz="900" b="1" spc="130" kern="0" dirty="0">
                <a:solidFill>
                  <a:srgbClr val="B6BEC7"/>
                </a:solidFill>
                <a:latin typeface="Calibri" pitchFamily="34" charset="0"/>
                <a:ea typeface="Calibri" pitchFamily="34" charset="-122"/>
                <a:cs typeface="Calibri" pitchFamily="34" charset="-120"/>
              </a:rPr>
              <a:t>VOLUME</a:t>
            </a:r>
            <a:endParaRPr lang="en-US" sz="900" dirty="0"/>
          </a:p>
        </p:txBody>
      </p:sp>
      <p:sp>
        <p:nvSpPr>
          <p:cNvPr id="8" name="Text 6"/>
          <p:cNvSpPr/>
          <p:nvPr/>
        </p:nvSpPr>
        <p:spPr>
          <a:xfrm>
            <a:off x="8476488" y="1591056"/>
            <a:ext cx="2862072" cy="365760"/>
          </a:xfrm>
          <a:prstGeom prst="rect">
            <a:avLst/>
          </a:prstGeom>
          <a:noFill/>
          <a:ln/>
        </p:spPr>
        <p:txBody>
          <a:bodyPr wrap="square" lIns="0" tIns="0" rIns="0" bIns="0" rtlCol="0" anchor="ctr"/>
          <a:lstStyle/>
          <a:p>
            <a:pPr indent="0" marL="0">
              <a:buNone/>
            </a:pPr>
            <a:r>
              <a:rPr lang="en-US" sz="900" b="1" spc="130" kern="0" dirty="0">
                <a:solidFill>
                  <a:srgbClr val="B6BEC7"/>
                </a:solidFill>
                <a:latin typeface="Calibri" pitchFamily="34" charset="0"/>
                <a:ea typeface="Calibri" pitchFamily="34" charset="-122"/>
                <a:cs typeface="Calibri" pitchFamily="34" charset="-120"/>
              </a:rPr>
              <a:t>JOB</a:t>
            </a:r>
            <a:endParaRPr lang="en-US" sz="900" dirty="0"/>
          </a:p>
        </p:txBody>
      </p:sp>
      <p:sp>
        <p:nvSpPr>
          <p:cNvPr id="9" name="Shape 7"/>
          <p:cNvSpPr/>
          <p:nvPr/>
        </p:nvSpPr>
        <p:spPr>
          <a:xfrm>
            <a:off x="777240" y="2011680"/>
            <a:ext cx="10637215" cy="402336"/>
          </a:xfrm>
          <a:prstGeom prst="rect">
            <a:avLst/>
          </a:prstGeom>
          <a:solidFill>
            <a:srgbClr val="FFFFFF"/>
          </a:solidFill>
          <a:ln/>
        </p:spPr>
      </p:sp>
      <p:sp>
        <p:nvSpPr>
          <p:cNvPr id="10" name="Text 8"/>
          <p:cNvSpPr/>
          <p:nvPr/>
        </p:nvSpPr>
        <p:spPr>
          <a:xfrm>
            <a:off x="978408" y="2011680"/>
            <a:ext cx="1837944" cy="402336"/>
          </a:xfrm>
          <a:prstGeom prst="rect">
            <a:avLst/>
          </a:prstGeom>
          <a:noFill/>
          <a:ln/>
        </p:spPr>
        <p:txBody>
          <a:bodyPr wrap="square" lIns="0" tIns="0" rIns="0" bIns="0" rtlCol="0" anchor="ctr"/>
          <a:lstStyle/>
          <a:p>
            <a:pPr indent="0" marL="0">
              <a:buNone/>
            </a:pPr>
            <a:r>
              <a:rPr lang="en-US" sz="1250" b="1" dirty="0">
                <a:solidFill>
                  <a:srgbClr val="14181D"/>
                </a:solidFill>
                <a:latin typeface="Cambria" pitchFamily="34" charset="0"/>
                <a:ea typeface="Cambria" pitchFamily="34" charset="-122"/>
                <a:cs typeface="Cambria" pitchFamily="34" charset="-120"/>
              </a:rPr>
              <a:t>Project review film</a:t>
            </a:r>
            <a:endParaRPr lang="en-US" sz="1250" dirty="0"/>
          </a:p>
        </p:txBody>
      </p:sp>
      <p:sp>
        <p:nvSpPr>
          <p:cNvPr id="11" name="Text 9"/>
          <p:cNvSpPr/>
          <p:nvPr/>
        </p:nvSpPr>
        <p:spPr>
          <a:xfrm>
            <a:off x="3127248" y="2011680"/>
            <a:ext cx="3666744" cy="402336"/>
          </a:xfrm>
          <a:prstGeom prst="rect">
            <a:avLst/>
          </a:prstGeom>
          <a:noFill/>
          <a:ln/>
        </p:spPr>
        <p:txBody>
          <a:bodyPr wrap="square" lIns="0" tIns="0" rIns="0" bIns="0" rtlCol="0" anchor="ctr"/>
          <a:lstStyle/>
          <a:p>
            <a:pPr indent="0" marL="0">
              <a:buNone/>
            </a:pPr>
            <a:r>
              <a:rPr lang="en-US" sz="1100" dirty="0">
                <a:solidFill>
                  <a:srgbClr val="555C64"/>
                </a:solidFill>
                <a:latin typeface="Calibri" pitchFamily="34" charset="0"/>
                <a:ea typeface="Calibri" pitchFamily="34" charset="-122"/>
                <a:cs typeface="Calibri" pitchFamily="34" charset="-120"/>
              </a:rPr>
              <a:t>8–12 min walkthrough with a verdict. Good and bad, on camera.</a:t>
            </a:r>
            <a:endParaRPr lang="en-US" sz="1100" dirty="0"/>
          </a:p>
        </p:txBody>
      </p:sp>
      <p:sp>
        <p:nvSpPr>
          <p:cNvPr id="12" name="Text 10"/>
          <p:cNvSpPr/>
          <p:nvPr/>
        </p:nvSpPr>
        <p:spPr>
          <a:xfrm>
            <a:off x="7104888" y="2011680"/>
            <a:ext cx="1060704" cy="402336"/>
          </a:xfrm>
          <a:prstGeom prst="rect">
            <a:avLst/>
          </a:prstGeom>
          <a:noFill/>
          <a:ln/>
        </p:spPr>
        <p:txBody>
          <a:bodyPr wrap="square" lIns="0" tIns="0" rIns="0" bIns="0" rtlCol="0" anchor="ctr"/>
          <a:lstStyle/>
          <a:p>
            <a:pPr indent="0" marL="0">
              <a:buNone/>
            </a:pPr>
            <a:r>
              <a:rPr lang="en-US" sz="1100" dirty="0">
                <a:solidFill>
                  <a:srgbClr val="9A7A25"/>
                </a:solidFill>
                <a:latin typeface="Calibri" pitchFamily="34" charset="0"/>
                <a:ea typeface="Calibri" pitchFamily="34" charset="-122"/>
                <a:cs typeface="Calibri" pitchFamily="34" charset="-120"/>
              </a:rPr>
              <a:t>2 / month</a:t>
            </a:r>
            <a:endParaRPr lang="en-US" sz="1100" dirty="0"/>
          </a:p>
        </p:txBody>
      </p:sp>
      <p:sp>
        <p:nvSpPr>
          <p:cNvPr id="13" name="Text 11"/>
          <p:cNvSpPr/>
          <p:nvPr/>
        </p:nvSpPr>
        <p:spPr>
          <a:xfrm>
            <a:off x="8476488" y="2011680"/>
            <a:ext cx="2825496" cy="402336"/>
          </a:xfrm>
          <a:prstGeom prst="rect">
            <a:avLst/>
          </a:prstGeom>
          <a:noFill/>
          <a:ln/>
        </p:spPr>
        <p:txBody>
          <a:bodyPr wrap="square" lIns="0" tIns="0" rIns="0" bIns="0" rtlCol="0" anchor="ctr"/>
          <a:lstStyle/>
          <a:p>
            <a:pPr indent="0" marL="0">
              <a:buNone/>
            </a:pPr>
            <a:r>
              <a:rPr lang="en-US" sz="1100" dirty="0">
                <a:solidFill>
                  <a:srgbClr val="555C64"/>
                </a:solidFill>
                <a:latin typeface="Calibri" pitchFamily="34" charset="0"/>
                <a:ea typeface="Calibri" pitchFamily="34" charset="-122"/>
                <a:cs typeface="Calibri" pitchFamily="34" charset="-120"/>
              </a:rPr>
              <a:t>The signature format. Builds the library.</a:t>
            </a:r>
            <a:endParaRPr lang="en-US" sz="1100" dirty="0"/>
          </a:p>
        </p:txBody>
      </p:sp>
      <p:sp>
        <p:nvSpPr>
          <p:cNvPr id="14" name="Shape 12"/>
          <p:cNvSpPr/>
          <p:nvPr/>
        </p:nvSpPr>
        <p:spPr>
          <a:xfrm>
            <a:off x="777240" y="2459736"/>
            <a:ext cx="10637215" cy="402336"/>
          </a:xfrm>
          <a:prstGeom prst="rect">
            <a:avLst/>
          </a:prstGeom>
          <a:solidFill>
            <a:srgbClr val="FFFFFF"/>
          </a:solidFill>
          <a:ln/>
        </p:spPr>
      </p:sp>
      <p:sp>
        <p:nvSpPr>
          <p:cNvPr id="15" name="Text 13"/>
          <p:cNvSpPr/>
          <p:nvPr/>
        </p:nvSpPr>
        <p:spPr>
          <a:xfrm>
            <a:off x="978408" y="2459736"/>
            <a:ext cx="1837944" cy="402336"/>
          </a:xfrm>
          <a:prstGeom prst="rect">
            <a:avLst/>
          </a:prstGeom>
          <a:noFill/>
          <a:ln/>
        </p:spPr>
        <p:txBody>
          <a:bodyPr wrap="square" lIns="0" tIns="0" rIns="0" bIns="0" rtlCol="0" anchor="ctr"/>
          <a:lstStyle/>
          <a:p>
            <a:pPr indent="0" marL="0">
              <a:buNone/>
            </a:pPr>
            <a:r>
              <a:rPr lang="en-US" sz="1250" b="1" dirty="0">
                <a:solidFill>
                  <a:srgbClr val="14181D"/>
                </a:solidFill>
                <a:latin typeface="Cambria" pitchFamily="34" charset="0"/>
                <a:ea typeface="Cambria" pitchFamily="34" charset="-122"/>
                <a:cs typeface="Cambria" pitchFamily="34" charset="-120"/>
              </a:rPr>
              <a:t>Comparison film</a:t>
            </a:r>
            <a:endParaRPr lang="en-US" sz="1250" dirty="0"/>
          </a:p>
        </p:txBody>
      </p:sp>
      <p:sp>
        <p:nvSpPr>
          <p:cNvPr id="16" name="Text 14"/>
          <p:cNvSpPr/>
          <p:nvPr/>
        </p:nvSpPr>
        <p:spPr>
          <a:xfrm>
            <a:off x="3127248" y="2459736"/>
            <a:ext cx="3666744" cy="402336"/>
          </a:xfrm>
          <a:prstGeom prst="rect">
            <a:avLst/>
          </a:prstGeom>
          <a:noFill/>
          <a:ln/>
        </p:spPr>
        <p:txBody>
          <a:bodyPr wrap="square" lIns="0" tIns="0" rIns="0" bIns="0" rtlCol="0" anchor="ctr"/>
          <a:lstStyle/>
          <a:p>
            <a:pPr indent="0" marL="0">
              <a:buNone/>
            </a:pPr>
            <a:r>
              <a:rPr lang="en-US" sz="1100" dirty="0">
                <a:solidFill>
                  <a:srgbClr val="555C64"/>
                </a:solidFill>
                <a:latin typeface="Calibri" pitchFamily="34" charset="0"/>
                <a:ea typeface="Calibri" pitchFamily="34" charset="-122"/>
                <a:cs typeface="Calibri" pitchFamily="34" charset="-120"/>
              </a:rPr>
              <a:t>Two projects, one screen, real numbers.</a:t>
            </a:r>
            <a:endParaRPr lang="en-US" sz="1100" dirty="0"/>
          </a:p>
        </p:txBody>
      </p:sp>
      <p:sp>
        <p:nvSpPr>
          <p:cNvPr id="17" name="Text 15"/>
          <p:cNvSpPr/>
          <p:nvPr/>
        </p:nvSpPr>
        <p:spPr>
          <a:xfrm>
            <a:off x="7104888" y="2459736"/>
            <a:ext cx="1060704" cy="402336"/>
          </a:xfrm>
          <a:prstGeom prst="rect">
            <a:avLst/>
          </a:prstGeom>
          <a:noFill/>
          <a:ln/>
        </p:spPr>
        <p:txBody>
          <a:bodyPr wrap="square" lIns="0" tIns="0" rIns="0" bIns="0" rtlCol="0" anchor="ctr"/>
          <a:lstStyle/>
          <a:p>
            <a:pPr indent="0" marL="0">
              <a:buNone/>
            </a:pPr>
            <a:r>
              <a:rPr lang="en-US" sz="1100" dirty="0">
                <a:solidFill>
                  <a:srgbClr val="9A7A25"/>
                </a:solidFill>
                <a:latin typeface="Calibri" pitchFamily="34" charset="0"/>
                <a:ea typeface="Calibri" pitchFamily="34" charset="-122"/>
                <a:cs typeface="Calibri" pitchFamily="34" charset="-120"/>
              </a:rPr>
              <a:t>1 / month</a:t>
            </a:r>
            <a:endParaRPr lang="en-US" sz="1100" dirty="0"/>
          </a:p>
        </p:txBody>
      </p:sp>
      <p:sp>
        <p:nvSpPr>
          <p:cNvPr id="18" name="Text 16"/>
          <p:cNvSpPr/>
          <p:nvPr/>
        </p:nvSpPr>
        <p:spPr>
          <a:xfrm>
            <a:off x="8476488" y="2459736"/>
            <a:ext cx="2825496" cy="402336"/>
          </a:xfrm>
          <a:prstGeom prst="rect">
            <a:avLst/>
          </a:prstGeom>
          <a:noFill/>
          <a:ln/>
        </p:spPr>
        <p:txBody>
          <a:bodyPr wrap="square" lIns="0" tIns="0" rIns="0" bIns="0" rtlCol="0" anchor="ctr"/>
          <a:lstStyle/>
          <a:p>
            <a:pPr indent="0" marL="0">
              <a:buNone/>
            </a:pPr>
            <a:r>
              <a:rPr lang="en-US" sz="1100" dirty="0">
                <a:solidFill>
                  <a:srgbClr val="555C64"/>
                </a:solidFill>
                <a:latin typeface="Calibri" pitchFamily="34" charset="0"/>
                <a:ea typeface="Calibri" pitchFamily="34" charset="-122"/>
                <a:cs typeface="Calibri" pitchFamily="34" charset="-120"/>
              </a:rPr>
              <a:t>Most shared format. Drives the tool.</a:t>
            </a:r>
            <a:endParaRPr lang="en-US" sz="1100" dirty="0"/>
          </a:p>
        </p:txBody>
      </p:sp>
      <p:sp>
        <p:nvSpPr>
          <p:cNvPr id="19" name="Shape 17"/>
          <p:cNvSpPr/>
          <p:nvPr/>
        </p:nvSpPr>
        <p:spPr>
          <a:xfrm>
            <a:off x="777240" y="2907792"/>
            <a:ext cx="10637215" cy="402336"/>
          </a:xfrm>
          <a:prstGeom prst="rect">
            <a:avLst/>
          </a:prstGeom>
          <a:solidFill>
            <a:srgbClr val="FFFFFF"/>
          </a:solidFill>
          <a:ln/>
        </p:spPr>
      </p:sp>
      <p:sp>
        <p:nvSpPr>
          <p:cNvPr id="20" name="Text 18"/>
          <p:cNvSpPr/>
          <p:nvPr/>
        </p:nvSpPr>
        <p:spPr>
          <a:xfrm>
            <a:off x="978408" y="2907792"/>
            <a:ext cx="1837944" cy="402336"/>
          </a:xfrm>
          <a:prstGeom prst="rect">
            <a:avLst/>
          </a:prstGeom>
          <a:noFill/>
          <a:ln/>
        </p:spPr>
        <p:txBody>
          <a:bodyPr wrap="square" lIns="0" tIns="0" rIns="0" bIns="0" rtlCol="0" anchor="ctr"/>
          <a:lstStyle/>
          <a:p>
            <a:pPr indent="0" marL="0">
              <a:buNone/>
            </a:pPr>
            <a:r>
              <a:rPr lang="en-US" sz="1250" b="1" dirty="0">
                <a:solidFill>
                  <a:srgbClr val="14181D"/>
                </a:solidFill>
                <a:latin typeface="Cambria" pitchFamily="34" charset="0"/>
                <a:ea typeface="Cambria" pitchFamily="34" charset="-122"/>
                <a:cs typeface="Cambria" pitchFamily="34" charset="-120"/>
              </a:rPr>
              <a:t>Founder podcast</a:t>
            </a:r>
            <a:endParaRPr lang="en-US" sz="1250" dirty="0"/>
          </a:p>
        </p:txBody>
      </p:sp>
      <p:sp>
        <p:nvSpPr>
          <p:cNvPr id="21" name="Text 19"/>
          <p:cNvSpPr/>
          <p:nvPr/>
        </p:nvSpPr>
        <p:spPr>
          <a:xfrm>
            <a:off x="3127248" y="2907792"/>
            <a:ext cx="3666744" cy="402336"/>
          </a:xfrm>
          <a:prstGeom prst="rect">
            <a:avLst/>
          </a:prstGeom>
          <a:noFill/>
          <a:ln/>
        </p:spPr>
        <p:txBody>
          <a:bodyPr wrap="square" lIns="0" tIns="0" rIns="0" bIns="0" rtlCol="0" anchor="ctr"/>
          <a:lstStyle/>
          <a:p>
            <a:pPr indent="0" marL="0">
              <a:buNone/>
            </a:pPr>
            <a:r>
              <a:rPr lang="en-US" sz="1100" dirty="0">
                <a:solidFill>
                  <a:srgbClr val="555C64"/>
                </a:solidFill>
                <a:latin typeface="Calibri" pitchFamily="34" charset="0"/>
                <a:ea typeface="Calibri" pitchFamily="34" charset="-122"/>
                <a:cs typeface="Calibri" pitchFamily="34" charset="-120"/>
              </a:rPr>
              <a:t>30–40 min with a developer, planner, architect or lawyer.</a:t>
            </a:r>
            <a:endParaRPr lang="en-US" sz="1100" dirty="0"/>
          </a:p>
        </p:txBody>
      </p:sp>
      <p:sp>
        <p:nvSpPr>
          <p:cNvPr id="22" name="Text 20"/>
          <p:cNvSpPr/>
          <p:nvPr/>
        </p:nvSpPr>
        <p:spPr>
          <a:xfrm>
            <a:off x="7104888" y="2907792"/>
            <a:ext cx="1060704" cy="402336"/>
          </a:xfrm>
          <a:prstGeom prst="rect">
            <a:avLst/>
          </a:prstGeom>
          <a:noFill/>
          <a:ln/>
        </p:spPr>
        <p:txBody>
          <a:bodyPr wrap="square" lIns="0" tIns="0" rIns="0" bIns="0" rtlCol="0" anchor="ctr"/>
          <a:lstStyle/>
          <a:p>
            <a:pPr indent="0" marL="0">
              <a:buNone/>
            </a:pPr>
            <a:r>
              <a:rPr lang="en-US" sz="1100" dirty="0">
                <a:solidFill>
                  <a:srgbClr val="9A7A25"/>
                </a:solidFill>
                <a:latin typeface="Calibri" pitchFamily="34" charset="0"/>
                <a:ea typeface="Calibri" pitchFamily="34" charset="-122"/>
                <a:cs typeface="Calibri" pitchFamily="34" charset="-120"/>
              </a:rPr>
              <a:t>2 / month</a:t>
            </a:r>
            <a:endParaRPr lang="en-US" sz="1100" dirty="0"/>
          </a:p>
        </p:txBody>
      </p:sp>
      <p:sp>
        <p:nvSpPr>
          <p:cNvPr id="23" name="Text 21"/>
          <p:cNvSpPr/>
          <p:nvPr/>
        </p:nvSpPr>
        <p:spPr>
          <a:xfrm>
            <a:off x="8476488" y="2907792"/>
            <a:ext cx="2825496" cy="402336"/>
          </a:xfrm>
          <a:prstGeom prst="rect">
            <a:avLst/>
          </a:prstGeom>
          <a:noFill/>
          <a:ln/>
        </p:spPr>
        <p:txBody>
          <a:bodyPr wrap="square" lIns="0" tIns="0" rIns="0" bIns="0" rtlCol="0" anchor="ctr"/>
          <a:lstStyle/>
          <a:p>
            <a:pPr indent="0" marL="0">
              <a:buNone/>
            </a:pPr>
            <a:r>
              <a:rPr lang="en-US" sz="1100" dirty="0">
                <a:solidFill>
                  <a:srgbClr val="555C64"/>
                </a:solidFill>
                <a:latin typeface="Calibri" pitchFamily="34" charset="0"/>
                <a:ea typeface="Calibri" pitchFamily="34" charset="-122"/>
                <a:cs typeface="Calibri" pitchFamily="34" charset="-120"/>
              </a:rPr>
              <a:t>Authority. Only OTHO can book these guests.</a:t>
            </a:r>
            <a:endParaRPr lang="en-US" sz="1100" dirty="0"/>
          </a:p>
        </p:txBody>
      </p:sp>
      <p:sp>
        <p:nvSpPr>
          <p:cNvPr id="24" name="Shape 22"/>
          <p:cNvSpPr/>
          <p:nvPr/>
        </p:nvSpPr>
        <p:spPr>
          <a:xfrm>
            <a:off x="777240" y="3355848"/>
            <a:ext cx="10637215" cy="402336"/>
          </a:xfrm>
          <a:prstGeom prst="rect">
            <a:avLst/>
          </a:prstGeom>
          <a:solidFill>
            <a:srgbClr val="FFFFFF"/>
          </a:solidFill>
          <a:ln/>
        </p:spPr>
      </p:sp>
      <p:sp>
        <p:nvSpPr>
          <p:cNvPr id="25" name="Text 23"/>
          <p:cNvSpPr/>
          <p:nvPr/>
        </p:nvSpPr>
        <p:spPr>
          <a:xfrm>
            <a:off x="978408" y="3355848"/>
            <a:ext cx="1837944" cy="402336"/>
          </a:xfrm>
          <a:prstGeom prst="rect">
            <a:avLst/>
          </a:prstGeom>
          <a:noFill/>
          <a:ln/>
        </p:spPr>
        <p:txBody>
          <a:bodyPr wrap="square" lIns="0" tIns="0" rIns="0" bIns="0" rtlCol="0" anchor="ctr"/>
          <a:lstStyle/>
          <a:p>
            <a:pPr indent="0" marL="0">
              <a:buNone/>
            </a:pPr>
            <a:r>
              <a:rPr lang="en-US" sz="1250" b="1" dirty="0">
                <a:solidFill>
                  <a:srgbClr val="14181D"/>
                </a:solidFill>
                <a:latin typeface="Cambria" pitchFamily="34" charset="0"/>
                <a:ea typeface="Cambria" pitchFamily="34" charset="-122"/>
                <a:cs typeface="Cambria" pitchFamily="34" charset="-120"/>
              </a:rPr>
              <a:t>Locality deep-dive</a:t>
            </a:r>
            <a:endParaRPr lang="en-US" sz="1250" dirty="0"/>
          </a:p>
        </p:txBody>
      </p:sp>
      <p:sp>
        <p:nvSpPr>
          <p:cNvPr id="26" name="Text 24"/>
          <p:cNvSpPr/>
          <p:nvPr/>
        </p:nvSpPr>
        <p:spPr>
          <a:xfrm>
            <a:off x="3127248" y="3355848"/>
            <a:ext cx="3666744" cy="402336"/>
          </a:xfrm>
          <a:prstGeom prst="rect">
            <a:avLst/>
          </a:prstGeom>
          <a:noFill/>
          <a:ln/>
        </p:spPr>
        <p:txBody>
          <a:bodyPr wrap="square" lIns="0" tIns="0" rIns="0" bIns="0" rtlCol="0" anchor="ctr"/>
          <a:lstStyle/>
          <a:p>
            <a:pPr indent="0" marL="0">
              <a:buNone/>
            </a:pPr>
            <a:r>
              <a:rPr lang="en-US" sz="1100" dirty="0">
                <a:solidFill>
                  <a:srgbClr val="555C64"/>
                </a:solidFill>
                <a:latin typeface="Calibri" pitchFamily="34" charset="0"/>
                <a:ea typeface="Calibri" pitchFamily="34" charset="-122"/>
                <a:cs typeface="Calibri" pitchFamily="34" charset="-120"/>
              </a:rPr>
              <a:t>Kokapet, Financial District, Tellapur — including drawbacks.</a:t>
            </a:r>
            <a:endParaRPr lang="en-US" sz="1100" dirty="0"/>
          </a:p>
        </p:txBody>
      </p:sp>
      <p:sp>
        <p:nvSpPr>
          <p:cNvPr id="27" name="Text 25"/>
          <p:cNvSpPr/>
          <p:nvPr/>
        </p:nvSpPr>
        <p:spPr>
          <a:xfrm>
            <a:off x="7104888" y="3355848"/>
            <a:ext cx="1060704" cy="402336"/>
          </a:xfrm>
          <a:prstGeom prst="rect">
            <a:avLst/>
          </a:prstGeom>
          <a:noFill/>
          <a:ln/>
        </p:spPr>
        <p:txBody>
          <a:bodyPr wrap="square" lIns="0" tIns="0" rIns="0" bIns="0" rtlCol="0" anchor="ctr"/>
          <a:lstStyle/>
          <a:p>
            <a:pPr indent="0" marL="0">
              <a:buNone/>
            </a:pPr>
            <a:r>
              <a:rPr lang="en-US" sz="1100" dirty="0">
                <a:solidFill>
                  <a:srgbClr val="9A7A25"/>
                </a:solidFill>
                <a:latin typeface="Calibri" pitchFamily="34" charset="0"/>
                <a:ea typeface="Calibri" pitchFamily="34" charset="-122"/>
                <a:cs typeface="Calibri" pitchFamily="34" charset="-120"/>
              </a:rPr>
              <a:t>1 / month</a:t>
            </a:r>
            <a:endParaRPr lang="en-US" sz="1100" dirty="0"/>
          </a:p>
        </p:txBody>
      </p:sp>
      <p:sp>
        <p:nvSpPr>
          <p:cNvPr id="28" name="Text 26"/>
          <p:cNvSpPr/>
          <p:nvPr/>
        </p:nvSpPr>
        <p:spPr>
          <a:xfrm>
            <a:off x="8476488" y="3355848"/>
            <a:ext cx="2825496" cy="402336"/>
          </a:xfrm>
          <a:prstGeom prst="rect">
            <a:avLst/>
          </a:prstGeom>
          <a:noFill/>
          <a:ln/>
        </p:spPr>
        <p:txBody>
          <a:bodyPr wrap="square" lIns="0" tIns="0" rIns="0" bIns="0" rtlCol="0" anchor="ctr"/>
          <a:lstStyle/>
          <a:p>
            <a:pPr indent="0" marL="0">
              <a:buNone/>
            </a:pPr>
            <a:r>
              <a:rPr lang="en-US" sz="1100" dirty="0">
                <a:solidFill>
                  <a:srgbClr val="555C64"/>
                </a:solidFill>
                <a:latin typeface="Calibri" pitchFamily="34" charset="0"/>
                <a:ea typeface="Calibri" pitchFamily="34" charset="-122"/>
                <a:cs typeface="Calibri" pitchFamily="34" charset="-120"/>
              </a:rPr>
              <a:t>Search traffic and AI citations.</a:t>
            </a:r>
            <a:endParaRPr lang="en-US" sz="1100" dirty="0"/>
          </a:p>
        </p:txBody>
      </p:sp>
      <p:sp>
        <p:nvSpPr>
          <p:cNvPr id="29" name="Shape 27"/>
          <p:cNvSpPr/>
          <p:nvPr/>
        </p:nvSpPr>
        <p:spPr>
          <a:xfrm>
            <a:off x="777240" y="3803904"/>
            <a:ext cx="10637215" cy="402336"/>
          </a:xfrm>
          <a:prstGeom prst="rect">
            <a:avLst/>
          </a:prstGeom>
          <a:solidFill>
            <a:srgbClr val="FFFFFF"/>
          </a:solidFill>
          <a:ln/>
        </p:spPr>
      </p:sp>
      <p:sp>
        <p:nvSpPr>
          <p:cNvPr id="30" name="Text 28"/>
          <p:cNvSpPr/>
          <p:nvPr/>
        </p:nvSpPr>
        <p:spPr>
          <a:xfrm>
            <a:off x="978408" y="3803904"/>
            <a:ext cx="1837944" cy="402336"/>
          </a:xfrm>
          <a:prstGeom prst="rect">
            <a:avLst/>
          </a:prstGeom>
          <a:noFill/>
          <a:ln/>
        </p:spPr>
        <p:txBody>
          <a:bodyPr wrap="square" lIns="0" tIns="0" rIns="0" bIns="0" rtlCol="0" anchor="ctr"/>
          <a:lstStyle/>
          <a:p>
            <a:pPr indent="0" marL="0">
              <a:buNone/>
            </a:pPr>
            <a:r>
              <a:rPr lang="en-US" sz="1250" b="1" dirty="0">
                <a:solidFill>
                  <a:srgbClr val="14181D"/>
                </a:solidFill>
                <a:latin typeface="Cambria" pitchFamily="34" charset="0"/>
                <a:ea typeface="Cambria" pitchFamily="34" charset="-122"/>
                <a:cs typeface="Cambria" pitchFamily="34" charset="-120"/>
              </a:rPr>
              <a:t>The dictionary</a:t>
            </a:r>
            <a:endParaRPr lang="en-US" sz="1250" dirty="0"/>
          </a:p>
        </p:txBody>
      </p:sp>
      <p:sp>
        <p:nvSpPr>
          <p:cNvPr id="31" name="Text 29"/>
          <p:cNvSpPr/>
          <p:nvPr/>
        </p:nvSpPr>
        <p:spPr>
          <a:xfrm>
            <a:off x="3127248" y="3803904"/>
            <a:ext cx="3666744" cy="402336"/>
          </a:xfrm>
          <a:prstGeom prst="rect">
            <a:avLst/>
          </a:prstGeom>
          <a:noFill/>
          <a:ln/>
        </p:spPr>
        <p:txBody>
          <a:bodyPr wrap="square" lIns="0" tIns="0" rIns="0" bIns="0" rtlCol="0" anchor="ctr"/>
          <a:lstStyle/>
          <a:p>
            <a:pPr indent="0" marL="0">
              <a:buNone/>
            </a:pPr>
            <a:r>
              <a:rPr lang="en-US" sz="1100" dirty="0">
                <a:solidFill>
                  <a:srgbClr val="555C64"/>
                </a:solidFill>
                <a:latin typeface="Calibri" pitchFamily="34" charset="0"/>
                <a:ea typeface="Calibri" pitchFamily="34" charset="-122"/>
                <a:cs typeface="Calibri" pitchFamily="34" charset="-120"/>
              </a:rPr>
              <a:t>Loading factor, UDS, carpet vs SBA, reading a RERA filing.</a:t>
            </a:r>
            <a:endParaRPr lang="en-US" sz="1100" dirty="0"/>
          </a:p>
        </p:txBody>
      </p:sp>
      <p:sp>
        <p:nvSpPr>
          <p:cNvPr id="32" name="Text 30"/>
          <p:cNvSpPr/>
          <p:nvPr/>
        </p:nvSpPr>
        <p:spPr>
          <a:xfrm>
            <a:off x="7104888" y="3803904"/>
            <a:ext cx="1060704" cy="402336"/>
          </a:xfrm>
          <a:prstGeom prst="rect">
            <a:avLst/>
          </a:prstGeom>
          <a:noFill/>
          <a:ln/>
        </p:spPr>
        <p:txBody>
          <a:bodyPr wrap="square" lIns="0" tIns="0" rIns="0" bIns="0" rtlCol="0" anchor="ctr"/>
          <a:lstStyle/>
          <a:p>
            <a:pPr indent="0" marL="0">
              <a:buNone/>
            </a:pPr>
            <a:r>
              <a:rPr lang="en-US" sz="1100" dirty="0">
                <a:solidFill>
                  <a:srgbClr val="9A7A25"/>
                </a:solidFill>
                <a:latin typeface="Calibri" pitchFamily="34" charset="0"/>
                <a:ea typeface="Calibri" pitchFamily="34" charset="-122"/>
                <a:cs typeface="Calibri" pitchFamily="34" charset="-120"/>
              </a:rPr>
              <a:t>2 / month</a:t>
            </a:r>
            <a:endParaRPr lang="en-US" sz="1100" dirty="0"/>
          </a:p>
        </p:txBody>
      </p:sp>
      <p:sp>
        <p:nvSpPr>
          <p:cNvPr id="33" name="Text 31"/>
          <p:cNvSpPr/>
          <p:nvPr/>
        </p:nvSpPr>
        <p:spPr>
          <a:xfrm>
            <a:off x="8476488" y="3803904"/>
            <a:ext cx="2825496" cy="402336"/>
          </a:xfrm>
          <a:prstGeom prst="rect">
            <a:avLst/>
          </a:prstGeom>
          <a:noFill/>
          <a:ln/>
        </p:spPr>
        <p:txBody>
          <a:bodyPr wrap="square" lIns="0" tIns="0" rIns="0" bIns="0" rtlCol="0" anchor="ctr"/>
          <a:lstStyle/>
          <a:p>
            <a:pPr indent="0" marL="0">
              <a:buNone/>
            </a:pPr>
            <a:r>
              <a:rPr lang="en-US" sz="1100" dirty="0">
                <a:solidFill>
                  <a:srgbClr val="555C64"/>
                </a:solidFill>
                <a:latin typeface="Calibri" pitchFamily="34" charset="0"/>
                <a:ea typeface="Calibri" pitchFamily="34" charset="-122"/>
                <a:cs typeface="Calibri" pitchFamily="34" charset="-120"/>
              </a:rPr>
              <a:t>Permanent traffic. Gets OTHO quoted by AI.</a:t>
            </a:r>
            <a:endParaRPr lang="en-US" sz="1100" dirty="0"/>
          </a:p>
        </p:txBody>
      </p:sp>
      <p:sp>
        <p:nvSpPr>
          <p:cNvPr id="34" name="Shape 32"/>
          <p:cNvSpPr/>
          <p:nvPr/>
        </p:nvSpPr>
        <p:spPr>
          <a:xfrm>
            <a:off x="777240" y="4251960"/>
            <a:ext cx="10637215" cy="402336"/>
          </a:xfrm>
          <a:prstGeom prst="rect">
            <a:avLst/>
          </a:prstGeom>
          <a:solidFill>
            <a:srgbClr val="FFFFFF"/>
          </a:solidFill>
          <a:ln/>
        </p:spPr>
      </p:sp>
      <p:sp>
        <p:nvSpPr>
          <p:cNvPr id="35" name="Text 33"/>
          <p:cNvSpPr/>
          <p:nvPr/>
        </p:nvSpPr>
        <p:spPr>
          <a:xfrm>
            <a:off x="978408" y="4251960"/>
            <a:ext cx="1837944" cy="402336"/>
          </a:xfrm>
          <a:prstGeom prst="rect">
            <a:avLst/>
          </a:prstGeom>
          <a:noFill/>
          <a:ln/>
        </p:spPr>
        <p:txBody>
          <a:bodyPr wrap="square" lIns="0" tIns="0" rIns="0" bIns="0" rtlCol="0" anchor="ctr"/>
          <a:lstStyle/>
          <a:p>
            <a:pPr indent="0" marL="0">
              <a:buNone/>
            </a:pPr>
            <a:r>
              <a:rPr lang="en-US" sz="1250" b="1" dirty="0">
                <a:solidFill>
                  <a:srgbClr val="14181D"/>
                </a:solidFill>
                <a:latin typeface="Cambria" pitchFamily="34" charset="0"/>
                <a:ea typeface="Cambria" pitchFamily="34" charset="-122"/>
                <a:cs typeface="Cambria" pitchFamily="34" charset="-120"/>
              </a:rPr>
              <a:t>Monthly market note</a:t>
            </a:r>
            <a:endParaRPr lang="en-US" sz="1250" dirty="0"/>
          </a:p>
        </p:txBody>
      </p:sp>
      <p:sp>
        <p:nvSpPr>
          <p:cNvPr id="36" name="Text 34"/>
          <p:cNvSpPr/>
          <p:nvPr/>
        </p:nvSpPr>
        <p:spPr>
          <a:xfrm>
            <a:off x="3127248" y="4251960"/>
            <a:ext cx="3666744" cy="402336"/>
          </a:xfrm>
          <a:prstGeom prst="rect">
            <a:avLst/>
          </a:prstGeom>
          <a:noFill/>
          <a:ln/>
        </p:spPr>
        <p:txBody>
          <a:bodyPr wrap="square" lIns="0" tIns="0" rIns="0" bIns="0" rtlCol="0" anchor="ctr"/>
          <a:lstStyle/>
          <a:p>
            <a:pPr indent="0" marL="0">
              <a:buNone/>
            </a:pPr>
            <a:r>
              <a:rPr lang="en-US" sz="1100" dirty="0">
                <a:solidFill>
                  <a:srgbClr val="555C64"/>
                </a:solidFill>
                <a:latin typeface="Calibri" pitchFamily="34" charset="0"/>
                <a:ea typeface="Calibri" pitchFamily="34" charset="-122"/>
                <a:cs typeface="Calibri" pitchFamily="34" charset="-120"/>
              </a:rPr>
              <a:t>Registrations, prices, launches, absorption. Real data.</a:t>
            </a:r>
            <a:endParaRPr lang="en-US" sz="1100" dirty="0"/>
          </a:p>
        </p:txBody>
      </p:sp>
      <p:sp>
        <p:nvSpPr>
          <p:cNvPr id="37" name="Text 35"/>
          <p:cNvSpPr/>
          <p:nvPr/>
        </p:nvSpPr>
        <p:spPr>
          <a:xfrm>
            <a:off x="7104888" y="4251960"/>
            <a:ext cx="1060704" cy="402336"/>
          </a:xfrm>
          <a:prstGeom prst="rect">
            <a:avLst/>
          </a:prstGeom>
          <a:noFill/>
          <a:ln/>
        </p:spPr>
        <p:txBody>
          <a:bodyPr wrap="square" lIns="0" tIns="0" rIns="0" bIns="0" rtlCol="0" anchor="ctr"/>
          <a:lstStyle/>
          <a:p>
            <a:pPr indent="0" marL="0">
              <a:buNone/>
            </a:pPr>
            <a:r>
              <a:rPr lang="en-US" sz="1100" dirty="0">
                <a:solidFill>
                  <a:srgbClr val="9A7A25"/>
                </a:solidFill>
                <a:latin typeface="Calibri" pitchFamily="34" charset="0"/>
                <a:ea typeface="Calibri" pitchFamily="34" charset="-122"/>
                <a:cs typeface="Calibri" pitchFamily="34" charset="-120"/>
              </a:rPr>
              <a:t>1 / month</a:t>
            </a:r>
            <a:endParaRPr lang="en-US" sz="1100" dirty="0"/>
          </a:p>
        </p:txBody>
      </p:sp>
      <p:sp>
        <p:nvSpPr>
          <p:cNvPr id="38" name="Text 36"/>
          <p:cNvSpPr/>
          <p:nvPr/>
        </p:nvSpPr>
        <p:spPr>
          <a:xfrm>
            <a:off x="8476488" y="4251960"/>
            <a:ext cx="2825496" cy="402336"/>
          </a:xfrm>
          <a:prstGeom prst="rect">
            <a:avLst/>
          </a:prstGeom>
          <a:noFill/>
          <a:ln/>
        </p:spPr>
        <p:txBody>
          <a:bodyPr wrap="square" lIns="0" tIns="0" rIns="0" bIns="0" rtlCol="0" anchor="ctr"/>
          <a:lstStyle/>
          <a:p>
            <a:pPr indent="0" marL="0">
              <a:buNone/>
            </a:pPr>
            <a:r>
              <a:rPr lang="en-US" sz="1100" dirty="0">
                <a:solidFill>
                  <a:srgbClr val="555C64"/>
                </a:solidFill>
                <a:latin typeface="Calibri" pitchFamily="34" charset="0"/>
                <a:ea typeface="Calibri" pitchFamily="34" charset="-122"/>
                <a:cs typeface="Calibri" pitchFamily="34" charset="-120"/>
              </a:rPr>
              <a:t>Journalists start quoting it. Free PR.</a:t>
            </a:r>
            <a:endParaRPr lang="en-US" sz="1100" dirty="0"/>
          </a:p>
        </p:txBody>
      </p:sp>
      <p:sp>
        <p:nvSpPr>
          <p:cNvPr id="39" name="Shape 37"/>
          <p:cNvSpPr/>
          <p:nvPr/>
        </p:nvSpPr>
        <p:spPr>
          <a:xfrm>
            <a:off x="777240" y="4700016"/>
            <a:ext cx="10637215" cy="402336"/>
          </a:xfrm>
          <a:prstGeom prst="rect">
            <a:avLst/>
          </a:prstGeom>
          <a:solidFill>
            <a:srgbClr val="FFFFFF"/>
          </a:solidFill>
          <a:ln/>
        </p:spPr>
      </p:sp>
      <p:sp>
        <p:nvSpPr>
          <p:cNvPr id="40" name="Text 38"/>
          <p:cNvSpPr/>
          <p:nvPr/>
        </p:nvSpPr>
        <p:spPr>
          <a:xfrm>
            <a:off x="978408" y="4700016"/>
            <a:ext cx="1837944" cy="402336"/>
          </a:xfrm>
          <a:prstGeom prst="rect">
            <a:avLst/>
          </a:prstGeom>
          <a:noFill/>
          <a:ln/>
        </p:spPr>
        <p:txBody>
          <a:bodyPr wrap="square" lIns="0" tIns="0" rIns="0" bIns="0" rtlCol="0" anchor="ctr"/>
          <a:lstStyle/>
          <a:p>
            <a:pPr indent="0" marL="0">
              <a:buNone/>
            </a:pPr>
            <a:r>
              <a:rPr lang="en-US" sz="1250" b="1" dirty="0">
                <a:solidFill>
                  <a:srgbClr val="14181D"/>
                </a:solidFill>
                <a:latin typeface="Cambria" pitchFamily="34" charset="0"/>
                <a:ea typeface="Cambria" pitchFamily="34" charset="-122"/>
                <a:cs typeface="Cambria" pitchFamily="34" charset="-120"/>
              </a:rPr>
              <a:t>Vertical clips</a:t>
            </a:r>
            <a:endParaRPr lang="en-US" sz="1250" dirty="0"/>
          </a:p>
        </p:txBody>
      </p:sp>
      <p:sp>
        <p:nvSpPr>
          <p:cNvPr id="41" name="Text 39"/>
          <p:cNvSpPr/>
          <p:nvPr/>
        </p:nvSpPr>
        <p:spPr>
          <a:xfrm>
            <a:off x="3127248" y="4700016"/>
            <a:ext cx="3666744" cy="402336"/>
          </a:xfrm>
          <a:prstGeom prst="rect">
            <a:avLst/>
          </a:prstGeom>
          <a:noFill/>
          <a:ln/>
        </p:spPr>
        <p:txBody>
          <a:bodyPr wrap="square" lIns="0" tIns="0" rIns="0" bIns="0" rtlCol="0" anchor="ctr"/>
          <a:lstStyle/>
          <a:p>
            <a:pPr indent="0" marL="0">
              <a:buNone/>
            </a:pPr>
            <a:r>
              <a:rPr lang="en-US" sz="1100" dirty="0">
                <a:solidFill>
                  <a:srgbClr val="555C64"/>
                </a:solidFill>
                <a:latin typeface="Calibri" pitchFamily="34" charset="0"/>
                <a:ea typeface="Calibri" pitchFamily="34" charset="-122"/>
                <a:cs typeface="Calibri" pitchFamily="34" charset="-120"/>
              </a:rPr>
              <a:t>Cut from everything above.</a:t>
            </a:r>
            <a:endParaRPr lang="en-US" sz="1100" dirty="0"/>
          </a:p>
        </p:txBody>
      </p:sp>
      <p:sp>
        <p:nvSpPr>
          <p:cNvPr id="42" name="Text 40"/>
          <p:cNvSpPr/>
          <p:nvPr/>
        </p:nvSpPr>
        <p:spPr>
          <a:xfrm>
            <a:off x="7104888" y="4700016"/>
            <a:ext cx="1060704" cy="402336"/>
          </a:xfrm>
          <a:prstGeom prst="rect">
            <a:avLst/>
          </a:prstGeom>
          <a:noFill/>
          <a:ln/>
        </p:spPr>
        <p:txBody>
          <a:bodyPr wrap="square" lIns="0" tIns="0" rIns="0" bIns="0" rtlCol="0" anchor="ctr"/>
          <a:lstStyle/>
          <a:p>
            <a:pPr indent="0" marL="0">
              <a:buNone/>
            </a:pPr>
            <a:r>
              <a:rPr lang="en-US" sz="1100" dirty="0">
                <a:solidFill>
                  <a:srgbClr val="9A7A25"/>
                </a:solidFill>
                <a:latin typeface="Calibri" pitchFamily="34" charset="0"/>
                <a:ea typeface="Calibri" pitchFamily="34" charset="-122"/>
                <a:cs typeface="Calibri" pitchFamily="34" charset="-120"/>
              </a:rPr>
              <a:t>20–25 / month</a:t>
            </a:r>
            <a:endParaRPr lang="en-US" sz="1100" dirty="0"/>
          </a:p>
        </p:txBody>
      </p:sp>
      <p:sp>
        <p:nvSpPr>
          <p:cNvPr id="43" name="Text 41"/>
          <p:cNvSpPr/>
          <p:nvPr/>
        </p:nvSpPr>
        <p:spPr>
          <a:xfrm>
            <a:off x="8476488" y="4700016"/>
            <a:ext cx="2825496" cy="402336"/>
          </a:xfrm>
          <a:prstGeom prst="rect">
            <a:avLst/>
          </a:prstGeom>
          <a:noFill/>
          <a:ln/>
        </p:spPr>
        <p:txBody>
          <a:bodyPr wrap="square" lIns="0" tIns="0" rIns="0" bIns="0" rtlCol="0" anchor="ctr"/>
          <a:lstStyle/>
          <a:p>
            <a:pPr indent="0" marL="0">
              <a:buNone/>
            </a:pPr>
            <a:r>
              <a:rPr lang="en-US" sz="1100" dirty="0">
                <a:solidFill>
                  <a:srgbClr val="555C64"/>
                </a:solidFill>
                <a:latin typeface="Calibri" pitchFamily="34" charset="0"/>
                <a:ea typeface="Calibri" pitchFamily="34" charset="-122"/>
                <a:cs typeface="Calibri" pitchFamily="34" charset="-120"/>
              </a:rPr>
              <a:t>Reach on Instagram, Shorts, LinkedIn.</a:t>
            </a:r>
            <a:endParaRPr lang="en-US" sz="1100" dirty="0"/>
          </a:p>
        </p:txBody>
      </p:sp>
      <p:sp>
        <p:nvSpPr>
          <p:cNvPr id="44" name="Shape 42"/>
          <p:cNvSpPr/>
          <p:nvPr/>
        </p:nvSpPr>
        <p:spPr>
          <a:xfrm>
            <a:off x="777240" y="5148072"/>
            <a:ext cx="10637215" cy="402336"/>
          </a:xfrm>
          <a:prstGeom prst="rect">
            <a:avLst/>
          </a:prstGeom>
          <a:solidFill>
            <a:srgbClr val="FFFFFF"/>
          </a:solidFill>
          <a:ln/>
        </p:spPr>
      </p:sp>
      <p:sp>
        <p:nvSpPr>
          <p:cNvPr id="45" name="Text 43"/>
          <p:cNvSpPr/>
          <p:nvPr/>
        </p:nvSpPr>
        <p:spPr>
          <a:xfrm>
            <a:off x="978408" y="5148072"/>
            <a:ext cx="1837944" cy="402336"/>
          </a:xfrm>
          <a:prstGeom prst="rect">
            <a:avLst/>
          </a:prstGeom>
          <a:noFill/>
          <a:ln/>
        </p:spPr>
        <p:txBody>
          <a:bodyPr wrap="square" lIns="0" tIns="0" rIns="0" bIns="0" rtlCol="0" anchor="ctr"/>
          <a:lstStyle/>
          <a:p>
            <a:pPr indent="0" marL="0">
              <a:buNone/>
            </a:pPr>
            <a:r>
              <a:rPr lang="en-US" sz="1250" b="1" dirty="0">
                <a:solidFill>
                  <a:srgbClr val="14181D"/>
                </a:solidFill>
                <a:latin typeface="Cambria" pitchFamily="34" charset="0"/>
                <a:ea typeface="Cambria" pitchFamily="34" charset="-122"/>
                <a:cs typeface="Cambria" pitchFamily="34" charset="-120"/>
              </a:rPr>
              <a:t>Founder posts</a:t>
            </a:r>
            <a:endParaRPr lang="en-US" sz="1250" dirty="0"/>
          </a:p>
        </p:txBody>
      </p:sp>
      <p:sp>
        <p:nvSpPr>
          <p:cNvPr id="46" name="Text 44"/>
          <p:cNvSpPr/>
          <p:nvPr/>
        </p:nvSpPr>
        <p:spPr>
          <a:xfrm>
            <a:off x="3127248" y="5148072"/>
            <a:ext cx="3666744" cy="402336"/>
          </a:xfrm>
          <a:prstGeom prst="rect">
            <a:avLst/>
          </a:prstGeom>
          <a:noFill/>
          <a:ln/>
        </p:spPr>
        <p:txBody>
          <a:bodyPr wrap="square" lIns="0" tIns="0" rIns="0" bIns="0" rtlCol="0" anchor="ctr"/>
          <a:lstStyle/>
          <a:p>
            <a:pPr indent="0" marL="0">
              <a:buNone/>
            </a:pPr>
            <a:r>
              <a:rPr lang="en-US" sz="1100" dirty="0">
                <a:solidFill>
                  <a:srgbClr val="555C64"/>
                </a:solidFill>
                <a:latin typeface="Calibri" pitchFamily="34" charset="0"/>
                <a:ea typeface="Calibri" pitchFamily="34" charset="-122"/>
                <a:cs typeface="Calibri" pitchFamily="34" charset="-120"/>
              </a:rPr>
              <a:t>Site observations, pricing oddities, war stories.</a:t>
            </a:r>
            <a:endParaRPr lang="en-US" sz="1100" dirty="0"/>
          </a:p>
        </p:txBody>
      </p:sp>
      <p:sp>
        <p:nvSpPr>
          <p:cNvPr id="47" name="Text 45"/>
          <p:cNvSpPr/>
          <p:nvPr/>
        </p:nvSpPr>
        <p:spPr>
          <a:xfrm>
            <a:off x="7104888" y="5148072"/>
            <a:ext cx="1060704" cy="402336"/>
          </a:xfrm>
          <a:prstGeom prst="rect">
            <a:avLst/>
          </a:prstGeom>
          <a:noFill/>
          <a:ln/>
        </p:spPr>
        <p:txBody>
          <a:bodyPr wrap="square" lIns="0" tIns="0" rIns="0" bIns="0" rtlCol="0" anchor="ctr"/>
          <a:lstStyle/>
          <a:p>
            <a:pPr indent="0" marL="0">
              <a:buNone/>
            </a:pPr>
            <a:r>
              <a:rPr lang="en-US" sz="1100" dirty="0">
                <a:solidFill>
                  <a:srgbClr val="9A7A25"/>
                </a:solidFill>
                <a:latin typeface="Calibri" pitchFamily="34" charset="0"/>
                <a:ea typeface="Calibri" pitchFamily="34" charset="-122"/>
                <a:cs typeface="Calibri" pitchFamily="34" charset="-120"/>
              </a:rPr>
              <a:t>8–10 / month</a:t>
            </a:r>
            <a:endParaRPr lang="en-US" sz="1100" dirty="0"/>
          </a:p>
        </p:txBody>
      </p:sp>
      <p:sp>
        <p:nvSpPr>
          <p:cNvPr id="48" name="Text 46"/>
          <p:cNvSpPr/>
          <p:nvPr/>
        </p:nvSpPr>
        <p:spPr>
          <a:xfrm>
            <a:off x="8476488" y="5148072"/>
            <a:ext cx="2825496" cy="402336"/>
          </a:xfrm>
          <a:prstGeom prst="rect">
            <a:avLst/>
          </a:prstGeom>
          <a:noFill/>
          <a:ln/>
        </p:spPr>
        <p:txBody>
          <a:bodyPr wrap="square" lIns="0" tIns="0" rIns="0" bIns="0" rtlCol="0" anchor="ctr"/>
          <a:lstStyle/>
          <a:p>
            <a:pPr indent="0" marL="0">
              <a:buNone/>
            </a:pPr>
            <a:r>
              <a:rPr lang="en-US" sz="1100" dirty="0">
                <a:solidFill>
                  <a:srgbClr val="555C64"/>
                </a:solidFill>
                <a:latin typeface="Calibri" pitchFamily="34" charset="0"/>
                <a:ea typeface="Calibri" pitchFamily="34" charset="-122"/>
                <a:cs typeface="Calibri" pitchFamily="34" charset="-120"/>
              </a:rPr>
              <a:t>Nobody can copy twenty years of stories.</a:t>
            </a:r>
            <a:endParaRPr lang="en-US" sz="1100" dirty="0"/>
          </a:p>
        </p:txBody>
      </p:sp>
      <p:sp>
        <p:nvSpPr>
          <p:cNvPr id="49" name="Text 47"/>
          <p:cNvSpPr/>
          <p:nvPr/>
        </p:nvSpPr>
        <p:spPr>
          <a:xfrm>
            <a:off x="777240" y="5742432"/>
            <a:ext cx="10637215" cy="548640"/>
          </a:xfrm>
          <a:prstGeom prst="rect">
            <a:avLst/>
          </a:prstGeom>
          <a:noFill/>
          <a:ln/>
        </p:spPr>
        <p:txBody>
          <a:bodyPr wrap="square" lIns="0" tIns="0" rIns="0" bIns="0" rtlCol="0" anchor="ctr"/>
          <a:lstStyle/>
          <a:p>
            <a:pPr indent="0" marL="0">
              <a:lnSpc>
                <a:spcPts val="2100"/>
              </a:lnSpc>
              <a:buNone/>
            </a:pPr>
            <a:r>
              <a:rPr lang="en-US" sz="1400" dirty="0">
                <a:solidFill>
                  <a:srgbClr val="14181D"/>
                </a:solidFill>
                <a:latin typeface="Calibri" pitchFamily="34" charset="0"/>
                <a:ea typeface="Calibri" pitchFamily="34" charset="-122"/>
                <a:cs typeface="Calibri" pitchFamily="34" charset="-120"/>
              </a:rPr>
              <a:t>All of it from two shoot days a month — one studio, one on site. Roughly 35 usable pieces. Production is what Production X does, which is why this costs a fraction of agency rates.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777240" y="530352"/>
            <a:ext cx="10637215" cy="219456"/>
          </a:xfrm>
          <a:prstGeom prst="rect">
            <a:avLst/>
          </a:prstGeom>
          <a:noFill/>
          <a:ln/>
        </p:spPr>
        <p:txBody>
          <a:bodyPr wrap="square" lIns="0" tIns="0" rIns="0" bIns="0" rtlCol="0" anchor="ctr"/>
          <a:lstStyle/>
          <a:p>
            <a:pPr indent="0" marL="0">
              <a:buNone/>
            </a:pPr>
            <a:r>
              <a:rPr lang="en-US" sz="1100" b="1" spc="260" kern="0" dirty="0">
                <a:solidFill>
                  <a:srgbClr val="9A7A25"/>
                </a:solidFill>
                <a:latin typeface="Calibri" pitchFamily="34" charset="0"/>
                <a:ea typeface="Calibri" pitchFamily="34" charset="-122"/>
                <a:cs typeface="Calibri" pitchFamily="34" charset="-120"/>
              </a:rPr>
              <a:t>10</a:t>
            </a:r>
            <a:endParaRPr lang="en-US" sz="1100" dirty="0"/>
          </a:p>
        </p:txBody>
      </p:sp>
      <p:sp>
        <p:nvSpPr>
          <p:cNvPr id="3" name="Text 1"/>
          <p:cNvSpPr/>
          <p:nvPr/>
        </p:nvSpPr>
        <p:spPr>
          <a:xfrm>
            <a:off x="777240" y="768096"/>
            <a:ext cx="10637215" cy="603504"/>
          </a:xfrm>
          <a:prstGeom prst="rect">
            <a:avLst/>
          </a:prstGeom>
          <a:noFill/>
          <a:ln/>
        </p:spPr>
        <p:txBody>
          <a:bodyPr wrap="square" lIns="0" tIns="0" rIns="0" bIns="0" rtlCol="0" anchor="ctr"/>
          <a:lstStyle/>
          <a:p>
            <a:pPr indent="0" marL="0">
              <a:buNone/>
            </a:pPr>
            <a:r>
              <a:rPr lang="en-US" sz="3800" b="1" spc="-60" kern="0" dirty="0">
                <a:solidFill>
                  <a:srgbClr val="14181D"/>
                </a:solidFill>
                <a:latin typeface="Cambria" pitchFamily="34" charset="0"/>
                <a:ea typeface="Cambria" pitchFamily="34" charset="-122"/>
                <a:cs typeface="Cambria" pitchFamily="34" charset="-120"/>
              </a:rPr>
              <a:t>How we promote it</a:t>
            </a:r>
            <a:endParaRPr lang="en-US" sz="3800" dirty="0"/>
          </a:p>
        </p:txBody>
      </p:sp>
      <p:sp>
        <p:nvSpPr>
          <p:cNvPr id="4" name="Shape 2"/>
          <p:cNvSpPr/>
          <p:nvPr/>
        </p:nvSpPr>
        <p:spPr>
          <a:xfrm>
            <a:off x="777240" y="1591056"/>
            <a:ext cx="10637215" cy="384048"/>
          </a:xfrm>
          <a:prstGeom prst="rect">
            <a:avLst/>
          </a:prstGeom>
          <a:solidFill>
            <a:srgbClr val="FFFFFF"/>
          </a:solidFill>
          <a:ln/>
        </p:spPr>
      </p:sp>
      <p:sp>
        <p:nvSpPr>
          <p:cNvPr id="5" name="Text 3"/>
          <p:cNvSpPr/>
          <p:nvPr/>
        </p:nvSpPr>
        <p:spPr>
          <a:xfrm>
            <a:off x="1014984" y="1591056"/>
            <a:ext cx="2011680" cy="384048"/>
          </a:xfrm>
          <a:prstGeom prst="rect">
            <a:avLst/>
          </a:prstGeom>
          <a:noFill/>
          <a:ln/>
        </p:spPr>
        <p:txBody>
          <a:bodyPr wrap="square" lIns="0" tIns="0" rIns="0" bIns="0" rtlCol="0" anchor="ctr"/>
          <a:lstStyle/>
          <a:p>
            <a:pPr indent="0" marL="0">
              <a:buNone/>
            </a:pPr>
            <a:r>
              <a:rPr lang="en-US" sz="1250" b="1" dirty="0">
                <a:solidFill>
                  <a:srgbClr val="14181D"/>
                </a:solidFill>
                <a:latin typeface="Cambria" pitchFamily="34" charset="0"/>
                <a:ea typeface="Cambria" pitchFamily="34" charset="-122"/>
                <a:cs typeface="Cambria" pitchFamily="34" charset="-120"/>
              </a:rPr>
              <a:t>YouTube</a:t>
            </a:r>
            <a:endParaRPr lang="en-US" sz="1250" dirty="0"/>
          </a:p>
        </p:txBody>
      </p:sp>
      <p:sp>
        <p:nvSpPr>
          <p:cNvPr id="6" name="Text 4"/>
          <p:cNvSpPr/>
          <p:nvPr/>
        </p:nvSpPr>
        <p:spPr>
          <a:xfrm>
            <a:off x="3154680" y="1591056"/>
            <a:ext cx="4663440" cy="384048"/>
          </a:xfrm>
          <a:prstGeom prst="rect">
            <a:avLst/>
          </a:prstGeom>
          <a:noFill/>
          <a:ln/>
        </p:spPr>
        <p:txBody>
          <a:bodyPr wrap="square" lIns="0" tIns="0" rIns="0" bIns="0" rtlCol="0" anchor="ctr"/>
          <a:lstStyle/>
          <a:p>
            <a:pPr indent="0" marL="0">
              <a:buNone/>
            </a:pPr>
            <a:r>
              <a:rPr lang="en-US" sz="1150" dirty="0">
                <a:solidFill>
                  <a:srgbClr val="555C64"/>
                </a:solidFill>
                <a:latin typeface="Calibri" pitchFamily="34" charset="0"/>
                <a:ea typeface="Calibri" pitchFamily="34" charset="-122"/>
                <a:cs typeface="Calibri" pitchFamily="34" charset="-120"/>
              </a:rPr>
              <a:t>Review films, comparisons, podcast</a:t>
            </a:r>
            <a:endParaRPr lang="en-US" sz="1150" dirty="0"/>
          </a:p>
        </p:txBody>
      </p:sp>
      <p:sp>
        <p:nvSpPr>
          <p:cNvPr id="7" name="Text 5"/>
          <p:cNvSpPr/>
          <p:nvPr/>
        </p:nvSpPr>
        <p:spPr>
          <a:xfrm>
            <a:off x="7955280" y="1591056"/>
            <a:ext cx="3230575" cy="384048"/>
          </a:xfrm>
          <a:prstGeom prst="rect">
            <a:avLst/>
          </a:prstGeom>
          <a:noFill/>
          <a:ln/>
        </p:spPr>
        <p:txBody>
          <a:bodyPr wrap="square" lIns="0" tIns="0" rIns="0" bIns="0" rtlCol="0" anchor="ctr"/>
          <a:lstStyle/>
          <a:p>
            <a:pPr indent="0" marL="0">
              <a:buNone/>
            </a:pPr>
            <a:r>
              <a:rPr lang="en-US" sz="1150" dirty="0">
                <a:solidFill>
                  <a:srgbClr val="27548F"/>
                </a:solidFill>
                <a:latin typeface="Calibri" pitchFamily="34" charset="0"/>
                <a:ea typeface="Calibri" pitchFamily="34" charset="-122"/>
                <a:cs typeface="Calibri" pitchFamily="34" charset="-120"/>
              </a:rPr>
              <a:t>Where property research actually happens now</a:t>
            </a:r>
            <a:endParaRPr lang="en-US" sz="1150" dirty="0"/>
          </a:p>
        </p:txBody>
      </p:sp>
      <p:sp>
        <p:nvSpPr>
          <p:cNvPr id="8" name="Shape 6"/>
          <p:cNvSpPr/>
          <p:nvPr/>
        </p:nvSpPr>
        <p:spPr>
          <a:xfrm>
            <a:off x="777240" y="2020824"/>
            <a:ext cx="10637215" cy="384048"/>
          </a:xfrm>
          <a:prstGeom prst="rect">
            <a:avLst/>
          </a:prstGeom>
          <a:solidFill>
            <a:srgbClr val="FFFFFF"/>
          </a:solidFill>
          <a:ln/>
        </p:spPr>
      </p:sp>
      <p:sp>
        <p:nvSpPr>
          <p:cNvPr id="9" name="Text 7"/>
          <p:cNvSpPr/>
          <p:nvPr/>
        </p:nvSpPr>
        <p:spPr>
          <a:xfrm>
            <a:off x="1014984" y="2020824"/>
            <a:ext cx="2011680" cy="384048"/>
          </a:xfrm>
          <a:prstGeom prst="rect">
            <a:avLst/>
          </a:prstGeom>
          <a:noFill/>
          <a:ln/>
        </p:spPr>
        <p:txBody>
          <a:bodyPr wrap="square" lIns="0" tIns="0" rIns="0" bIns="0" rtlCol="0" anchor="ctr"/>
          <a:lstStyle/>
          <a:p>
            <a:pPr indent="0" marL="0">
              <a:buNone/>
            </a:pPr>
            <a:r>
              <a:rPr lang="en-US" sz="1250" b="1" dirty="0">
                <a:solidFill>
                  <a:srgbClr val="14181D"/>
                </a:solidFill>
                <a:latin typeface="Cambria" pitchFamily="34" charset="0"/>
                <a:ea typeface="Cambria" pitchFamily="34" charset="-122"/>
                <a:cs typeface="Cambria" pitchFamily="34" charset="-120"/>
              </a:rPr>
              <a:t>Instagram</a:t>
            </a:r>
            <a:endParaRPr lang="en-US" sz="1250" dirty="0"/>
          </a:p>
        </p:txBody>
      </p:sp>
      <p:sp>
        <p:nvSpPr>
          <p:cNvPr id="10" name="Text 8"/>
          <p:cNvSpPr/>
          <p:nvPr/>
        </p:nvSpPr>
        <p:spPr>
          <a:xfrm>
            <a:off x="3154680" y="2020824"/>
            <a:ext cx="4663440" cy="384048"/>
          </a:xfrm>
          <a:prstGeom prst="rect">
            <a:avLst/>
          </a:prstGeom>
          <a:noFill/>
          <a:ln/>
        </p:spPr>
        <p:txBody>
          <a:bodyPr wrap="square" lIns="0" tIns="0" rIns="0" bIns="0" rtlCol="0" anchor="ctr"/>
          <a:lstStyle/>
          <a:p>
            <a:pPr indent="0" marL="0">
              <a:buNone/>
            </a:pPr>
            <a:r>
              <a:rPr lang="en-US" sz="1150" dirty="0">
                <a:solidFill>
                  <a:srgbClr val="555C64"/>
                </a:solidFill>
                <a:latin typeface="Calibri" pitchFamily="34" charset="0"/>
                <a:ea typeface="Calibri" pitchFamily="34" charset="-122"/>
                <a:cs typeface="Calibri" pitchFamily="34" charset="-120"/>
              </a:rPr>
              <a:t>Vertical clips, project reveals, founder pieces</a:t>
            </a:r>
            <a:endParaRPr lang="en-US" sz="1150" dirty="0"/>
          </a:p>
        </p:txBody>
      </p:sp>
      <p:sp>
        <p:nvSpPr>
          <p:cNvPr id="11" name="Text 9"/>
          <p:cNvSpPr/>
          <p:nvPr/>
        </p:nvSpPr>
        <p:spPr>
          <a:xfrm>
            <a:off x="7955280" y="2020824"/>
            <a:ext cx="3230575" cy="384048"/>
          </a:xfrm>
          <a:prstGeom prst="rect">
            <a:avLst/>
          </a:prstGeom>
          <a:noFill/>
          <a:ln/>
        </p:spPr>
        <p:txBody>
          <a:bodyPr wrap="square" lIns="0" tIns="0" rIns="0" bIns="0" rtlCol="0" anchor="ctr"/>
          <a:lstStyle/>
          <a:p>
            <a:pPr indent="0" marL="0">
              <a:buNone/>
            </a:pPr>
            <a:r>
              <a:rPr lang="en-US" sz="1150" dirty="0">
                <a:solidFill>
                  <a:srgbClr val="27548F"/>
                </a:solidFill>
                <a:latin typeface="Calibri" pitchFamily="34" charset="0"/>
                <a:ea typeface="Calibri" pitchFamily="34" charset="-122"/>
                <a:cs typeface="Calibri" pitchFamily="34" charset="-120"/>
              </a:rPr>
              <a:t>Reach and recall</a:t>
            </a:r>
            <a:endParaRPr lang="en-US" sz="1150" dirty="0"/>
          </a:p>
        </p:txBody>
      </p:sp>
      <p:sp>
        <p:nvSpPr>
          <p:cNvPr id="12" name="Shape 10"/>
          <p:cNvSpPr/>
          <p:nvPr/>
        </p:nvSpPr>
        <p:spPr>
          <a:xfrm>
            <a:off x="777240" y="2450592"/>
            <a:ext cx="10637215" cy="384048"/>
          </a:xfrm>
          <a:prstGeom prst="rect">
            <a:avLst/>
          </a:prstGeom>
          <a:solidFill>
            <a:srgbClr val="FFFFFF"/>
          </a:solidFill>
          <a:ln/>
        </p:spPr>
      </p:sp>
      <p:sp>
        <p:nvSpPr>
          <p:cNvPr id="13" name="Text 11"/>
          <p:cNvSpPr/>
          <p:nvPr/>
        </p:nvSpPr>
        <p:spPr>
          <a:xfrm>
            <a:off x="1014984" y="2450592"/>
            <a:ext cx="2011680" cy="384048"/>
          </a:xfrm>
          <a:prstGeom prst="rect">
            <a:avLst/>
          </a:prstGeom>
          <a:noFill/>
          <a:ln/>
        </p:spPr>
        <p:txBody>
          <a:bodyPr wrap="square" lIns="0" tIns="0" rIns="0" bIns="0" rtlCol="0" anchor="ctr"/>
          <a:lstStyle/>
          <a:p>
            <a:pPr indent="0" marL="0">
              <a:buNone/>
            </a:pPr>
            <a:r>
              <a:rPr lang="en-US" sz="1250" b="1" dirty="0">
                <a:solidFill>
                  <a:srgbClr val="14181D"/>
                </a:solidFill>
                <a:latin typeface="Cambria" pitchFamily="34" charset="0"/>
                <a:ea typeface="Cambria" pitchFamily="34" charset="-122"/>
                <a:cs typeface="Cambria" pitchFamily="34" charset="-120"/>
              </a:rPr>
              <a:t>LinkedIn</a:t>
            </a:r>
            <a:endParaRPr lang="en-US" sz="1250" dirty="0"/>
          </a:p>
        </p:txBody>
      </p:sp>
      <p:sp>
        <p:nvSpPr>
          <p:cNvPr id="14" name="Text 12"/>
          <p:cNvSpPr/>
          <p:nvPr/>
        </p:nvSpPr>
        <p:spPr>
          <a:xfrm>
            <a:off x="3154680" y="2450592"/>
            <a:ext cx="4663440" cy="384048"/>
          </a:xfrm>
          <a:prstGeom prst="rect">
            <a:avLst/>
          </a:prstGeom>
          <a:noFill/>
          <a:ln/>
        </p:spPr>
        <p:txBody>
          <a:bodyPr wrap="square" lIns="0" tIns="0" rIns="0" bIns="0" rtlCol="0" anchor="ctr"/>
          <a:lstStyle/>
          <a:p>
            <a:pPr indent="0" marL="0">
              <a:buNone/>
            </a:pPr>
            <a:r>
              <a:rPr lang="en-US" sz="1150" dirty="0">
                <a:solidFill>
                  <a:srgbClr val="555C64"/>
                </a:solidFill>
                <a:latin typeface="Calibri" pitchFamily="34" charset="0"/>
                <a:ea typeface="Calibri" pitchFamily="34" charset="-122"/>
                <a:cs typeface="Calibri" pitchFamily="34" charset="-120"/>
              </a:rPr>
              <a:t>Founder posts, market notes, commentary</a:t>
            </a:r>
            <a:endParaRPr lang="en-US" sz="1150" dirty="0"/>
          </a:p>
        </p:txBody>
      </p:sp>
      <p:sp>
        <p:nvSpPr>
          <p:cNvPr id="15" name="Text 13"/>
          <p:cNvSpPr/>
          <p:nvPr/>
        </p:nvSpPr>
        <p:spPr>
          <a:xfrm>
            <a:off x="7955280" y="2450592"/>
            <a:ext cx="3230575" cy="384048"/>
          </a:xfrm>
          <a:prstGeom prst="rect">
            <a:avLst/>
          </a:prstGeom>
          <a:noFill/>
          <a:ln/>
        </p:spPr>
        <p:txBody>
          <a:bodyPr wrap="square" lIns="0" tIns="0" rIns="0" bIns="0" rtlCol="0" anchor="ctr"/>
          <a:lstStyle/>
          <a:p>
            <a:pPr indent="0" marL="0">
              <a:buNone/>
            </a:pPr>
            <a:r>
              <a:rPr lang="en-US" sz="1150" dirty="0">
                <a:solidFill>
                  <a:srgbClr val="27548F"/>
                </a:solidFill>
                <a:latin typeface="Calibri" pitchFamily="34" charset="0"/>
                <a:ea typeface="Calibri" pitchFamily="34" charset="-122"/>
                <a:cs typeface="Calibri" pitchFamily="34" charset="-120"/>
              </a:rPr>
              <a:t>Reaches GCC employees — the real buyers</a:t>
            </a:r>
            <a:endParaRPr lang="en-US" sz="1150" dirty="0"/>
          </a:p>
        </p:txBody>
      </p:sp>
      <p:sp>
        <p:nvSpPr>
          <p:cNvPr id="16" name="Shape 14"/>
          <p:cNvSpPr/>
          <p:nvPr/>
        </p:nvSpPr>
        <p:spPr>
          <a:xfrm>
            <a:off x="777240" y="2880360"/>
            <a:ext cx="10637215" cy="384048"/>
          </a:xfrm>
          <a:prstGeom prst="rect">
            <a:avLst/>
          </a:prstGeom>
          <a:solidFill>
            <a:srgbClr val="FFFFFF"/>
          </a:solidFill>
          <a:ln/>
        </p:spPr>
      </p:sp>
      <p:sp>
        <p:nvSpPr>
          <p:cNvPr id="17" name="Text 15"/>
          <p:cNvSpPr/>
          <p:nvPr/>
        </p:nvSpPr>
        <p:spPr>
          <a:xfrm>
            <a:off x="1014984" y="2880360"/>
            <a:ext cx="2011680" cy="384048"/>
          </a:xfrm>
          <a:prstGeom prst="rect">
            <a:avLst/>
          </a:prstGeom>
          <a:noFill/>
          <a:ln/>
        </p:spPr>
        <p:txBody>
          <a:bodyPr wrap="square" lIns="0" tIns="0" rIns="0" bIns="0" rtlCol="0" anchor="ctr"/>
          <a:lstStyle/>
          <a:p>
            <a:pPr indent="0" marL="0">
              <a:buNone/>
            </a:pPr>
            <a:r>
              <a:rPr lang="en-US" sz="1250" b="1" dirty="0">
                <a:solidFill>
                  <a:srgbClr val="14181D"/>
                </a:solidFill>
                <a:latin typeface="Cambria" pitchFamily="34" charset="0"/>
                <a:ea typeface="Cambria" pitchFamily="34" charset="-122"/>
                <a:cs typeface="Cambria" pitchFamily="34" charset="-120"/>
              </a:rPr>
              <a:t>Search &amp; AI</a:t>
            </a:r>
            <a:endParaRPr lang="en-US" sz="1250" dirty="0"/>
          </a:p>
        </p:txBody>
      </p:sp>
      <p:sp>
        <p:nvSpPr>
          <p:cNvPr id="18" name="Text 16"/>
          <p:cNvSpPr/>
          <p:nvPr/>
        </p:nvSpPr>
        <p:spPr>
          <a:xfrm>
            <a:off x="3154680" y="2880360"/>
            <a:ext cx="4663440" cy="384048"/>
          </a:xfrm>
          <a:prstGeom prst="rect">
            <a:avLst/>
          </a:prstGeom>
          <a:noFill/>
          <a:ln/>
        </p:spPr>
        <p:txBody>
          <a:bodyPr wrap="square" lIns="0" tIns="0" rIns="0" bIns="0" rtlCol="0" anchor="ctr"/>
          <a:lstStyle/>
          <a:p>
            <a:pPr indent="0" marL="0">
              <a:buNone/>
            </a:pPr>
            <a:r>
              <a:rPr lang="en-US" sz="1150" dirty="0">
                <a:solidFill>
                  <a:srgbClr val="555C64"/>
                </a:solidFill>
                <a:latin typeface="Calibri" pitchFamily="34" charset="0"/>
                <a:ea typeface="Calibri" pitchFamily="34" charset="-122"/>
                <a:cs typeface="Calibri" pitchFamily="34" charset="-120"/>
              </a:rPr>
              <a:t>Guides, locality pages, comparisons written to be cited</a:t>
            </a:r>
            <a:endParaRPr lang="en-US" sz="1150" dirty="0"/>
          </a:p>
        </p:txBody>
      </p:sp>
      <p:sp>
        <p:nvSpPr>
          <p:cNvPr id="19" name="Text 17"/>
          <p:cNvSpPr/>
          <p:nvPr/>
        </p:nvSpPr>
        <p:spPr>
          <a:xfrm>
            <a:off x="7955280" y="2880360"/>
            <a:ext cx="3230575" cy="384048"/>
          </a:xfrm>
          <a:prstGeom prst="rect">
            <a:avLst/>
          </a:prstGeom>
          <a:noFill/>
          <a:ln/>
        </p:spPr>
        <p:txBody>
          <a:bodyPr wrap="square" lIns="0" tIns="0" rIns="0" bIns="0" rtlCol="0" anchor="ctr"/>
          <a:lstStyle/>
          <a:p>
            <a:pPr indent="0" marL="0">
              <a:buNone/>
            </a:pPr>
            <a:r>
              <a:rPr lang="en-US" sz="1150" dirty="0">
                <a:solidFill>
                  <a:srgbClr val="27548F"/>
                </a:solidFill>
                <a:latin typeface="Calibri" pitchFamily="34" charset="0"/>
                <a:ea typeface="Calibri" pitchFamily="34" charset="-122"/>
                <a:cs typeface="Calibri" pitchFamily="34" charset="-120"/>
              </a:rPr>
              <a:t>Free enquiries that compound monthly</a:t>
            </a:r>
            <a:endParaRPr lang="en-US" sz="1150" dirty="0"/>
          </a:p>
        </p:txBody>
      </p:sp>
      <p:sp>
        <p:nvSpPr>
          <p:cNvPr id="20" name="Shape 18"/>
          <p:cNvSpPr/>
          <p:nvPr/>
        </p:nvSpPr>
        <p:spPr>
          <a:xfrm>
            <a:off x="777240" y="3310128"/>
            <a:ext cx="10637215" cy="384048"/>
          </a:xfrm>
          <a:prstGeom prst="rect">
            <a:avLst/>
          </a:prstGeom>
          <a:solidFill>
            <a:srgbClr val="FFFFFF"/>
          </a:solidFill>
          <a:ln/>
        </p:spPr>
      </p:sp>
      <p:sp>
        <p:nvSpPr>
          <p:cNvPr id="21" name="Text 19"/>
          <p:cNvSpPr/>
          <p:nvPr/>
        </p:nvSpPr>
        <p:spPr>
          <a:xfrm>
            <a:off x="1014984" y="3310128"/>
            <a:ext cx="2011680" cy="384048"/>
          </a:xfrm>
          <a:prstGeom prst="rect">
            <a:avLst/>
          </a:prstGeom>
          <a:noFill/>
          <a:ln/>
        </p:spPr>
        <p:txBody>
          <a:bodyPr wrap="square" lIns="0" tIns="0" rIns="0" bIns="0" rtlCol="0" anchor="ctr"/>
          <a:lstStyle/>
          <a:p>
            <a:pPr indent="0" marL="0">
              <a:buNone/>
            </a:pPr>
            <a:r>
              <a:rPr lang="en-US" sz="1250" b="1" dirty="0">
                <a:solidFill>
                  <a:srgbClr val="14181D"/>
                </a:solidFill>
                <a:latin typeface="Cambria" pitchFamily="34" charset="0"/>
                <a:ea typeface="Cambria" pitchFamily="34" charset="-122"/>
                <a:cs typeface="Cambria" pitchFamily="34" charset="-120"/>
              </a:rPr>
              <a:t>Google Search ads</a:t>
            </a:r>
            <a:endParaRPr lang="en-US" sz="1250" dirty="0"/>
          </a:p>
        </p:txBody>
      </p:sp>
      <p:sp>
        <p:nvSpPr>
          <p:cNvPr id="22" name="Text 20"/>
          <p:cNvSpPr/>
          <p:nvPr/>
        </p:nvSpPr>
        <p:spPr>
          <a:xfrm>
            <a:off x="3154680" y="3310128"/>
            <a:ext cx="4663440" cy="384048"/>
          </a:xfrm>
          <a:prstGeom prst="rect">
            <a:avLst/>
          </a:prstGeom>
          <a:noFill/>
          <a:ln/>
        </p:spPr>
        <p:txBody>
          <a:bodyPr wrap="square" lIns="0" tIns="0" rIns="0" bIns="0" rtlCol="0" anchor="ctr"/>
          <a:lstStyle/>
          <a:p>
            <a:pPr indent="0" marL="0">
              <a:buNone/>
            </a:pPr>
            <a:r>
              <a:rPr lang="en-US" sz="1150" dirty="0">
                <a:solidFill>
                  <a:srgbClr val="555C64"/>
                </a:solidFill>
                <a:latin typeface="Calibri" pitchFamily="34" charset="0"/>
                <a:ea typeface="Calibri" pitchFamily="34" charset="-122"/>
                <a:cs typeface="Calibri" pitchFamily="34" charset="-120"/>
              </a:rPr>
              <a:t>Project names, locality and competitor terms</a:t>
            </a:r>
            <a:endParaRPr lang="en-US" sz="1150" dirty="0"/>
          </a:p>
        </p:txBody>
      </p:sp>
      <p:sp>
        <p:nvSpPr>
          <p:cNvPr id="23" name="Text 21"/>
          <p:cNvSpPr/>
          <p:nvPr/>
        </p:nvSpPr>
        <p:spPr>
          <a:xfrm>
            <a:off x="7955280" y="3310128"/>
            <a:ext cx="3230575" cy="384048"/>
          </a:xfrm>
          <a:prstGeom prst="rect">
            <a:avLst/>
          </a:prstGeom>
          <a:noFill/>
          <a:ln/>
        </p:spPr>
        <p:txBody>
          <a:bodyPr wrap="square" lIns="0" tIns="0" rIns="0" bIns="0" rtlCol="0" anchor="ctr"/>
          <a:lstStyle/>
          <a:p>
            <a:pPr indent="0" marL="0">
              <a:buNone/>
            </a:pPr>
            <a:r>
              <a:rPr lang="en-US" sz="1150" dirty="0">
                <a:solidFill>
                  <a:srgbClr val="27548F"/>
                </a:solidFill>
                <a:latin typeface="Calibri" pitchFamily="34" charset="0"/>
                <a:ea typeface="Calibri" pitchFamily="34" charset="-122"/>
                <a:cs typeface="Calibri" pitchFamily="34" charset="-120"/>
              </a:rPr>
              <a:t>Small budget, highest intent only</a:t>
            </a:r>
            <a:endParaRPr lang="en-US" sz="1150" dirty="0"/>
          </a:p>
        </p:txBody>
      </p:sp>
      <p:sp>
        <p:nvSpPr>
          <p:cNvPr id="24" name="Shape 22"/>
          <p:cNvSpPr/>
          <p:nvPr/>
        </p:nvSpPr>
        <p:spPr>
          <a:xfrm>
            <a:off x="777240" y="3739896"/>
            <a:ext cx="10637215" cy="384048"/>
          </a:xfrm>
          <a:prstGeom prst="rect">
            <a:avLst/>
          </a:prstGeom>
          <a:solidFill>
            <a:srgbClr val="FFFFFF"/>
          </a:solidFill>
          <a:ln/>
        </p:spPr>
      </p:sp>
      <p:sp>
        <p:nvSpPr>
          <p:cNvPr id="25" name="Text 23"/>
          <p:cNvSpPr/>
          <p:nvPr/>
        </p:nvSpPr>
        <p:spPr>
          <a:xfrm>
            <a:off x="1014984" y="3739896"/>
            <a:ext cx="2011680" cy="384048"/>
          </a:xfrm>
          <a:prstGeom prst="rect">
            <a:avLst/>
          </a:prstGeom>
          <a:noFill/>
          <a:ln/>
        </p:spPr>
        <p:txBody>
          <a:bodyPr wrap="square" lIns="0" tIns="0" rIns="0" bIns="0" rtlCol="0" anchor="ctr"/>
          <a:lstStyle/>
          <a:p>
            <a:pPr indent="0" marL="0">
              <a:buNone/>
            </a:pPr>
            <a:r>
              <a:rPr lang="en-US" sz="1250" b="1" dirty="0">
                <a:solidFill>
                  <a:srgbClr val="14181D"/>
                </a:solidFill>
                <a:latin typeface="Cambria" pitchFamily="34" charset="0"/>
                <a:ea typeface="Cambria" pitchFamily="34" charset="-122"/>
                <a:cs typeface="Cambria" pitchFamily="34" charset="-120"/>
              </a:rPr>
              <a:t>Meta retargeting</a:t>
            </a:r>
            <a:endParaRPr lang="en-US" sz="1250" dirty="0"/>
          </a:p>
        </p:txBody>
      </p:sp>
      <p:sp>
        <p:nvSpPr>
          <p:cNvPr id="26" name="Text 24"/>
          <p:cNvSpPr/>
          <p:nvPr/>
        </p:nvSpPr>
        <p:spPr>
          <a:xfrm>
            <a:off x="3154680" y="3739896"/>
            <a:ext cx="4663440" cy="384048"/>
          </a:xfrm>
          <a:prstGeom prst="rect">
            <a:avLst/>
          </a:prstGeom>
          <a:noFill/>
          <a:ln/>
        </p:spPr>
        <p:txBody>
          <a:bodyPr wrap="square" lIns="0" tIns="0" rIns="0" bIns="0" rtlCol="0" anchor="ctr"/>
          <a:lstStyle/>
          <a:p>
            <a:pPr indent="0" marL="0">
              <a:buNone/>
            </a:pPr>
            <a:r>
              <a:rPr lang="en-US" sz="1150" dirty="0">
                <a:solidFill>
                  <a:srgbClr val="555C64"/>
                </a:solidFill>
                <a:latin typeface="Calibri" pitchFamily="34" charset="0"/>
                <a:ea typeface="Calibri" pitchFamily="34" charset="-122"/>
                <a:cs typeface="Calibri" pitchFamily="34" charset="-120"/>
              </a:rPr>
              <a:t>People who watched a film or opened a project page</a:t>
            </a:r>
            <a:endParaRPr lang="en-US" sz="1150" dirty="0"/>
          </a:p>
        </p:txBody>
      </p:sp>
      <p:sp>
        <p:nvSpPr>
          <p:cNvPr id="27" name="Text 25"/>
          <p:cNvSpPr/>
          <p:nvPr/>
        </p:nvSpPr>
        <p:spPr>
          <a:xfrm>
            <a:off x="7955280" y="3739896"/>
            <a:ext cx="3230575" cy="384048"/>
          </a:xfrm>
          <a:prstGeom prst="rect">
            <a:avLst/>
          </a:prstGeom>
          <a:noFill/>
          <a:ln/>
        </p:spPr>
        <p:txBody>
          <a:bodyPr wrap="square" lIns="0" tIns="0" rIns="0" bIns="0" rtlCol="0" anchor="ctr"/>
          <a:lstStyle/>
          <a:p>
            <a:pPr indent="0" marL="0">
              <a:buNone/>
            </a:pPr>
            <a:r>
              <a:rPr lang="en-US" sz="1150" dirty="0">
                <a:solidFill>
                  <a:srgbClr val="27548F"/>
                </a:solidFill>
                <a:latin typeface="Calibri" pitchFamily="34" charset="0"/>
                <a:ea typeface="Calibri" pitchFamily="34" charset="-122"/>
                <a:cs typeface="Calibri" pitchFamily="34" charset="-120"/>
              </a:rPr>
              <a:t>Cheap re-engagement. No cold reach.</a:t>
            </a:r>
            <a:endParaRPr lang="en-US" sz="1150" dirty="0"/>
          </a:p>
        </p:txBody>
      </p:sp>
      <p:sp>
        <p:nvSpPr>
          <p:cNvPr id="28" name="Shape 26"/>
          <p:cNvSpPr/>
          <p:nvPr/>
        </p:nvSpPr>
        <p:spPr>
          <a:xfrm>
            <a:off x="777240" y="4169664"/>
            <a:ext cx="10637215" cy="384048"/>
          </a:xfrm>
          <a:prstGeom prst="rect">
            <a:avLst/>
          </a:prstGeom>
          <a:solidFill>
            <a:srgbClr val="FFFFFF"/>
          </a:solidFill>
          <a:ln/>
        </p:spPr>
      </p:sp>
      <p:sp>
        <p:nvSpPr>
          <p:cNvPr id="29" name="Text 27"/>
          <p:cNvSpPr/>
          <p:nvPr/>
        </p:nvSpPr>
        <p:spPr>
          <a:xfrm>
            <a:off x="1014984" y="4169664"/>
            <a:ext cx="2011680" cy="384048"/>
          </a:xfrm>
          <a:prstGeom prst="rect">
            <a:avLst/>
          </a:prstGeom>
          <a:noFill/>
          <a:ln/>
        </p:spPr>
        <p:txBody>
          <a:bodyPr wrap="square" lIns="0" tIns="0" rIns="0" bIns="0" rtlCol="0" anchor="ctr"/>
          <a:lstStyle/>
          <a:p>
            <a:pPr indent="0" marL="0">
              <a:buNone/>
            </a:pPr>
            <a:r>
              <a:rPr lang="en-US" sz="1250" b="1" dirty="0">
                <a:solidFill>
                  <a:srgbClr val="14181D"/>
                </a:solidFill>
                <a:latin typeface="Cambria" pitchFamily="34" charset="0"/>
                <a:ea typeface="Cambria" pitchFamily="34" charset="-122"/>
                <a:cs typeface="Cambria" pitchFamily="34" charset="-120"/>
              </a:rPr>
              <a:t>WhatsApp</a:t>
            </a:r>
            <a:endParaRPr lang="en-US" sz="1250" dirty="0"/>
          </a:p>
        </p:txBody>
      </p:sp>
      <p:sp>
        <p:nvSpPr>
          <p:cNvPr id="30" name="Text 28"/>
          <p:cNvSpPr/>
          <p:nvPr/>
        </p:nvSpPr>
        <p:spPr>
          <a:xfrm>
            <a:off x="3154680" y="4169664"/>
            <a:ext cx="4663440" cy="384048"/>
          </a:xfrm>
          <a:prstGeom prst="rect">
            <a:avLst/>
          </a:prstGeom>
          <a:noFill/>
          <a:ln/>
        </p:spPr>
        <p:txBody>
          <a:bodyPr wrap="square" lIns="0" tIns="0" rIns="0" bIns="0" rtlCol="0" anchor="ctr"/>
          <a:lstStyle/>
          <a:p>
            <a:pPr indent="0" marL="0">
              <a:buNone/>
            </a:pPr>
            <a:r>
              <a:rPr lang="en-US" sz="1150" dirty="0">
                <a:solidFill>
                  <a:srgbClr val="555C64"/>
                </a:solidFill>
                <a:latin typeface="Calibri" pitchFamily="34" charset="0"/>
                <a:ea typeface="Calibri" pitchFamily="34" charset="-122"/>
                <a:cs typeface="Calibri" pitchFamily="34" charset="-120"/>
              </a:rPr>
              <a:t>Opt-in updates, visit confirmations, conversations</a:t>
            </a:r>
            <a:endParaRPr lang="en-US" sz="1150" dirty="0"/>
          </a:p>
        </p:txBody>
      </p:sp>
      <p:sp>
        <p:nvSpPr>
          <p:cNvPr id="31" name="Text 29"/>
          <p:cNvSpPr/>
          <p:nvPr/>
        </p:nvSpPr>
        <p:spPr>
          <a:xfrm>
            <a:off x="7955280" y="4169664"/>
            <a:ext cx="3230575" cy="384048"/>
          </a:xfrm>
          <a:prstGeom prst="rect">
            <a:avLst/>
          </a:prstGeom>
          <a:noFill/>
          <a:ln/>
        </p:spPr>
        <p:txBody>
          <a:bodyPr wrap="square" lIns="0" tIns="0" rIns="0" bIns="0" rtlCol="0" anchor="ctr"/>
          <a:lstStyle/>
          <a:p>
            <a:pPr indent="0" marL="0">
              <a:buNone/>
            </a:pPr>
            <a:r>
              <a:rPr lang="en-US" sz="1150" dirty="0">
                <a:solidFill>
                  <a:srgbClr val="27548F"/>
                </a:solidFill>
                <a:latin typeface="Calibri" pitchFamily="34" charset="0"/>
                <a:ea typeface="Calibri" pitchFamily="34" charset="-122"/>
                <a:cs typeface="Calibri" pitchFamily="34" charset="-120"/>
              </a:rPr>
              <a:t>Highest open rate in this market</a:t>
            </a:r>
            <a:endParaRPr lang="en-US" sz="1150" dirty="0"/>
          </a:p>
        </p:txBody>
      </p:sp>
      <p:sp>
        <p:nvSpPr>
          <p:cNvPr id="32" name="Shape 30"/>
          <p:cNvSpPr/>
          <p:nvPr/>
        </p:nvSpPr>
        <p:spPr>
          <a:xfrm>
            <a:off x="777240" y="4599432"/>
            <a:ext cx="10637215" cy="384048"/>
          </a:xfrm>
          <a:prstGeom prst="rect">
            <a:avLst/>
          </a:prstGeom>
          <a:solidFill>
            <a:srgbClr val="FFFFFF"/>
          </a:solidFill>
          <a:ln/>
        </p:spPr>
      </p:sp>
      <p:sp>
        <p:nvSpPr>
          <p:cNvPr id="33" name="Text 31"/>
          <p:cNvSpPr/>
          <p:nvPr/>
        </p:nvSpPr>
        <p:spPr>
          <a:xfrm>
            <a:off x="1014984" y="4599432"/>
            <a:ext cx="2011680" cy="384048"/>
          </a:xfrm>
          <a:prstGeom prst="rect">
            <a:avLst/>
          </a:prstGeom>
          <a:noFill/>
          <a:ln/>
        </p:spPr>
        <p:txBody>
          <a:bodyPr wrap="square" lIns="0" tIns="0" rIns="0" bIns="0" rtlCol="0" anchor="ctr"/>
          <a:lstStyle/>
          <a:p>
            <a:pPr indent="0" marL="0">
              <a:buNone/>
            </a:pPr>
            <a:r>
              <a:rPr lang="en-US" sz="1250" b="1" dirty="0">
                <a:solidFill>
                  <a:srgbClr val="14181D"/>
                </a:solidFill>
                <a:latin typeface="Cambria" pitchFamily="34" charset="0"/>
                <a:ea typeface="Cambria" pitchFamily="34" charset="-122"/>
                <a:cs typeface="Cambria" pitchFamily="34" charset="-120"/>
              </a:rPr>
              <a:t>PR</a:t>
            </a:r>
            <a:endParaRPr lang="en-US" sz="1250" dirty="0"/>
          </a:p>
        </p:txBody>
      </p:sp>
      <p:sp>
        <p:nvSpPr>
          <p:cNvPr id="34" name="Text 32"/>
          <p:cNvSpPr/>
          <p:nvPr/>
        </p:nvSpPr>
        <p:spPr>
          <a:xfrm>
            <a:off x="3154680" y="4599432"/>
            <a:ext cx="4663440" cy="384048"/>
          </a:xfrm>
          <a:prstGeom prst="rect">
            <a:avLst/>
          </a:prstGeom>
          <a:noFill/>
          <a:ln/>
        </p:spPr>
        <p:txBody>
          <a:bodyPr wrap="square" lIns="0" tIns="0" rIns="0" bIns="0" rtlCol="0" anchor="ctr"/>
          <a:lstStyle/>
          <a:p>
            <a:pPr indent="0" marL="0">
              <a:buNone/>
            </a:pPr>
            <a:r>
              <a:rPr lang="en-US" sz="1150" dirty="0">
                <a:solidFill>
                  <a:srgbClr val="555C64"/>
                </a:solidFill>
                <a:latin typeface="Calibri" pitchFamily="34" charset="0"/>
                <a:ea typeface="Calibri" pitchFamily="34" charset="-122"/>
                <a:cs typeface="Calibri" pitchFamily="34" charset="-120"/>
              </a:rPr>
              <a:t>Market note pitched to Telangana Today, Deccan Chronicle, Siasat</a:t>
            </a:r>
            <a:endParaRPr lang="en-US" sz="1150" dirty="0"/>
          </a:p>
        </p:txBody>
      </p:sp>
      <p:sp>
        <p:nvSpPr>
          <p:cNvPr id="35" name="Text 33"/>
          <p:cNvSpPr/>
          <p:nvPr/>
        </p:nvSpPr>
        <p:spPr>
          <a:xfrm>
            <a:off x="7955280" y="4599432"/>
            <a:ext cx="3230575" cy="384048"/>
          </a:xfrm>
          <a:prstGeom prst="rect">
            <a:avLst/>
          </a:prstGeom>
          <a:noFill/>
          <a:ln/>
        </p:spPr>
        <p:txBody>
          <a:bodyPr wrap="square" lIns="0" tIns="0" rIns="0" bIns="0" rtlCol="0" anchor="ctr"/>
          <a:lstStyle/>
          <a:p>
            <a:pPr indent="0" marL="0">
              <a:buNone/>
            </a:pPr>
            <a:r>
              <a:rPr lang="en-US" sz="1150" dirty="0">
                <a:solidFill>
                  <a:srgbClr val="27548F"/>
                </a:solidFill>
                <a:latin typeface="Calibri" pitchFamily="34" charset="0"/>
                <a:ea typeface="Calibri" pitchFamily="34" charset="-122"/>
                <a:cs typeface="Calibri" pitchFamily="34" charset="-120"/>
              </a:rPr>
              <a:t>Third-party credibility, no media cost</a:t>
            </a:r>
            <a:endParaRPr lang="en-US" sz="1150" dirty="0"/>
          </a:p>
        </p:txBody>
      </p:sp>
      <p:sp>
        <p:nvSpPr>
          <p:cNvPr id="36" name="Shape 34"/>
          <p:cNvSpPr/>
          <p:nvPr/>
        </p:nvSpPr>
        <p:spPr>
          <a:xfrm>
            <a:off x="777240" y="5029200"/>
            <a:ext cx="10637215" cy="384048"/>
          </a:xfrm>
          <a:prstGeom prst="rect">
            <a:avLst/>
          </a:prstGeom>
          <a:solidFill>
            <a:srgbClr val="FFFFFF"/>
          </a:solidFill>
          <a:ln/>
        </p:spPr>
      </p:sp>
      <p:sp>
        <p:nvSpPr>
          <p:cNvPr id="37" name="Text 35"/>
          <p:cNvSpPr/>
          <p:nvPr/>
        </p:nvSpPr>
        <p:spPr>
          <a:xfrm>
            <a:off x="1014984" y="5029200"/>
            <a:ext cx="2011680" cy="384048"/>
          </a:xfrm>
          <a:prstGeom prst="rect">
            <a:avLst/>
          </a:prstGeom>
          <a:noFill/>
          <a:ln/>
        </p:spPr>
        <p:txBody>
          <a:bodyPr wrap="square" lIns="0" tIns="0" rIns="0" bIns="0" rtlCol="0" anchor="ctr"/>
          <a:lstStyle/>
          <a:p>
            <a:pPr indent="0" marL="0">
              <a:buNone/>
            </a:pPr>
            <a:r>
              <a:rPr lang="en-US" sz="1250" b="1" dirty="0">
                <a:solidFill>
                  <a:srgbClr val="14181D"/>
                </a:solidFill>
                <a:latin typeface="Cambria" pitchFamily="34" charset="0"/>
                <a:ea typeface="Cambria" pitchFamily="34" charset="-122"/>
                <a:cs typeface="Cambria" pitchFamily="34" charset="-120"/>
              </a:rPr>
              <a:t>Developers</a:t>
            </a:r>
            <a:endParaRPr lang="en-US" sz="1250" dirty="0"/>
          </a:p>
        </p:txBody>
      </p:sp>
      <p:sp>
        <p:nvSpPr>
          <p:cNvPr id="38" name="Text 36"/>
          <p:cNvSpPr/>
          <p:nvPr/>
        </p:nvSpPr>
        <p:spPr>
          <a:xfrm>
            <a:off x="3154680" y="5029200"/>
            <a:ext cx="4663440" cy="384048"/>
          </a:xfrm>
          <a:prstGeom prst="rect">
            <a:avLst/>
          </a:prstGeom>
          <a:noFill/>
          <a:ln/>
        </p:spPr>
        <p:txBody>
          <a:bodyPr wrap="square" lIns="0" tIns="0" rIns="0" bIns="0" rtlCol="0" anchor="ctr"/>
          <a:lstStyle/>
          <a:p>
            <a:pPr indent="0" marL="0">
              <a:buNone/>
            </a:pPr>
            <a:r>
              <a:rPr lang="en-US" sz="1150" dirty="0">
                <a:solidFill>
                  <a:srgbClr val="555C64"/>
                </a:solidFill>
                <a:latin typeface="Calibri" pitchFamily="34" charset="0"/>
                <a:ea typeface="Calibri" pitchFamily="34" charset="-122"/>
                <a:cs typeface="Calibri" pitchFamily="34" charset="-120"/>
              </a:rPr>
              <a:t>Co-marketing on mandate projects</a:t>
            </a:r>
            <a:endParaRPr lang="en-US" sz="1150" dirty="0"/>
          </a:p>
        </p:txBody>
      </p:sp>
      <p:sp>
        <p:nvSpPr>
          <p:cNvPr id="39" name="Text 37"/>
          <p:cNvSpPr/>
          <p:nvPr/>
        </p:nvSpPr>
        <p:spPr>
          <a:xfrm>
            <a:off x="7955280" y="5029200"/>
            <a:ext cx="3230575" cy="384048"/>
          </a:xfrm>
          <a:prstGeom prst="rect">
            <a:avLst/>
          </a:prstGeom>
          <a:noFill/>
          <a:ln/>
        </p:spPr>
        <p:txBody>
          <a:bodyPr wrap="square" lIns="0" tIns="0" rIns="0" bIns="0" rtlCol="0" anchor="ctr"/>
          <a:lstStyle/>
          <a:p>
            <a:pPr indent="0" marL="0">
              <a:buNone/>
            </a:pPr>
            <a:r>
              <a:rPr lang="en-US" sz="1150" dirty="0">
                <a:solidFill>
                  <a:srgbClr val="27548F"/>
                </a:solidFill>
                <a:latin typeface="Calibri" pitchFamily="34" charset="0"/>
                <a:ea typeface="Calibri" pitchFamily="34" charset="-122"/>
                <a:cs typeface="Calibri" pitchFamily="34" charset="-120"/>
              </a:rPr>
              <a:t>They fund reach we would otherwise buy</a:t>
            </a:r>
            <a:endParaRPr lang="en-US" sz="1150" dirty="0"/>
          </a:p>
        </p:txBody>
      </p:sp>
      <p:sp>
        <p:nvSpPr>
          <p:cNvPr id="40" name="Shape 38"/>
          <p:cNvSpPr/>
          <p:nvPr/>
        </p:nvSpPr>
        <p:spPr>
          <a:xfrm>
            <a:off x="777240" y="5458968"/>
            <a:ext cx="10637215" cy="384048"/>
          </a:xfrm>
          <a:prstGeom prst="rect">
            <a:avLst/>
          </a:prstGeom>
          <a:solidFill>
            <a:srgbClr val="FFFFFF"/>
          </a:solidFill>
          <a:ln/>
        </p:spPr>
      </p:sp>
      <p:sp>
        <p:nvSpPr>
          <p:cNvPr id="41" name="Text 39"/>
          <p:cNvSpPr/>
          <p:nvPr/>
        </p:nvSpPr>
        <p:spPr>
          <a:xfrm>
            <a:off x="1014984" y="5458968"/>
            <a:ext cx="2011680" cy="384048"/>
          </a:xfrm>
          <a:prstGeom prst="rect">
            <a:avLst/>
          </a:prstGeom>
          <a:noFill/>
          <a:ln/>
        </p:spPr>
        <p:txBody>
          <a:bodyPr wrap="square" lIns="0" tIns="0" rIns="0" bIns="0" rtlCol="0" anchor="ctr"/>
          <a:lstStyle/>
          <a:p>
            <a:pPr indent="0" marL="0">
              <a:buNone/>
            </a:pPr>
            <a:r>
              <a:rPr lang="en-US" sz="1250" b="1" dirty="0">
                <a:solidFill>
                  <a:srgbClr val="14181D"/>
                </a:solidFill>
                <a:latin typeface="Cambria" pitchFamily="34" charset="0"/>
                <a:ea typeface="Cambria" pitchFamily="34" charset="-122"/>
                <a:cs typeface="Cambria" pitchFamily="34" charset="-120"/>
              </a:rPr>
              <a:t>Portals</a:t>
            </a:r>
            <a:endParaRPr lang="en-US" sz="1250" dirty="0"/>
          </a:p>
        </p:txBody>
      </p:sp>
      <p:sp>
        <p:nvSpPr>
          <p:cNvPr id="42" name="Text 40"/>
          <p:cNvSpPr/>
          <p:nvPr/>
        </p:nvSpPr>
        <p:spPr>
          <a:xfrm>
            <a:off x="3154680" y="5458968"/>
            <a:ext cx="4663440" cy="384048"/>
          </a:xfrm>
          <a:prstGeom prst="rect">
            <a:avLst/>
          </a:prstGeom>
          <a:noFill/>
          <a:ln/>
        </p:spPr>
        <p:txBody>
          <a:bodyPr wrap="square" lIns="0" tIns="0" rIns="0" bIns="0" rtlCol="0" anchor="ctr"/>
          <a:lstStyle/>
          <a:p>
            <a:pPr indent="0" marL="0">
              <a:buNone/>
            </a:pPr>
            <a:r>
              <a:rPr lang="en-US" sz="1150" dirty="0">
                <a:solidFill>
                  <a:srgbClr val="555C64"/>
                </a:solidFill>
                <a:latin typeface="Calibri" pitchFamily="34" charset="0"/>
                <a:ea typeface="Calibri" pitchFamily="34" charset="-122"/>
                <a:cs typeface="Calibri" pitchFamily="34" charset="-120"/>
              </a:rPr>
              <a:t>Listings for coverage only</a:t>
            </a:r>
            <a:endParaRPr lang="en-US" sz="1150" dirty="0"/>
          </a:p>
        </p:txBody>
      </p:sp>
      <p:sp>
        <p:nvSpPr>
          <p:cNvPr id="43" name="Text 41"/>
          <p:cNvSpPr/>
          <p:nvPr/>
        </p:nvSpPr>
        <p:spPr>
          <a:xfrm>
            <a:off x="7955280" y="5458968"/>
            <a:ext cx="3230575" cy="384048"/>
          </a:xfrm>
          <a:prstGeom prst="rect">
            <a:avLst/>
          </a:prstGeom>
          <a:noFill/>
          <a:ln/>
        </p:spPr>
        <p:txBody>
          <a:bodyPr wrap="square" lIns="0" tIns="0" rIns="0" bIns="0" rtlCol="0" anchor="ctr"/>
          <a:lstStyle/>
          <a:p>
            <a:pPr indent="0" marL="0">
              <a:buNone/>
            </a:pPr>
            <a:r>
              <a:rPr lang="en-US" sz="1150" dirty="0">
                <a:solidFill>
                  <a:srgbClr val="27548F"/>
                </a:solidFill>
                <a:latin typeface="Calibri" pitchFamily="34" charset="0"/>
                <a:ea typeface="Calibri" pitchFamily="34" charset="-122"/>
                <a:cs typeface="Calibri" pitchFamily="34" charset="-120"/>
              </a:rPr>
              <a:t>Necessary, never the core</a:t>
            </a:r>
            <a:endParaRPr lang="en-US" sz="1150" dirty="0"/>
          </a:p>
        </p:txBody>
      </p:sp>
      <p:sp>
        <p:nvSpPr>
          <p:cNvPr id="44" name="Text 42"/>
          <p:cNvSpPr/>
          <p:nvPr/>
        </p:nvSpPr>
        <p:spPr>
          <a:xfrm>
            <a:off x="777240" y="6016752"/>
            <a:ext cx="10637215" cy="402336"/>
          </a:xfrm>
          <a:prstGeom prst="rect">
            <a:avLst/>
          </a:prstGeom>
          <a:noFill/>
          <a:ln/>
        </p:spPr>
        <p:txBody>
          <a:bodyPr wrap="square" lIns="0" tIns="0" rIns="0" bIns="0" rtlCol="0" anchor="ctr"/>
          <a:lstStyle/>
          <a:p>
            <a:pPr indent="0" marL="0">
              <a:buNone/>
            </a:pPr>
            <a:r>
              <a:rPr lang="en-US" sz="1400" b="1" dirty="0">
                <a:solidFill>
                  <a:srgbClr val="14181D"/>
                </a:solidFill>
                <a:latin typeface="Calibri" pitchFamily="34" charset="0"/>
                <a:ea typeface="Calibri" pitchFamily="34" charset="-122"/>
                <a:cs typeface="Calibri" pitchFamily="34" charset="-120"/>
              </a:rPr>
              <a:t>The free one that matters most: response time. A lead that waits four hours is gone.</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777240" y="530352"/>
            <a:ext cx="10637215" cy="219456"/>
          </a:xfrm>
          <a:prstGeom prst="rect">
            <a:avLst/>
          </a:prstGeom>
          <a:noFill/>
          <a:ln/>
        </p:spPr>
        <p:txBody>
          <a:bodyPr wrap="square" lIns="0" tIns="0" rIns="0" bIns="0" rtlCol="0" anchor="ctr"/>
          <a:lstStyle/>
          <a:p>
            <a:pPr indent="0" marL="0">
              <a:buNone/>
            </a:pPr>
            <a:r>
              <a:rPr lang="en-US" sz="1100" b="1" spc="260" kern="0" dirty="0">
                <a:solidFill>
                  <a:srgbClr val="9A7A25"/>
                </a:solidFill>
                <a:latin typeface="Calibri" pitchFamily="34" charset="0"/>
                <a:ea typeface="Calibri" pitchFamily="34" charset="-122"/>
                <a:cs typeface="Calibri" pitchFamily="34" charset="-120"/>
              </a:rPr>
              <a:t>11</a:t>
            </a:r>
            <a:endParaRPr lang="en-US" sz="1100" dirty="0"/>
          </a:p>
        </p:txBody>
      </p:sp>
      <p:sp>
        <p:nvSpPr>
          <p:cNvPr id="3" name="Text 1"/>
          <p:cNvSpPr/>
          <p:nvPr/>
        </p:nvSpPr>
        <p:spPr>
          <a:xfrm>
            <a:off x="777240" y="768096"/>
            <a:ext cx="10637215" cy="603504"/>
          </a:xfrm>
          <a:prstGeom prst="rect">
            <a:avLst/>
          </a:prstGeom>
          <a:noFill/>
          <a:ln/>
        </p:spPr>
        <p:txBody>
          <a:bodyPr wrap="square" lIns="0" tIns="0" rIns="0" bIns="0" rtlCol="0" anchor="ctr"/>
          <a:lstStyle/>
          <a:p>
            <a:pPr indent="0" marL="0">
              <a:buNone/>
            </a:pPr>
            <a:r>
              <a:rPr lang="en-US" sz="3800" b="1" spc="-60" kern="0" dirty="0">
                <a:solidFill>
                  <a:srgbClr val="14181D"/>
                </a:solidFill>
                <a:latin typeface="Cambria" pitchFamily="34" charset="0"/>
                <a:ea typeface="Cambria" pitchFamily="34" charset="-122"/>
                <a:cs typeface="Cambria" pitchFamily="34" charset="-120"/>
              </a:rPr>
              <a:t>Budget</a:t>
            </a:r>
            <a:endParaRPr lang="en-US" sz="3800" dirty="0"/>
          </a:p>
        </p:txBody>
      </p:sp>
      <p:sp>
        <p:nvSpPr>
          <p:cNvPr id="4" name="Text 2"/>
          <p:cNvSpPr/>
          <p:nvPr/>
        </p:nvSpPr>
        <p:spPr>
          <a:xfrm>
            <a:off x="777240" y="1463040"/>
            <a:ext cx="9539935" cy="457200"/>
          </a:xfrm>
          <a:prstGeom prst="rect">
            <a:avLst/>
          </a:prstGeom>
          <a:noFill/>
          <a:ln/>
        </p:spPr>
        <p:txBody>
          <a:bodyPr wrap="square" lIns="0" tIns="0" rIns="0" bIns="0" rtlCol="0" anchor="t"/>
          <a:lstStyle/>
          <a:p>
            <a:pPr indent="0" marL="0">
              <a:lnSpc>
                <a:spcPts val="2200"/>
              </a:lnSpc>
              <a:buNone/>
            </a:pPr>
            <a:r>
              <a:rPr lang="en-US" sz="1550" dirty="0">
                <a:solidFill>
                  <a:srgbClr val="555C64"/>
                </a:solidFill>
                <a:latin typeface="Calibri" pitchFamily="34" charset="0"/>
                <a:ea typeface="Calibri" pitchFamily="34" charset="-122"/>
                <a:cs typeface="Calibri" pitchFamily="34" charset="-120"/>
              </a:rPr>
              <a:t>Three levels. Start low, move up only when the numbers justify it.</a:t>
            </a:r>
            <a:endParaRPr lang="en-US" sz="1550" dirty="0"/>
          </a:p>
        </p:txBody>
      </p:sp>
      <p:sp>
        <p:nvSpPr>
          <p:cNvPr id="5" name="Shape 3"/>
          <p:cNvSpPr/>
          <p:nvPr/>
        </p:nvSpPr>
        <p:spPr>
          <a:xfrm>
            <a:off x="777240" y="2066544"/>
            <a:ext cx="3362858" cy="3657600"/>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6" name="Text 4"/>
          <p:cNvSpPr/>
          <p:nvPr/>
        </p:nvSpPr>
        <p:spPr>
          <a:xfrm>
            <a:off x="1051560" y="2304288"/>
            <a:ext cx="2814218" cy="256032"/>
          </a:xfrm>
          <a:prstGeom prst="rect">
            <a:avLst/>
          </a:prstGeom>
          <a:noFill/>
          <a:ln/>
        </p:spPr>
        <p:txBody>
          <a:bodyPr wrap="square" lIns="0" tIns="0" rIns="0" bIns="0" rtlCol="0" anchor="ctr"/>
          <a:lstStyle/>
          <a:p>
            <a:pPr indent="0" marL="0">
              <a:buNone/>
            </a:pPr>
            <a:r>
              <a:rPr lang="en-US" sz="850" b="1" spc="140" kern="0" dirty="0">
                <a:solidFill>
                  <a:srgbClr val="8A9099"/>
                </a:solidFill>
                <a:latin typeface="Calibri" pitchFamily="34" charset="0"/>
                <a:ea typeface="Calibri" pitchFamily="34" charset="-122"/>
                <a:cs typeface="Calibri" pitchFamily="34" charset="-120"/>
              </a:rPr>
              <a:t>LEVEL 1</a:t>
            </a:r>
            <a:endParaRPr lang="en-US" sz="850" dirty="0"/>
          </a:p>
        </p:txBody>
      </p:sp>
      <p:sp>
        <p:nvSpPr>
          <p:cNvPr id="7" name="Text 5"/>
          <p:cNvSpPr/>
          <p:nvPr/>
        </p:nvSpPr>
        <p:spPr>
          <a:xfrm>
            <a:off x="1051560" y="2596896"/>
            <a:ext cx="2814218" cy="365760"/>
          </a:xfrm>
          <a:prstGeom prst="rect">
            <a:avLst/>
          </a:prstGeom>
          <a:noFill/>
          <a:ln/>
        </p:spPr>
        <p:txBody>
          <a:bodyPr wrap="square" lIns="0" tIns="0" rIns="0" bIns="0" rtlCol="0" anchor="ctr"/>
          <a:lstStyle/>
          <a:p>
            <a:pPr indent="0" marL="0">
              <a:buNone/>
            </a:pPr>
            <a:r>
              <a:rPr lang="en-US" sz="1800" b="1" dirty="0">
                <a:solidFill>
                  <a:srgbClr val="14181D"/>
                </a:solidFill>
                <a:latin typeface="Cambria" pitchFamily="34" charset="0"/>
                <a:ea typeface="Cambria" pitchFamily="34" charset="-122"/>
                <a:cs typeface="Cambria" pitchFamily="34" charset="-120"/>
              </a:rPr>
              <a:t>Foundation</a:t>
            </a:r>
            <a:endParaRPr lang="en-US" sz="1800" dirty="0"/>
          </a:p>
        </p:txBody>
      </p:sp>
      <p:sp>
        <p:nvSpPr>
          <p:cNvPr id="8" name="Text 6"/>
          <p:cNvSpPr/>
          <p:nvPr/>
        </p:nvSpPr>
        <p:spPr>
          <a:xfrm>
            <a:off x="1051560" y="2999232"/>
            <a:ext cx="2814218" cy="713232"/>
          </a:xfrm>
          <a:prstGeom prst="rect">
            <a:avLst/>
          </a:prstGeom>
          <a:noFill/>
          <a:ln/>
        </p:spPr>
        <p:txBody>
          <a:bodyPr wrap="square" lIns="0" tIns="0" rIns="0" bIns="0" rtlCol="0" anchor="ctr"/>
          <a:lstStyle/>
          <a:p>
            <a:pPr indent="0" marL="0">
              <a:buNone/>
            </a:pPr>
            <a:r>
              <a:rPr lang="en-US" sz="4000" b="1" spc="-120" kern="0" dirty="0">
                <a:solidFill>
                  <a:srgbClr val="14181D"/>
                </a:solidFill>
                <a:latin typeface="Cambria" pitchFamily="34" charset="0"/>
                <a:ea typeface="Cambria" pitchFamily="34" charset="-122"/>
                <a:cs typeface="Cambria" pitchFamily="34" charset="-120"/>
              </a:rPr>
              <a:t>₹1.2L</a:t>
            </a:r>
            <a:endParaRPr lang="en-US" sz="4000" dirty="0"/>
          </a:p>
        </p:txBody>
      </p:sp>
      <p:sp>
        <p:nvSpPr>
          <p:cNvPr id="9" name="Text 7"/>
          <p:cNvSpPr/>
          <p:nvPr/>
        </p:nvSpPr>
        <p:spPr>
          <a:xfrm>
            <a:off x="1051560" y="3730752"/>
            <a:ext cx="2814218" cy="219456"/>
          </a:xfrm>
          <a:prstGeom prst="rect">
            <a:avLst/>
          </a:prstGeom>
          <a:noFill/>
          <a:ln/>
        </p:spPr>
        <p:txBody>
          <a:bodyPr wrap="square" lIns="0" tIns="0" rIns="0" bIns="0" rtlCol="0" anchor="ctr"/>
          <a:lstStyle/>
          <a:p>
            <a:pPr indent="0" marL="0">
              <a:buNone/>
            </a:pPr>
            <a:r>
              <a:rPr lang="en-US" sz="850" spc="140" kern="0" dirty="0">
                <a:solidFill>
                  <a:srgbClr val="8A9099"/>
                </a:solidFill>
                <a:latin typeface="Calibri" pitchFamily="34" charset="0"/>
                <a:ea typeface="Calibri" pitchFamily="34" charset="-122"/>
                <a:cs typeface="Calibri" pitchFamily="34" charset="-120"/>
              </a:rPr>
              <a:t>PER MONTH</a:t>
            </a:r>
            <a:endParaRPr lang="en-US" sz="850" dirty="0"/>
          </a:p>
        </p:txBody>
      </p:sp>
      <p:sp>
        <p:nvSpPr>
          <p:cNvPr id="10" name="Text 8"/>
          <p:cNvSpPr/>
          <p:nvPr/>
        </p:nvSpPr>
        <p:spPr>
          <a:xfrm>
            <a:off x="1051560" y="4078224"/>
            <a:ext cx="1737360" cy="274320"/>
          </a:xfrm>
          <a:prstGeom prst="rect">
            <a:avLst/>
          </a:prstGeom>
          <a:noFill/>
          <a:ln/>
        </p:spPr>
        <p:txBody>
          <a:bodyPr wrap="square" lIns="0" tIns="0" rIns="0" bIns="0" rtlCol="0" anchor="ctr"/>
          <a:lstStyle/>
          <a:p>
            <a:pPr indent="0" marL="0">
              <a:buNone/>
            </a:pPr>
            <a:r>
              <a:rPr lang="en-US" sz="1150" dirty="0">
                <a:solidFill>
                  <a:srgbClr val="555C64"/>
                </a:solidFill>
                <a:latin typeface="Calibri" pitchFamily="34" charset="0"/>
                <a:ea typeface="Calibri" pitchFamily="34" charset="-122"/>
                <a:cs typeface="Calibri" pitchFamily="34" charset="-120"/>
              </a:rPr>
              <a:t>Media spend</a:t>
            </a:r>
            <a:endParaRPr lang="en-US" sz="1150" dirty="0"/>
          </a:p>
        </p:txBody>
      </p:sp>
      <p:sp>
        <p:nvSpPr>
          <p:cNvPr id="11" name="Text 9"/>
          <p:cNvSpPr/>
          <p:nvPr/>
        </p:nvSpPr>
        <p:spPr>
          <a:xfrm>
            <a:off x="2677058" y="4078224"/>
            <a:ext cx="1188720" cy="274320"/>
          </a:xfrm>
          <a:prstGeom prst="rect">
            <a:avLst/>
          </a:prstGeom>
          <a:noFill/>
          <a:ln/>
        </p:spPr>
        <p:txBody>
          <a:bodyPr wrap="square" lIns="0" tIns="0" rIns="0" bIns="0" rtlCol="0" anchor="ctr"/>
          <a:lstStyle/>
          <a:p>
            <a:pPr algn="r" indent="0" marL="0">
              <a:buNone/>
            </a:pPr>
            <a:r>
              <a:rPr lang="en-US" sz="1150" b="1" dirty="0">
                <a:solidFill>
                  <a:srgbClr val="14181D"/>
                </a:solidFill>
                <a:latin typeface="Calibri" pitchFamily="34" charset="0"/>
                <a:ea typeface="Calibri" pitchFamily="34" charset="-122"/>
                <a:cs typeface="Calibri" pitchFamily="34" charset="-120"/>
              </a:rPr>
              <a:t>₹40,000</a:t>
            </a:r>
            <a:endParaRPr lang="en-US" sz="1150" dirty="0"/>
          </a:p>
        </p:txBody>
      </p:sp>
      <p:sp>
        <p:nvSpPr>
          <p:cNvPr id="12" name="Text 10"/>
          <p:cNvSpPr/>
          <p:nvPr/>
        </p:nvSpPr>
        <p:spPr>
          <a:xfrm>
            <a:off x="1051560" y="4389120"/>
            <a:ext cx="1737360" cy="274320"/>
          </a:xfrm>
          <a:prstGeom prst="rect">
            <a:avLst/>
          </a:prstGeom>
          <a:noFill/>
          <a:ln/>
        </p:spPr>
        <p:txBody>
          <a:bodyPr wrap="square" lIns="0" tIns="0" rIns="0" bIns="0" rtlCol="0" anchor="ctr"/>
          <a:lstStyle/>
          <a:p>
            <a:pPr indent="0" marL="0">
              <a:buNone/>
            </a:pPr>
            <a:r>
              <a:rPr lang="en-US" sz="1150" dirty="0">
                <a:solidFill>
                  <a:srgbClr val="555C64"/>
                </a:solidFill>
                <a:latin typeface="Calibri" pitchFamily="34" charset="0"/>
                <a:ea typeface="Calibri" pitchFamily="34" charset="-122"/>
                <a:cs typeface="Calibri" pitchFamily="34" charset="-120"/>
              </a:rPr>
              <a:t>Tools &amp; CRM</a:t>
            </a:r>
            <a:endParaRPr lang="en-US" sz="1150" dirty="0"/>
          </a:p>
        </p:txBody>
      </p:sp>
      <p:sp>
        <p:nvSpPr>
          <p:cNvPr id="13" name="Text 11"/>
          <p:cNvSpPr/>
          <p:nvPr/>
        </p:nvSpPr>
        <p:spPr>
          <a:xfrm>
            <a:off x="2677058" y="4389120"/>
            <a:ext cx="1188720" cy="274320"/>
          </a:xfrm>
          <a:prstGeom prst="rect">
            <a:avLst/>
          </a:prstGeom>
          <a:noFill/>
          <a:ln/>
        </p:spPr>
        <p:txBody>
          <a:bodyPr wrap="square" lIns="0" tIns="0" rIns="0" bIns="0" rtlCol="0" anchor="ctr"/>
          <a:lstStyle/>
          <a:p>
            <a:pPr algn="r" indent="0" marL="0">
              <a:buNone/>
            </a:pPr>
            <a:r>
              <a:rPr lang="en-US" sz="1150" b="1" dirty="0">
                <a:solidFill>
                  <a:srgbClr val="14181D"/>
                </a:solidFill>
                <a:latin typeface="Calibri" pitchFamily="34" charset="0"/>
                <a:ea typeface="Calibri" pitchFamily="34" charset="-122"/>
                <a:cs typeface="Calibri" pitchFamily="34" charset="-120"/>
              </a:rPr>
              <a:t>₹15,000</a:t>
            </a:r>
            <a:endParaRPr lang="en-US" sz="1150" dirty="0"/>
          </a:p>
        </p:txBody>
      </p:sp>
      <p:sp>
        <p:nvSpPr>
          <p:cNvPr id="14" name="Text 12"/>
          <p:cNvSpPr/>
          <p:nvPr/>
        </p:nvSpPr>
        <p:spPr>
          <a:xfrm>
            <a:off x="1051560" y="4700016"/>
            <a:ext cx="1737360" cy="274320"/>
          </a:xfrm>
          <a:prstGeom prst="rect">
            <a:avLst/>
          </a:prstGeom>
          <a:noFill/>
          <a:ln/>
        </p:spPr>
        <p:txBody>
          <a:bodyPr wrap="square" lIns="0" tIns="0" rIns="0" bIns="0" rtlCol="0" anchor="ctr"/>
          <a:lstStyle/>
          <a:p>
            <a:pPr indent="0" marL="0">
              <a:buNone/>
            </a:pPr>
            <a:r>
              <a:rPr lang="en-US" sz="1150" dirty="0">
                <a:solidFill>
                  <a:srgbClr val="555C64"/>
                </a:solidFill>
                <a:latin typeface="Calibri" pitchFamily="34" charset="0"/>
                <a:ea typeface="Calibri" pitchFamily="34" charset="-122"/>
                <a:cs typeface="Calibri" pitchFamily="34" charset="-120"/>
              </a:rPr>
              <a:t>Production X</a:t>
            </a:r>
            <a:endParaRPr lang="en-US" sz="1150" dirty="0"/>
          </a:p>
        </p:txBody>
      </p:sp>
      <p:sp>
        <p:nvSpPr>
          <p:cNvPr id="15" name="Text 13"/>
          <p:cNvSpPr/>
          <p:nvPr/>
        </p:nvSpPr>
        <p:spPr>
          <a:xfrm>
            <a:off x="2677058" y="4700016"/>
            <a:ext cx="1188720" cy="274320"/>
          </a:xfrm>
          <a:prstGeom prst="rect">
            <a:avLst/>
          </a:prstGeom>
          <a:noFill/>
          <a:ln/>
        </p:spPr>
        <p:txBody>
          <a:bodyPr wrap="square" lIns="0" tIns="0" rIns="0" bIns="0" rtlCol="0" anchor="ctr"/>
          <a:lstStyle/>
          <a:p>
            <a:pPr algn="r" indent="0" marL="0">
              <a:buNone/>
            </a:pPr>
            <a:r>
              <a:rPr lang="en-US" sz="1150" b="1" dirty="0">
                <a:solidFill>
                  <a:srgbClr val="14181D"/>
                </a:solidFill>
                <a:latin typeface="Calibri" pitchFamily="34" charset="0"/>
                <a:ea typeface="Calibri" pitchFamily="34" charset="-122"/>
                <a:cs typeface="Calibri" pitchFamily="34" charset="-120"/>
              </a:rPr>
              <a:t>₹65,000</a:t>
            </a:r>
            <a:endParaRPr lang="en-US" sz="1150" dirty="0"/>
          </a:p>
        </p:txBody>
      </p:sp>
      <p:sp>
        <p:nvSpPr>
          <p:cNvPr id="16" name="Text 14"/>
          <p:cNvSpPr/>
          <p:nvPr/>
        </p:nvSpPr>
        <p:spPr>
          <a:xfrm>
            <a:off x="1051560" y="5084064"/>
            <a:ext cx="2814218" cy="548640"/>
          </a:xfrm>
          <a:prstGeom prst="rect">
            <a:avLst/>
          </a:prstGeom>
          <a:noFill/>
          <a:ln/>
        </p:spPr>
        <p:txBody>
          <a:bodyPr wrap="square" lIns="0" tIns="0" rIns="0" bIns="0" rtlCol="0" anchor="ctr"/>
          <a:lstStyle/>
          <a:p>
            <a:pPr indent="0" marL="0">
              <a:lnSpc>
                <a:spcPts val="1500"/>
              </a:lnSpc>
              <a:buNone/>
            </a:pPr>
            <a:r>
              <a:rPr lang="en-US" sz="1050" dirty="0">
                <a:solidFill>
                  <a:srgbClr val="8A9099"/>
                </a:solidFill>
                <a:latin typeface="Calibri" pitchFamily="34" charset="0"/>
                <a:ea typeface="Calibri" pitchFamily="34" charset="-122"/>
                <a:cs typeface="Calibri" pitchFamily="34" charset="-120"/>
              </a:rPr>
              <a:t>Website live, podcast running, articles publishing. Paid limited to project-name search.</a:t>
            </a:r>
            <a:endParaRPr lang="en-US" sz="1050" dirty="0"/>
          </a:p>
        </p:txBody>
      </p:sp>
      <p:sp>
        <p:nvSpPr>
          <p:cNvPr id="17" name="Shape 15"/>
          <p:cNvSpPr/>
          <p:nvPr/>
        </p:nvSpPr>
        <p:spPr>
          <a:xfrm>
            <a:off x="4414418" y="2066544"/>
            <a:ext cx="3362858" cy="3657600"/>
          </a:xfrm>
          <a:prstGeom prst="rect">
            <a:avLst/>
          </a:prstGeom>
          <a:solidFill>
            <a:srgbClr val="14181D"/>
          </a:solidFill>
          <a:ln/>
        </p:spPr>
      </p:sp>
      <p:sp>
        <p:nvSpPr>
          <p:cNvPr id="18" name="Text 16"/>
          <p:cNvSpPr/>
          <p:nvPr/>
        </p:nvSpPr>
        <p:spPr>
          <a:xfrm>
            <a:off x="4688738" y="2304288"/>
            <a:ext cx="2814218" cy="256032"/>
          </a:xfrm>
          <a:prstGeom prst="rect">
            <a:avLst/>
          </a:prstGeom>
          <a:noFill/>
          <a:ln/>
        </p:spPr>
        <p:txBody>
          <a:bodyPr wrap="square" lIns="0" tIns="0" rIns="0" bIns="0" rtlCol="0" anchor="ctr"/>
          <a:lstStyle/>
          <a:p>
            <a:pPr indent="0" marL="0">
              <a:buNone/>
            </a:pPr>
            <a:r>
              <a:rPr lang="en-US" sz="850" b="1" spc="140" kern="0" dirty="0">
                <a:solidFill>
                  <a:srgbClr val="D9B061"/>
                </a:solidFill>
                <a:latin typeface="Calibri" pitchFamily="34" charset="0"/>
                <a:ea typeface="Calibri" pitchFamily="34" charset="-122"/>
                <a:cs typeface="Calibri" pitchFamily="34" charset="-120"/>
              </a:rPr>
              <a:t>LEVEL 2  ·  RECOMMENDED</a:t>
            </a:r>
            <a:endParaRPr lang="en-US" sz="850" dirty="0"/>
          </a:p>
        </p:txBody>
      </p:sp>
      <p:sp>
        <p:nvSpPr>
          <p:cNvPr id="19" name="Text 17"/>
          <p:cNvSpPr/>
          <p:nvPr/>
        </p:nvSpPr>
        <p:spPr>
          <a:xfrm>
            <a:off x="4688738" y="2596896"/>
            <a:ext cx="2814218"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Build</a:t>
            </a:r>
            <a:endParaRPr lang="en-US" sz="1800" dirty="0"/>
          </a:p>
        </p:txBody>
      </p:sp>
      <p:sp>
        <p:nvSpPr>
          <p:cNvPr id="20" name="Text 18"/>
          <p:cNvSpPr/>
          <p:nvPr/>
        </p:nvSpPr>
        <p:spPr>
          <a:xfrm>
            <a:off x="4688738" y="2999232"/>
            <a:ext cx="2814218" cy="713232"/>
          </a:xfrm>
          <a:prstGeom prst="rect">
            <a:avLst/>
          </a:prstGeom>
          <a:noFill/>
          <a:ln/>
        </p:spPr>
        <p:txBody>
          <a:bodyPr wrap="square" lIns="0" tIns="0" rIns="0" bIns="0" rtlCol="0" anchor="ctr"/>
          <a:lstStyle/>
          <a:p>
            <a:pPr indent="0" marL="0">
              <a:buNone/>
            </a:pPr>
            <a:r>
              <a:rPr lang="en-US" sz="4000" b="1" spc="-120" kern="0" dirty="0">
                <a:solidFill>
                  <a:srgbClr val="FFFFFF"/>
                </a:solidFill>
                <a:latin typeface="Cambria" pitchFamily="34" charset="0"/>
                <a:ea typeface="Cambria" pitchFamily="34" charset="-122"/>
                <a:cs typeface="Cambria" pitchFamily="34" charset="-120"/>
              </a:rPr>
              <a:t>₹2.5L</a:t>
            </a:r>
            <a:endParaRPr lang="en-US" sz="4000" dirty="0"/>
          </a:p>
        </p:txBody>
      </p:sp>
      <p:sp>
        <p:nvSpPr>
          <p:cNvPr id="21" name="Text 19"/>
          <p:cNvSpPr/>
          <p:nvPr/>
        </p:nvSpPr>
        <p:spPr>
          <a:xfrm>
            <a:off x="4688738" y="3730752"/>
            <a:ext cx="2814218" cy="219456"/>
          </a:xfrm>
          <a:prstGeom prst="rect">
            <a:avLst/>
          </a:prstGeom>
          <a:noFill/>
          <a:ln/>
        </p:spPr>
        <p:txBody>
          <a:bodyPr wrap="square" lIns="0" tIns="0" rIns="0" bIns="0" rtlCol="0" anchor="ctr"/>
          <a:lstStyle/>
          <a:p>
            <a:pPr indent="0" marL="0">
              <a:buNone/>
            </a:pPr>
            <a:r>
              <a:rPr lang="en-US" sz="850" spc="140" kern="0" dirty="0">
                <a:solidFill>
                  <a:srgbClr val="79818A"/>
                </a:solidFill>
                <a:latin typeface="Calibri" pitchFamily="34" charset="0"/>
                <a:ea typeface="Calibri" pitchFamily="34" charset="-122"/>
                <a:cs typeface="Calibri" pitchFamily="34" charset="-120"/>
              </a:rPr>
              <a:t>PER MONTH</a:t>
            </a:r>
            <a:endParaRPr lang="en-US" sz="850" dirty="0"/>
          </a:p>
        </p:txBody>
      </p:sp>
      <p:sp>
        <p:nvSpPr>
          <p:cNvPr id="22" name="Text 20"/>
          <p:cNvSpPr/>
          <p:nvPr/>
        </p:nvSpPr>
        <p:spPr>
          <a:xfrm>
            <a:off x="4688738" y="4078224"/>
            <a:ext cx="1737360" cy="274320"/>
          </a:xfrm>
          <a:prstGeom prst="rect">
            <a:avLst/>
          </a:prstGeom>
          <a:noFill/>
          <a:ln/>
        </p:spPr>
        <p:txBody>
          <a:bodyPr wrap="square" lIns="0" tIns="0" rIns="0" bIns="0" rtlCol="0" anchor="ctr"/>
          <a:lstStyle/>
          <a:p>
            <a:pPr indent="0" marL="0">
              <a:buNone/>
            </a:pPr>
            <a:r>
              <a:rPr lang="en-US" sz="1150" dirty="0">
                <a:solidFill>
                  <a:srgbClr val="B6BEC7"/>
                </a:solidFill>
                <a:latin typeface="Calibri" pitchFamily="34" charset="0"/>
                <a:ea typeface="Calibri" pitchFamily="34" charset="-122"/>
                <a:cs typeface="Calibri" pitchFamily="34" charset="-120"/>
              </a:rPr>
              <a:t>Media spend</a:t>
            </a:r>
            <a:endParaRPr lang="en-US" sz="1150" dirty="0"/>
          </a:p>
        </p:txBody>
      </p:sp>
      <p:sp>
        <p:nvSpPr>
          <p:cNvPr id="23" name="Text 21"/>
          <p:cNvSpPr/>
          <p:nvPr/>
        </p:nvSpPr>
        <p:spPr>
          <a:xfrm>
            <a:off x="6314237" y="4078224"/>
            <a:ext cx="1188720" cy="274320"/>
          </a:xfrm>
          <a:prstGeom prst="rect">
            <a:avLst/>
          </a:prstGeom>
          <a:noFill/>
          <a:ln/>
        </p:spPr>
        <p:txBody>
          <a:bodyPr wrap="square" lIns="0" tIns="0" rIns="0" bIns="0" rtlCol="0" anchor="ctr"/>
          <a:lstStyle/>
          <a:p>
            <a:pPr algn="r" indent="0" marL="0">
              <a:buNone/>
            </a:pPr>
            <a:r>
              <a:rPr lang="en-US" sz="1150" b="1" dirty="0">
                <a:solidFill>
                  <a:srgbClr val="FFFFFF"/>
                </a:solidFill>
                <a:latin typeface="Calibri" pitchFamily="34" charset="0"/>
                <a:ea typeface="Calibri" pitchFamily="34" charset="-122"/>
                <a:cs typeface="Calibri" pitchFamily="34" charset="-120"/>
              </a:rPr>
              <a:t>₹1,00,000</a:t>
            </a:r>
            <a:endParaRPr lang="en-US" sz="1150" dirty="0"/>
          </a:p>
        </p:txBody>
      </p:sp>
      <p:sp>
        <p:nvSpPr>
          <p:cNvPr id="24" name="Text 22"/>
          <p:cNvSpPr/>
          <p:nvPr/>
        </p:nvSpPr>
        <p:spPr>
          <a:xfrm>
            <a:off x="4688738" y="4389120"/>
            <a:ext cx="1737360" cy="274320"/>
          </a:xfrm>
          <a:prstGeom prst="rect">
            <a:avLst/>
          </a:prstGeom>
          <a:noFill/>
          <a:ln/>
        </p:spPr>
        <p:txBody>
          <a:bodyPr wrap="square" lIns="0" tIns="0" rIns="0" bIns="0" rtlCol="0" anchor="ctr"/>
          <a:lstStyle/>
          <a:p>
            <a:pPr indent="0" marL="0">
              <a:buNone/>
            </a:pPr>
            <a:r>
              <a:rPr lang="en-US" sz="1150" dirty="0">
                <a:solidFill>
                  <a:srgbClr val="B6BEC7"/>
                </a:solidFill>
                <a:latin typeface="Calibri" pitchFamily="34" charset="0"/>
                <a:ea typeface="Calibri" pitchFamily="34" charset="-122"/>
                <a:cs typeface="Calibri" pitchFamily="34" charset="-120"/>
              </a:rPr>
              <a:t>Tools &amp; CRM</a:t>
            </a:r>
            <a:endParaRPr lang="en-US" sz="1150" dirty="0"/>
          </a:p>
        </p:txBody>
      </p:sp>
      <p:sp>
        <p:nvSpPr>
          <p:cNvPr id="25" name="Text 23"/>
          <p:cNvSpPr/>
          <p:nvPr/>
        </p:nvSpPr>
        <p:spPr>
          <a:xfrm>
            <a:off x="6314237" y="4389120"/>
            <a:ext cx="1188720" cy="274320"/>
          </a:xfrm>
          <a:prstGeom prst="rect">
            <a:avLst/>
          </a:prstGeom>
          <a:noFill/>
          <a:ln/>
        </p:spPr>
        <p:txBody>
          <a:bodyPr wrap="square" lIns="0" tIns="0" rIns="0" bIns="0" rtlCol="0" anchor="ctr"/>
          <a:lstStyle/>
          <a:p>
            <a:pPr algn="r" indent="0" marL="0">
              <a:buNone/>
            </a:pPr>
            <a:r>
              <a:rPr lang="en-US" sz="1150" b="1" dirty="0">
                <a:solidFill>
                  <a:srgbClr val="FFFFFF"/>
                </a:solidFill>
                <a:latin typeface="Calibri" pitchFamily="34" charset="0"/>
                <a:ea typeface="Calibri" pitchFamily="34" charset="-122"/>
                <a:cs typeface="Calibri" pitchFamily="34" charset="-120"/>
              </a:rPr>
              <a:t>₹20,000</a:t>
            </a:r>
            <a:endParaRPr lang="en-US" sz="1150" dirty="0"/>
          </a:p>
        </p:txBody>
      </p:sp>
      <p:sp>
        <p:nvSpPr>
          <p:cNvPr id="26" name="Text 24"/>
          <p:cNvSpPr/>
          <p:nvPr/>
        </p:nvSpPr>
        <p:spPr>
          <a:xfrm>
            <a:off x="4688738" y="4700016"/>
            <a:ext cx="1737360" cy="274320"/>
          </a:xfrm>
          <a:prstGeom prst="rect">
            <a:avLst/>
          </a:prstGeom>
          <a:noFill/>
          <a:ln/>
        </p:spPr>
        <p:txBody>
          <a:bodyPr wrap="square" lIns="0" tIns="0" rIns="0" bIns="0" rtlCol="0" anchor="ctr"/>
          <a:lstStyle/>
          <a:p>
            <a:pPr indent="0" marL="0">
              <a:buNone/>
            </a:pPr>
            <a:r>
              <a:rPr lang="en-US" sz="1150" dirty="0">
                <a:solidFill>
                  <a:srgbClr val="B6BEC7"/>
                </a:solidFill>
                <a:latin typeface="Calibri" pitchFamily="34" charset="0"/>
                <a:ea typeface="Calibri" pitchFamily="34" charset="-122"/>
                <a:cs typeface="Calibri" pitchFamily="34" charset="-120"/>
              </a:rPr>
              <a:t>Production X</a:t>
            </a:r>
            <a:endParaRPr lang="en-US" sz="1150" dirty="0"/>
          </a:p>
        </p:txBody>
      </p:sp>
      <p:sp>
        <p:nvSpPr>
          <p:cNvPr id="27" name="Text 25"/>
          <p:cNvSpPr/>
          <p:nvPr/>
        </p:nvSpPr>
        <p:spPr>
          <a:xfrm>
            <a:off x="6314237" y="4700016"/>
            <a:ext cx="1188720" cy="274320"/>
          </a:xfrm>
          <a:prstGeom prst="rect">
            <a:avLst/>
          </a:prstGeom>
          <a:noFill/>
          <a:ln/>
        </p:spPr>
        <p:txBody>
          <a:bodyPr wrap="square" lIns="0" tIns="0" rIns="0" bIns="0" rtlCol="0" anchor="ctr"/>
          <a:lstStyle/>
          <a:p>
            <a:pPr algn="r" indent="0" marL="0">
              <a:buNone/>
            </a:pPr>
            <a:r>
              <a:rPr lang="en-US" sz="1150" b="1" dirty="0">
                <a:solidFill>
                  <a:srgbClr val="FFFFFF"/>
                </a:solidFill>
                <a:latin typeface="Calibri" pitchFamily="34" charset="0"/>
                <a:ea typeface="Calibri" pitchFamily="34" charset="-122"/>
                <a:cs typeface="Calibri" pitchFamily="34" charset="-120"/>
              </a:rPr>
              <a:t>₹1,30,000</a:t>
            </a:r>
            <a:endParaRPr lang="en-US" sz="1150" dirty="0"/>
          </a:p>
        </p:txBody>
      </p:sp>
      <p:sp>
        <p:nvSpPr>
          <p:cNvPr id="28" name="Text 26"/>
          <p:cNvSpPr/>
          <p:nvPr/>
        </p:nvSpPr>
        <p:spPr>
          <a:xfrm>
            <a:off x="4688738" y="5084064"/>
            <a:ext cx="2814218" cy="548640"/>
          </a:xfrm>
          <a:prstGeom prst="rect">
            <a:avLst/>
          </a:prstGeom>
          <a:noFill/>
          <a:ln/>
        </p:spPr>
        <p:txBody>
          <a:bodyPr wrap="square" lIns="0" tIns="0" rIns="0" bIns="0" rtlCol="0" anchor="ctr"/>
          <a:lstStyle/>
          <a:p>
            <a:pPr indent="0" marL="0">
              <a:lnSpc>
                <a:spcPts val="1500"/>
              </a:lnSpc>
              <a:buNone/>
            </a:pPr>
            <a:r>
              <a:rPr lang="en-US" sz="1050" dirty="0">
                <a:solidFill>
                  <a:srgbClr val="79818A"/>
                </a:solidFill>
                <a:latin typeface="Calibri" pitchFamily="34" charset="0"/>
                <a:ea typeface="Calibri" pitchFamily="34" charset="-122"/>
                <a:cs typeface="Calibri" pitchFamily="34" charset="-120"/>
              </a:rPr>
              <a:t>Full content calendar, two shoot days a month, search and retargeting live, portals active.</a:t>
            </a:r>
            <a:endParaRPr lang="en-US" sz="1050" dirty="0"/>
          </a:p>
        </p:txBody>
      </p:sp>
      <p:sp>
        <p:nvSpPr>
          <p:cNvPr id="29" name="Shape 27"/>
          <p:cNvSpPr/>
          <p:nvPr/>
        </p:nvSpPr>
        <p:spPr>
          <a:xfrm>
            <a:off x="8051597" y="2066544"/>
            <a:ext cx="3362858" cy="3657600"/>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30" name="Text 28"/>
          <p:cNvSpPr/>
          <p:nvPr/>
        </p:nvSpPr>
        <p:spPr>
          <a:xfrm>
            <a:off x="8325917" y="2304288"/>
            <a:ext cx="2814218" cy="256032"/>
          </a:xfrm>
          <a:prstGeom prst="rect">
            <a:avLst/>
          </a:prstGeom>
          <a:noFill/>
          <a:ln/>
        </p:spPr>
        <p:txBody>
          <a:bodyPr wrap="square" lIns="0" tIns="0" rIns="0" bIns="0" rtlCol="0" anchor="ctr"/>
          <a:lstStyle/>
          <a:p>
            <a:pPr indent="0" marL="0">
              <a:buNone/>
            </a:pPr>
            <a:r>
              <a:rPr lang="en-US" sz="850" b="1" spc="140" kern="0" dirty="0">
                <a:solidFill>
                  <a:srgbClr val="8A9099"/>
                </a:solidFill>
                <a:latin typeface="Calibri" pitchFamily="34" charset="0"/>
                <a:ea typeface="Calibri" pitchFamily="34" charset="-122"/>
                <a:cs typeface="Calibri" pitchFamily="34" charset="-120"/>
              </a:rPr>
              <a:t>LEVEL 3  ·  MONTH 7+</a:t>
            </a:r>
            <a:endParaRPr lang="en-US" sz="850" dirty="0"/>
          </a:p>
        </p:txBody>
      </p:sp>
      <p:sp>
        <p:nvSpPr>
          <p:cNvPr id="31" name="Text 29"/>
          <p:cNvSpPr/>
          <p:nvPr/>
        </p:nvSpPr>
        <p:spPr>
          <a:xfrm>
            <a:off x="8325917" y="2596896"/>
            <a:ext cx="2814218" cy="365760"/>
          </a:xfrm>
          <a:prstGeom prst="rect">
            <a:avLst/>
          </a:prstGeom>
          <a:noFill/>
          <a:ln/>
        </p:spPr>
        <p:txBody>
          <a:bodyPr wrap="square" lIns="0" tIns="0" rIns="0" bIns="0" rtlCol="0" anchor="ctr"/>
          <a:lstStyle/>
          <a:p>
            <a:pPr indent="0" marL="0">
              <a:buNone/>
            </a:pPr>
            <a:r>
              <a:rPr lang="en-US" sz="1800" b="1" dirty="0">
                <a:solidFill>
                  <a:srgbClr val="14181D"/>
                </a:solidFill>
                <a:latin typeface="Cambria" pitchFamily="34" charset="0"/>
                <a:ea typeface="Cambria" pitchFamily="34" charset="-122"/>
                <a:cs typeface="Cambria" pitchFamily="34" charset="-120"/>
              </a:rPr>
              <a:t>Scale</a:t>
            </a:r>
            <a:endParaRPr lang="en-US" sz="1800" dirty="0"/>
          </a:p>
        </p:txBody>
      </p:sp>
      <p:sp>
        <p:nvSpPr>
          <p:cNvPr id="32" name="Text 30"/>
          <p:cNvSpPr/>
          <p:nvPr/>
        </p:nvSpPr>
        <p:spPr>
          <a:xfrm>
            <a:off x="8325917" y="2999232"/>
            <a:ext cx="2814218" cy="713232"/>
          </a:xfrm>
          <a:prstGeom prst="rect">
            <a:avLst/>
          </a:prstGeom>
          <a:noFill/>
          <a:ln/>
        </p:spPr>
        <p:txBody>
          <a:bodyPr wrap="square" lIns="0" tIns="0" rIns="0" bIns="0" rtlCol="0" anchor="ctr"/>
          <a:lstStyle/>
          <a:p>
            <a:pPr indent="0" marL="0">
              <a:buNone/>
            </a:pPr>
            <a:r>
              <a:rPr lang="en-US" sz="4000" b="1" spc="-120" kern="0" dirty="0">
                <a:solidFill>
                  <a:srgbClr val="14181D"/>
                </a:solidFill>
                <a:latin typeface="Cambria" pitchFamily="34" charset="0"/>
                <a:ea typeface="Cambria" pitchFamily="34" charset="-122"/>
                <a:cs typeface="Cambria" pitchFamily="34" charset="-120"/>
              </a:rPr>
              <a:t>₹5L</a:t>
            </a:r>
            <a:endParaRPr lang="en-US" sz="4000" dirty="0"/>
          </a:p>
        </p:txBody>
      </p:sp>
      <p:sp>
        <p:nvSpPr>
          <p:cNvPr id="33" name="Text 31"/>
          <p:cNvSpPr/>
          <p:nvPr/>
        </p:nvSpPr>
        <p:spPr>
          <a:xfrm>
            <a:off x="8325917" y="3730752"/>
            <a:ext cx="2814218" cy="219456"/>
          </a:xfrm>
          <a:prstGeom prst="rect">
            <a:avLst/>
          </a:prstGeom>
          <a:noFill/>
          <a:ln/>
        </p:spPr>
        <p:txBody>
          <a:bodyPr wrap="square" lIns="0" tIns="0" rIns="0" bIns="0" rtlCol="0" anchor="ctr"/>
          <a:lstStyle/>
          <a:p>
            <a:pPr indent="0" marL="0">
              <a:buNone/>
            </a:pPr>
            <a:r>
              <a:rPr lang="en-US" sz="850" spc="140" kern="0" dirty="0">
                <a:solidFill>
                  <a:srgbClr val="8A9099"/>
                </a:solidFill>
                <a:latin typeface="Calibri" pitchFamily="34" charset="0"/>
                <a:ea typeface="Calibri" pitchFamily="34" charset="-122"/>
                <a:cs typeface="Calibri" pitchFamily="34" charset="-120"/>
              </a:rPr>
              <a:t>PER MONTH</a:t>
            </a:r>
            <a:endParaRPr lang="en-US" sz="850" dirty="0"/>
          </a:p>
        </p:txBody>
      </p:sp>
      <p:sp>
        <p:nvSpPr>
          <p:cNvPr id="34" name="Text 32"/>
          <p:cNvSpPr/>
          <p:nvPr/>
        </p:nvSpPr>
        <p:spPr>
          <a:xfrm>
            <a:off x="8325917" y="4078224"/>
            <a:ext cx="1737360" cy="274320"/>
          </a:xfrm>
          <a:prstGeom prst="rect">
            <a:avLst/>
          </a:prstGeom>
          <a:noFill/>
          <a:ln/>
        </p:spPr>
        <p:txBody>
          <a:bodyPr wrap="square" lIns="0" tIns="0" rIns="0" bIns="0" rtlCol="0" anchor="ctr"/>
          <a:lstStyle/>
          <a:p>
            <a:pPr indent="0" marL="0">
              <a:buNone/>
            </a:pPr>
            <a:r>
              <a:rPr lang="en-US" sz="1150" dirty="0">
                <a:solidFill>
                  <a:srgbClr val="555C64"/>
                </a:solidFill>
                <a:latin typeface="Calibri" pitchFamily="34" charset="0"/>
                <a:ea typeface="Calibri" pitchFamily="34" charset="-122"/>
                <a:cs typeface="Calibri" pitchFamily="34" charset="-120"/>
              </a:rPr>
              <a:t>Media spend</a:t>
            </a:r>
            <a:endParaRPr lang="en-US" sz="1150" dirty="0"/>
          </a:p>
        </p:txBody>
      </p:sp>
      <p:sp>
        <p:nvSpPr>
          <p:cNvPr id="35" name="Text 33"/>
          <p:cNvSpPr/>
          <p:nvPr/>
        </p:nvSpPr>
        <p:spPr>
          <a:xfrm>
            <a:off x="9951415" y="4078224"/>
            <a:ext cx="1188720" cy="274320"/>
          </a:xfrm>
          <a:prstGeom prst="rect">
            <a:avLst/>
          </a:prstGeom>
          <a:noFill/>
          <a:ln/>
        </p:spPr>
        <p:txBody>
          <a:bodyPr wrap="square" lIns="0" tIns="0" rIns="0" bIns="0" rtlCol="0" anchor="ctr"/>
          <a:lstStyle/>
          <a:p>
            <a:pPr algn="r" indent="0" marL="0">
              <a:buNone/>
            </a:pPr>
            <a:r>
              <a:rPr lang="en-US" sz="1150" b="1" dirty="0">
                <a:solidFill>
                  <a:srgbClr val="14181D"/>
                </a:solidFill>
                <a:latin typeface="Calibri" pitchFamily="34" charset="0"/>
                <a:ea typeface="Calibri" pitchFamily="34" charset="-122"/>
                <a:cs typeface="Calibri" pitchFamily="34" charset="-120"/>
              </a:rPr>
              <a:t>₹2,60,000</a:t>
            </a:r>
            <a:endParaRPr lang="en-US" sz="1150" dirty="0"/>
          </a:p>
        </p:txBody>
      </p:sp>
      <p:sp>
        <p:nvSpPr>
          <p:cNvPr id="36" name="Text 34"/>
          <p:cNvSpPr/>
          <p:nvPr/>
        </p:nvSpPr>
        <p:spPr>
          <a:xfrm>
            <a:off x="8325917" y="4389120"/>
            <a:ext cx="1737360" cy="274320"/>
          </a:xfrm>
          <a:prstGeom prst="rect">
            <a:avLst/>
          </a:prstGeom>
          <a:noFill/>
          <a:ln/>
        </p:spPr>
        <p:txBody>
          <a:bodyPr wrap="square" lIns="0" tIns="0" rIns="0" bIns="0" rtlCol="0" anchor="ctr"/>
          <a:lstStyle/>
          <a:p>
            <a:pPr indent="0" marL="0">
              <a:buNone/>
            </a:pPr>
            <a:r>
              <a:rPr lang="en-US" sz="1150" dirty="0">
                <a:solidFill>
                  <a:srgbClr val="555C64"/>
                </a:solidFill>
                <a:latin typeface="Calibri" pitchFamily="34" charset="0"/>
                <a:ea typeface="Calibri" pitchFamily="34" charset="-122"/>
                <a:cs typeface="Calibri" pitchFamily="34" charset="-120"/>
              </a:rPr>
              <a:t>Tools &amp; CRM</a:t>
            </a:r>
            <a:endParaRPr lang="en-US" sz="1150" dirty="0"/>
          </a:p>
        </p:txBody>
      </p:sp>
      <p:sp>
        <p:nvSpPr>
          <p:cNvPr id="37" name="Text 35"/>
          <p:cNvSpPr/>
          <p:nvPr/>
        </p:nvSpPr>
        <p:spPr>
          <a:xfrm>
            <a:off x="9951415" y="4389120"/>
            <a:ext cx="1188720" cy="274320"/>
          </a:xfrm>
          <a:prstGeom prst="rect">
            <a:avLst/>
          </a:prstGeom>
          <a:noFill/>
          <a:ln/>
        </p:spPr>
        <p:txBody>
          <a:bodyPr wrap="square" lIns="0" tIns="0" rIns="0" bIns="0" rtlCol="0" anchor="ctr"/>
          <a:lstStyle/>
          <a:p>
            <a:pPr algn="r" indent="0" marL="0">
              <a:buNone/>
            </a:pPr>
            <a:r>
              <a:rPr lang="en-US" sz="1150" b="1" dirty="0">
                <a:solidFill>
                  <a:srgbClr val="14181D"/>
                </a:solidFill>
                <a:latin typeface="Calibri" pitchFamily="34" charset="0"/>
                <a:ea typeface="Calibri" pitchFamily="34" charset="-122"/>
                <a:cs typeface="Calibri" pitchFamily="34" charset="-120"/>
              </a:rPr>
              <a:t>₹30,000</a:t>
            </a:r>
            <a:endParaRPr lang="en-US" sz="1150" dirty="0"/>
          </a:p>
        </p:txBody>
      </p:sp>
      <p:sp>
        <p:nvSpPr>
          <p:cNvPr id="38" name="Text 36"/>
          <p:cNvSpPr/>
          <p:nvPr/>
        </p:nvSpPr>
        <p:spPr>
          <a:xfrm>
            <a:off x="8325917" y="4700016"/>
            <a:ext cx="1737360" cy="274320"/>
          </a:xfrm>
          <a:prstGeom prst="rect">
            <a:avLst/>
          </a:prstGeom>
          <a:noFill/>
          <a:ln/>
        </p:spPr>
        <p:txBody>
          <a:bodyPr wrap="square" lIns="0" tIns="0" rIns="0" bIns="0" rtlCol="0" anchor="ctr"/>
          <a:lstStyle/>
          <a:p>
            <a:pPr indent="0" marL="0">
              <a:buNone/>
            </a:pPr>
            <a:r>
              <a:rPr lang="en-US" sz="1150" dirty="0">
                <a:solidFill>
                  <a:srgbClr val="555C64"/>
                </a:solidFill>
                <a:latin typeface="Calibri" pitchFamily="34" charset="0"/>
                <a:ea typeface="Calibri" pitchFamily="34" charset="-122"/>
                <a:cs typeface="Calibri" pitchFamily="34" charset="-120"/>
              </a:rPr>
              <a:t>Production X</a:t>
            </a:r>
            <a:endParaRPr lang="en-US" sz="1150" dirty="0"/>
          </a:p>
        </p:txBody>
      </p:sp>
      <p:sp>
        <p:nvSpPr>
          <p:cNvPr id="39" name="Text 37"/>
          <p:cNvSpPr/>
          <p:nvPr/>
        </p:nvSpPr>
        <p:spPr>
          <a:xfrm>
            <a:off x="9951415" y="4700016"/>
            <a:ext cx="1188720" cy="274320"/>
          </a:xfrm>
          <a:prstGeom prst="rect">
            <a:avLst/>
          </a:prstGeom>
          <a:noFill/>
          <a:ln/>
        </p:spPr>
        <p:txBody>
          <a:bodyPr wrap="square" lIns="0" tIns="0" rIns="0" bIns="0" rtlCol="0" anchor="ctr"/>
          <a:lstStyle/>
          <a:p>
            <a:pPr algn="r" indent="0" marL="0">
              <a:buNone/>
            </a:pPr>
            <a:r>
              <a:rPr lang="en-US" sz="1150" b="1" dirty="0">
                <a:solidFill>
                  <a:srgbClr val="14181D"/>
                </a:solidFill>
                <a:latin typeface="Calibri" pitchFamily="34" charset="0"/>
                <a:ea typeface="Calibri" pitchFamily="34" charset="-122"/>
                <a:cs typeface="Calibri" pitchFamily="34" charset="-120"/>
              </a:rPr>
              <a:t>₹2,10,000</a:t>
            </a:r>
            <a:endParaRPr lang="en-US" sz="1150" dirty="0"/>
          </a:p>
        </p:txBody>
      </p:sp>
      <p:sp>
        <p:nvSpPr>
          <p:cNvPr id="40" name="Text 38"/>
          <p:cNvSpPr/>
          <p:nvPr/>
        </p:nvSpPr>
        <p:spPr>
          <a:xfrm>
            <a:off x="8325917" y="5084064"/>
            <a:ext cx="2814218" cy="548640"/>
          </a:xfrm>
          <a:prstGeom prst="rect">
            <a:avLst/>
          </a:prstGeom>
          <a:noFill/>
          <a:ln/>
        </p:spPr>
        <p:txBody>
          <a:bodyPr wrap="square" lIns="0" tIns="0" rIns="0" bIns="0" rtlCol="0" anchor="ctr"/>
          <a:lstStyle/>
          <a:p>
            <a:pPr indent="0" marL="0">
              <a:lnSpc>
                <a:spcPts val="1500"/>
              </a:lnSpc>
              <a:buNone/>
            </a:pPr>
            <a:r>
              <a:rPr lang="en-US" sz="1050" dirty="0">
                <a:solidFill>
                  <a:srgbClr val="8A9099"/>
                </a:solidFill>
                <a:latin typeface="Calibri" pitchFamily="34" charset="0"/>
                <a:ea typeface="Calibri" pitchFamily="34" charset="-122"/>
                <a:cs typeface="Calibri" pitchFamily="34" charset="-120"/>
              </a:rPr>
              <a:t>Only once cost per booking is known and working. Adds Meta reach, YouTube ads and PR.</a:t>
            </a:r>
            <a:endParaRPr lang="en-US" sz="1050" dirty="0"/>
          </a:p>
        </p:txBody>
      </p:sp>
      <p:sp>
        <p:nvSpPr>
          <p:cNvPr id="41" name="Text 39"/>
          <p:cNvSpPr/>
          <p:nvPr/>
        </p:nvSpPr>
        <p:spPr>
          <a:xfrm>
            <a:off x="777240" y="5925312"/>
            <a:ext cx="10637215" cy="548640"/>
          </a:xfrm>
          <a:prstGeom prst="rect">
            <a:avLst/>
          </a:prstGeom>
          <a:noFill/>
          <a:ln/>
        </p:spPr>
        <p:txBody>
          <a:bodyPr wrap="square" lIns="0" tIns="0" rIns="0" bIns="0" rtlCol="0" anchor="ctr"/>
          <a:lstStyle/>
          <a:p>
            <a:pPr indent="0" marL="0">
              <a:lnSpc>
                <a:spcPts val="2100"/>
              </a:lnSpc>
              <a:buNone/>
            </a:pPr>
            <a:r>
              <a:rPr lang="en-US" sz="1400" dirty="0">
                <a:solidFill>
                  <a:srgbClr val="14181D"/>
                </a:solidFill>
                <a:latin typeface="Calibri" pitchFamily="34" charset="0"/>
                <a:ea typeface="Calibri" pitchFamily="34" charset="-122"/>
                <a:cs typeface="Calibri" pitchFamily="34" charset="-120"/>
              </a:rPr>
              <a:t>Media is the part that scales. Production and management stay roughly flat, because the content engine runs on the same two shoot days whatever the ad budget is.</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777240" y="530352"/>
            <a:ext cx="10637215" cy="219456"/>
          </a:xfrm>
          <a:prstGeom prst="rect">
            <a:avLst/>
          </a:prstGeom>
          <a:noFill/>
          <a:ln/>
        </p:spPr>
        <p:txBody>
          <a:bodyPr wrap="square" lIns="0" tIns="0" rIns="0" bIns="0" rtlCol="0" anchor="ctr"/>
          <a:lstStyle/>
          <a:p>
            <a:pPr indent="0" marL="0">
              <a:buNone/>
            </a:pPr>
            <a:r>
              <a:rPr lang="en-US" sz="1100" b="1" spc="260" kern="0" dirty="0">
                <a:solidFill>
                  <a:srgbClr val="9A7A25"/>
                </a:solidFill>
                <a:latin typeface="Calibri" pitchFamily="34" charset="0"/>
                <a:ea typeface="Calibri" pitchFamily="34" charset="-122"/>
                <a:cs typeface="Calibri" pitchFamily="34" charset="-120"/>
              </a:rPr>
              <a:t>11</a:t>
            </a:r>
            <a:endParaRPr lang="en-US" sz="1100" dirty="0"/>
          </a:p>
        </p:txBody>
      </p:sp>
      <p:sp>
        <p:nvSpPr>
          <p:cNvPr id="3" name="Text 1"/>
          <p:cNvSpPr/>
          <p:nvPr/>
        </p:nvSpPr>
        <p:spPr>
          <a:xfrm>
            <a:off x="777240" y="768096"/>
            <a:ext cx="10637215" cy="603504"/>
          </a:xfrm>
          <a:prstGeom prst="rect">
            <a:avLst/>
          </a:prstGeom>
          <a:noFill/>
          <a:ln/>
        </p:spPr>
        <p:txBody>
          <a:bodyPr wrap="square" lIns="0" tIns="0" rIns="0" bIns="0" rtlCol="0" anchor="ctr"/>
          <a:lstStyle/>
          <a:p>
            <a:pPr indent="0" marL="0">
              <a:buNone/>
            </a:pPr>
            <a:r>
              <a:rPr lang="en-US" sz="3800" b="1" spc="-60" kern="0" dirty="0">
                <a:solidFill>
                  <a:srgbClr val="14181D"/>
                </a:solidFill>
                <a:latin typeface="Cambria" pitchFamily="34" charset="0"/>
                <a:ea typeface="Cambria" pitchFamily="34" charset="-122"/>
                <a:cs typeface="Cambria" pitchFamily="34" charset="-120"/>
              </a:rPr>
              <a:t>What it costs to start</a:t>
            </a:r>
            <a:endParaRPr lang="en-US" sz="3800" dirty="0"/>
          </a:p>
        </p:txBody>
      </p:sp>
      <p:sp>
        <p:nvSpPr>
          <p:cNvPr id="4" name="Shape 2"/>
          <p:cNvSpPr/>
          <p:nvPr/>
        </p:nvSpPr>
        <p:spPr>
          <a:xfrm>
            <a:off x="777240" y="1591056"/>
            <a:ext cx="10637215" cy="786384"/>
          </a:xfrm>
          <a:prstGeom prst="rect">
            <a:avLst/>
          </a:prstGeom>
          <a:solidFill>
            <a:srgbClr val="FFFFFF"/>
          </a:solidFill>
          <a:ln/>
        </p:spPr>
      </p:sp>
      <p:sp>
        <p:nvSpPr>
          <p:cNvPr id="5" name="Text 3"/>
          <p:cNvSpPr/>
          <p:nvPr/>
        </p:nvSpPr>
        <p:spPr>
          <a:xfrm>
            <a:off x="1069848" y="1591056"/>
            <a:ext cx="3566160" cy="786384"/>
          </a:xfrm>
          <a:prstGeom prst="rect">
            <a:avLst/>
          </a:prstGeom>
          <a:noFill/>
          <a:ln/>
        </p:spPr>
        <p:txBody>
          <a:bodyPr wrap="square" lIns="0" tIns="0" rIns="0" bIns="0" rtlCol="0" anchor="ctr"/>
          <a:lstStyle/>
          <a:p>
            <a:pPr indent="0" marL="0">
              <a:lnSpc>
                <a:spcPts val="1900"/>
              </a:lnSpc>
              <a:buNone/>
            </a:pPr>
            <a:r>
              <a:rPr lang="en-US" sz="1400" b="1" dirty="0">
                <a:solidFill>
                  <a:srgbClr val="14181D"/>
                </a:solidFill>
                <a:latin typeface="Cambria" pitchFamily="34" charset="0"/>
                <a:ea typeface="Cambria" pitchFamily="34" charset="-122"/>
                <a:cs typeface="Cambria" pitchFamily="34" charset="-120"/>
              </a:rPr>
              <a:t>Website and comparison engine v1</a:t>
            </a:r>
            <a:endParaRPr lang="en-US" sz="1400" dirty="0"/>
          </a:p>
        </p:txBody>
      </p:sp>
      <p:sp>
        <p:nvSpPr>
          <p:cNvPr id="6" name="Text 4"/>
          <p:cNvSpPr/>
          <p:nvPr/>
        </p:nvSpPr>
        <p:spPr>
          <a:xfrm>
            <a:off x="4800600" y="1591056"/>
            <a:ext cx="4876495" cy="786384"/>
          </a:xfrm>
          <a:prstGeom prst="rect">
            <a:avLst/>
          </a:prstGeom>
          <a:noFill/>
          <a:ln/>
        </p:spPr>
        <p:txBody>
          <a:bodyPr wrap="square" lIns="0" tIns="0" rIns="0" bIns="0" rtlCol="0" anchor="ctr"/>
          <a:lstStyle/>
          <a:p>
            <a:pPr indent="0" marL="0">
              <a:lnSpc>
                <a:spcPts val="1700"/>
              </a:lnSpc>
              <a:buNone/>
            </a:pPr>
            <a:r>
              <a:rPr lang="en-US" sz="1200" dirty="0">
                <a:solidFill>
                  <a:srgbClr val="555C64"/>
                </a:solidFill>
                <a:latin typeface="Calibri" pitchFamily="34" charset="0"/>
                <a:ea typeface="Calibri" pitchFamily="34" charset="-122"/>
                <a:cs typeface="Calibri" pitchFamily="34" charset="-120"/>
              </a:rPr>
              <a:t>9 project pages, comparison tool, real-rate calculator, guides, visit booking, CRM connected</a:t>
            </a:r>
            <a:endParaRPr lang="en-US" sz="1200" dirty="0"/>
          </a:p>
        </p:txBody>
      </p:sp>
      <p:sp>
        <p:nvSpPr>
          <p:cNvPr id="7" name="Text 5"/>
          <p:cNvSpPr/>
          <p:nvPr/>
        </p:nvSpPr>
        <p:spPr>
          <a:xfrm>
            <a:off x="9750247" y="1591056"/>
            <a:ext cx="1371600" cy="786384"/>
          </a:xfrm>
          <a:prstGeom prst="rect">
            <a:avLst/>
          </a:prstGeom>
          <a:noFill/>
          <a:ln/>
        </p:spPr>
        <p:txBody>
          <a:bodyPr wrap="square" lIns="0" tIns="0" rIns="0" bIns="0" rtlCol="0" anchor="ctr"/>
          <a:lstStyle/>
          <a:p>
            <a:pPr algn="r" indent="0" marL="0">
              <a:buNone/>
            </a:pPr>
            <a:r>
              <a:rPr lang="en-US" sz="1700" b="1" dirty="0">
                <a:solidFill>
                  <a:srgbClr val="14181D"/>
                </a:solidFill>
                <a:latin typeface="Cambria" pitchFamily="34" charset="0"/>
                <a:ea typeface="Cambria" pitchFamily="34" charset="-122"/>
                <a:cs typeface="Cambria" pitchFamily="34" charset="-120"/>
              </a:rPr>
              <a:t>₹2–3L</a:t>
            </a:r>
            <a:endParaRPr lang="en-US" sz="1700" dirty="0"/>
          </a:p>
        </p:txBody>
      </p:sp>
      <p:sp>
        <p:nvSpPr>
          <p:cNvPr id="8" name="Shape 6"/>
          <p:cNvSpPr/>
          <p:nvPr/>
        </p:nvSpPr>
        <p:spPr>
          <a:xfrm>
            <a:off x="777240" y="2441448"/>
            <a:ext cx="10637215" cy="786384"/>
          </a:xfrm>
          <a:prstGeom prst="rect">
            <a:avLst/>
          </a:prstGeom>
          <a:solidFill>
            <a:srgbClr val="FFFFFF"/>
          </a:solidFill>
          <a:ln/>
        </p:spPr>
      </p:sp>
      <p:sp>
        <p:nvSpPr>
          <p:cNvPr id="9" name="Text 7"/>
          <p:cNvSpPr/>
          <p:nvPr/>
        </p:nvSpPr>
        <p:spPr>
          <a:xfrm>
            <a:off x="1069848" y="2441448"/>
            <a:ext cx="3566160" cy="786384"/>
          </a:xfrm>
          <a:prstGeom prst="rect">
            <a:avLst/>
          </a:prstGeom>
          <a:noFill/>
          <a:ln/>
        </p:spPr>
        <p:txBody>
          <a:bodyPr wrap="square" lIns="0" tIns="0" rIns="0" bIns="0" rtlCol="0" anchor="ctr"/>
          <a:lstStyle/>
          <a:p>
            <a:pPr indent="0" marL="0">
              <a:lnSpc>
                <a:spcPts val="1900"/>
              </a:lnSpc>
              <a:buNone/>
            </a:pPr>
            <a:r>
              <a:rPr lang="en-US" sz="1400" b="1" dirty="0">
                <a:solidFill>
                  <a:srgbClr val="14181D"/>
                </a:solidFill>
                <a:latin typeface="Cambria" pitchFamily="34" charset="0"/>
                <a:ea typeface="Cambria" pitchFamily="34" charset="-122"/>
                <a:cs typeface="Cambria" pitchFamily="34" charset="-120"/>
              </a:rPr>
              <a:t>Podcast setup</a:t>
            </a:r>
            <a:endParaRPr lang="en-US" sz="1400" dirty="0"/>
          </a:p>
        </p:txBody>
      </p:sp>
      <p:sp>
        <p:nvSpPr>
          <p:cNvPr id="10" name="Text 8"/>
          <p:cNvSpPr/>
          <p:nvPr/>
        </p:nvSpPr>
        <p:spPr>
          <a:xfrm>
            <a:off x="4800600" y="2441448"/>
            <a:ext cx="4876495" cy="786384"/>
          </a:xfrm>
          <a:prstGeom prst="rect">
            <a:avLst/>
          </a:prstGeom>
          <a:noFill/>
          <a:ln/>
        </p:spPr>
        <p:txBody>
          <a:bodyPr wrap="square" lIns="0" tIns="0" rIns="0" bIns="0" rtlCol="0" anchor="ctr"/>
          <a:lstStyle/>
          <a:p>
            <a:pPr indent="0" marL="0">
              <a:lnSpc>
                <a:spcPts val="1700"/>
              </a:lnSpc>
              <a:buNone/>
            </a:pPr>
            <a:r>
              <a:rPr lang="en-US" sz="1200" dirty="0">
                <a:solidFill>
                  <a:srgbClr val="555C64"/>
                </a:solidFill>
                <a:latin typeface="Calibri" pitchFamily="34" charset="0"/>
                <a:ea typeface="Calibri" pitchFamily="34" charset="-122"/>
                <a:cs typeface="Calibri" pitchFamily="34" charset="-120"/>
              </a:rPr>
              <a:t>We already own the cameras. This is set dressing and sound only.</a:t>
            </a:r>
            <a:endParaRPr lang="en-US" sz="1200" dirty="0"/>
          </a:p>
        </p:txBody>
      </p:sp>
      <p:sp>
        <p:nvSpPr>
          <p:cNvPr id="11" name="Text 9"/>
          <p:cNvSpPr/>
          <p:nvPr/>
        </p:nvSpPr>
        <p:spPr>
          <a:xfrm>
            <a:off x="9750247" y="2441448"/>
            <a:ext cx="1371600" cy="786384"/>
          </a:xfrm>
          <a:prstGeom prst="rect">
            <a:avLst/>
          </a:prstGeom>
          <a:noFill/>
          <a:ln/>
        </p:spPr>
        <p:txBody>
          <a:bodyPr wrap="square" lIns="0" tIns="0" rIns="0" bIns="0" rtlCol="0" anchor="ctr"/>
          <a:lstStyle/>
          <a:p>
            <a:pPr algn="r" indent="0" marL="0">
              <a:buNone/>
            </a:pPr>
            <a:r>
              <a:rPr lang="en-US" sz="1700" b="1" dirty="0">
                <a:solidFill>
                  <a:srgbClr val="14181D"/>
                </a:solidFill>
                <a:latin typeface="Cambria" pitchFamily="34" charset="0"/>
                <a:ea typeface="Cambria" pitchFamily="34" charset="-122"/>
                <a:cs typeface="Cambria" pitchFamily="34" charset="-120"/>
              </a:rPr>
              <a:t>₹30–50k</a:t>
            </a:r>
            <a:endParaRPr lang="en-US" sz="1700" dirty="0"/>
          </a:p>
        </p:txBody>
      </p:sp>
      <p:sp>
        <p:nvSpPr>
          <p:cNvPr id="12" name="Shape 10"/>
          <p:cNvSpPr/>
          <p:nvPr/>
        </p:nvSpPr>
        <p:spPr>
          <a:xfrm>
            <a:off x="777240" y="3291840"/>
            <a:ext cx="10637215" cy="786384"/>
          </a:xfrm>
          <a:prstGeom prst="rect">
            <a:avLst/>
          </a:prstGeom>
          <a:solidFill>
            <a:srgbClr val="FFFFFF"/>
          </a:solidFill>
          <a:ln/>
        </p:spPr>
      </p:sp>
      <p:sp>
        <p:nvSpPr>
          <p:cNvPr id="13" name="Text 11"/>
          <p:cNvSpPr/>
          <p:nvPr/>
        </p:nvSpPr>
        <p:spPr>
          <a:xfrm>
            <a:off x="1069848" y="3291840"/>
            <a:ext cx="3566160" cy="786384"/>
          </a:xfrm>
          <a:prstGeom prst="rect">
            <a:avLst/>
          </a:prstGeom>
          <a:noFill/>
          <a:ln/>
        </p:spPr>
        <p:txBody>
          <a:bodyPr wrap="square" lIns="0" tIns="0" rIns="0" bIns="0" rtlCol="0" anchor="ctr"/>
          <a:lstStyle/>
          <a:p>
            <a:pPr indent="0" marL="0">
              <a:lnSpc>
                <a:spcPts val="1900"/>
              </a:lnSpc>
              <a:buNone/>
            </a:pPr>
            <a:r>
              <a:rPr lang="en-US" sz="1400" b="1" dirty="0">
                <a:solidFill>
                  <a:srgbClr val="14181D"/>
                </a:solidFill>
                <a:latin typeface="Cambria" pitchFamily="34" charset="0"/>
                <a:ea typeface="Cambria" pitchFamily="34" charset="-122"/>
                <a:cs typeface="Cambria" pitchFamily="34" charset="-120"/>
              </a:rPr>
              <a:t>Brand kit</a:t>
            </a:r>
            <a:endParaRPr lang="en-US" sz="1400" dirty="0"/>
          </a:p>
        </p:txBody>
      </p:sp>
      <p:sp>
        <p:nvSpPr>
          <p:cNvPr id="14" name="Text 12"/>
          <p:cNvSpPr/>
          <p:nvPr/>
        </p:nvSpPr>
        <p:spPr>
          <a:xfrm>
            <a:off x="4800600" y="3291840"/>
            <a:ext cx="4876495" cy="786384"/>
          </a:xfrm>
          <a:prstGeom prst="rect">
            <a:avLst/>
          </a:prstGeom>
          <a:noFill/>
          <a:ln/>
        </p:spPr>
        <p:txBody>
          <a:bodyPr wrap="square" lIns="0" tIns="0" rIns="0" bIns="0" rtlCol="0" anchor="ctr"/>
          <a:lstStyle/>
          <a:p>
            <a:pPr indent="0" marL="0">
              <a:lnSpc>
                <a:spcPts val="1700"/>
              </a:lnSpc>
              <a:buNone/>
            </a:pPr>
            <a:r>
              <a:rPr lang="en-US" sz="1200" dirty="0">
                <a:solidFill>
                  <a:srgbClr val="555C64"/>
                </a:solidFill>
                <a:latin typeface="Calibri" pitchFamily="34" charset="0"/>
                <a:ea typeface="Calibri" pitchFamily="34" charset="-122"/>
                <a:cs typeface="Calibri" pitchFamily="34" charset="-120"/>
              </a:rPr>
              <a:t>Logo application, templates, partner collateral, ad templates with RERA number built in</a:t>
            </a:r>
            <a:endParaRPr lang="en-US" sz="1200" dirty="0"/>
          </a:p>
        </p:txBody>
      </p:sp>
      <p:sp>
        <p:nvSpPr>
          <p:cNvPr id="15" name="Text 13"/>
          <p:cNvSpPr/>
          <p:nvPr/>
        </p:nvSpPr>
        <p:spPr>
          <a:xfrm>
            <a:off x="9750247" y="3291840"/>
            <a:ext cx="1371600" cy="786384"/>
          </a:xfrm>
          <a:prstGeom prst="rect">
            <a:avLst/>
          </a:prstGeom>
          <a:noFill/>
          <a:ln/>
        </p:spPr>
        <p:txBody>
          <a:bodyPr wrap="square" lIns="0" tIns="0" rIns="0" bIns="0" rtlCol="0" anchor="ctr"/>
          <a:lstStyle/>
          <a:p>
            <a:pPr algn="r" indent="0" marL="0">
              <a:buNone/>
            </a:pPr>
            <a:r>
              <a:rPr lang="en-US" sz="1700" b="1" dirty="0">
                <a:solidFill>
                  <a:srgbClr val="14181D"/>
                </a:solidFill>
                <a:latin typeface="Cambria" pitchFamily="34" charset="0"/>
                <a:ea typeface="Cambria" pitchFamily="34" charset="-122"/>
                <a:cs typeface="Cambria" pitchFamily="34" charset="-120"/>
              </a:rPr>
              <a:t>₹40–60k</a:t>
            </a:r>
            <a:endParaRPr lang="en-US" sz="1700" dirty="0"/>
          </a:p>
        </p:txBody>
      </p:sp>
      <p:sp>
        <p:nvSpPr>
          <p:cNvPr id="16" name="Shape 14"/>
          <p:cNvSpPr/>
          <p:nvPr/>
        </p:nvSpPr>
        <p:spPr>
          <a:xfrm>
            <a:off x="777240" y="4142232"/>
            <a:ext cx="10637215" cy="786384"/>
          </a:xfrm>
          <a:prstGeom prst="rect">
            <a:avLst/>
          </a:prstGeom>
          <a:solidFill>
            <a:srgbClr val="14181D"/>
          </a:solidFill>
          <a:ln/>
        </p:spPr>
      </p:sp>
      <p:sp>
        <p:nvSpPr>
          <p:cNvPr id="17" name="Text 15"/>
          <p:cNvSpPr/>
          <p:nvPr/>
        </p:nvSpPr>
        <p:spPr>
          <a:xfrm>
            <a:off x="1069848" y="4142232"/>
            <a:ext cx="5486400" cy="786384"/>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Total setup, before launch</a:t>
            </a:r>
            <a:endParaRPr lang="en-US" sz="1500" dirty="0"/>
          </a:p>
        </p:txBody>
      </p:sp>
      <p:sp>
        <p:nvSpPr>
          <p:cNvPr id="18" name="Text 16"/>
          <p:cNvSpPr/>
          <p:nvPr/>
        </p:nvSpPr>
        <p:spPr>
          <a:xfrm>
            <a:off x="9037015" y="4142232"/>
            <a:ext cx="2084832" cy="786384"/>
          </a:xfrm>
          <a:prstGeom prst="rect">
            <a:avLst/>
          </a:prstGeom>
          <a:noFill/>
          <a:ln/>
        </p:spPr>
        <p:txBody>
          <a:bodyPr wrap="square" lIns="0" tIns="0" rIns="0" bIns="0" rtlCol="0" anchor="ctr"/>
          <a:lstStyle/>
          <a:p>
            <a:pPr algn="r" indent="0" marL="0">
              <a:buNone/>
            </a:pPr>
            <a:r>
              <a:rPr lang="en-US" sz="2300" b="1" spc="-50" kern="0" dirty="0">
                <a:solidFill>
                  <a:srgbClr val="D9B061"/>
                </a:solidFill>
                <a:latin typeface="Cambria" pitchFamily="34" charset="0"/>
                <a:ea typeface="Cambria" pitchFamily="34" charset="-122"/>
                <a:cs typeface="Cambria" pitchFamily="34" charset="-120"/>
              </a:rPr>
              <a:t>₹2.7–4.1L</a:t>
            </a:r>
            <a:endParaRPr lang="en-US" sz="2300" dirty="0"/>
          </a:p>
        </p:txBody>
      </p:sp>
      <p:sp>
        <p:nvSpPr>
          <p:cNvPr id="19" name="Text 17"/>
          <p:cNvSpPr/>
          <p:nvPr/>
        </p:nvSpPr>
        <p:spPr>
          <a:xfrm>
            <a:off x="777240" y="5111496"/>
            <a:ext cx="10637215" cy="365760"/>
          </a:xfrm>
          <a:prstGeom prst="rect">
            <a:avLst/>
          </a:prstGeom>
          <a:noFill/>
          <a:ln/>
        </p:spPr>
        <p:txBody>
          <a:bodyPr wrap="square" lIns="0" tIns="0" rIns="0" bIns="0" rtlCol="0" anchor="ctr"/>
          <a:lstStyle/>
          <a:p>
            <a:pPr indent="0" marL="0">
              <a:buNone/>
            </a:pPr>
            <a:r>
              <a:rPr lang="en-US" sz="1450" b="1" dirty="0">
                <a:solidFill>
                  <a:srgbClr val="14181D"/>
                </a:solidFill>
                <a:latin typeface="Calibri" pitchFamily="34" charset="0"/>
                <a:ea typeface="Calibri" pitchFamily="34" charset="-122"/>
                <a:cs typeface="Calibri" pitchFamily="34" charset="-120"/>
              </a:rPr>
              <a:t>Built once, reused on every project after Neopolis. Only the shoots repeat.</a:t>
            </a:r>
            <a:endParaRPr lang="en-US" sz="1450" dirty="0"/>
          </a:p>
        </p:txBody>
      </p:sp>
      <p:sp>
        <p:nvSpPr>
          <p:cNvPr id="20" name="Text 18"/>
          <p:cNvSpPr/>
          <p:nvPr/>
        </p:nvSpPr>
        <p:spPr>
          <a:xfrm>
            <a:off x="777240" y="5513832"/>
            <a:ext cx="10637215" cy="777240"/>
          </a:xfrm>
          <a:prstGeom prst="rect">
            <a:avLst/>
          </a:prstGeom>
          <a:noFill/>
          <a:ln/>
        </p:spPr>
        <p:txBody>
          <a:bodyPr wrap="square" lIns="0" tIns="0" rIns="0" bIns="0" rtlCol="0" anchor="ctr"/>
          <a:lstStyle/>
          <a:p>
            <a:pPr indent="0" marL="0">
              <a:lnSpc>
                <a:spcPts val="1900"/>
              </a:lnSpc>
              <a:buNone/>
            </a:pPr>
            <a:r>
              <a:rPr lang="en-US" sz="1300" i="1" dirty="0">
                <a:solidFill>
                  <a:srgbClr val="8A9099"/>
                </a:solidFill>
                <a:latin typeface="Calibri" pitchFamily="34" charset="0"/>
                <a:ea typeface="Calibri" pitchFamily="34" charset="-122"/>
                <a:cs typeface="Calibri" pitchFamily="34" charset="-120"/>
              </a:rPr>
              <a:t>One honest caveat: version one of the comparison engine is hand-built data for 10–15 projects. Automating it — pulling RERA and registration records directly — is a Layer 2 engineering cost we'd scope properly once we know the data is worth automating.</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777240" y="530352"/>
            <a:ext cx="10637215" cy="219456"/>
          </a:xfrm>
          <a:prstGeom prst="rect">
            <a:avLst/>
          </a:prstGeom>
          <a:noFill/>
          <a:ln/>
        </p:spPr>
        <p:txBody>
          <a:bodyPr wrap="square" lIns="0" tIns="0" rIns="0" bIns="0" rtlCol="0" anchor="ctr"/>
          <a:lstStyle/>
          <a:p>
            <a:pPr indent="0" marL="0">
              <a:buNone/>
            </a:pPr>
            <a:r>
              <a:rPr lang="en-US" sz="1100" b="1" spc="260" kern="0" dirty="0">
                <a:solidFill>
                  <a:srgbClr val="9A7A25"/>
                </a:solidFill>
                <a:latin typeface="Calibri" pitchFamily="34" charset="0"/>
                <a:ea typeface="Calibri" pitchFamily="34" charset="-122"/>
                <a:cs typeface="Calibri" pitchFamily="34" charset="-120"/>
              </a:rPr>
              <a:t>12</a:t>
            </a:r>
            <a:endParaRPr lang="en-US" sz="1100" dirty="0"/>
          </a:p>
        </p:txBody>
      </p:sp>
      <p:sp>
        <p:nvSpPr>
          <p:cNvPr id="3" name="Text 1"/>
          <p:cNvSpPr/>
          <p:nvPr/>
        </p:nvSpPr>
        <p:spPr>
          <a:xfrm>
            <a:off x="777240" y="768096"/>
            <a:ext cx="10637215" cy="603504"/>
          </a:xfrm>
          <a:prstGeom prst="rect">
            <a:avLst/>
          </a:prstGeom>
          <a:noFill/>
          <a:ln/>
        </p:spPr>
        <p:txBody>
          <a:bodyPr wrap="square" lIns="0" tIns="0" rIns="0" bIns="0" rtlCol="0" anchor="ctr"/>
          <a:lstStyle/>
          <a:p>
            <a:pPr indent="0" marL="0">
              <a:buNone/>
            </a:pPr>
            <a:r>
              <a:rPr lang="en-US" sz="3800" b="1" spc="-60" kern="0" dirty="0">
                <a:solidFill>
                  <a:srgbClr val="14181D"/>
                </a:solidFill>
                <a:latin typeface="Cambria" pitchFamily="34" charset="0"/>
                <a:ea typeface="Cambria" pitchFamily="34" charset="-122"/>
                <a:cs typeface="Cambria" pitchFamily="34" charset="-120"/>
              </a:rPr>
              <a:t>What we measure</a:t>
            </a:r>
            <a:endParaRPr lang="en-US" sz="3800" dirty="0"/>
          </a:p>
        </p:txBody>
      </p:sp>
      <p:sp>
        <p:nvSpPr>
          <p:cNvPr id="4" name="Text 2"/>
          <p:cNvSpPr/>
          <p:nvPr/>
        </p:nvSpPr>
        <p:spPr>
          <a:xfrm>
            <a:off x="777240" y="1463040"/>
            <a:ext cx="9539935" cy="457200"/>
          </a:xfrm>
          <a:prstGeom prst="rect">
            <a:avLst/>
          </a:prstGeom>
          <a:noFill/>
          <a:ln/>
        </p:spPr>
        <p:txBody>
          <a:bodyPr wrap="square" lIns="0" tIns="0" rIns="0" bIns="0" rtlCol="0" anchor="t"/>
          <a:lstStyle/>
          <a:p>
            <a:pPr indent="0" marL="0">
              <a:lnSpc>
                <a:spcPts val="2200"/>
              </a:lnSpc>
              <a:buNone/>
            </a:pPr>
            <a:r>
              <a:rPr lang="en-US" sz="1550" dirty="0">
                <a:solidFill>
                  <a:srgbClr val="555C64"/>
                </a:solidFill>
                <a:latin typeface="Calibri" pitchFamily="34" charset="0"/>
                <a:ea typeface="Calibri" pitchFamily="34" charset="-122"/>
                <a:cs typeface="Calibri" pitchFamily="34" charset="-120"/>
              </a:rPr>
              <a:t>Reported from the first week of spend. These are counted, not estimated.</a:t>
            </a:r>
            <a:endParaRPr lang="en-US" sz="1550" dirty="0"/>
          </a:p>
        </p:txBody>
      </p:sp>
      <p:sp>
        <p:nvSpPr>
          <p:cNvPr id="5" name="Shape 3"/>
          <p:cNvSpPr/>
          <p:nvPr/>
        </p:nvSpPr>
        <p:spPr>
          <a:xfrm>
            <a:off x="777240" y="2066544"/>
            <a:ext cx="10637215" cy="420624"/>
          </a:xfrm>
          <a:prstGeom prst="rect">
            <a:avLst/>
          </a:prstGeom>
          <a:solidFill>
            <a:srgbClr val="FFFFFF"/>
          </a:solidFill>
          <a:ln/>
        </p:spPr>
      </p:sp>
      <p:sp>
        <p:nvSpPr>
          <p:cNvPr id="6" name="Shape 4"/>
          <p:cNvSpPr/>
          <p:nvPr/>
        </p:nvSpPr>
        <p:spPr>
          <a:xfrm>
            <a:off x="1051560" y="2217420"/>
            <a:ext cx="118872" cy="118872"/>
          </a:xfrm>
          <a:prstGeom prst="ellipse">
            <a:avLst/>
          </a:prstGeom>
          <a:solidFill>
            <a:srgbClr val="9A7A25"/>
          </a:solidFill>
          <a:ln/>
        </p:spPr>
      </p:sp>
      <p:sp>
        <p:nvSpPr>
          <p:cNvPr id="7" name="Text 5"/>
          <p:cNvSpPr/>
          <p:nvPr/>
        </p:nvSpPr>
        <p:spPr>
          <a:xfrm>
            <a:off x="1344168" y="2066544"/>
            <a:ext cx="3200400" cy="420624"/>
          </a:xfrm>
          <a:prstGeom prst="rect">
            <a:avLst/>
          </a:prstGeom>
          <a:noFill/>
          <a:ln/>
        </p:spPr>
        <p:txBody>
          <a:bodyPr wrap="square" lIns="0" tIns="0" rIns="0" bIns="0" rtlCol="0" anchor="ctr"/>
          <a:lstStyle/>
          <a:p>
            <a:pPr indent="0" marL="0">
              <a:buNone/>
            </a:pPr>
            <a:r>
              <a:rPr lang="en-US" sz="1300" b="1" dirty="0">
                <a:solidFill>
                  <a:srgbClr val="14181D"/>
                </a:solidFill>
                <a:latin typeface="Cambria" pitchFamily="34" charset="0"/>
                <a:ea typeface="Cambria" pitchFamily="34" charset="-122"/>
                <a:cs typeface="Cambria" pitchFamily="34" charset="-120"/>
              </a:rPr>
              <a:t>Brand search visibility</a:t>
            </a:r>
            <a:endParaRPr lang="en-US" sz="1300" dirty="0"/>
          </a:p>
        </p:txBody>
      </p:sp>
      <p:sp>
        <p:nvSpPr>
          <p:cNvPr id="8" name="Text 6"/>
          <p:cNvSpPr/>
          <p:nvPr/>
        </p:nvSpPr>
        <p:spPr>
          <a:xfrm>
            <a:off x="4754880" y="2066544"/>
            <a:ext cx="5379415" cy="420624"/>
          </a:xfrm>
          <a:prstGeom prst="rect">
            <a:avLst/>
          </a:prstGeom>
          <a:noFill/>
          <a:ln/>
        </p:spPr>
        <p:txBody>
          <a:bodyPr wrap="square" lIns="0" tIns="0" rIns="0" bIns="0" rtlCol="0" anchor="ctr"/>
          <a:lstStyle/>
          <a:p>
            <a:pPr indent="0" marL="0">
              <a:buNone/>
            </a:pPr>
            <a:r>
              <a:rPr lang="en-US" sz="1200" dirty="0">
                <a:solidFill>
                  <a:srgbClr val="555C64"/>
                </a:solidFill>
                <a:latin typeface="Calibri" pitchFamily="34" charset="0"/>
                <a:ea typeface="Calibri" pitchFamily="34" charset="-122"/>
                <a:cs typeface="Calibri" pitchFamily="34" charset="-120"/>
              </a:rPr>
              <a:t>Whether OTHO appears when someone looks for it</a:t>
            </a:r>
            <a:endParaRPr lang="en-US" sz="1200" dirty="0"/>
          </a:p>
        </p:txBody>
      </p:sp>
      <p:sp>
        <p:nvSpPr>
          <p:cNvPr id="9" name="Text 7"/>
          <p:cNvSpPr/>
          <p:nvPr/>
        </p:nvSpPr>
        <p:spPr>
          <a:xfrm>
            <a:off x="10207447" y="2066544"/>
            <a:ext cx="932688" cy="420624"/>
          </a:xfrm>
          <a:prstGeom prst="rect">
            <a:avLst/>
          </a:prstGeom>
          <a:noFill/>
          <a:ln/>
        </p:spPr>
        <p:txBody>
          <a:bodyPr wrap="square" lIns="0" tIns="0" rIns="0" bIns="0" rtlCol="0" anchor="ctr"/>
          <a:lstStyle/>
          <a:p>
            <a:pPr algn="r" indent="0" marL="0">
              <a:buNone/>
            </a:pPr>
            <a:r>
              <a:rPr lang="en-US" sz="1050" b="1" dirty="0">
                <a:solidFill>
                  <a:srgbClr val="8A9099"/>
                </a:solidFill>
                <a:latin typeface="Calibri" pitchFamily="34" charset="0"/>
                <a:ea typeface="Calibri" pitchFamily="34" charset="-122"/>
                <a:cs typeface="Calibri" pitchFamily="34" charset="-120"/>
              </a:rPr>
              <a:t>Monthly</a:t>
            </a:r>
            <a:endParaRPr lang="en-US" sz="1050" dirty="0"/>
          </a:p>
        </p:txBody>
      </p:sp>
      <p:sp>
        <p:nvSpPr>
          <p:cNvPr id="10" name="Shape 8"/>
          <p:cNvSpPr/>
          <p:nvPr/>
        </p:nvSpPr>
        <p:spPr>
          <a:xfrm>
            <a:off x="777240" y="2532888"/>
            <a:ext cx="10637215" cy="420624"/>
          </a:xfrm>
          <a:prstGeom prst="rect">
            <a:avLst/>
          </a:prstGeom>
          <a:solidFill>
            <a:srgbClr val="FFFFFF"/>
          </a:solidFill>
          <a:ln/>
        </p:spPr>
      </p:sp>
      <p:sp>
        <p:nvSpPr>
          <p:cNvPr id="11" name="Shape 9"/>
          <p:cNvSpPr/>
          <p:nvPr/>
        </p:nvSpPr>
        <p:spPr>
          <a:xfrm>
            <a:off x="1051560" y="2683764"/>
            <a:ext cx="118872" cy="118872"/>
          </a:xfrm>
          <a:prstGeom prst="ellipse">
            <a:avLst/>
          </a:prstGeom>
          <a:solidFill>
            <a:srgbClr val="9A7A25"/>
          </a:solidFill>
          <a:ln/>
        </p:spPr>
      </p:sp>
      <p:sp>
        <p:nvSpPr>
          <p:cNvPr id="12" name="Text 10"/>
          <p:cNvSpPr/>
          <p:nvPr/>
        </p:nvSpPr>
        <p:spPr>
          <a:xfrm>
            <a:off x="1344168" y="2532888"/>
            <a:ext cx="3200400" cy="420624"/>
          </a:xfrm>
          <a:prstGeom prst="rect">
            <a:avLst/>
          </a:prstGeom>
          <a:noFill/>
          <a:ln/>
        </p:spPr>
        <p:txBody>
          <a:bodyPr wrap="square" lIns="0" tIns="0" rIns="0" bIns="0" rtlCol="0" anchor="ctr"/>
          <a:lstStyle/>
          <a:p>
            <a:pPr indent="0" marL="0">
              <a:buNone/>
            </a:pPr>
            <a:r>
              <a:rPr lang="en-US" sz="1300" b="1" dirty="0">
                <a:solidFill>
                  <a:srgbClr val="14181D"/>
                </a:solidFill>
                <a:latin typeface="Cambria" pitchFamily="34" charset="0"/>
                <a:ea typeface="Cambria" pitchFamily="34" charset="-122"/>
                <a:cs typeface="Cambria" pitchFamily="34" charset="-120"/>
              </a:rPr>
              <a:t>Podcast views and watch time</a:t>
            </a:r>
            <a:endParaRPr lang="en-US" sz="1300" dirty="0"/>
          </a:p>
        </p:txBody>
      </p:sp>
      <p:sp>
        <p:nvSpPr>
          <p:cNvPr id="13" name="Text 11"/>
          <p:cNvSpPr/>
          <p:nvPr/>
        </p:nvSpPr>
        <p:spPr>
          <a:xfrm>
            <a:off x="4754880" y="2532888"/>
            <a:ext cx="5379415" cy="420624"/>
          </a:xfrm>
          <a:prstGeom prst="rect">
            <a:avLst/>
          </a:prstGeom>
          <a:noFill/>
          <a:ln/>
        </p:spPr>
        <p:txBody>
          <a:bodyPr wrap="square" lIns="0" tIns="0" rIns="0" bIns="0" rtlCol="0" anchor="ctr"/>
          <a:lstStyle/>
          <a:p>
            <a:pPr indent="0" marL="0">
              <a:buNone/>
            </a:pPr>
            <a:r>
              <a:rPr lang="en-US" sz="1200" dirty="0">
                <a:solidFill>
                  <a:srgbClr val="555C64"/>
                </a:solidFill>
                <a:latin typeface="Calibri" pitchFamily="34" charset="0"/>
                <a:ea typeface="Calibri" pitchFamily="34" charset="-122"/>
                <a:cs typeface="Calibri" pitchFamily="34" charset="-120"/>
              </a:rPr>
              <a:t>Whether the authority play is landing</a:t>
            </a:r>
            <a:endParaRPr lang="en-US" sz="1200" dirty="0"/>
          </a:p>
        </p:txBody>
      </p:sp>
      <p:sp>
        <p:nvSpPr>
          <p:cNvPr id="14" name="Text 12"/>
          <p:cNvSpPr/>
          <p:nvPr/>
        </p:nvSpPr>
        <p:spPr>
          <a:xfrm>
            <a:off x="10207447" y="2532888"/>
            <a:ext cx="932688" cy="420624"/>
          </a:xfrm>
          <a:prstGeom prst="rect">
            <a:avLst/>
          </a:prstGeom>
          <a:noFill/>
          <a:ln/>
        </p:spPr>
        <p:txBody>
          <a:bodyPr wrap="square" lIns="0" tIns="0" rIns="0" bIns="0" rtlCol="0" anchor="ctr"/>
          <a:lstStyle/>
          <a:p>
            <a:pPr algn="r" indent="0" marL="0">
              <a:buNone/>
            </a:pPr>
            <a:r>
              <a:rPr lang="en-US" sz="1050" b="1" dirty="0">
                <a:solidFill>
                  <a:srgbClr val="8A9099"/>
                </a:solidFill>
                <a:latin typeface="Calibri" pitchFamily="34" charset="0"/>
                <a:ea typeface="Calibri" pitchFamily="34" charset="-122"/>
                <a:cs typeface="Calibri" pitchFamily="34" charset="-120"/>
              </a:rPr>
              <a:t>Monthly</a:t>
            </a:r>
            <a:endParaRPr lang="en-US" sz="1050" dirty="0"/>
          </a:p>
        </p:txBody>
      </p:sp>
      <p:sp>
        <p:nvSpPr>
          <p:cNvPr id="15" name="Shape 13"/>
          <p:cNvSpPr/>
          <p:nvPr/>
        </p:nvSpPr>
        <p:spPr>
          <a:xfrm>
            <a:off x="777240" y="2999232"/>
            <a:ext cx="10637215" cy="420624"/>
          </a:xfrm>
          <a:prstGeom prst="rect">
            <a:avLst/>
          </a:prstGeom>
          <a:solidFill>
            <a:srgbClr val="FFFFFF"/>
          </a:solidFill>
          <a:ln/>
        </p:spPr>
      </p:sp>
      <p:sp>
        <p:nvSpPr>
          <p:cNvPr id="16" name="Shape 14"/>
          <p:cNvSpPr/>
          <p:nvPr/>
        </p:nvSpPr>
        <p:spPr>
          <a:xfrm>
            <a:off x="1051560" y="3150108"/>
            <a:ext cx="118872" cy="118872"/>
          </a:xfrm>
          <a:prstGeom prst="ellipse">
            <a:avLst/>
          </a:prstGeom>
          <a:solidFill>
            <a:srgbClr val="27548F"/>
          </a:solidFill>
          <a:ln/>
        </p:spPr>
      </p:sp>
      <p:sp>
        <p:nvSpPr>
          <p:cNvPr id="17" name="Text 15"/>
          <p:cNvSpPr/>
          <p:nvPr/>
        </p:nvSpPr>
        <p:spPr>
          <a:xfrm>
            <a:off x="1344168" y="2999232"/>
            <a:ext cx="3200400" cy="420624"/>
          </a:xfrm>
          <a:prstGeom prst="rect">
            <a:avLst/>
          </a:prstGeom>
          <a:noFill/>
          <a:ln/>
        </p:spPr>
        <p:txBody>
          <a:bodyPr wrap="square" lIns="0" tIns="0" rIns="0" bIns="0" rtlCol="0" anchor="ctr"/>
          <a:lstStyle/>
          <a:p>
            <a:pPr indent="0" marL="0">
              <a:buNone/>
            </a:pPr>
            <a:r>
              <a:rPr lang="en-US" sz="1300" b="1" dirty="0">
                <a:solidFill>
                  <a:srgbClr val="14181D"/>
                </a:solidFill>
                <a:latin typeface="Cambria" pitchFamily="34" charset="0"/>
                <a:ea typeface="Cambria" pitchFamily="34" charset="-122"/>
                <a:cs typeface="Cambria" pitchFamily="34" charset="-120"/>
              </a:rPr>
              <a:t>Enquiries by source</a:t>
            </a:r>
            <a:endParaRPr lang="en-US" sz="1300" dirty="0"/>
          </a:p>
        </p:txBody>
      </p:sp>
      <p:sp>
        <p:nvSpPr>
          <p:cNvPr id="18" name="Text 16"/>
          <p:cNvSpPr/>
          <p:nvPr/>
        </p:nvSpPr>
        <p:spPr>
          <a:xfrm>
            <a:off x="4754880" y="2999232"/>
            <a:ext cx="5379415" cy="420624"/>
          </a:xfrm>
          <a:prstGeom prst="rect">
            <a:avLst/>
          </a:prstGeom>
          <a:noFill/>
          <a:ln/>
        </p:spPr>
        <p:txBody>
          <a:bodyPr wrap="square" lIns="0" tIns="0" rIns="0" bIns="0" rtlCol="0" anchor="ctr"/>
          <a:lstStyle/>
          <a:p>
            <a:pPr indent="0" marL="0">
              <a:buNone/>
            </a:pPr>
            <a:r>
              <a:rPr lang="en-US" sz="1200" dirty="0">
                <a:solidFill>
                  <a:srgbClr val="555C64"/>
                </a:solidFill>
                <a:latin typeface="Calibri" pitchFamily="34" charset="0"/>
                <a:ea typeface="Calibri" pitchFamily="34" charset="-122"/>
                <a:cs typeface="Calibri" pitchFamily="34" charset="-120"/>
              </a:rPr>
              <a:t>Which channels produce — free and paid counted separately</a:t>
            </a:r>
            <a:endParaRPr lang="en-US" sz="1200" dirty="0"/>
          </a:p>
        </p:txBody>
      </p:sp>
      <p:sp>
        <p:nvSpPr>
          <p:cNvPr id="19" name="Text 17"/>
          <p:cNvSpPr/>
          <p:nvPr/>
        </p:nvSpPr>
        <p:spPr>
          <a:xfrm>
            <a:off x="10207447" y="2999232"/>
            <a:ext cx="932688" cy="420624"/>
          </a:xfrm>
          <a:prstGeom prst="rect">
            <a:avLst/>
          </a:prstGeom>
          <a:noFill/>
          <a:ln/>
        </p:spPr>
        <p:txBody>
          <a:bodyPr wrap="square" lIns="0" tIns="0" rIns="0" bIns="0" rtlCol="0" anchor="ctr"/>
          <a:lstStyle/>
          <a:p>
            <a:pPr algn="r" indent="0" marL="0">
              <a:buNone/>
            </a:pPr>
            <a:r>
              <a:rPr lang="en-US" sz="1050" b="1" dirty="0">
                <a:solidFill>
                  <a:srgbClr val="8A9099"/>
                </a:solidFill>
                <a:latin typeface="Calibri" pitchFamily="34" charset="0"/>
                <a:ea typeface="Calibri" pitchFamily="34" charset="-122"/>
                <a:cs typeface="Calibri" pitchFamily="34" charset="-120"/>
              </a:rPr>
              <a:t>Weekly</a:t>
            </a:r>
            <a:endParaRPr lang="en-US" sz="1050" dirty="0"/>
          </a:p>
        </p:txBody>
      </p:sp>
      <p:sp>
        <p:nvSpPr>
          <p:cNvPr id="20" name="Shape 18"/>
          <p:cNvSpPr/>
          <p:nvPr/>
        </p:nvSpPr>
        <p:spPr>
          <a:xfrm>
            <a:off x="777240" y="3465576"/>
            <a:ext cx="10637215" cy="420624"/>
          </a:xfrm>
          <a:prstGeom prst="rect">
            <a:avLst/>
          </a:prstGeom>
          <a:solidFill>
            <a:srgbClr val="FFFFFF"/>
          </a:solidFill>
          <a:ln/>
        </p:spPr>
      </p:sp>
      <p:sp>
        <p:nvSpPr>
          <p:cNvPr id="21" name="Shape 19"/>
          <p:cNvSpPr/>
          <p:nvPr/>
        </p:nvSpPr>
        <p:spPr>
          <a:xfrm>
            <a:off x="1051560" y="3616452"/>
            <a:ext cx="118872" cy="118872"/>
          </a:xfrm>
          <a:prstGeom prst="ellipse">
            <a:avLst/>
          </a:prstGeom>
          <a:solidFill>
            <a:srgbClr val="27548F"/>
          </a:solidFill>
          <a:ln/>
        </p:spPr>
      </p:sp>
      <p:sp>
        <p:nvSpPr>
          <p:cNvPr id="22" name="Text 20"/>
          <p:cNvSpPr/>
          <p:nvPr/>
        </p:nvSpPr>
        <p:spPr>
          <a:xfrm>
            <a:off x="1344168" y="3465576"/>
            <a:ext cx="3200400" cy="420624"/>
          </a:xfrm>
          <a:prstGeom prst="rect">
            <a:avLst/>
          </a:prstGeom>
          <a:noFill/>
          <a:ln/>
        </p:spPr>
        <p:txBody>
          <a:bodyPr wrap="square" lIns="0" tIns="0" rIns="0" bIns="0" rtlCol="0" anchor="ctr"/>
          <a:lstStyle/>
          <a:p>
            <a:pPr indent="0" marL="0">
              <a:buNone/>
            </a:pPr>
            <a:r>
              <a:rPr lang="en-US" sz="1300" b="1" dirty="0">
                <a:solidFill>
                  <a:srgbClr val="14181D"/>
                </a:solidFill>
                <a:latin typeface="Cambria" pitchFamily="34" charset="0"/>
                <a:ea typeface="Cambria" pitchFamily="34" charset="-122"/>
                <a:cs typeface="Cambria" pitchFamily="34" charset="-120"/>
              </a:rPr>
              <a:t>Cost per enquiry</a:t>
            </a:r>
            <a:endParaRPr lang="en-US" sz="1300" dirty="0"/>
          </a:p>
        </p:txBody>
      </p:sp>
      <p:sp>
        <p:nvSpPr>
          <p:cNvPr id="23" name="Text 21"/>
          <p:cNvSpPr/>
          <p:nvPr/>
        </p:nvSpPr>
        <p:spPr>
          <a:xfrm>
            <a:off x="4754880" y="3465576"/>
            <a:ext cx="5379415" cy="420624"/>
          </a:xfrm>
          <a:prstGeom prst="rect">
            <a:avLst/>
          </a:prstGeom>
          <a:noFill/>
          <a:ln/>
        </p:spPr>
        <p:txBody>
          <a:bodyPr wrap="square" lIns="0" tIns="0" rIns="0" bIns="0" rtlCol="0" anchor="ctr"/>
          <a:lstStyle/>
          <a:p>
            <a:pPr indent="0" marL="0">
              <a:buNone/>
            </a:pPr>
            <a:r>
              <a:rPr lang="en-US" sz="1200" dirty="0">
                <a:solidFill>
                  <a:srgbClr val="555C64"/>
                </a:solidFill>
                <a:latin typeface="Calibri" pitchFamily="34" charset="0"/>
                <a:ea typeface="Calibri" pitchFamily="34" charset="-122"/>
                <a:cs typeface="Calibri" pitchFamily="34" charset="-120"/>
              </a:rPr>
              <a:t>Whether paid media is getting cheaper or dearer</a:t>
            </a:r>
            <a:endParaRPr lang="en-US" sz="1200" dirty="0"/>
          </a:p>
        </p:txBody>
      </p:sp>
      <p:sp>
        <p:nvSpPr>
          <p:cNvPr id="24" name="Text 22"/>
          <p:cNvSpPr/>
          <p:nvPr/>
        </p:nvSpPr>
        <p:spPr>
          <a:xfrm>
            <a:off x="10207447" y="3465576"/>
            <a:ext cx="932688" cy="420624"/>
          </a:xfrm>
          <a:prstGeom prst="rect">
            <a:avLst/>
          </a:prstGeom>
          <a:noFill/>
          <a:ln/>
        </p:spPr>
        <p:txBody>
          <a:bodyPr wrap="square" lIns="0" tIns="0" rIns="0" bIns="0" rtlCol="0" anchor="ctr"/>
          <a:lstStyle/>
          <a:p>
            <a:pPr algn="r" indent="0" marL="0">
              <a:buNone/>
            </a:pPr>
            <a:r>
              <a:rPr lang="en-US" sz="1050" b="1" dirty="0">
                <a:solidFill>
                  <a:srgbClr val="8A9099"/>
                </a:solidFill>
                <a:latin typeface="Calibri" pitchFamily="34" charset="0"/>
                <a:ea typeface="Calibri" pitchFamily="34" charset="-122"/>
                <a:cs typeface="Calibri" pitchFamily="34" charset="-120"/>
              </a:rPr>
              <a:t>Weekly</a:t>
            </a:r>
            <a:endParaRPr lang="en-US" sz="1050" dirty="0"/>
          </a:p>
        </p:txBody>
      </p:sp>
      <p:sp>
        <p:nvSpPr>
          <p:cNvPr id="25" name="Shape 23"/>
          <p:cNvSpPr/>
          <p:nvPr/>
        </p:nvSpPr>
        <p:spPr>
          <a:xfrm>
            <a:off x="777240" y="3931920"/>
            <a:ext cx="10637215" cy="420624"/>
          </a:xfrm>
          <a:prstGeom prst="rect">
            <a:avLst/>
          </a:prstGeom>
          <a:solidFill>
            <a:srgbClr val="FFFFFF"/>
          </a:solidFill>
          <a:ln/>
        </p:spPr>
      </p:sp>
      <p:sp>
        <p:nvSpPr>
          <p:cNvPr id="26" name="Shape 24"/>
          <p:cNvSpPr/>
          <p:nvPr/>
        </p:nvSpPr>
        <p:spPr>
          <a:xfrm>
            <a:off x="1051560" y="4082796"/>
            <a:ext cx="118872" cy="118872"/>
          </a:xfrm>
          <a:prstGeom prst="ellipse">
            <a:avLst/>
          </a:prstGeom>
          <a:solidFill>
            <a:srgbClr val="27548F"/>
          </a:solidFill>
          <a:ln/>
        </p:spPr>
      </p:sp>
      <p:sp>
        <p:nvSpPr>
          <p:cNvPr id="27" name="Text 25"/>
          <p:cNvSpPr/>
          <p:nvPr/>
        </p:nvSpPr>
        <p:spPr>
          <a:xfrm>
            <a:off x="1344168" y="3931920"/>
            <a:ext cx="3200400" cy="420624"/>
          </a:xfrm>
          <a:prstGeom prst="rect">
            <a:avLst/>
          </a:prstGeom>
          <a:noFill/>
          <a:ln/>
        </p:spPr>
        <p:txBody>
          <a:bodyPr wrap="square" lIns="0" tIns="0" rIns="0" bIns="0" rtlCol="0" anchor="ctr"/>
          <a:lstStyle/>
          <a:p>
            <a:pPr indent="0" marL="0">
              <a:buNone/>
            </a:pPr>
            <a:r>
              <a:rPr lang="en-US" sz="1300" b="1" dirty="0">
                <a:solidFill>
                  <a:srgbClr val="14181D"/>
                </a:solidFill>
                <a:latin typeface="Cambria" pitchFamily="34" charset="0"/>
                <a:ea typeface="Cambria" pitchFamily="34" charset="-122"/>
                <a:cs typeface="Cambria" pitchFamily="34" charset="-120"/>
              </a:rPr>
              <a:t>Response time</a:t>
            </a:r>
            <a:endParaRPr lang="en-US" sz="1300" dirty="0"/>
          </a:p>
        </p:txBody>
      </p:sp>
      <p:sp>
        <p:nvSpPr>
          <p:cNvPr id="28" name="Text 26"/>
          <p:cNvSpPr/>
          <p:nvPr/>
        </p:nvSpPr>
        <p:spPr>
          <a:xfrm>
            <a:off x="4754880" y="3931920"/>
            <a:ext cx="5379415" cy="420624"/>
          </a:xfrm>
          <a:prstGeom prst="rect">
            <a:avLst/>
          </a:prstGeom>
          <a:noFill/>
          <a:ln/>
        </p:spPr>
        <p:txBody>
          <a:bodyPr wrap="square" lIns="0" tIns="0" rIns="0" bIns="0" rtlCol="0" anchor="ctr"/>
          <a:lstStyle/>
          <a:p>
            <a:pPr indent="0" marL="0">
              <a:buNone/>
            </a:pPr>
            <a:r>
              <a:rPr lang="en-US" sz="1200" dirty="0">
                <a:solidFill>
                  <a:srgbClr val="555C64"/>
                </a:solidFill>
                <a:latin typeface="Calibri" pitchFamily="34" charset="0"/>
                <a:ea typeface="Calibri" pitchFamily="34" charset="-122"/>
                <a:cs typeface="Calibri" pitchFamily="34" charset="-120"/>
              </a:rPr>
              <a:t>How long a buyer waits before a human replies</a:t>
            </a:r>
            <a:endParaRPr lang="en-US" sz="1200" dirty="0"/>
          </a:p>
        </p:txBody>
      </p:sp>
      <p:sp>
        <p:nvSpPr>
          <p:cNvPr id="29" name="Text 27"/>
          <p:cNvSpPr/>
          <p:nvPr/>
        </p:nvSpPr>
        <p:spPr>
          <a:xfrm>
            <a:off x="10207447" y="3931920"/>
            <a:ext cx="932688" cy="420624"/>
          </a:xfrm>
          <a:prstGeom prst="rect">
            <a:avLst/>
          </a:prstGeom>
          <a:noFill/>
          <a:ln/>
        </p:spPr>
        <p:txBody>
          <a:bodyPr wrap="square" lIns="0" tIns="0" rIns="0" bIns="0" rtlCol="0" anchor="ctr"/>
          <a:lstStyle/>
          <a:p>
            <a:pPr algn="r" indent="0" marL="0">
              <a:buNone/>
            </a:pPr>
            <a:r>
              <a:rPr lang="en-US" sz="1050" b="1" dirty="0">
                <a:solidFill>
                  <a:srgbClr val="8A9099"/>
                </a:solidFill>
                <a:latin typeface="Calibri" pitchFamily="34" charset="0"/>
                <a:ea typeface="Calibri" pitchFamily="34" charset="-122"/>
                <a:cs typeface="Calibri" pitchFamily="34" charset="-120"/>
              </a:rPr>
              <a:t>Weekly</a:t>
            </a:r>
            <a:endParaRPr lang="en-US" sz="1050" dirty="0"/>
          </a:p>
        </p:txBody>
      </p:sp>
      <p:sp>
        <p:nvSpPr>
          <p:cNvPr id="30" name="Shape 28"/>
          <p:cNvSpPr/>
          <p:nvPr/>
        </p:nvSpPr>
        <p:spPr>
          <a:xfrm>
            <a:off x="777240" y="4398264"/>
            <a:ext cx="10637215" cy="420624"/>
          </a:xfrm>
          <a:prstGeom prst="rect">
            <a:avLst/>
          </a:prstGeom>
          <a:solidFill>
            <a:srgbClr val="FFFFFF"/>
          </a:solidFill>
          <a:ln/>
        </p:spPr>
      </p:sp>
      <p:sp>
        <p:nvSpPr>
          <p:cNvPr id="31" name="Shape 29"/>
          <p:cNvSpPr/>
          <p:nvPr/>
        </p:nvSpPr>
        <p:spPr>
          <a:xfrm>
            <a:off x="1051560" y="4549140"/>
            <a:ext cx="118872" cy="118872"/>
          </a:xfrm>
          <a:prstGeom prst="ellipse">
            <a:avLst/>
          </a:prstGeom>
          <a:solidFill>
            <a:srgbClr val="27548F"/>
          </a:solidFill>
          <a:ln/>
        </p:spPr>
      </p:sp>
      <p:sp>
        <p:nvSpPr>
          <p:cNvPr id="32" name="Text 30"/>
          <p:cNvSpPr/>
          <p:nvPr/>
        </p:nvSpPr>
        <p:spPr>
          <a:xfrm>
            <a:off x="1344168" y="4398264"/>
            <a:ext cx="3200400" cy="420624"/>
          </a:xfrm>
          <a:prstGeom prst="rect">
            <a:avLst/>
          </a:prstGeom>
          <a:noFill/>
          <a:ln/>
        </p:spPr>
        <p:txBody>
          <a:bodyPr wrap="square" lIns="0" tIns="0" rIns="0" bIns="0" rtlCol="0" anchor="ctr"/>
          <a:lstStyle/>
          <a:p>
            <a:pPr indent="0" marL="0">
              <a:buNone/>
            </a:pPr>
            <a:r>
              <a:rPr lang="en-US" sz="1300" b="1" dirty="0">
                <a:solidFill>
                  <a:srgbClr val="14181D"/>
                </a:solidFill>
                <a:latin typeface="Cambria" pitchFamily="34" charset="0"/>
                <a:ea typeface="Cambria" pitchFamily="34" charset="-122"/>
                <a:cs typeface="Cambria" pitchFamily="34" charset="-120"/>
              </a:rPr>
              <a:t>Site visits booked vs held</a:t>
            </a:r>
            <a:endParaRPr lang="en-US" sz="1300" dirty="0"/>
          </a:p>
        </p:txBody>
      </p:sp>
      <p:sp>
        <p:nvSpPr>
          <p:cNvPr id="33" name="Text 31"/>
          <p:cNvSpPr/>
          <p:nvPr/>
        </p:nvSpPr>
        <p:spPr>
          <a:xfrm>
            <a:off x="4754880" y="4398264"/>
            <a:ext cx="5379415" cy="420624"/>
          </a:xfrm>
          <a:prstGeom prst="rect">
            <a:avLst/>
          </a:prstGeom>
          <a:noFill/>
          <a:ln/>
        </p:spPr>
        <p:txBody>
          <a:bodyPr wrap="square" lIns="0" tIns="0" rIns="0" bIns="0" rtlCol="0" anchor="ctr"/>
          <a:lstStyle/>
          <a:p>
            <a:pPr indent="0" marL="0">
              <a:buNone/>
            </a:pPr>
            <a:r>
              <a:rPr lang="en-US" sz="1200" dirty="0">
                <a:solidFill>
                  <a:srgbClr val="555C64"/>
                </a:solidFill>
                <a:latin typeface="Calibri" pitchFamily="34" charset="0"/>
                <a:ea typeface="Calibri" pitchFamily="34" charset="-122"/>
                <a:cs typeface="Calibri" pitchFamily="34" charset="-120"/>
              </a:rPr>
              <a:t>Whether we bring serious people or curious ones</a:t>
            </a:r>
            <a:endParaRPr lang="en-US" sz="1200" dirty="0"/>
          </a:p>
        </p:txBody>
      </p:sp>
      <p:sp>
        <p:nvSpPr>
          <p:cNvPr id="34" name="Text 32"/>
          <p:cNvSpPr/>
          <p:nvPr/>
        </p:nvSpPr>
        <p:spPr>
          <a:xfrm>
            <a:off x="10207447" y="4398264"/>
            <a:ext cx="932688" cy="420624"/>
          </a:xfrm>
          <a:prstGeom prst="rect">
            <a:avLst/>
          </a:prstGeom>
          <a:noFill/>
          <a:ln/>
        </p:spPr>
        <p:txBody>
          <a:bodyPr wrap="square" lIns="0" tIns="0" rIns="0" bIns="0" rtlCol="0" anchor="ctr"/>
          <a:lstStyle/>
          <a:p>
            <a:pPr algn="r" indent="0" marL="0">
              <a:buNone/>
            </a:pPr>
            <a:r>
              <a:rPr lang="en-US" sz="1050" b="1" dirty="0">
                <a:solidFill>
                  <a:srgbClr val="8A9099"/>
                </a:solidFill>
                <a:latin typeface="Calibri" pitchFamily="34" charset="0"/>
                <a:ea typeface="Calibri" pitchFamily="34" charset="-122"/>
                <a:cs typeface="Calibri" pitchFamily="34" charset="-120"/>
              </a:rPr>
              <a:t>Weekly</a:t>
            </a:r>
            <a:endParaRPr lang="en-US" sz="1050" dirty="0"/>
          </a:p>
        </p:txBody>
      </p:sp>
      <p:sp>
        <p:nvSpPr>
          <p:cNvPr id="35" name="Shape 33"/>
          <p:cNvSpPr/>
          <p:nvPr/>
        </p:nvSpPr>
        <p:spPr>
          <a:xfrm>
            <a:off x="777240" y="4864608"/>
            <a:ext cx="10637215" cy="420624"/>
          </a:xfrm>
          <a:prstGeom prst="rect">
            <a:avLst/>
          </a:prstGeom>
          <a:solidFill>
            <a:srgbClr val="FFFFFF"/>
          </a:solidFill>
          <a:ln/>
        </p:spPr>
      </p:sp>
      <p:sp>
        <p:nvSpPr>
          <p:cNvPr id="36" name="Shape 34"/>
          <p:cNvSpPr/>
          <p:nvPr/>
        </p:nvSpPr>
        <p:spPr>
          <a:xfrm>
            <a:off x="1051560" y="5015484"/>
            <a:ext cx="118872" cy="118872"/>
          </a:xfrm>
          <a:prstGeom prst="ellipse">
            <a:avLst/>
          </a:prstGeom>
          <a:solidFill>
            <a:srgbClr val="2E7150"/>
          </a:solidFill>
          <a:ln/>
        </p:spPr>
      </p:sp>
      <p:sp>
        <p:nvSpPr>
          <p:cNvPr id="37" name="Text 35"/>
          <p:cNvSpPr/>
          <p:nvPr/>
        </p:nvSpPr>
        <p:spPr>
          <a:xfrm>
            <a:off x="1344168" y="4864608"/>
            <a:ext cx="3200400" cy="420624"/>
          </a:xfrm>
          <a:prstGeom prst="rect">
            <a:avLst/>
          </a:prstGeom>
          <a:noFill/>
          <a:ln/>
        </p:spPr>
        <p:txBody>
          <a:bodyPr wrap="square" lIns="0" tIns="0" rIns="0" bIns="0" rtlCol="0" anchor="ctr"/>
          <a:lstStyle/>
          <a:p>
            <a:pPr indent="0" marL="0">
              <a:buNone/>
            </a:pPr>
            <a:r>
              <a:rPr lang="en-US" sz="1300" b="1" dirty="0">
                <a:solidFill>
                  <a:srgbClr val="14181D"/>
                </a:solidFill>
                <a:latin typeface="Cambria" pitchFamily="34" charset="0"/>
                <a:ea typeface="Cambria" pitchFamily="34" charset="-122"/>
                <a:cs typeface="Cambria" pitchFamily="34" charset="-120"/>
              </a:rPr>
              <a:t>Bookings by source</a:t>
            </a:r>
            <a:endParaRPr lang="en-US" sz="1300" dirty="0"/>
          </a:p>
        </p:txBody>
      </p:sp>
      <p:sp>
        <p:nvSpPr>
          <p:cNvPr id="38" name="Text 36"/>
          <p:cNvSpPr/>
          <p:nvPr/>
        </p:nvSpPr>
        <p:spPr>
          <a:xfrm>
            <a:off x="4754880" y="4864608"/>
            <a:ext cx="5379415" cy="420624"/>
          </a:xfrm>
          <a:prstGeom prst="rect">
            <a:avLst/>
          </a:prstGeom>
          <a:noFill/>
          <a:ln/>
        </p:spPr>
        <p:txBody>
          <a:bodyPr wrap="square" lIns="0" tIns="0" rIns="0" bIns="0" rtlCol="0" anchor="ctr"/>
          <a:lstStyle/>
          <a:p>
            <a:pPr indent="0" marL="0">
              <a:buNone/>
            </a:pPr>
            <a:r>
              <a:rPr lang="en-US" sz="1200" dirty="0">
                <a:solidFill>
                  <a:srgbClr val="555C64"/>
                </a:solidFill>
                <a:latin typeface="Calibri" pitchFamily="34" charset="0"/>
                <a:ea typeface="Calibri" pitchFamily="34" charset="-122"/>
                <a:cs typeface="Calibri" pitchFamily="34" charset="-120"/>
              </a:rPr>
              <a:t>The number that finally matters</a:t>
            </a:r>
            <a:endParaRPr lang="en-US" sz="1200" dirty="0"/>
          </a:p>
        </p:txBody>
      </p:sp>
      <p:sp>
        <p:nvSpPr>
          <p:cNvPr id="39" name="Text 37"/>
          <p:cNvSpPr/>
          <p:nvPr/>
        </p:nvSpPr>
        <p:spPr>
          <a:xfrm>
            <a:off x="10207447" y="4864608"/>
            <a:ext cx="932688" cy="420624"/>
          </a:xfrm>
          <a:prstGeom prst="rect">
            <a:avLst/>
          </a:prstGeom>
          <a:noFill/>
          <a:ln/>
        </p:spPr>
        <p:txBody>
          <a:bodyPr wrap="square" lIns="0" tIns="0" rIns="0" bIns="0" rtlCol="0" anchor="ctr"/>
          <a:lstStyle/>
          <a:p>
            <a:pPr algn="r" indent="0" marL="0">
              <a:buNone/>
            </a:pPr>
            <a:r>
              <a:rPr lang="en-US" sz="1050" b="1" dirty="0">
                <a:solidFill>
                  <a:srgbClr val="8A9099"/>
                </a:solidFill>
                <a:latin typeface="Calibri" pitchFamily="34" charset="0"/>
                <a:ea typeface="Calibri" pitchFamily="34" charset="-122"/>
                <a:cs typeface="Calibri" pitchFamily="34" charset="-120"/>
              </a:rPr>
              <a:t>Monthly</a:t>
            </a:r>
            <a:endParaRPr lang="en-US" sz="1050" dirty="0"/>
          </a:p>
        </p:txBody>
      </p:sp>
      <p:sp>
        <p:nvSpPr>
          <p:cNvPr id="40" name="Shape 38"/>
          <p:cNvSpPr/>
          <p:nvPr/>
        </p:nvSpPr>
        <p:spPr>
          <a:xfrm>
            <a:off x="777240" y="5330952"/>
            <a:ext cx="10637215" cy="420624"/>
          </a:xfrm>
          <a:prstGeom prst="rect">
            <a:avLst/>
          </a:prstGeom>
          <a:solidFill>
            <a:srgbClr val="FFFFFF"/>
          </a:solidFill>
          <a:ln/>
        </p:spPr>
      </p:sp>
      <p:sp>
        <p:nvSpPr>
          <p:cNvPr id="41" name="Shape 39"/>
          <p:cNvSpPr/>
          <p:nvPr/>
        </p:nvSpPr>
        <p:spPr>
          <a:xfrm>
            <a:off x="1051560" y="5481828"/>
            <a:ext cx="118872" cy="118872"/>
          </a:xfrm>
          <a:prstGeom prst="ellipse">
            <a:avLst/>
          </a:prstGeom>
          <a:solidFill>
            <a:srgbClr val="2E7150"/>
          </a:solidFill>
          <a:ln/>
        </p:spPr>
      </p:sp>
      <p:sp>
        <p:nvSpPr>
          <p:cNvPr id="42" name="Text 40"/>
          <p:cNvSpPr/>
          <p:nvPr/>
        </p:nvSpPr>
        <p:spPr>
          <a:xfrm>
            <a:off x="1344168" y="5330952"/>
            <a:ext cx="3200400" cy="420624"/>
          </a:xfrm>
          <a:prstGeom prst="rect">
            <a:avLst/>
          </a:prstGeom>
          <a:noFill/>
          <a:ln/>
        </p:spPr>
        <p:txBody>
          <a:bodyPr wrap="square" lIns="0" tIns="0" rIns="0" bIns="0" rtlCol="0" anchor="ctr"/>
          <a:lstStyle/>
          <a:p>
            <a:pPr indent="0" marL="0">
              <a:buNone/>
            </a:pPr>
            <a:r>
              <a:rPr lang="en-US" sz="1300" b="1" dirty="0">
                <a:solidFill>
                  <a:srgbClr val="14181D"/>
                </a:solidFill>
                <a:latin typeface="Cambria" pitchFamily="34" charset="0"/>
                <a:ea typeface="Cambria" pitchFamily="34" charset="-122"/>
                <a:cs typeface="Cambria" pitchFamily="34" charset="-120"/>
              </a:rPr>
              <a:t>Cost per booking</a:t>
            </a:r>
            <a:endParaRPr lang="en-US" sz="1300" dirty="0"/>
          </a:p>
        </p:txBody>
      </p:sp>
      <p:sp>
        <p:nvSpPr>
          <p:cNvPr id="43" name="Text 41"/>
          <p:cNvSpPr/>
          <p:nvPr/>
        </p:nvSpPr>
        <p:spPr>
          <a:xfrm>
            <a:off x="4754880" y="5330952"/>
            <a:ext cx="5379415" cy="420624"/>
          </a:xfrm>
          <a:prstGeom prst="rect">
            <a:avLst/>
          </a:prstGeom>
          <a:noFill/>
          <a:ln/>
        </p:spPr>
        <p:txBody>
          <a:bodyPr wrap="square" lIns="0" tIns="0" rIns="0" bIns="0" rtlCol="0" anchor="ctr"/>
          <a:lstStyle/>
          <a:p>
            <a:pPr indent="0" marL="0">
              <a:buNone/>
            </a:pPr>
            <a:r>
              <a:rPr lang="en-US" sz="1200" dirty="0">
                <a:solidFill>
                  <a:srgbClr val="555C64"/>
                </a:solidFill>
                <a:latin typeface="Calibri" pitchFamily="34" charset="0"/>
                <a:ea typeface="Calibri" pitchFamily="34" charset="-122"/>
                <a:cs typeface="Calibri" pitchFamily="34" charset="-120"/>
              </a:rPr>
              <a:t>What it costs to sell one home through marketing</a:t>
            </a:r>
            <a:endParaRPr lang="en-US" sz="1200" dirty="0"/>
          </a:p>
        </p:txBody>
      </p:sp>
      <p:sp>
        <p:nvSpPr>
          <p:cNvPr id="44" name="Text 42"/>
          <p:cNvSpPr/>
          <p:nvPr/>
        </p:nvSpPr>
        <p:spPr>
          <a:xfrm>
            <a:off x="10207447" y="5330952"/>
            <a:ext cx="932688" cy="420624"/>
          </a:xfrm>
          <a:prstGeom prst="rect">
            <a:avLst/>
          </a:prstGeom>
          <a:noFill/>
          <a:ln/>
        </p:spPr>
        <p:txBody>
          <a:bodyPr wrap="square" lIns="0" tIns="0" rIns="0" bIns="0" rtlCol="0" anchor="ctr"/>
          <a:lstStyle/>
          <a:p>
            <a:pPr algn="r" indent="0" marL="0">
              <a:buNone/>
            </a:pPr>
            <a:r>
              <a:rPr lang="en-US" sz="1050" b="1" dirty="0">
                <a:solidFill>
                  <a:srgbClr val="8A9099"/>
                </a:solidFill>
                <a:latin typeface="Calibri" pitchFamily="34" charset="0"/>
                <a:ea typeface="Calibri" pitchFamily="34" charset="-122"/>
                <a:cs typeface="Calibri" pitchFamily="34" charset="-120"/>
              </a:rPr>
              <a:t>Monthly</a:t>
            </a:r>
            <a:endParaRPr lang="en-US" sz="1050" dirty="0"/>
          </a:p>
        </p:txBody>
      </p:sp>
      <p:sp>
        <p:nvSpPr>
          <p:cNvPr id="45" name="Text 43"/>
          <p:cNvSpPr/>
          <p:nvPr/>
        </p:nvSpPr>
        <p:spPr>
          <a:xfrm>
            <a:off x="777240" y="5980176"/>
            <a:ext cx="10637215" cy="640080"/>
          </a:xfrm>
          <a:prstGeom prst="rect">
            <a:avLst/>
          </a:prstGeom>
          <a:noFill/>
          <a:ln/>
        </p:spPr>
        <p:txBody>
          <a:bodyPr wrap="square" lIns="0" tIns="0" rIns="0" bIns="0" rtlCol="0" anchor="ctr"/>
          <a:lstStyle/>
          <a:p>
            <a:pPr indent="0" marL="0">
              <a:lnSpc>
                <a:spcPts val="2100"/>
              </a:lnSpc>
              <a:buNone/>
            </a:pPr>
            <a:r>
              <a:rPr lang="en-US" sz="1400" dirty="0">
                <a:solidFill>
                  <a:srgbClr val="14181D"/>
                </a:solidFill>
                <a:latin typeface="Calibri" pitchFamily="34" charset="0"/>
                <a:ea typeface="Calibri" pitchFamily="34" charset="-122"/>
                <a:cs typeface="Calibri" pitchFamily="34" charset="-120"/>
              </a:rPr>
              <a:t>How this helps: these decide the budget. If cost per enquiry falls and site visits convert, we move up a level. If they don't, we stop and fix the funnel before spending more.</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777240" y="530352"/>
            <a:ext cx="10637215" cy="219456"/>
          </a:xfrm>
          <a:prstGeom prst="rect">
            <a:avLst/>
          </a:prstGeom>
          <a:noFill/>
          <a:ln/>
        </p:spPr>
        <p:txBody>
          <a:bodyPr wrap="square" lIns="0" tIns="0" rIns="0" bIns="0" rtlCol="0" anchor="ctr"/>
          <a:lstStyle/>
          <a:p>
            <a:pPr indent="0" marL="0">
              <a:buNone/>
            </a:pPr>
            <a:r>
              <a:rPr lang="en-US" sz="1100" b="1" spc="260" kern="0" dirty="0">
                <a:solidFill>
                  <a:srgbClr val="9A7A25"/>
                </a:solidFill>
                <a:latin typeface="Calibri" pitchFamily="34" charset="0"/>
                <a:ea typeface="Calibri" pitchFamily="34" charset="-122"/>
                <a:cs typeface="Calibri" pitchFamily="34" charset="-120"/>
              </a:rPr>
              <a:t>12</a:t>
            </a:r>
            <a:endParaRPr lang="en-US" sz="1100" dirty="0"/>
          </a:p>
        </p:txBody>
      </p:sp>
      <p:sp>
        <p:nvSpPr>
          <p:cNvPr id="3" name="Text 1"/>
          <p:cNvSpPr/>
          <p:nvPr/>
        </p:nvSpPr>
        <p:spPr>
          <a:xfrm>
            <a:off x="777240" y="768096"/>
            <a:ext cx="10637215" cy="603504"/>
          </a:xfrm>
          <a:prstGeom prst="rect">
            <a:avLst/>
          </a:prstGeom>
          <a:noFill/>
          <a:ln/>
        </p:spPr>
        <p:txBody>
          <a:bodyPr wrap="square" lIns="0" tIns="0" rIns="0" bIns="0" rtlCol="0" anchor="ctr"/>
          <a:lstStyle/>
          <a:p>
            <a:pPr indent="0" marL="0">
              <a:buNone/>
            </a:pPr>
            <a:r>
              <a:rPr lang="en-US" sz="3800" b="1" spc="-60" kern="0" dirty="0">
                <a:solidFill>
                  <a:srgbClr val="14181D"/>
                </a:solidFill>
                <a:latin typeface="Cambria" pitchFamily="34" charset="0"/>
                <a:ea typeface="Cambria" pitchFamily="34" charset="-122"/>
                <a:cs typeface="Cambria" pitchFamily="34" charset="-120"/>
              </a:rPr>
              <a:t>What it takes to break even</a:t>
            </a:r>
            <a:endParaRPr lang="en-US" sz="3800" dirty="0"/>
          </a:p>
        </p:txBody>
      </p:sp>
      <p:sp>
        <p:nvSpPr>
          <p:cNvPr id="4" name="Text 2"/>
          <p:cNvSpPr/>
          <p:nvPr/>
        </p:nvSpPr>
        <p:spPr>
          <a:xfrm>
            <a:off x="777240" y="1463040"/>
            <a:ext cx="9539935" cy="457200"/>
          </a:xfrm>
          <a:prstGeom prst="rect">
            <a:avLst/>
          </a:prstGeom>
          <a:noFill/>
          <a:ln/>
        </p:spPr>
        <p:txBody>
          <a:bodyPr wrap="square" lIns="0" tIns="0" rIns="0" bIns="0" rtlCol="0" anchor="t"/>
          <a:lstStyle/>
          <a:p>
            <a:pPr indent="0" marL="0">
              <a:lnSpc>
                <a:spcPts val="2200"/>
              </a:lnSpc>
              <a:buNone/>
            </a:pPr>
            <a:r>
              <a:rPr lang="en-US" sz="1550" dirty="0">
                <a:solidFill>
                  <a:srgbClr val="555C64"/>
                </a:solidFill>
                <a:latin typeface="Calibri" pitchFamily="34" charset="0"/>
                <a:ea typeface="Calibri" pitchFamily="34" charset="-122"/>
                <a:cs typeface="Calibri" pitchFamily="34" charset="-120"/>
              </a:rPr>
              <a:t>At this budget the useful question isn't return multiples — it's how little has to happen before this pays for itself.</a:t>
            </a:r>
            <a:endParaRPr lang="en-US" sz="1550" dirty="0"/>
          </a:p>
        </p:txBody>
      </p:sp>
      <p:sp>
        <p:nvSpPr>
          <p:cNvPr id="5" name="Shape 3"/>
          <p:cNvSpPr/>
          <p:nvPr/>
        </p:nvSpPr>
        <p:spPr>
          <a:xfrm>
            <a:off x="777240" y="2066544"/>
            <a:ext cx="4144975" cy="429768"/>
          </a:xfrm>
          <a:prstGeom prst="rect">
            <a:avLst/>
          </a:prstGeom>
          <a:solidFill>
            <a:srgbClr val="14181D"/>
          </a:solidFill>
          <a:ln/>
        </p:spPr>
      </p:sp>
      <p:sp>
        <p:nvSpPr>
          <p:cNvPr id="6" name="Text 4"/>
          <p:cNvSpPr/>
          <p:nvPr/>
        </p:nvSpPr>
        <p:spPr>
          <a:xfrm>
            <a:off x="1014984" y="2066544"/>
            <a:ext cx="3733495" cy="429768"/>
          </a:xfrm>
          <a:prstGeom prst="rect">
            <a:avLst/>
          </a:prstGeom>
          <a:noFill/>
          <a:ln/>
        </p:spPr>
        <p:txBody>
          <a:bodyPr wrap="square" lIns="0" tIns="0" rIns="0" bIns="0" rtlCol="0" anchor="ctr"/>
          <a:lstStyle/>
          <a:p>
            <a:pPr indent="0" marL="0">
              <a:buNone/>
            </a:pPr>
            <a:endParaRPr lang="en-US" sz="1250" dirty="0"/>
          </a:p>
        </p:txBody>
      </p:sp>
      <p:sp>
        <p:nvSpPr>
          <p:cNvPr id="7" name="Shape 5"/>
          <p:cNvSpPr/>
          <p:nvPr/>
        </p:nvSpPr>
        <p:spPr>
          <a:xfrm>
            <a:off x="4967935" y="2066544"/>
            <a:ext cx="2240280" cy="429768"/>
          </a:xfrm>
          <a:prstGeom prst="rect">
            <a:avLst/>
          </a:prstGeom>
          <a:solidFill>
            <a:srgbClr val="14181D"/>
          </a:solidFill>
          <a:ln/>
        </p:spPr>
      </p:sp>
      <p:sp>
        <p:nvSpPr>
          <p:cNvPr id="8" name="Text 6"/>
          <p:cNvSpPr/>
          <p:nvPr/>
        </p:nvSpPr>
        <p:spPr>
          <a:xfrm>
            <a:off x="4967935" y="2066544"/>
            <a:ext cx="2240280" cy="42976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Foundation</a:t>
            </a:r>
            <a:endParaRPr lang="en-US" sz="1150" dirty="0"/>
          </a:p>
        </p:txBody>
      </p:sp>
      <p:sp>
        <p:nvSpPr>
          <p:cNvPr id="9" name="Shape 7"/>
          <p:cNvSpPr/>
          <p:nvPr/>
        </p:nvSpPr>
        <p:spPr>
          <a:xfrm>
            <a:off x="7253935" y="2066544"/>
            <a:ext cx="2240280" cy="429768"/>
          </a:xfrm>
          <a:prstGeom prst="rect">
            <a:avLst/>
          </a:prstGeom>
          <a:solidFill>
            <a:srgbClr val="14181D"/>
          </a:solidFill>
          <a:ln/>
        </p:spPr>
      </p:sp>
      <p:sp>
        <p:nvSpPr>
          <p:cNvPr id="10" name="Text 8"/>
          <p:cNvSpPr/>
          <p:nvPr/>
        </p:nvSpPr>
        <p:spPr>
          <a:xfrm>
            <a:off x="7253935" y="2066544"/>
            <a:ext cx="2240280" cy="42976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Build</a:t>
            </a:r>
            <a:endParaRPr lang="en-US" sz="1150" dirty="0"/>
          </a:p>
        </p:txBody>
      </p:sp>
      <p:sp>
        <p:nvSpPr>
          <p:cNvPr id="11" name="Shape 9"/>
          <p:cNvSpPr/>
          <p:nvPr/>
        </p:nvSpPr>
        <p:spPr>
          <a:xfrm>
            <a:off x="9539935" y="2066544"/>
            <a:ext cx="1874520" cy="429768"/>
          </a:xfrm>
          <a:prstGeom prst="rect">
            <a:avLst/>
          </a:prstGeom>
          <a:solidFill>
            <a:srgbClr val="14181D"/>
          </a:solidFill>
          <a:ln/>
        </p:spPr>
      </p:sp>
      <p:sp>
        <p:nvSpPr>
          <p:cNvPr id="12" name="Text 10"/>
          <p:cNvSpPr/>
          <p:nvPr/>
        </p:nvSpPr>
        <p:spPr>
          <a:xfrm>
            <a:off x="9686239" y="2066544"/>
            <a:ext cx="1581912" cy="429768"/>
          </a:xfrm>
          <a:prstGeom prst="rect">
            <a:avLst/>
          </a:prstGeom>
          <a:noFill/>
          <a:ln/>
        </p:spPr>
        <p:txBody>
          <a:bodyPr wrap="square" lIns="0" tIns="0" rIns="0" bIns="0" rtlCol="0" anchor="ctr"/>
          <a:lstStyle/>
          <a:p>
            <a:pPr indent="0" marL="0">
              <a:buNone/>
            </a:pPr>
            <a:endParaRPr lang="en-US" sz="1050" dirty="0"/>
          </a:p>
        </p:txBody>
      </p:sp>
      <p:sp>
        <p:nvSpPr>
          <p:cNvPr id="13" name="Shape 11"/>
          <p:cNvSpPr/>
          <p:nvPr/>
        </p:nvSpPr>
        <p:spPr>
          <a:xfrm>
            <a:off x="777240" y="2542032"/>
            <a:ext cx="4144975" cy="429768"/>
          </a:xfrm>
          <a:prstGeom prst="rect">
            <a:avLst/>
          </a:prstGeom>
          <a:solidFill>
            <a:srgbClr val="FFFFFF"/>
          </a:solidFill>
          <a:ln/>
        </p:spPr>
      </p:sp>
      <p:sp>
        <p:nvSpPr>
          <p:cNvPr id="14" name="Text 12"/>
          <p:cNvSpPr/>
          <p:nvPr/>
        </p:nvSpPr>
        <p:spPr>
          <a:xfrm>
            <a:off x="1014984" y="2542032"/>
            <a:ext cx="3733495" cy="429768"/>
          </a:xfrm>
          <a:prstGeom prst="rect">
            <a:avLst/>
          </a:prstGeom>
          <a:noFill/>
          <a:ln/>
        </p:spPr>
        <p:txBody>
          <a:bodyPr wrap="square" lIns="0" tIns="0" rIns="0" bIns="0" rtlCol="0" anchor="ctr"/>
          <a:lstStyle/>
          <a:p>
            <a:pPr indent="0" marL="0">
              <a:buNone/>
            </a:pPr>
            <a:r>
              <a:rPr lang="en-US" sz="1250" dirty="0">
                <a:solidFill>
                  <a:srgbClr val="14181D"/>
                </a:solidFill>
                <a:latin typeface="Calibri" pitchFamily="34" charset="0"/>
                <a:ea typeface="Calibri" pitchFamily="34" charset="-122"/>
                <a:cs typeface="Calibri" pitchFamily="34" charset="-120"/>
              </a:rPr>
              <a:t>Monthly cost, all in</a:t>
            </a:r>
            <a:endParaRPr lang="en-US" sz="1250" dirty="0"/>
          </a:p>
        </p:txBody>
      </p:sp>
      <p:sp>
        <p:nvSpPr>
          <p:cNvPr id="15" name="Shape 13"/>
          <p:cNvSpPr/>
          <p:nvPr/>
        </p:nvSpPr>
        <p:spPr>
          <a:xfrm>
            <a:off x="4967935" y="2542032"/>
            <a:ext cx="2240280" cy="429768"/>
          </a:xfrm>
          <a:prstGeom prst="rect">
            <a:avLst/>
          </a:prstGeom>
          <a:solidFill>
            <a:srgbClr val="FFFFFF"/>
          </a:solidFill>
          <a:ln/>
        </p:spPr>
      </p:sp>
      <p:sp>
        <p:nvSpPr>
          <p:cNvPr id="16" name="Text 14"/>
          <p:cNvSpPr/>
          <p:nvPr/>
        </p:nvSpPr>
        <p:spPr>
          <a:xfrm>
            <a:off x="4967935" y="2542032"/>
            <a:ext cx="2240280" cy="429768"/>
          </a:xfrm>
          <a:prstGeom prst="rect">
            <a:avLst/>
          </a:prstGeom>
          <a:noFill/>
          <a:ln/>
        </p:spPr>
        <p:txBody>
          <a:bodyPr wrap="square" lIns="0" tIns="0" rIns="0" bIns="0" rtlCol="0" anchor="ctr"/>
          <a:lstStyle/>
          <a:p>
            <a:pPr algn="ctr" indent="0" marL="0">
              <a:buNone/>
            </a:pPr>
            <a:r>
              <a:rPr lang="en-US" sz="1350" b="1" dirty="0">
                <a:solidFill>
                  <a:srgbClr val="14181D"/>
                </a:solidFill>
                <a:latin typeface="Cambria" pitchFamily="34" charset="0"/>
                <a:ea typeface="Cambria" pitchFamily="34" charset="-122"/>
                <a:cs typeface="Cambria" pitchFamily="34" charset="-120"/>
              </a:rPr>
              <a:t>₹1.2L</a:t>
            </a:r>
            <a:endParaRPr lang="en-US" sz="1350" dirty="0"/>
          </a:p>
        </p:txBody>
      </p:sp>
      <p:sp>
        <p:nvSpPr>
          <p:cNvPr id="17" name="Shape 15"/>
          <p:cNvSpPr/>
          <p:nvPr/>
        </p:nvSpPr>
        <p:spPr>
          <a:xfrm>
            <a:off x="7253935" y="2542032"/>
            <a:ext cx="2240280" cy="429768"/>
          </a:xfrm>
          <a:prstGeom prst="rect">
            <a:avLst/>
          </a:prstGeom>
          <a:solidFill>
            <a:srgbClr val="FFFFFF"/>
          </a:solidFill>
          <a:ln/>
        </p:spPr>
      </p:sp>
      <p:sp>
        <p:nvSpPr>
          <p:cNvPr id="18" name="Text 16"/>
          <p:cNvSpPr/>
          <p:nvPr/>
        </p:nvSpPr>
        <p:spPr>
          <a:xfrm>
            <a:off x="7253935" y="2542032"/>
            <a:ext cx="2240280" cy="429768"/>
          </a:xfrm>
          <a:prstGeom prst="rect">
            <a:avLst/>
          </a:prstGeom>
          <a:noFill/>
          <a:ln/>
        </p:spPr>
        <p:txBody>
          <a:bodyPr wrap="square" lIns="0" tIns="0" rIns="0" bIns="0" rtlCol="0" anchor="ctr"/>
          <a:lstStyle/>
          <a:p>
            <a:pPr algn="ctr" indent="0" marL="0">
              <a:buNone/>
            </a:pPr>
            <a:r>
              <a:rPr lang="en-US" sz="1350" b="1" dirty="0">
                <a:solidFill>
                  <a:srgbClr val="14181D"/>
                </a:solidFill>
                <a:latin typeface="Cambria" pitchFamily="34" charset="0"/>
                <a:ea typeface="Cambria" pitchFamily="34" charset="-122"/>
                <a:cs typeface="Cambria" pitchFamily="34" charset="-120"/>
              </a:rPr>
              <a:t>₹2.5L</a:t>
            </a:r>
            <a:endParaRPr lang="en-US" sz="1350" dirty="0"/>
          </a:p>
        </p:txBody>
      </p:sp>
      <p:sp>
        <p:nvSpPr>
          <p:cNvPr id="19" name="Shape 17"/>
          <p:cNvSpPr/>
          <p:nvPr/>
        </p:nvSpPr>
        <p:spPr>
          <a:xfrm>
            <a:off x="9539935" y="2542032"/>
            <a:ext cx="1874520" cy="429768"/>
          </a:xfrm>
          <a:prstGeom prst="rect">
            <a:avLst/>
          </a:prstGeom>
          <a:solidFill>
            <a:srgbClr val="FFFFFF"/>
          </a:solidFill>
          <a:ln/>
        </p:spPr>
      </p:sp>
      <p:sp>
        <p:nvSpPr>
          <p:cNvPr id="20" name="Text 18"/>
          <p:cNvSpPr/>
          <p:nvPr/>
        </p:nvSpPr>
        <p:spPr>
          <a:xfrm>
            <a:off x="9686239" y="2542032"/>
            <a:ext cx="1581912" cy="429768"/>
          </a:xfrm>
          <a:prstGeom prst="rect">
            <a:avLst/>
          </a:prstGeom>
          <a:noFill/>
          <a:ln/>
        </p:spPr>
        <p:txBody>
          <a:bodyPr wrap="square" lIns="0" tIns="0" rIns="0" bIns="0" rtlCol="0" anchor="ctr"/>
          <a:lstStyle/>
          <a:p>
            <a:pPr indent="0" marL="0">
              <a:buNone/>
            </a:pPr>
            <a:r>
              <a:rPr lang="en-US" sz="1050" dirty="0">
                <a:solidFill>
                  <a:srgbClr val="8A9099"/>
                </a:solidFill>
                <a:latin typeface="Calibri" pitchFamily="34" charset="0"/>
                <a:ea typeface="Calibri" pitchFamily="34" charset="-122"/>
                <a:cs typeface="Calibri" pitchFamily="34" charset="-120"/>
              </a:rPr>
              <a:t>From section 11</a:t>
            </a:r>
            <a:endParaRPr lang="en-US" sz="1050" dirty="0"/>
          </a:p>
        </p:txBody>
      </p:sp>
      <p:sp>
        <p:nvSpPr>
          <p:cNvPr id="21" name="Shape 19"/>
          <p:cNvSpPr/>
          <p:nvPr/>
        </p:nvSpPr>
        <p:spPr>
          <a:xfrm>
            <a:off x="777240" y="3017520"/>
            <a:ext cx="4144975" cy="429768"/>
          </a:xfrm>
          <a:prstGeom prst="rect">
            <a:avLst/>
          </a:prstGeom>
          <a:solidFill>
            <a:srgbClr val="FFFFFF"/>
          </a:solidFill>
          <a:ln/>
        </p:spPr>
      </p:sp>
      <p:sp>
        <p:nvSpPr>
          <p:cNvPr id="22" name="Text 20"/>
          <p:cNvSpPr/>
          <p:nvPr/>
        </p:nvSpPr>
        <p:spPr>
          <a:xfrm>
            <a:off x="1014984" y="3017520"/>
            <a:ext cx="3733495" cy="429768"/>
          </a:xfrm>
          <a:prstGeom prst="rect">
            <a:avLst/>
          </a:prstGeom>
          <a:noFill/>
          <a:ln/>
        </p:spPr>
        <p:txBody>
          <a:bodyPr wrap="square" lIns="0" tIns="0" rIns="0" bIns="0" rtlCol="0" anchor="ctr"/>
          <a:lstStyle/>
          <a:p>
            <a:pPr indent="0" marL="0">
              <a:buNone/>
            </a:pPr>
            <a:r>
              <a:rPr lang="en-US" sz="1250" dirty="0">
                <a:solidFill>
                  <a:srgbClr val="14181D"/>
                </a:solidFill>
                <a:latin typeface="Calibri" pitchFamily="34" charset="0"/>
                <a:ea typeface="Calibri" pitchFamily="34" charset="-122"/>
                <a:cs typeface="Calibri" pitchFamily="34" charset="-120"/>
              </a:rPr>
              <a:t>Average unit value</a:t>
            </a:r>
            <a:endParaRPr lang="en-US" sz="1250" dirty="0"/>
          </a:p>
        </p:txBody>
      </p:sp>
      <p:sp>
        <p:nvSpPr>
          <p:cNvPr id="23" name="Shape 21"/>
          <p:cNvSpPr/>
          <p:nvPr/>
        </p:nvSpPr>
        <p:spPr>
          <a:xfrm>
            <a:off x="4967935" y="3017520"/>
            <a:ext cx="2240280" cy="429768"/>
          </a:xfrm>
          <a:prstGeom prst="rect">
            <a:avLst/>
          </a:prstGeom>
          <a:solidFill>
            <a:srgbClr val="FFFFFF"/>
          </a:solidFill>
          <a:ln/>
        </p:spPr>
      </p:sp>
      <p:sp>
        <p:nvSpPr>
          <p:cNvPr id="24" name="Text 22"/>
          <p:cNvSpPr/>
          <p:nvPr/>
        </p:nvSpPr>
        <p:spPr>
          <a:xfrm>
            <a:off x="4967935" y="3017520"/>
            <a:ext cx="2240280" cy="429768"/>
          </a:xfrm>
          <a:prstGeom prst="rect">
            <a:avLst/>
          </a:prstGeom>
          <a:noFill/>
          <a:ln/>
        </p:spPr>
        <p:txBody>
          <a:bodyPr wrap="square" lIns="0" tIns="0" rIns="0" bIns="0" rtlCol="0" anchor="ctr"/>
          <a:lstStyle/>
          <a:p>
            <a:pPr algn="ctr" indent="0" marL="0">
              <a:buNone/>
            </a:pPr>
            <a:r>
              <a:rPr lang="en-US" sz="1350" b="1" dirty="0">
                <a:solidFill>
                  <a:srgbClr val="14181D"/>
                </a:solidFill>
                <a:latin typeface="Cambria" pitchFamily="34" charset="0"/>
                <a:ea typeface="Cambria" pitchFamily="34" charset="-122"/>
                <a:cs typeface="Cambria" pitchFamily="34" charset="-120"/>
              </a:rPr>
              <a:t>₹2.5 Cr</a:t>
            </a:r>
            <a:endParaRPr lang="en-US" sz="1350" dirty="0"/>
          </a:p>
        </p:txBody>
      </p:sp>
      <p:sp>
        <p:nvSpPr>
          <p:cNvPr id="25" name="Shape 23"/>
          <p:cNvSpPr/>
          <p:nvPr/>
        </p:nvSpPr>
        <p:spPr>
          <a:xfrm>
            <a:off x="7253935" y="3017520"/>
            <a:ext cx="2240280" cy="429768"/>
          </a:xfrm>
          <a:prstGeom prst="rect">
            <a:avLst/>
          </a:prstGeom>
          <a:solidFill>
            <a:srgbClr val="FFFFFF"/>
          </a:solidFill>
          <a:ln/>
        </p:spPr>
      </p:sp>
      <p:sp>
        <p:nvSpPr>
          <p:cNvPr id="26" name="Text 24"/>
          <p:cNvSpPr/>
          <p:nvPr/>
        </p:nvSpPr>
        <p:spPr>
          <a:xfrm>
            <a:off x="7253935" y="3017520"/>
            <a:ext cx="2240280" cy="429768"/>
          </a:xfrm>
          <a:prstGeom prst="rect">
            <a:avLst/>
          </a:prstGeom>
          <a:noFill/>
          <a:ln/>
        </p:spPr>
        <p:txBody>
          <a:bodyPr wrap="square" lIns="0" tIns="0" rIns="0" bIns="0" rtlCol="0" anchor="ctr"/>
          <a:lstStyle/>
          <a:p>
            <a:pPr algn="ctr" indent="0" marL="0">
              <a:buNone/>
            </a:pPr>
            <a:r>
              <a:rPr lang="en-US" sz="1350" b="1" dirty="0">
                <a:solidFill>
                  <a:srgbClr val="14181D"/>
                </a:solidFill>
                <a:latin typeface="Cambria" pitchFamily="34" charset="0"/>
                <a:ea typeface="Cambria" pitchFamily="34" charset="-122"/>
                <a:cs typeface="Cambria" pitchFamily="34" charset="-120"/>
              </a:rPr>
              <a:t>₹2.5 Cr</a:t>
            </a:r>
            <a:endParaRPr lang="en-US" sz="1350" dirty="0"/>
          </a:p>
        </p:txBody>
      </p:sp>
      <p:sp>
        <p:nvSpPr>
          <p:cNvPr id="27" name="Shape 25"/>
          <p:cNvSpPr/>
          <p:nvPr/>
        </p:nvSpPr>
        <p:spPr>
          <a:xfrm>
            <a:off x="9539935" y="3017520"/>
            <a:ext cx="1874520" cy="429768"/>
          </a:xfrm>
          <a:prstGeom prst="rect">
            <a:avLst/>
          </a:prstGeom>
          <a:solidFill>
            <a:srgbClr val="FFFFFF"/>
          </a:solidFill>
          <a:ln/>
        </p:spPr>
      </p:sp>
      <p:sp>
        <p:nvSpPr>
          <p:cNvPr id="28" name="Shape 26"/>
          <p:cNvSpPr/>
          <p:nvPr/>
        </p:nvSpPr>
        <p:spPr>
          <a:xfrm>
            <a:off x="9686239" y="3131820"/>
            <a:ext cx="1581912" cy="201168"/>
          </a:xfrm>
          <a:prstGeom prst="rect">
            <a:avLst/>
          </a:prstGeom>
          <a:solidFill>
            <a:srgbClr val="F6EEDA"/>
          </a:solidFill>
          <a:ln/>
        </p:spPr>
      </p:sp>
      <p:sp>
        <p:nvSpPr>
          <p:cNvPr id="29" name="Text 27"/>
          <p:cNvSpPr/>
          <p:nvPr/>
        </p:nvSpPr>
        <p:spPr>
          <a:xfrm>
            <a:off x="9686239" y="3131820"/>
            <a:ext cx="1581912" cy="201168"/>
          </a:xfrm>
          <a:prstGeom prst="rect">
            <a:avLst/>
          </a:prstGeom>
          <a:noFill/>
          <a:ln/>
        </p:spPr>
        <p:txBody>
          <a:bodyPr wrap="square" lIns="0" tIns="0" rIns="0" bIns="0" rtlCol="0" anchor="ctr"/>
          <a:lstStyle/>
          <a:p>
            <a:pPr algn="ctr" indent="0" marL="0">
              <a:buNone/>
            </a:pPr>
            <a:r>
              <a:rPr lang="en-US" sz="800" b="1" spc="60" kern="0" dirty="0">
                <a:solidFill>
                  <a:srgbClr val="9A7A25"/>
                </a:solidFill>
                <a:latin typeface="Calibri" pitchFamily="34" charset="0"/>
                <a:ea typeface="Calibri" pitchFamily="34" charset="-122"/>
                <a:cs typeface="Calibri" pitchFamily="34" charset="-120"/>
              </a:rPr>
              <a:t>OUR ASSUMPTION</a:t>
            </a:r>
            <a:endParaRPr lang="en-US" sz="800" dirty="0"/>
          </a:p>
        </p:txBody>
      </p:sp>
      <p:sp>
        <p:nvSpPr>
          <p:cNvPr id="30" name="Shape 28"/>
          <p:cNvSpPr/>
          <p:nvPr/>
        </p:nvSpPr>
        <p:spPr>
          <a:xfrm>
            <a:off x="777240" y="3493008"/>
            <a:ext cx="4144975" cy="429768"/>
          </a:xfrm>
          <a:prstGeom prst="rect">
            <a:avLst/>
          </a:prstGeom>
          <a:solidFill>
            <a:srgbClr val="FFFFFF"/>
          </a:solidFill>
          <a:ln/>
        </p:spPr>
      </p:sp>
      <p:sp>
        <p:nvSpPr>
          <p:cNvPr id="31" name="Text 29"/>
          <p:cNvSpPr/>
          <p:nvPr/>
        </p:nvSpPr>
        <p:spPr>
          <a:xfrm>
            <a:off x="1014984" y="3493008"/>
            <a:ext cx="3733495" cy="429768"/>
          </a:xfrm>
          <a:prstGeom prst="rect">
            <a:avLst/>
          </a:prstGeom>
          <a:noFill/>
          <a:ln/>
        </p:spPr>
        <p:txBody>
          <a:bodyPr wrap="square" lIns="0" tIns="0" rIns="0" bIns="0" rtlCol="0" anchor="ctr"/>
          <a:lstStyle/>
          <a:p>
            <a:pPr indent="0" marL="0">
              <a:buNone/>
            </a:pPr>
            <a:r>
              <a:rPr lang="en-US" sz="1250" dirty="0">
                <a:solidFill>
                  <a:srgbClr val="14181D"/>
                </a:solidFill>
                <a:latin typeface="Calibri" pitchFamily="34" charset="0"/>
                <a:ea typeface="Calibri" pitchFamily="34" charset="-122"/>
                <a:cs typeface="Calibri" pitchFamily="34" charset="-120"/>
              </a:rPr>
              <a:t>OTHO commission</a:t>
            </a:r>
            <a:endParaRPr lang="en-US" sz="1250" dirty="0"/>
          </a:p>
        </p:txBody>
      </p:sp>
      <p:sp>
        <p:nvSpPr>
          <p:cNvPr id="32" name="Shape 30"/>
          <p:cNvSpPr/>
          <p:nvPr/>
        </p:nvSpPr>
        <p:spPr>
          <a:xfrm>
            <a:off x="4967935" y="3493008"/>
            <a:ext cx="2240280" cy="429768"/>
          </a:xfrm>
          <a:prstGeom prst="rect">
            <a:avLst/>
          </a:prstGeom>
          <a:solidFill>
            <a:srgbClr val="FFFFFF"/>
          </a:solidFill>
          <a:ln/>
        </p:spPr>
      </p:sp>
      <p:sp>
        <p:nvSpPr>
          <p:cNvPr id="33" name="Text 31"/>
          <p:cNvSpPr/>
          <p:nvPr/>
        </p:nvSpPr>
        <p:spPr>
          <a:xfrm>
            <a:off x="4967935" y="3493008"/>
            <a:ext cx="2240280" cy="429768"/>
          </a:xfrm>
          <a:prstGeom prst="rect">
            <a:avLst/>
          </a:prstGeom>
          <a:noFill/>
          <a:ln/>
        </p:spPr>
        <p:txBody>
          <a:bodyPr wrap="square" lIns="0" tIns="0" rIns="0" bIns="0" rtlCol="0" anchor="ctr"/>
          <a:lstStyle/>
          <a:p>
            <a:pPr algn="ctr" indent="0" marL="0">
              <a:buNone/>
            </a:pPr>
            <a:r>
              <a:rPr lang="en-US" sz="1350" b="1" dirty="0">
                <a:solidFill>
                  <a:srgbClr val="14181D"/>
                </a:solidFill>
                <a:latin typeface="Cambria" pitchFamily="34" charset="0"/>
                <a:ea typeface="Cambria" pitchFamily="34" charset="-122"/>
                <a:cs typeface="Cambria" pitchFamily="34" charset="-120"/>
              </a:rPr>
              <a:t>2%</a:t>
            </a:r>
            <a:endParaRPr lang="en-US" sz="1350" dirty="0"/>
          </a:p>
        </p:txBody>
      </p:sp>
      <p:sp>
        <p:nvSpPr>
          <p:cNvPr id="34" name="Shape 32"/>
          <p:cNvSpPr/>
          <p:nvPr/>
        </p:nvSpPr>
        <p:spPr>
          <a:xfrm>
            <a:off x="7253935" y="3493008"/>
            <a:ext cx="2240280" cy="429768"/>
          </a:xfrm>
          <a:prstGeom prst="rect">
            <a:avLst/>
          </a:prstGeom>
          <a:solidFill>
            <a:srgbClr val="FFFFFF"/>
          </a:solidFill>
          <a:ln/>
        </p:spPr>
      </p:sp>
      <p:sp>
        <p:nvSpPr>
          <p:cNvPr id="35" name="Text 33"/>
          <p:cNvSpPr/>
          <p:nvPr/>
        </p:nvSpPr>
        <p:spPr>
          <a:xfrm>
            <a:off x="7253935" y="3493008"/>
            <a:ext cx="2240280" cy="429768"/>
          </a:xfrm>
          <a:prstGeom prst="rect">
            <a:avLst/>
          </a:prstGeom>
          <a:noFill/>
          <a:ln/>
        </p:spPr>
        <p:txBody>
          <a:bodyPr wrap="square" lIns="0" tIns="0" rIns="0" bIns="0" rtlCol="0" anchor="ctr"/>
          <a:lstStyle/>
          <a:p>
            <a:pPr algn="ctr" indent="0" marL="0">
              <a:buNone/>
            </a:pPr>
            <a:r>
              <a:rPr lang="en-US" sz="1350" b="1" dirty="0">
                <a:solidFill>
                  <a:srgbClr val="14181D"/>
                </a:solidFill>
                <a:latin typeface="Cambria" pitchFamily="34" charset="0"/>
                <a:ea typeface="Cambria" pitchFamily="34" charset="-122"/>
                <a:cs typeface="Cambria" pitchFamily="34" charset="-120"/>
              </a:rPr>
              <a:t>2%</a:t>
            </a:r>
            <a:endParaRPr lang="en-US" sz="1350" dirty="0"/>
          </a:p>
        </p:txBody>
      </p:sp>
      <p:sp>
        <p:nvSpPr>
          <p:cNvPr id="36" name="Shape 34"/>
          <p:cNvSpPr/>
          <p:nvPr/>
        </p:nvSpPr>
        <p:spPr>
          <a:xfrm>
            <a:off x="9539935" y="3493008"/>
            <a:ext cx="1874520" cy="429768"/>
          </a:xfrm>
          <a:prstGeom prst="rect">
            <a:avLst/>
          </a:prstGeom>
          <a:solidFill>
            <a:srgbClr val="FFFFFF"/>
          </a:solidFill>
          <a:ln/>
        </p:spPr>
      </p:sp>
      <p:sp>
        <p:nvSpPr>
          <p:cNvPr id="37" name="Shape 35"/>
          <p:cNvSpPr/>
          <p:nvPr/>
        </p:nvSpPr>
        <p:spPr>
          <a:xfrm>
            <a:off x="9686239" y="3607308"/>
            <a:ext cx="1581912" cy="201168"/>
          </a:xfrm>
          <a:prstGeom prst="rect">
            <a:avLst/>
          </a:prstGeom>
          <a:solidFill>
            <a:srgbClr val="F6EEDA"/>
          </a:solidFill>
          <a:ln/>
        </p:spPr>
      </p:sp>
      <p:sp>
        <p:nvSpPr>
          <p:cNvPr id="38" name="Text 36"/>
          <p:cNvSpPr/>
          <p:nvPr/>
        </p:nvSpPr>
        <p:spPr>
          <a:xfrm>
            <a:off x="9686239" y="3607308"/>
            <a:ext cx="1581912" cy="201168"/>
          </a:xfrm>
          <a:prstGeom prst="rect">
            <a:avLst/>
          </a:prstGeom>
          <a:noFill/>
          <a:ln/>
        </p:spPr>
        <p:txBody>
          <a:bodyPr wrap="square" lIns="0" tIns="0" rIns="0" bIns="0" rtlCol="0" anchor="ctr"/>
          <a:lstStyle/>
          <a:p>
            <a:pPr algn="ctr" indent="0" marL="0">
              <a:buNone/>
            </a:pPr>
            <a:r>
              <a:rPr lang="en-US" sz="800" b="1" spc="60" kern="0" dirty="0">
                <a:solidFill>
                  <a:srgbClr val="9A7A25"/>
                </a:solidFill>
                <a:latin typeface="Calibri" pitchFamily="34" charset="0"/>
                <a:ea typeface="Calibri" pitchFamily="34" charset="-122"/>
                <a:cs typeface="Calibri" pitchFamily="34" charset="-120"/>
              </a:rPr>
              <a:t>OUR ASSUMPTION</a:t>
            </a:r>
            <a:endParaRPr lang="en-US" sz="800" dirty="0"/>
          </a:p>
        </p:txBody>
      </p:sp>
      <p:sp>
        <p:nvSpPr>
          <p:cNvPr id="39" name="Shape 37"/>
          <p:cNvSpPr/>
          <p:nvPr/>
        </p:nvSpPr>
        <p:spPr>
          <a:xfrm>
            <a:off x="777240" y="3968496"/>
            <a:ext cx="4144975" cy="429768"/>
          </a:xfrm>
          <a:prstGeom prst="rect">
            <a:avLst/>
          </a:prstGeom>
          <a:solidFill>
            <a:srgbClr val="FFFFFF"/>
          </a:solidFill>
          <a:ln/>
        </p:spPr>
      </p:sp>
      <p:sp>
        <p:nvSpPr>
          <p:cNvPr id="40" name="Text 38"/>
          <p:cNvSpPr/>
          <p:nvPr/>
        </p:nvSpPr>
        <p:spPr>
          <a:xfrm>
            <a:off x="1014984" y="3968496"/>
            <a:ext cx="3733495" cy="429768"/>
          </a:xfrm>
          <a:prstGeom prst="rect">
            <a:avLst/>
          </a:prstGeom>
          <a:noFill/>
          <a:ln/>
        </p:spPr>
        <p:txBody>
          <a:bodyPr wrap="square" lIns="0" tIns="0" rIns="0" bIns="0" rtlCol="0" anchor="ctr"/>
          <a:lstStyle/>
          <a:p>
            <a:pPr indent="0" marL="0">
              <a:buNone/>
            </a:pPr>
            <a:r>
              <a:rPr lang="en-US" sz="1250" dirty="0">
                <a:solidFill>
                  <a:srgbClr val="14181D"/>
                </a:solidFill>
                <a:latin typeface="Calibri" pitchFamily="34" charset="0"/>
                <a:ea typeface="Calibri" pitchFamily="34" charset="-122"/>
                <a:cs typeface="Calibri" pitchFamily="34" charset="-120"/>
              </a:rPr>
              <a:t>Revenue per booking</a:t>
            </a:r>
            <a:endParaRPr lang="en-US" sz="1250" dirty="0"/>
          </a:p>
        </p:txBody>
      </p:sp>
      <p:sp>
        <p:nvSpPr>
          <p:cNvPr id="41" name="Shape 39"/>
          <p:cNvSpPr/>
          <p:nvPr/>
        </p:nvSpPr>
        <p:spPr>
          <a:xfrm>
            <a:off x="4967935" y="3968496"/>
            <a:ext cx="2240280" cy="429768"/>
          </a:xfrm>
          <a:prstGeom prst="rect">
            <a:avLst/>
          </a:prstGeom>
          <a:solidFill>
            <a:srgbClr val="FFFFFF"/>
          </a:solidFill>
          <a:ln/>
        </p:spPr>
      </p:sp>
      <p:sp>
        <p:nvSpPr>
          <p:cNvPr id="42" name="Text 40"/>
          <p:cNvSpPr/>
          <p:nvPr/>
        </p:nvSpPr>
        <p:spPr>
          <a:xfrm>
            <a:off x="4967935" y="3968496"/>
            <a:ext cx="2240280" cy="429768"/>
          </a:xfrm>
          <a:prstGeom prst="rect">
            <a:avLst/>
          </a:prstGeom>
          <a:noFill/>
          <a:ln/>
        </p:spPr>
        <p:txBody>
          <a:bodyPr wrap="square" lIns="0" tIns="0" rIns="0" bIns="0" rtlCol="0" anchor="ctr"/>
          <a:lstStyle/>
          <a:p>
            <a:pPr algn="ctr" indent="0" marL="0">
              <a:buNone/>
            </a:pPr>
            <a:r>
              <a:rPr lang="en-US" sz="1350" b="1" dirty="0">
                <a:solidFill>
                  <a:srgbClr val="14181D"/>
                </a:solidFill>
                <a:latin typeface="Cambria" pitchFamily="34" charset="0"/>
                <a:ea typeface="Cambria" pitchFamily="34" charset="-122"/>
                <a:cs typeface="Cambria" pitchFamily="34" charset="-120"/>
              </a:rPr>
              <a:t>₹5L</a:t>
            </a:r>
            <a:endParaRPr lang="en-US" sz="1350" dirty="0"/>
          </a:p>
        </p:txBody>
      </p:sp>
      <p:sp>
        <p:nvSpPr>
          <p:cNvPr id="43" name="Shape 41"/>
          <p:cNvSpPr/>
          <p:nvPr/>
        </p:nvSpPr>
        <p:spPr>
          <a:xfrm>
            <a:off x="7253935" y="3968496"/>
            <a:ext cx="2240280" cy="429768"/>
          </a:xfrm>
          <a:prstGeom prst="rect">
            <a:avLst/>
          </a:prstGeom>
          <a:solidFill>
            <a:srgbClr val="FFFFFF"/>
          </a:solidFill>
          <a:ln/>
        </p:spPr>
      </p:sp>
      <p:sp>
        <p:nvSpPr>
          <p:cNvPr id="44" name="Text 42"/>
          <p:cNvSpPr/>
          <p:nvPr/>
        </p:nvSpPr>
        <p:spPr>
          <a:xfrm>
            <a:off x="7253935" y="3968496"/>
            <a:ext cx="2240280" cy="429768"/>
          </a:xfrm>
          <a:prstGeom prst="rect">
            <a:avLst/>
          </a:prstGeom>
          <a:noFill/>
          <a:ln/>
        </p:spPr>
        <p:txBody>
          <a:bodyPr wrap="square" lIns="0" tIns="0" rIns="0" bIns="0" rtlCol="0" anchor="ctr"/>
          <a:lstStyle/>
          <a:p>
            <a:pPr algn="ctr" indent="0" marL="0">
              <a:buNone/>
            </a:pPr>
            <a:r>
              <a:rPr lang="en-US" sz="1350" b="1" dirty="0">
                <a:solidFill>
                  <a:srgbClr val="14181D"/>
                </a:solidFill>
                <a:latin typeface="Cambria" pitchFamily="34" charset="0"/>
                <a:ea typeface="Cambria" pitchFamily="34" charset="-122"/>
                <a:cs typeface="Cambria" pitchFamily="34" charset="-120"/>
              </a:rPr>
              <a:t>₹5L</a:t>
            </a:r>
            <a:endParaRPr lang="en-US" sz="1350" dirty="0"/>
          </a:p>
        </p:txBody>
      </p:sp>
      <p:sp>
        <p:nvSpPr>
          <p:cNvPr id="45" name="Shape 43"/>
          <p:cNvSpPr/>
          <p:nvPr/>
        </p:nvSpPr>
        <p:spPr>
          <a:xfrm>
            <a:off x="9539935" y="3968496"/>
            <a:ext cx="1874520" cy="429768"/>
          </a:xfrm>
          <a:prstGeom prst="rect">
            <a:avLst/>
          </a:prstGeom>
          <a:solidFill>
            <a:srgbClr val="FFFFFF"/>
          </a:solidFill>
          <a:ln/>
        </p:spPr>
      </p:sp>
      <p:sp>
        <p:nvSpPr>
          <p:cNvPr id="46" name="Text 44"/>
          <p:cNvSpPr/>
          <p:nvPr/>
        </p:nvSpPr>
        <p:spPr>
          <a:xfrm>
            <a:off x="9686239" y="3968496"/>
            <a:ext cx="1581912" cy="429768"/>
          </a:xfrm>
          <a:prstGeom prst="rect">
            <a:avLst/>
          </a:prstGeom>
          <a:noFill/>
          <a:ln/>
        </p:spPr>
        <p:txBody>
          <a:bodyPr wrap="square" lIns="0" tIns="0" rIns="0" bIns="0" rtlCol="0" anchor="ctr"/>
          <a:lstStyle/>
          <a:p>
            <a:pPr indent="0" marL="0">
              <a:buNone/>
            </a:pPr>
            <a:r>
              <a:rPr lang="en-US" sz="1050" dirty="0">
                <a:solidFill>
                  <a:srgbClr val="8A9099"/>
                </a:solidFill>
                <a:latin typeface="Calibri" pitchFamily="34" charset="0"/>
                <a:ea typeface="Calibri" pitchFamily="34" charset="-122"/>
                <a:cs typeface="Calibri" pitchFamily="34" charset="-120"/>
              </a:rPr>
              <a:t>Calculated</a:t>
            </a:r>
            <a:endParaRPr lang="en-US" sz="1050" dirty="0"/>
          </a:p>
        </p:txBody>
      </p:sp>
      <p:sp>
        <p:nvSpPr>
          <p:cNvPr id="47" name="Shape 45"/>
          <p:cNvSpPr/>
          <p:nvPr/>
        </p:nvSpPr>
        <p:spPr>
          <a:xfrm>
            <a:off x="777240" y="4443984"/>
            <a:ext cx="4144975" cy="429768"/>
          </a:xfrm>
          <a:prstGeom prst="rect">
            <a:avLst/>
          </a:prstGeom>
          <a:solidFill>
            <a:srgbClr val="F1F1ED"/>
          </a:solidFill>
          <a:ln/>
        </p:spPr>
      </p:sp>
      <p:sp>
        <p:nvSpPr>
          <p:cNvPr id="48" name="Text 46"/>
          <p:cNvSpPr/>
          <p:nvPr/>
        </p:nvSpPr>
        <p:spPr>
          <a:xfrm>
            <a:off x="1014984" y="4443984"/>
            <a:ext cx="3733495" cy="429768"/>
          </a:xfrm>
          <a:prstGeom prst="rect">
            <a:avLst/>
          </a:prstGeom>
          <a:noFill/>
          <a:ln/>
        </p:spPr>
        <p:txBody>
          <a:bodyPr wrap="square" lIns="0" tIns="0" rIns="0" bIns="0" rtlCol="0" anchor="ctr"/>
          <a:lstStyle/>
          <a:p>
            <a:pPr indent="0" marL="0">
              <a:buNone/>
            </a:pPr>
            <a:r>
              <a:rPr lang="en-US" sz="1250" b="1" dirty="0">
                <a:solidFill>
                  <a:srgbClr val="14181D"/>
                </a:solidFill>
                <a:latin typeface="Calibri" pitchFamily="34" charset="0"/>
                <a:ea typeface="Calibri" pitchFamily="34" charset="-122"/>
                <a:cs typeface="Calibri" pitchFamily="34" charset="-120"/>
              </a:rPr>
              <a:t>Bookings needed to break even</a:t>
            </a:r>
            <a:endParaRPr lang="en-US" sz="1250" dirty="0"/>
          </a:p>
        </p:txBody>
      </p:sp>
      <p:sp>
        <p:nvSpPr>
          <p:cNvPr id="49" name="Shape 47"/>
          <p:cNvSpPr/>
          <p:nvPr/>
        </p:nvSpPr>
        <p:spPr>
          <a:xfrm>
            <a:off x="4967935" y="4443984"/>
            <a:ext cx="2240280" cy="429768"/>
          </a:xfrm>
          <a:prstGeom prst="rect">
            <a:avLst/>
          </a:prstGeom>
          <a:solidFill>
            <a:srgbClr val="F1F1ED"/>
          </a:solidFill>
          <a:ln/>
        </p:spPr>
      </p:sp>
      <p:sp>
        <p:nvSpPr>
          <p:cNvPr id="50" name="Text 48"/>
          <p:cNvSpPr/>
          <p:nvPr/>
        </p:nvSpPr>
        <p:spPr>
          <a:xfrm>
            <a:off x="4967935" y="4443984"/>
            <a:ext cx="2240280" cy="429768"/>
          </a:xfrm>
          <a:prstGeom prst="rect">
            <a:avLst/>
          </a:prstGeom>
          <a:noFill/>
          <a:ln/>
        </p:spPr>
        <p:txBody>
          <a:bodyPr wrap="square" lIns="0" tIns="0" rIns="0" bIns="0" rtlCol="0" anchor="ctr"/>
          <a:lstStyle/>
          <a:p>
            <a:pPr algn="ctr" indent="0" marL="0">
              <a:buNone/>
            </a:pPr>
            <a:r>
              <a:rPr lang="en-US" sz="1350" b="1" dirty="0">
                <a:solidFill>
                  <a:srgbClr val="2E7150"/>
                </a:solidFill>
                <a:latin typeface="Cambria" pitchFamily="34" charset="0"/>
                <a:ea typeface="Cambria" pitchFamily="34" charset="-122"/>
                <a:cs typeface="Cambria" pitchFamily="34" charset="-120"/>
              </a:rPr>
              <a:t>1 in 4 months</a:t>
            </a:r>
            <a:endParaRPr lang="en-US" sz="1350" dirty="0"/>
          </a:p>
        </p:txBody>
      </p:sp>
      <p:sp>
        <p:nvSpPr>
          <p:cNvPr id="51" name="Shape 49"/>
          <p:cNvSpPr/>
          <p:nvPr/>
        </p:nvSpPr>
        <p:spPr>
          <a:xfrm>
            <a:off x="7253935" y="4443984"/>
            <a:ext cx="2240280" cy="429768"/>
          </a:xfrm>
          <a:prstGeom prst="rect">
            <a:avLst/>
          </a:prstGeom>
          <a:solidFill>
            <a:srgbClr val="F1F1ED"/>
          </a:solidFill>
          <a:ln/>
        </p:spPr>
      </p:sp>
      <p:sp>
        <p:nvSpPr>
          <p:cNvPr id="52" name="Text 50"/>
          <p:cNvSpPr/>
          <p:nvPr/>
        </p:nvSpPr>
        <p:spPr>
          <a:xfrm>
            <a:off x="7253935" y="4443984"/>
            <a:ext cx="2240280" cy="429768"/>
          </a:xfrm>
          <a:prstGeom prst="rect">
            <a:avLst/>
          </a:prstGeom>
          <a:noFill/>
          <a:ln/>
        </p:spPr>
        <p:txBody>
          <a:bodyPr wrap="square" lIns="0" tIns="0" rIns="0" bIns="0" rtlCol="0" anchor="ctr"/>
          <a:lstStyle/>
          <a:p>
            <a:pPr algn="ctr" indent="0" marL="0">
              <a:buNone/>
            </a:pPr>
            <a:r>
              <a:rPr lang="en-US" sz="1350" b="1" dirty="0">
                <a:solidFill>
                  <a:srgbClr val="2E7150"/>
                </a:solidFill>
                <a:latin typeface="Cambria" pitchFamily="34" charset="0"/>
                <a:ea typeface="Cambria" pitchFamily="34" charset="-122"/>
                <a:cs typeface="Cambria" pitchFamily="34" charset="-120"/>
              </a:rPr>
              <a:t>1 in 2 months</a:t>
            </a:r>
            <a:endParaRPr lang="en-US" sz="1350" dirty="0"/>
          </a:p>
        </p:txBody>
      </p:sp>
      <p:sp>
        <p:nvSpPr>
          <p:cNvPr id="53" name="Shape 51"/>
          <p:cNvSpPr/>
          <p:nvPr/>
        </p:nvSpPr>
        <p:spPr>
          <a:xfrm>
            <a:off x="9539935" y="4443984"/>
            <a:ext cx="1874520" cy="429768"/>
          </a:xfrm>
          <a:prstGeom prst="rect">
            <a:avLst/>
          </a:prstGeom>
          <a:solidFill>
            <a:srgbClr val="F1F1ED"/>
          </a:solidFill>
          <a:ln/>
        </p:spPr>
      </p:sp>
      <p:sp>
        <p:nvSpPr>
          <p:cNvPr id="54" name="Text 52"/>
          <p:cNvSpPr/>
          <p:nvPr/>
        </p:nvSpPr>
        <p:spPr>
          <a:xfrm>
            <a:off x="9686239" y="4443984"/>
            <a:ext cx="1581912" cy="429768"/>
          </a:xfrm>
          <a:prstGeom prst="rect">
            <a:avLst/>
          </a:prstGeom>
          <a:noFill/>
          <a:ln/>
        </p:spPr>
        <p:txBody>
          <a:bodyPr wrap="square" lIns="0" tIns="0" rIns="0" bIns="0" rtlCol="0" anchor="ctr"/>
          <a:lstStyle/>
          <a:p>
            <a:pPr indent="0" marL="0">
              <a:buNone/>
            </a:pPr>
            <a:r>
              <a:rPr lang="en-US" sz="1050" dirty="0">
                <a:solidFill>
                  <a:srgbClr val="8A9099"/>
                </a:solidFill>
                <a:latin typeface="Calibri" pitchFamily="34" charset="0"/>
                <a:ea typeface="Calibri" pitchFamily="34" charset="-122"/>
                <a:cs typeface="Calibri" pitchFamily="34" charset="-120"/>
              </a:rPr>
              <a:t>Calculated</a:t>
            </a:r>
            <a:endParaRPr lang="en-US" sz="1050" dirty="0"/>
          </a:p>
        </p:txBody>
      </p:sp>
      <p:sp>
        <p:nvSpPr>
          <p:cNvPr id="55" name="Shape 53"/>
          <p:cNvSpPr/>
          <p:nvPr/>
        </p:nvSpPr>
        <p:spPr>
          <a:xfrm>
            <a:off x="777240" y="4919472"/>
            <a:ext cx="4144975" cy="429768"/>
          </a:xfrm>
          <a:prstGeom prst="rect">
            <a:avLst/>
          </a:prstGeom>
          <a:solidFill>
            <a:srgbClr val="F1F1ED"/>
          </a:solidFill>
          <a:ln/>
        </p:spPr>
      </p:sp>
      <p:sp>
        <p:nvSpPr>
          <p:cNvPr id="56" name="Text 54"/>
          <p:cNvSpPr/>
          <p:nvPr/>
        </p:nvSpPr>
        <p:spPr>
          <a:xfrm>
            <a:off x="1014984" y="4919472"/>
            <a:ext cx="3733495" cy="429768"/>
          </a:xfrm>
          <a:prstGeom prst="rect">
            <a:avLst/>
          </a:prstGeom>
          <a:noFill/>
          <a:ln/>
        </p:spPr>
        <p:txBody>
          <a:bodyPr wrap="square" lIns="0" tIns="0" rIns="0" bIns="0" rtlCol="0" anchor="ctr"/>
          <a:lstStyle/>
          <a:p>
            <a:pPr indent="0" marL="0">
              <a:buNone/>
            </a:pPr>
            <a:r>
              <a:rPr lang="en-US" sz="1250" b="1" dirty="0">
                <a:solidFill>
                  <a:srgbClr val="14181D"/>
                </a:solidFill>
                <a:latin typeface="Calibri" pitchFamily="34" charset="0"/>
                <a:ea typeface="Calibri" pitchFamily="34" charset="-122"/>
                <a:cs typeface="Calibri" pitchFamily="34" charset="-120"/>
              </a:rPr>
              <a:t>Return at 1 booking a month</a:t>
            </a:r>
            <a:endParaRPr lang="en-US" sz="1250" dirty="0"/>
          </a:p>
        </p:txBody>
      </p:sp>
      <p:sp>
        <p:nvSpPr>
          <p:cNvPr id="57" name="Shape 55"/>
          <p:cNvSpPr/>
          <p:nvPr/>
        </p:nvSpPr>
        <p:spPr>
          <a:xfrm>
            <a:off x="4967935" y="4919472"/>
            <a:ext cx="2240280" cy="429768"/>
          </a:xfrm>
          <a:prstGeom prst="rect">
            <a:avLst/>
          </a:prstGeom>
          <a:solidFill>
            <a:srgbClr val="F1F1ED"/>
          </a:solidFill>
          <a:ln/>
        </p:spPr>
      </p:sp>
      <p:sp>
        <p:nvSpPr>
          <p:cNvPr id="58" name="Text 56"/>
          <p:cNvSpPr/>
          <p:nvPr/>
        </p:nvSpPr>
        <p:spPr>
          <a:xfrm>
            <a:off x="4967935" y="4919472"/>
            <a:ext cx="2240280" cy="429768"/>
          </a:xfrm>
          <a:prstGeom prst="rect">
            <a:avLst/>
          </a:prstGeom>
          <a:noFill/>
          <a:ln/>
        </p:spPr>
        <p:txBody>
          <a:bodyPr wrap="square" lIns="0" tIns="0" rIns="0" bIns="0" rtlCol="0" anchor="ctr"/>
          <a:lstStyle/>
          <a:p>
            <a:pPr algn="ctr" indent="0" marL="0">
              <a:buNone/>
            </a:pPr>
            <a:r>
              <a:rPr lang="en-US" sz="1350" b="1" dirty="0">
                <a:solidFill>
                  <a:srgbClr val="2E7150"/>
                </a:solidFill>
                <a:latin typeface="Cambria" pitchFamily="34" charset="0"/>
                <a:ea typeface="Cambria" pitchFamily="34" charset="-122"/>
                <a:cs typeface="Cambria" pitchFamily="34" charset="-120"/>
              </a:rPr>
              <a:t>4.2×</a:t>
            </a:r>
            <a:endParaRPr lang="en-US" sz="1350" dirty="0"/>
          </a:p>
        </p:txBody>
      </p:sp>
      <p:sp>
        <p:nvSpPr>
          <p:cNvPr id="59" name="Shape 57"/>
          <p:cNvSpPr/>
          <p:nvPr/>
        </p:nvSpPr>
        <p:spPr>
          <a:xfrm>
            <a:off x="7253935" y="4919472"/>
            <a:ext cx="2240280" cy="429768"/>
          </a:xfrm>
          <a:prstGeom prst="rect">
            <a:avLst/>
          </a:prstGeom>
          <a:solidFill>
            <a:srgbClr val="F1F1ED"/>
          </a:solidFill>
          <a:ln/>
        </p:spPr>
      </p:sp>
      <p:sp>
        <p:nvSpPr>
          <p:cNvPr id="60" name="Text 58"/>
          <p:cNvSpPr/>
          <p:nvPr/>
        </p:nvSpPr>
        <p:spPr>
          <a:xfrm>
            <a:off x="7253935" y="4919472"/>
            <a:ext cx="2240280" cy="429768"/>
          </a:xfrm>
          <a:prstGeom prst="rect">
            <a:avLst/>
          </a:prstGeom>
          <a:noFill/>
          <a:ln/>
        </p:spPr>
        <p:txBody>
          <a:bodyPr wrap="square" lIns="0" tIns="0" rIns="0" bIns="0" rtlCol="0" anchor="ctr"/>
          <a:lstStyle/>
          <a:p>
            <a:pPr algn="ctr" indent="0" marL="0">
              <a:buNone/>
            </a:pPr>
            <a:r>
              <a:rPr lang="en-US" sz="1350" b="1" dirty="0">
                <a:solidFill>
                  <a:srgbClr val="2E7150"/>
                </a:solidFill>
                <a:latin typeface="Cambria" pitchFamily="34" charset="0"/>
                <a:ea typeface="Cambria" pitchFamily="34" charset="-122"/>
                <a:cs typeface="Cambria" pitchFamily="34" charset="-120"/>
              </a:rPr>
              <a:t>2.0×</a:t>
            </a:r>
            <a:endParaRPr lang="en-US" sz="1350" dirty="0"/>
          </a:p>
        </p:txBody>
      </p:sp>
      <p:sp>
        <p:nvSpPr>
          <p:cNvPr id="61" name="Shape 59"/>
          <p:cNvSpPr/>
          <p:nvPr/>
        </p:nvSpPr>
        <p:spPr>
          <a:xfrm>
            <a:off x="9539935" y="4919472"/>
            <a:ext cx="1874520" cy="429768"/>
          </a:xfrm>
          <a:prstGeom prst="rect">
            <a:avLst/>
          </a:prstGeom>
          <a:solidFill>
            <a:srgbClr val="F1F1ED"/>
          </a:solidFill>
          <a:ln/>
        </p:spPr>
      </p:sp>
      <p:sp>
        <p:nvSpPr>
          <p:cNvPr id="62" name="Text 60"/>
          <p:cNvSpPr/>
          <p:nvPr/>
        </p:nvSpPr>
        <p:spPr>
          <a:xfrm>
            <a:off x="9686239" y="4919472"/>
            <a:ext cx="1581912" cy="429768"/>
          </a:xfrm>
          <a:prstGeom prst="rect">
            <a:avLst/>
          </a:prstGeom>
          <a:noFill/>
          <a:ln/>
        </p:spPr>
        <p:txBody>
          <a:bodyPr wrap="square" lIns="0" tIns="0" rIns="0" bIns="0" rtlCol="0" anchor="ctr"/>
          <a:lstStyle/>
          <a:p>
            <a:pPr indent="0" marL="0">
              <a:buNone/>
            </a:pPr>
            <a:r>
              <a:rPr lang="en-US" sz="1050" dirty="0">
                <a:solidFill>
                  <a:srgbClr val="8A9099"/>
                </a:solidFill>
                <a:latin typeface="Calibri" pitchFamily="34" charset="0"/>
                <a:ea typeface="Calibri" pitchFamily="34" charset="-122"/>
                <a:cs typeface="Calibri" pitchFamily="34" charset="-120"/>
              </a:rPr>
              <a:t>Calculated</a:t>
            </a:r>
            <a:endParaRPr lang="en-US" sz="1050" dirty="0"/>
          </a:p>
        </p:txBody>
      </p:sp>
      <p:sp>
        <p:nvSpPr>
          <p:cNvPr id="63" name="Shape 61"/>
          <p:cNvSpPr/>
          <p:nvPr/>
        </p:nvSpPr>
        <p:spPr>
          <a:xfrm>
            <a:off x="777240" y="5394960"/>
            <a:ext cx="4144975" cy="429768"/>
          </a:xfrm>
          <a:prstGeom prst="rect">
            <a:avLst/>
          </a:prstGeom>
          <a:solidFill>
            <a:srgbClr val="F1F1ED"/>
          </a:solidFill>
          <a:ln/>
        </p:spPr>
      </p:sp>
      <p:sp>
        <p:nvSpPr>
          <p:cNvPr id="64" name="Text 62"/>
          <p:cNvSpPr/>
          <p:nvPr/>
        </p:nvSpPr>
        <p:spPr>
          <a:xfrm>
            <a:off x="1014984" y="5394960"/>
            <a:ext cx="3733495" cy="429768"/>
          </a:xfrm>
          <a:prstGeom prst="rect">
            <a:avLst/>
          </a:prstGeom>
          <a:noFill/>
          <a:ln/>
        </p:spPr>
        <p:txBody>
          <a:bodyPr wrap="square" lIns="0" tIns="0" rIns="0" bIns="0" rtlCol="0" anchor="ctr"/>
          <a:lstStyle/>
          <a:p>
            <a:pPr indent="0" marL="0">
              <a:buNone/>
            </a:pPr>
            <a:r>
              <a:rPr lang="en-US" sz="1250" b="1" dirty="0">
                <a:solidFill>
                  <a:srgbClr val="14181D"/>
                </a:solidFill>
                <a:latin typeface="Calibri" pitchFamily="34" charset="0"/>
                <a:ea typeface="Calibri" pitchFamily="34" charset="-122"/>
                <a:cs typeface="Calibri" pitchFamily="34" charset="-120"/>
              </a:rPr>
              <a:t>Return at 2 bookings a month</a:t>
            </a:r>
            <a:endParaRPr lang="en-US" sz="1250" dirty="0"/>
          </a:p>
        </p:txBody>
      </p:sp>
      <p:sp>
        <p:nvSpPr>
          <p:cNvPr id="65" name="Shape 63"/>
          <p:cNvSpPr/>
          <p:nvPr/>
        </p:nvSpPr>
        <p:spPr>
          <a:xfrm>
            <a:off x="4967935" y="5394960"/>
            <a:ext cx="2240280" cy="429768"/>
          </a:xfrm>
          <a:prstGeom prst="rect">
            <a:avLst/>
          </a:prstGeom>
          <a:solidFill>
            <a:srgbClr val="F1F1ED"/>
          </a:solidFill>
          <a:ln/>
        </p:spPr>
      </p:sp>
      <p:sp>
        <p:nvSpPr>
          <p:cNvPr id="66" name="Text 64"/>
          <p:cNvSpPr/>
          <p:nvPr/>
        </p:nvSpPr>
        <p:spPr>
          <a:xfrm>
            <a:off x="4967935" y="5394960"/>
            <a:ext cx="2240280" cy="429768"/>
          </a:xfrm>
          <a:prstGeom prst="rect">
            <a:avLst/>
          </a:prstGeom>
          <a:noFill/>
          <a:ln/>
        </p:spPr>
        <p:txBody>
          <a:bodyPr wrap="square" lIns="0" tIns="0" rIns="0" bIns="0" rtlCol="0" anchor="ctr"/>
          <a:lstStyle/>
          <a:p>
            <a:pPr algn="ctr" indent="0" marL="0">
              <a:buNone/>
            </a:pPr>
            <a:r>
              <a:rPr lang="en-US" sz="1350" b="1" dirty="0">
                <a:solidFill>
                  <a:srgbClr val="2E7150"/>
                </a:solidFill>
                <a:latin typeface="Cambria" pitchFamily="34" charset="0"/>
                <a:ea typeface="Cambria" pitchFamily="34" charset="-122"/>
                <a:cs typeface="Cambria" pitchFamily="34" charset="-120"/>
              </a:rPr>
              <a:t>8.3×</a:t>
            </a:r>
            <a:endParaRPr lang="en-US" sz="1350" dirty="0"/>
          </a:p>
        </p:txBody>
      </p:sp>
      <p:sp>
        <p:nvSpPr>
          <p:cNvPr id="67" name="Shape 65"/>
          <p:cNvSpPr/>
          <p:nvPr/>
        </p:nvSpPr>
        <p:spPr>
          <a:xfrm>
            <a:off x="7253935" y="5394960"/>
            <a:ext cx="2240280" cy="429768"/>
          </a:xfrm>
          <a:prstGeom prst="rect">
            <a:avLst/>
          </a:prstGeom>
          <a:solidFill>
            <a:srgbClr val="F1F1ED"/>
          </a:solidFill>
          <a:ln/>
        </p:spPr>
      </p:sp>
      <p:sp>
        <p:nvSpPr>
          <p:cNvPr id="68" name="Text 66"/>
          <p:cNvSpPr/>
          <p:nvPr/>
        </p:nvSpPr>
        <p:spPr>
          <a:xfrm>
            <a:off x="7253935" y="5394960"/>
            <a:ext cx="2240280" cy="429768"/>
          </a:xfrm>
          <a:prstGeom prst="rect">
            <a:avLst/>
          </a:prstGeom>
          <a:noFill/>
          <a:ln/>
        </p:spPr>
        <p:txBody>
          <a:bodyPr wrap="square" lIns="0" tIns="0" rIns="0" bIns="0" rtlCol="0" anchor="ctr"/>
          <a:lstStyle/>
          <a:p>
            <a:pPr algn="ctr" indent="0" marL="0">
              <a:buNone/>
            </a:pPr>
            <a:r>
              <a:rPr lang="en-US" sz="1350" b="1" dirty="0">
                <a:solidFill>
                  <a:srgbClr val="2E7150"/>
                </a:solidFill>
                <a:latin typeface="Cambria" pitchFamily="34" charset="0"/>
                <a:ea typeface="Cambria" pitchFamily="34" charset="-122"/>
                <a:cs typeface="Cambria" pitchFamily="34" charset="-120"/>
              </a:rPr>
              <a:t>4.0×</a:t>
            </a:r>
            <a:endParaRPr lang="en-US" sz="1350" dirty="0"/>
          </a:p>
        </p:txBody>
      </p:sp>
      <p:sp>
        <p:nvSpPr>
          <p:cNvPr id="69" name="Shape 67"/>
          <p:cNvSpPr/>
          <p:nvPr/>
        </p:nvSpPr>
        <p:spPr>
          <a:xfrm>
            <a:off x="9539935" y="5394960"/>
            <a:ext cx="1874520" cy="429768"/>
          </a:xfrm>
          <a:prstGeom prst="rect">
            <a:avLst/>
          </a:prstGeom>
          <a:solidFill>
            <a:srgbClr val="F1F1ED"/>
          </a:solidFill>
          <a:ln/>
        </p:spPr>
      </p:sp>
      <p:sp>
        <p:nvSpPr>
          <p:cNvPr id="70" name="Text 68"/>
          <p:cNvSpPr/>
          <p:nvPr/>
        </p:nvSpPr>
        <p:spPr>
          <a:xfrm>
            <a:off x="9686239" y="5394960"/>
            <a:ext cx="1581912" cy="429768"/>
          </a:xfrm>
          <a:prstGeom prst="rect">
            <a:avLst/>
          </a:prstGeom>
          <a:noFill/>
          <a:ln/>
        </p:spPr>
        <p:txBody>
          <a:bodyPr wrap="square" lIns="0" tIns="0" rIns="0" bIns="0" rtlCol="0" anchor="ctr"/>
          <a:lstStyle/>
          <a:p>
            <a:pPr indent="0" marL="0">
              <a:buNone/>
            </a:pPr>
            <a:r>
              <a:rPr lang="en-US" sz="1050" dirty="0">
                <a:solidFill>
                  <a:srgbClr val="8A9099"/>
                </a:solidFill>
                <a:latin typeface="Calibri" pitchFamily="34" charset="0"/>
                <a:ea typeface="Calibri" pitchFamily="34" charset="-122"/>
                <a:cs typeface="Calibri" pitchFamily="34" charset="-120"/>
              </a:rPr>
              <a:t>Calculated</a:t>
            </a:r>
            <a:endParaRPr lang="en-US" sz="1050" dirty="0"/>
          </a:p>
        </p:txBody>
      </p:sp>
      <p:sp>
        <p:nvSpPr>
          <p:cNvPr id="71" name="Text 69"/>
          <p:cNvSpPr/>
          <p:nvPr/>
        </p:nvSpPr>
        <p:spPr>
          <a:xfrm>
            <a:off x="777240" y="6016752"/>
            <a:ext cx="10637215" cy="731520"/>
          </a:xfrm>
          <a:prstGeom prst="rect">
            <a:avLst/>
          </a:prstGeom>
          <a:noFill/>
          <a:ln/>
        </p:spPr>
        <p:txBody>
          <a:bodyPr wrap="square" lIns="0" tIns="0" rIns="0" bIns="0" rtlCol="0" anchor="ctr"/>
          <a:lstStyle/>
          <a:p>
            <a:pPr indent="0" marL="0">
              <a:lnSpc>
                <a:spcPts val="1800"/>
              </a:lnSpc>
              <a:buNone/>
            </a:pPr>
            <a:r>
              <a:rPr lang="en-US" sz="1250" i="1" dirty="0">
                <a:solidFill>
                  <a:srgbClr val="8A9099"/>
                </a:solidFill>
                <a:latin typeface="Calibri" pitchFamily="34" charset="0"/>
                <a:ea typeface="Calibri" pitchFamily="34" charset="-122"/>
                <a:cs typeface="Calibri" pitchFamily="34" charset="-120"/>
              </a:rPr>
              <a:t>The two amber rows are ours. Give us your real unit value and commission and this table updates in front of you — it's the only part of the plan we're guessing at. Note too that commission pays on registration, so cash lands three to six months behind the spend.</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4181D"/>
        </a:solidFill>
      </p:bgPr>
    </p:bg>
    <p:spTree>
      <p:nvGrpSpPr>
        <p:cNvPr id="1" name=""/>
        <p:cNvGrpSpPr/>
        <p:nvPr/>
      </p:nvGrpSpPr>
      <p:grpSpPr>
        <a:xfrm>
          <a:off x="0" y="0"/>
          <a:ext cx="0" cy="0"/>
          <a:chOff x="0" y="0"/>
          <a:chExt cx="0" cy="0"/>
        </a:xfrm>
      </p:grpSpPr>
      <p:sp>
        <p:nvSpPr>
          <p:cNvPr id="2" name="Text 0"/>
          <p:cNvSpPr/>
          <p:nvPr/>
        </p:nvSpPr>
        <p:spPr>
          <a:xfrm>
            <a:off x="777240" y="2057400"/>
            <a:ext cx="1097280" cy="365760"/>
          </a:xfrm>
          <a:prstGeom prst="rect">
            <a:avLst/>
          </a:prstGeom>
          <a:noFill/>
          <a:ln/>
        </p:spPr>
        <p:txBody>
          <a:bodyPr wrap="square" lIns="0" tIns="0" rIns="0" bIns="0" rtlCol="0" anchor="ctr"/>
          <a:lstStyle/>
          <a:p>
            <a:pPr indent="0" marL="0">
              <a:buNone/>
            </a:pPr>
            <a:r>
              <a:rPr lang="en-US" sz="1100" b="1" spc="260" kern="0" dirty="0">
                <a:solidFill>
                  <a:srgbClr val="D9B061"/>
                </a:solidFill>
                <a:latin typeface="Calibri" pitchFamily="34" charset="0"/>
                <a:ea typeface="Calibri" pitchFamily="34" charset="-122"/>
                <a:cs typeface="Calibri" pitchFamily="34" charset="-120"/>
              </a:rPr>
              <a:t>13</a:t>
            </a:r>
            <a:endParaRPr lang="en-US" sz="1100" dirty="0"/>
          </a:p>
        </p:txBody>
      </p:sp>
      <p:sp>
        <p:nvSpPr>
          <p:cNvPr id="3" name="Text 1"/>
          <p:cNvSpPr/>
          <p:nvPr/>
        </p:nvSpPr>
        <p:spPr>
          <a:xfrm>
            <a:off x="777240" y="2514600"/>
            <a:ext cx="9601200" cy="1188720"/>
          </a:xfrm>
          <a:prstGeom prst="rect">
            <a:avLst/>
          </a:prstGeom>
          <a:noFill/>
          <a:ln/>
        </p:spPr>
        <p:txBody>
          <a:bodyPr wrap="square" lIns="0" tIns="0" rIns="0" bIns="0" rtlCol="0" anchor="ctr"/>
          <a:lstStyle/>
          <a:p>
            <a:pPr indent="0" marL="0">
              <a:buNone/>
            </a:pPr>
            <a:r>
              <a:rPr lang="en-US" sz="5400" b="1" spc="-140" kern="0" dirty="0">
                <a:solidFill>
                  <a:srgbClr val="FFFFFF"/>
                </a:solidFill>
                <a:latin typeface="Cambria" pitchFamily="34" charset="0"/>
                <a:ea typeface="Cambria" pitchFamily="34" charset="-122"/>
                <a:cs typeface="Cambria" pitchFamily="34" charset="-120"/>
              </a:rPr>
              <a:t>The first 90 days</a:t>
            </a:r>
            <a:endParaRPr lang="en-US" sz="5400" dirty="0"/>
          </a:p>
        </p:txBody>
      </p:sp>
      <p:sp>
        <p:nvSpPr>
          <p:cNvPr id="4" name="Text 2"/>
          <p:cNvSpPr/>
          <p:nvPr/>
        </p:nvSpPr>
        <p:spPr>
          <a:xfrm>
            <a:off x="777240" y="3886200"/>
            <a:ext cx="8686800" cy="548640"/>
          </a:xfrm>
          <a:prstGeom prst="rect">
            <a:avLst/>
          </a:prstGeom>
          <a:noFill/>
          <a:ln/>
        </p:spPr>
        <p:txBody>
          <a:bodyPr wrap="square" lIns="0" tIns="0" rIns="0" bIns="0" rtlCol="0" anchor="ctr"/>
          <a:lstStyle/>
          <a:p>
            <a:pPr indent="0" marL="0">
              <a:buNone/>
            </a:pPr>
            <a:r>
              <a:rPr lang="en-US" sz="1750" dirty="0">
                <a:solidFill>
                  <a:srgbClr val="B6BEC7"/>
                </a:solidFill>
                <a:latin typeface="Calibri" pitchFamily="34" charset="0"/>
                <a:ea typeface="Calibri" pitchFamily="34" charset="-122"/>
                <a:cs typeface="Calibri" pitchFamily="34" charset="-120"/>
              </a:rPr>
              <a:t>One project — Neopolis — used to build and prove the whole system.</a:t>
            </a:r>
            <a:endParaRPr lang="en-US" sz="17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777240" y="530352"/>
            <a:ext cx="10637215" cy="219456"/>
          </a:xfrm>
          <a:prstGeom prst="rect">
            <a:avLst/>
          </a:prstGeom>
          <a:noFill/>
          <a:ln/>
        </p:spPr>
        <p:txBody>
          <a:bodyPr wrap="square" lIns="0" tIns="0" rIns="0" bIns="0" rtlCol="0" anchor="ctr"/>
          <a:lstStyle/>
          <a:p>
            <a:pPr indent="0" marL="0">
              <a:buNone/>
            </a:pPr>
            <a:r>
              <a:rPr lang="en-US" sz="1100" b="1" spc="260" kern="0" dirty="0">
                <a:solidFill>
                  <a:srgbClr val="9A7A25"/>
                </a:solidFill>
                <a:latin typeface="Calibri" pitchFamily="34" charset="0"/>
                <a:ea typeface="Calibri" pitchFamily="34" charset="-122"/>
                <a:cs typeface="Calibri" pitchFamily="34" charset="-120"/>
              </a:rPr>
              <a:t>13</a:t>
            </a:r>
            <a:endParaRPr lang="en-US" sz="1100" dirty="0"/>
          </a:p>
        </p:txBody>
      </p:sp>
      <p:sp>
        <p:nvSpPr>
          <p:cNvPr id="3" name="Text 1"/>
          <p:cNvSpPr/>
          <p:nvPr/>
        </p:nvSpPr>
        <p:spPr>
          <a:xfrm>
            <a:off x="777240" y="768096"/>
            <a:ext cx="10637215" cy="603504"/>
          </a:xfrm>
          <a:prstGeom prst="rect">
            <a:avLst/>
          </a:prstGeom>
          <a:noFill/>
          <a:ln/>
        </p:spPr>
        <p:txBody>
          <a:bodyPr wrap="square" lIns="0" tIns="0" rIns="0" bIns="0" rtlCol="0" anchor="ctr"/>
          <a:lstStyle/>
          <a:p>
            <a:pPr indent="0" marL="0">
              <a:buNone/>
            </a:pPr>
            <a:r>
              <a:rPr lang="en-US" sz="3800" b="1" spc="-60" kern="0" dirty="0">
                <a:solidFill>
                  <a:srgbClr val="14181D"/>
                </a:solidFill>
                <a:latin typeface="Cambria" pitchFamily="34" charset="0"/>
                <a:ea typeface="Cambria" pitchFamily="34" charset="-122"/>
                <a:cs typeface="Cambria" pitchFamily="34" charset="-120"/>
              </a:rPr>
              <a:t>Days 1–30  ·  Foundation</a:t>
            </a:r>
            <a:endParaRPr lang="en-US" sz="3800" dirty="0"/>
          </a:p>
        </p:txBody>
      </p:sp>
      <p:sp>
        <p:nvSpPr>
          <p:cNvPr id="4" name="Text 2"/>
          <p:cNvSpPr/>
          <p:nvPr/>
        </p:nvSpPr>
        <p:spPr>
          <a:xfrm>
            <a:off x="777240" y="1536192"/>
            <a:ext cx="10637215" cy="438912"/>
          </a:xfrm>
          <a:prstGeom prst="rect">
            <a:avLst/>
          </a:prstGeom>
          <a:noFill/>
          <a:ln/>
        </p:spPr>
        <p:txBody>
          <a:bodyPr wrap="square" lIns="0" tIns="0" rIns="0" bIns="0" rtlCol="0" anchor="ctr"/>
          <a:lstStyle/>
          <a:p>
            <a:pPr indent="0" marL="0">
              <a:buNone/>
            </a:pPr>
            <a:r>
              <a:rPr lang="en-US" sz="2000" b="1" dirty="0">
                <a:solidFill>
                  <a:srgbClr val="9A7A25"/>
                </a:solidFill>
                <a:latin typeface="Cambria" pitchFamily="34" charset="0"/>
                <a:ea typeface="Cambria" pitchFamily="34" charset="-122"/>
                <a:cs typeface="Cambria" pitchFamily="34" charset="-120"/>
              </a:rPr>
              <a:t>Identity, plumbing, first content</a:t>
            </a:r>
            <a:endParaRPr lang="en-US" sz="2000" dirty="0"/>
          </a:p>
        </p:txBody>
      </p:sp>
      <p:sp>
        <p:nvSpPr>
          <p:cNvPr id="5" name="Shape 3"/>
          <p:cNvSpPr/>
          <p:nvPr/>
        </p:nvSpPr>
        <p:spPr>
          <a:xfrm>
            <a:off x="777240" y="2139696"/>
            <a:ext cx="10637215" cy="512064"/>
          </a:xfrm>
          <a:prstGeom prst="rect">
            <a:avLst/>
          </a:prstGeom>
          <a:solidFill>
            <a:srgbClr val="FFFFFF"/>
          </a:solidFill>
          <a:ln/>
        </p:spPr>
      </p:sp>
      <p:sp>
        <p:nvSpPr>
          <p:cNvPr id="6" name="Shape 4"/>
          <p:cNvSpPr/>
          <p:nvPr/>
        </p:nvSpPr>
        <p:spPr>
          <a:xfrm>
            <a:off x="1069848" y="2336292"/>
            <a:ext cx="118872" cy="118872"/>
          </a:xfrm>
          <a:prstGeom prst="ellipse">
            <a:avLst/>
          </a:prstGeom>
          <a:solidFill>
            <a:srgbClr val="9A7A25"/>
          </a:solidFill>
          <a:ln/>
        </p:spPr>
      </p:sp>
      <p:sp>
        <p:nvSpPr>
          <p:cNvPr id="7" name="Text 5"/>
          <p:cNvSpPr/>
          <p:nvPr/>
        </p:nvSpPr>
        <p:spPr>
          <a:xfrm>
            <a:off x="1399032" y="2139696"/>
            <a:ext cx="9722815" cy="512064"/>
          </a:xfrm>
          <a:prstGeom prst="rect">
            <a:avLst/>
          </a:prstGeom>
          <a:noFill/>
          <a:ln/>
        </p:spPr>
        <p:txBody>
          <a:bodyPr wrap="square" lIns="0" tIns="0" rIns="0" bIns="0" rtlCol="0" anchor="ctr"/>
          <a:lstStyle/>
          <a:p>
            <a:pPr indent="0" marL="0">
              <a:lnSpc>
                <a:spcPts val="1800"/>
              </a:lnSpc>
              <a:buNone/>
            </a:pPr>
            <a:r>
              <a:rPr lang="en-US" sz="1350" dirty="0">
                <a:solidFill>
                  <a:srgbClr val="555C64"/>
                </a:solidFill>
                <a:latin typeface="Calibri" pitchFamily="34" charset="0"/>
                <a:ea typeface="Calibri" pitchFamily="34" charset="-122"/>
                <a:cs typeface="Calibri" pitchFamily="34" charset="-120"/>
              </a:rPr>
              <a:t>OTHO brand applied properly — logo, templates, tone; the Propertunity change completed everywhere</a:t>
            </a:r>
            <a:endParaRPr lang="en-US" sz="1350" dirty="0"/>
          </a:p>
        </p:txBody>
      </p:sp>
      <p:sp>
        <p:nvSpPr>
          <p:cNvPr id="8" name="Shape 6"/>
          <p:cNvSpPr/>
          <p:nvPr/>
        </p:nvSpPr>
        <p:spPr>
          <a:xfrm>
            <a:off x="777240" y="2697480"/>
            <a:ext cx="10637215" cy="512064"/>
          </a:xfrm>
          <a:prstGeom prst="rect">
            <a:avLst/>
          </a:prstGeom>
          <a:solidFill>
            <a:srgbClr val="FFFFFF"/>
          </a:solidFill>
          <a:ln/>
        </p:spPr>
      </p:sp>
      <p:sp>
        <p:nvSpPr>
          <p:cNvPr id="9" name="Shape 7"/>
          <p:cNvSpPr/>
          <p:nvPr/>
        </p:nvSpPr>
        <p:spPr>
          <a:xfrm>
            <a:off x="1069848" y="2894076"/>
            <a:ext cx="118872" cy="118872"/>
          </a:xfrm>
          <a:prstGeom prst="ellipse">
            <a:avLst/>
          </a:prstGeom>
          <a:solidFill>
            <a:srgbClr val="9A7A25"/>
          </a:solidFill>
          <a:ln/>
        </p:spPr>
      </p:sp>
      <p:sp>
        <p:nvSpPr>
          <p:cNvPr id="10" name="Text 8"/>
          <p:cNvSpPr/>
          <p:nvPr/>
        </p:nvSpPr>
        <p:spPr>
          <a:xfrm>
            <a:off x="1399032" y="2697480"/>
            <a:ext cx="9722815" cy="512064"/>
          </a:xfrm>
          <a:prstGeom prst="rect">
            <a:avLst/>
          </a:prstGeom>
          <a:noFill/>
          <a:ln/>
        </p:spPr>
        <p:txBody>
          <a:bodyPr wrap="square" lIns="0" tIns="0" rIns="0" bIns="0" rtlCol="0" anchor="ctr"/>
          <a:lstStyle/>
          <a:p>
            <a:pPr indent="0" marL="0">
              <a:lnSpc>
                <a:spcPts val="1800"/>
              </a:lnSpc>
              <a:buNone/>
            </a:pPr>
            <a:r>
              <a:rPr lang="en-US" sz="1350" dirty="0">
                <a:solidFill>
                  <a:srgbClr val="555C64"/>
                </a:solidFill>
                <a:latin typeface="Calibri" pitchFamily="34" charset="0"/>
                <a:ea typeface="Calibri" pitchFamily="34" charset="-122"/>
                <a:cs typeface="Calibri" pitchFamily="34" charset="-120"/>
              </a:rPr>
              <a:t>Domain, hosting, analytics, CRM with routing and a response clock</a:t>
            </a:r>
            <a:endParaRPr lang="en-US" sz="1350" dirty="0"/>
          </a:p>
        </p:txBody>
      </p:sp>
      <p:sp>
        <p:nvSpPr>
          <p:cNvPr id="11" name="Shape 9"/>
          <p:cNvSpPr/>
          <p:nvPr/>
        </p:nvSpPr>
        <p:spPr>
          <a:xfrm>
            <a:off x="777240" y="3255264"/>
            <a:ext cx="10637215" cy="512064"/>
          </a:xfrm>
          <a:prstGeom prst="rect">
            <a:avLst/>
          </a:prstGeom>
          <a:solidFill>
            <a:srgbClr val="FFFFFF"/>
          </a:solidFill>
          <a:ln/>
        </p:spPr>
      </p:sp>
      <p:sp>
        <p:nvSpPr>
          <p:cNvPr id="12" name="Shape 10"/>
          <p:cNvSpPr/>
          <p:nvPr/>
        </p:nvSpPr>
        <p:spPr>
          <a:xfrm>
            <a:off x="1069848" y="3451860"/>
            <a:ext cx="118872" cy="118872"/>
          </a:xfrm>
          <a:prstGeom prst="ellipse">
            <a:avLst/>
          </a:prstGeom>
          <a:solidFill>
            <a:srgbClr val="9A7A25"/>
          </a:solidFill>
          <a:ln/>
        </p:spPr>
      </p:sp>
      <p:sp>
        <p:nvSpPr>
          <p:cNvPr id="13" name="Text 11"/>
          <p:cNvSpPr/>
          <p:nvPr/>
        </p:nvSpPr>
        <p:spPr>
          <a:xfrm>
            <a:off x="1399032" y="3255264"/>
            <a:ext cx="9722815" cy="512064"/>
          </a:xfrm>
          <a:prstGeom prst="rect">
            <a:avLst/>
          </a:prstGeom>
          <a:noFill/>
          <a:ln/>
        </p:spPr>
        <p:txBody>
          <a:bodyPr wrap="square" lIns="0" tIns="0" rIns="0" bIns="0" rtlCol="0" anchor="ctr"/>
          <a:lstStyle/>
          <a:p>
            <a:pPr indent="0" marL="0">
              <a:lnSpc>
                <a:spcPts val="1800"/>
              </a:lnSpc>
              <a:buNone/>
            </a:pPr>
            <a:r>
              <a:rPr lang="en-US" sz="1350" dirty="0">
                <a:solidFill>
                  <a:srgbClr val="555C64"/>
                </a:solidFill>
                <a:latin typeface="Calibri" pitchFamily="34" charset="0"/>
                <a:ea typeface="Calibri" pitchFamily="34" charset="-122"/>
                <a:cs typeface="Calibri" pitchFamily="34" charset="-120"/>
              </a:rPr>
              <a:t>Google Business, Instagram, LinkedIn, YouTube claimed and set up</a:t>
            </a:r>
            <a:endParaRPr lang="en-US" sz="1350" dirty="0"/>
          </a:p>
        </p:txBody>
      </p:sp>
      <p:sp>
        <p:nvSpPr>
          <p:cNvPr id="14" name="Shape 12"/>
          <p:cNvSpPr/>
          <p:nvPr/>
        </p:nvSpPr>
        <p:spPr>
          <a:xfrm>
            <a:off x="777240" y="3813048"/>
            <a:ext cx="10637215" cy="512064"/>
          </a:xfrm>
          <a:prstGeom prst="rect">
            <a:avLst/>
          </a:prstGeom>
          <a:solidFill>
            <a:srgbClr val="FFFFFF"/>
          </a:solidFill>
          <a:ln/>
        </p:spPr>
      </p:sp>
      <p:sp>
        <p:nvSpPr>
          <p:cNvPr id="15" name="Shape 13"/>
          <p:cNvSpPr/>
          <p:nvPr/>
        </p:nvSpPr>
        <p:spPr>
          <a:xfrm>
            <a:off x="1069848" y="4009644"/>
            <a:ext cx="118872" cy="118872"/>
          </a:xfrm>
          <a:prstGeom prst="ellipse">
            <a:avLst/>
          </a:prstGeom>
          <a:solidFill>
            <a:srgbClr val="9A7A25"/>
          </a:solidFill>
          <a:ln/>
        </p:spPr>
      </p:sp>
      <p:sp>
        <p:nvSpPr>
          <p:cNvPr id="16" name="Text 14"/>
          <p:cNvSpPr/>
          <p:nvPr/>
        </p:nvSpPr>
        <p:spPr>
          <a:xfrm>
            <a:off x="1399032" y="3813048"/>
            <a:ext cx="9722815" cy="512064"/>
          </a:xfrm>
          <a:prstGeom prst="rect">
            <a:avLst/>
          </a:prstGeom>
          <a:noFill/>
          <a:ln/>
        </p:spPr>
        <p:txBody>
          <a:bodyPr wrap="square" lIns="0" tIns="0" rIns="0" bIns="0" rtlCol="0" anchor="ctr"/>
          <a:lstStyle/>
          <a:p>
            <a:pPr indent="0" marL="0">
              <a:lnSpc>
                <a:spcPts val="1800"/>
              </a:lnSpc>
              <a:buNone/>
            </a:pPr>
            <a:r>
              <a:rPr lang="en-US" sz="1350" dirty="0">
                <a:solidFill>
                  <a:srgbClr val="555C64"/>
                </a:solidFill>
                <a:latin typeface="Calibri" pitchFamily="34" charset="0"/>
                <a:ea typeface="Calibri" pitchFamily="34" charset="-122"/>
                <a:cs typeface="Calibri" pitchFamily="34" charset="-120"/>
              </a:rPr>
              <a:t>Website design signed off; comparison engine specified</a:t>
            </a:r>
            <a:endParaRPr lang="en-US" sz="1350" dirty="0"/>
          </a:p>
        </p:txBody>
      </p:sp>
      <p:sp>
        <p:nvSpPr>
          <p:cNvPr id="17" name="Shape 15"/>
          <p:cNvSpPr/>
          <p:nvPr/>
        </p:nvSpPr>
        <p:spPr>
          <a:xfrm>
            <a:off x="777240" y="4370832"/>
            <a:ext cx="10637215" cy="512064"/>
          </a:xfrm>
          <a:prstGeom prst="rect">
            <a:avLst/>
          </a:prstGeom>
          <a:solidFill>
            <a:srgbClr val="FFFFFF"/>
          </a:solidFill>
          <a:ln/>
        </p:spPr>
      </p:sp>
      <p:sp>
        <p:nvSpPr>
          <p:cNvPr id="18" name="Shape 16"/>
          <p:cNvSpPr/>
          <p:nvPr/>
        </p:nvSpPr>
        <p:spPr>
          <a:xfrm>
            <a:off x="1069848" y="4567428"/>
            <a:ext cx="118872" cy="118872"/>
          </a:xfrm>
          <a:prstGeom prst="ellipse">
            <a:avLst/>
          </a:prstGeom>
          <a:solidFill>
            <a:srgbClr val="9A7A25"/>
          </a:solidFill>
          <a:ln/>
        </p:spPr>
      </p:sp>
      <p:sp>
        <p:nvSpPr>
          <p:cNvPr id="19" name="Text 17"/>
          <p:cNvSpPr/>
          <p:nvPr/>
        </p:nvSpPr>
        <p:spPr>
          <a:xfrm>
            <a:off x="1399032" y="4370832"/>
            <a:ext cx="9722815" cy="512064"/>
          </a:xfrm>
          <a:prstGeom prst="rect">
            <a:avLst/>
          </a:prstGeom>
          <a:noFill/>
          <a:ln/>
        </p:spPr>
        <p:txBody>
          <a:bodyPr wrap="square" lIns="0" tIns="0" rIns="0" bIns="0" rtlCol="0" anchor="ctr"/>
          <a:lstStyle/>
          <a:p>
            <a:pPr indent="0" marL="0">
              <a:lnSpc>
                <a:spcPts val="1800"/>
              </a:lnSpc>
              <a:buNone/>
            </a:pPr>
            <a:r>
              <a:rPr lang="en-US" sz="1350" dirty="0">
                <a:solidFill>
                  <a:srgbClr val="555C64"/>
                </a:solidFill>
                <a:latin typeface="Calibri" pitchFamily="34" charset="0"/>
                <a:ea typeface="Calibri" pitchFamily="34" charset="-122"/>
                <a:cs typeface="Calibri" pitchFamily="34" charset="-120"/>
              </a:rPr>
              <a:t>Sit with sales: what buyers ask, where they walk away</a:t>
            </a:r>
            <a:endParaRPr lang="en-US" sz="1350" dirty="0"/>
          </a:p>
        </p:txBody>
      </p:sp>
      <p:sp>
        <p:nvSpPr>
          <p:cNvPr id="20" name="Shape 18"/>
          <p:cNvSpPr/>
          <p:nvPr/>
        </p:nvSpPr>
        <p:spPr>
          <a:xfrm>
            <a:off x="777240" y="4928616"/>
            <a:ext cx="10637215" cy="512064"/>
          </a:xfrm>
          <a:prstGeom prst="rect">
            <a:avLst/>
          </a:prstGeom>
          <a:solidFill>
            <a:srgbClr val="FFFFFF"/>
          </a:solidFill>
          <a:ln/>
        </p:spPr>
      </p:sp>
      <p:sp>
        <p:nvSpPr>
          <p:cNvPr id="21" name="Shape 19"/>
          <p:cNvSpPr/>
          <p:nvPr/>
        </p:nvSpPr>
        <p:spPr>
          <a:xfrm>
            <a:off x="1069848" y="5125212"/>
            <a:ext cx="118872" cy="118872"/>
          </a:xfrm>
          <a:prstGeom prst="ellipse">
            <a:avLst/>
          </a:prstGeom>
          <a:solidFill>
            <a:srgbClr val="9A7A25"/>
          </a:solidFill>
          <a:ln/>
        </p:spPr>
      </p:sp>
      <p:sp>
        <p:nvSpPr>
          <p:cNvPr id="22" name="Text 20"/>
          <p:cNvSpPr/>
          <p:nvPr/>
        </p:nvSpPr>
        <p:spPr>
          <a:xfrm>
            <a:off x="1399032" y="4928616"/>
            <a:ext cx="9722815" cy="512064"/>
          </a:xfrm>
          <a:prstGeom prst="rect">
            <a:avLst/>
          </a:prstGeom>
          <a:noFill/>
          <a:ln/>
        </p:spPr>
        <p:txBody>
          <a:bodyPr wrap="square" lIns="0" tIns="0" rIns="0" bIns="0" rtlCol="0" anchor="ctr"/>
          <a:lstStyle/>
          <a:p>
            <a:pPr indent="0" marL="0">
              <a:lnSpc>
                <a:spcPts val="1800"/>
              </a:lnSpc>
              <a:buNone/>
            </a:pPr>
            <a:r>
              <a:rPr lang="en-US" sz="1350" dirty="0">
                <a:solidFill>
                  <a:srgbClr val="555C64"/>
                </a:solidFill>
                <a:latin typeface="Calibri" pitchFamily="34" charset="0"/>
                <a:ea typeface="Calibri" pitchFamily="34" charset="-122"/>
                <a:cs typeface="Calibri" pitchFamily="34" charset="-120"/>
              </a:rPr>
              <a:t>First studio day — two podcast episodes, founder pieces to camera</a:t>
            </a:r>
            <a:endParaRPr lang="en-US" sz="1350" dirty="0"/>
          </a:p>
        </p:txBody>
      </p:sp>
      <p:sp>
        <p:nvSpPr>
          <p:cNvPr id="23" name="Shape 21"/>
          <p:cNvSpPr/>
          <p:nvPr/>
        </p:nvSpPr>
        <p:spPr>
          <a:xfrm>
            <a:off x="777240" y="5577840"/>
            <a:ext cx="10637215" cy="658368"/>
          </a:xfrm>
          <a:prstGeom prst="rect">
            <a:avLst/>
          </a:prstGeom>
          <a:solidFill>
            <a:srgbClr val="14181D"/>
          </a:solidFill>
          <a:ln/>
        </p:spPr>
      </p:sp>
      <p:sp>
        <p:nvSpPr>
          <p:cNvPr id="24" name="Text 22"/>
          <p:cNvSpPr/>
          <p:nvPr/>
        </p:nvSpPr>
        <p:spPr>
          <a:xfrm>
            <a:off x="1069848" y="5577840"/>
            <a:ext cx="2194560" cy="658368"/>
          </a:xfrm>
          <a:prstGeom prst="rect">
            <a:avLst/>
          </a:prstGeom>
          <a:noFill/>
          <a:ln/>
        </p:spPr>
        <p:txBody>
          <a:bodyPr wrap="square" lIns="0" tIns="0" rIns="0" bIns="0" rtlCol="0" anchor="ctr"/>
          <a:lstStyle/>
          <a:p>
            <a:pPr indent="0" marL="0">
              <a:buNone/>
            </a:pPr>
            <a:r>
              <a:rPr lang="en-US" sz="900" b="1" spc="160" kern="0" dirty="0">
                <a:solidFill>
                  <a:srgbClr val="D9B061"/>
                </a:solidFill>
                <a:latin typeface="Calibri" pitchFamily="34" charset="0"/>
                <a:ea typeface="Calibri" pitchFamily="34" charset="-122"/>
                <a:cs typeface="Calibri" pitchFamily="34" charset="-120"/>
              </a:rPr>
              <a:t>END OF MONTH 1</a:t>
            </a:r>
            <a:endParaRPr lang="en-US" sz="900" dirty="0"/>
          </a:p>
        </p:txBody>
      </p:sp>
      <p:sp>
        <p:nvSpPr>
          <p:cNvPr id="25" name="Text 23"/>
          <p:cNvSpPr/>
          <p:nvPr/>
        </p:nvSpPr>
        <p:spPr>
          <a:xfrm>
            <a:off x="3520440" y="5577840"/>
            <a:ext cx="7619695" cy="65836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OTHO exists online, CRM works, two episodes in hand</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777240" y="530352"/>
            <a:ext cx="10637215" cy="219456"/>
          </a:xfrm>
          <a:prstGeom prst="rect">
            <a:avLst/>
          </a:prstGeom>
          <a:noFill/>
          <a:ln/>
        </p:spPr>
        <p:txBody>
          <a:bodyPr wrap="square" lIns="0" tIns="0" rIns="0" bIns="0" rtlCol="0" anchor="ctr"/>
          <a:lstStyle/>
          <a:p>
            <a:pPr indent="0" marL="0">
              <a:buNone/>
            </a:pPr>
            <a:r>
              <a:rPr lang="en-US" sz="1100" b="1" spc="260" kern="0" dirty="0">
                <a:solidFill>
                  <a:srgbClr val="9A7A25"/>
                </a:solidFill>
                <a:latin typeface="Calibri" pitchFamily="34" charset="0"/>
                <a:ea typeface="Calibri" pitchFamily="34" charset="-122"/>
                <a:cs typeface="Calibri" pitchFamily="34" charset="-120"/>
              </a:rPr>
              <a:t>13</a:t>
            </a:r>
            <a:endParaRPr lang="en-US" sz="1100" dirty="0"/>
          </a:p>
        </p:txBody>
      </p:sp>
      <p:sp>
        <p:nvSpPr>
          <p:cNvPr id="3" name="Text 1"/>
          <p:cNvSpPr/>
          <p:nvPr/>
        </p:nvSpPr>
        <p:spPr>
          <a:xfrm>
            <a:off x="777240" y="768096"/>
            <a:ext cx="10637215" cy="603504"/>
          </a:xfrm>
          <a:prstGeom prst="rect">
            <a:avLst/>
          </a:prstGeom>
          <a:noFill/>
          <a:ln/>
        </p:spPr>
        <p:txBody>
          <a:bodyPr wrap="square" lIns="0" tIns="0" rIns="0" bIns="0" rtlCol="0" anchor="ctr"/>
          <a:lstStyle/>
          <a:p>
            <a:pPr indent="0" marL="0">
              <a:buNone/>
            </a:pPr>
            <a:r>
              <a:rPr lang="en-US" sz="3800" b="1" spc="-60" kern="0" dirty="0">
                <a:solidFill>
                  <a:srgbClr val="14181D"/>
                </a:solidFill>
                <a:latin typeface="Cambria" pitchFamily="34" charset="0"/>
                <a:ea typeface="Cambria" pitchFamily="34" charset="-122"/>
                <a:cs typeface="Cambria" pitchFamily="34" charset="-120"/>
              </a:rPr>
              <a:t>Days 31–60  ·  Launch</a:t>
            </a:r>
            <a:endParaRPr lang="en-US" sz="3800" dirty="0"/>
          </a:p>
        </p:txBody>
      </p:sp>
      <p:sp>
        <p:nvSpPr>
          <p:cNvPr id="4" name="Text 2"/>
          <p:cNvSpPr/>
          <p:nvPr/>
        </p:nvSpPr>
        <p:spPr>
          <a:xfrm>
            <a:off x="777240" y="1536192"/>
            <a:ext cx="10637215" cy="438912"/>
          </a:xfrm>
          <a:prstGeom prst="rect">
            <a:avLst/>
          </a:prstGeom>
          <a:noFill/>
          <a:ln/>
        </p:spPr>
        <p:txBody>
          <a:bodyPr wrap="square" lIns="0" tIns="0" rIns="0" bIns="0" rtlCol="0" anchor="ctr"/>
          <a:lstStyle/>
          <a:p>
            <a:pPr indent="0" marL="0">
              <a:buNone/>
            </a:pPr>
            <a:r>
              <a:rPr lang="en-US" sz="2000" b="1" dirty="0">
                <a:solidFill>
                  <a:srgbClr val="9A7A25"/>
                </a:solidFill>
                <a:latin typeface="Cambria" pitchFamily="34" charset="0"/>
                <a:ea typeface="Cambria" pitchFamily="34" charset="-122"/>
                <a:cs typeface="Cambria" pitchFamily="34" charset="-120"/>
              </a:rPr>
              <a:t>Website live, publishing starts</a:t>
            </a:r>
            <a:endParaRPr lang="en-US" sz="2000" dirty="0"/>
          </a:p>
        </p:txBody>
      </p:sp>
      <p:sp>
        <p:nvSpPr>
          <p:cNvPr id="5" name="Shape 3"/>
          <p:cNvSpPr/>
          <p:nvPr/>
        </p:nvSpPr>
        <p:spPr>
          <a:xfrm>
            <a:off x="777240" y="2139696"/>
            <a:ext cx="10637215" cy="512064"/>
          </a:xfrm>
          <a:prstGeom prst="rect">
            <a:avLst/>
          </a:prstGeom>
          <a:solidFill>
            <a:srgbClr val="FFFFFF"/>
          </a:solidFill>
          <a:ln/>
        </p:spPr>
      </p:sp>
      <p:sp>
        <p:nvSpPr>
          <p:cNvPr id="6" name="Shape 4"/>
          <p:cNvSpPr/>
          <p:nvPr/>
        </p:nvSpPr>
        <p:spPr>
          <a:xfrm>
            <a:off x="1069848" y="2336292"/>
            <a:ext cx="118872" cy="118872"/>
          </a:xfrm>
          <a:prstGeom prst="ellipse">
            <a:avLst/>
          </a:prstGeom>
          <a:solidFill>
            <a:srgbClr val="9A7A25"/>
          </a:solidFill>
          <a:ln/>
        </p:spPr>
      </p:sp>
      <p:sp>
        <p:nvSpPr>
          <p:cNvPr id="7" name="Text 5"/>
          <p:cNvSpPr/>
          <p:nvPr/>
        </p:nvSpPr>
        <p:spPr>
          <a:xfrm>
            <a:off x="1399032" y="2139696"/>
            <a:ext cx="9722815" cy="512064"/>
          </a:xfrm>
          <a:prstGeom prst="rect">
            <a:avLst/>
          </a:prstGeom>
          <a:noFill/>
          <a:ln/>
        </p:spPr>
        <p:txBody>
          <a:bodyPr wrap="square" lIns="0" tIns="0" rIns="0" bIns="0" rtlCol="0" anchor="ctr"/>
          <a:lstStyle/>
          <a:p>
            <a:pPr indent="0" marL="0">
              <a:lnSpc>
                <a:spcPts val="1800"/>
              </a:lnSpc>
              <a:buNone/>
            </a:pPr>
            <a:r>
              <a:rPr lang="en-US" sz="1350" dirty="0">
                <a:solidFill>
                  <a:srgbClr val="555C64"/>
                </a:solidFill>
                <a:latin typeface="Calibri" pitchFamily="34" charset="0"/>
                <a:ea typeface="Calibri" pitchFamily="34" charset="-122"/>
                <a:cs typeface="Calibri" pitchFamily="34" charset="-120"/>
              </a:rPr>
              <a:t>Website live — Neopolis project page, comparison engine, real rate calculator, guides, visit booking</a:t>
            </a:r>
            <a:endParaRPr lang="en-US" sz="1350" dirty="0"/>
          </a:p>
        </p:txBody>
      </p:sp>
      <p:sp>
        <p:nvSpPr>
          <p:cNvPr id="8" name="Shape 6"/>
          <p:cNvSpPr/>
          <p:nvPr/>
        </p:nvSpPr>
        <p:spPr>
          <a:xfrm>
            <a:off x="777240" y="2697480"/>
            <a:ext cx="10637215" cy="512064"/>
          </a:xfrm>
          <a:prstGeom prst="rect">
            <a:avLst/>
          </a:prstGeom>
          <a:solidFill>
            <a:srgbClr val="FFFFFF"/>
          </a:solidFill>
          <a:ln/>
        </p:spPr>
      </p:sp>
      <p:sp>
        <p:nvSpPr>
          <p:cNvPr id="9" name="Shape 7"/>
          <p:cNvSpPr/>
          <p:nvPr/>
        </p:nvSpPr>
        <p:spPr>
          <a:xfrm>
            <a:off x="1069848" y="2894076"/>
            <a:ext cx="118872" cy="118872"/>
          </a:xfrm>
          <a:prstGeom prst="ellipse">
            <a:avLst/>
          </a:prstGeom>
          <a:solidFill>
            <a:srgbClr val="9A7A25"/>
          </a:solidFill>
          <a:ln/>
        </p:spPr>
      </p:sp>
      <p:sp>
        <p:nvSpPr>
          <p:cNvPr id="10" name="Text 8"/>
          <p:cNvSpPr/>
          <p:nvPr/>
        </p:nvSpPr>
        <p:spPr>
          <a:xfrm>
            <a:off x="1399032" y="2697480"/>
            <a:ext cx="9722815" cy="512064"/>
          </a:xfrm>
          <a:prstGeom prst="rect">
            <a:avLst/>
          </a:prstGeom>
          <a:noFill/>
          <a:ln/>
        </p:spPr>
        <p:txBody>
          <a:bodyPr wrap="square" lIns="0" tIns="0" rIns="0" bIns="0" rtlCol="0" anchor="ctr"/>
          <a:lstStyle/>
          <a:p>
            <a:pPr indent="0" marL="0">
              <a:lnSpc>
                <a:spcPts val="1800"/>
              </a:lnSpc>
              <a:buNone/>
            </a:pPr>
            <a:r>
              <a:rPr lang="en-US" sz="1350" dirty="0">
                <a:solidFill>
                  <a:srgbClr val="555C64"/>
                </a:solidFill>
                <a:latin typeface="Calibri" pitchFamily="34" charset="0"/>
                <a:ea typeface="Calibri" pitchFamily="34" charset="-122"/>
                <a:cs typeface="Calibri" pitchFamily="34" charset="-120"/>
              </a:rPr>
              <a:t>Podcast launches, fortnightly from here</a:t>
            </a:r>
            <a:endParaRPr lang="en-US" sz="1350" dirty="0"/>
          </a:p>
        </p:txBody>
      </p:sp>
      <p:sp>
        <p:nvSpPr>
          <p:cNvPr id="11" name="Shape 9"/>
          <p:cNvSpPr/>
          <p:nvPr/>
        </p:nvSpPr>
        <p:spPr>
          <a:xfrm>
            <a:off x="777240" y="3255264"/>
            <a:ext cx="10637215" cy="512064"/>
          </a:xfrm>
          <a:prstGeom prst="rect">
            <a:avLst/>
          </a:prstGeom>
          <a:solidFill>
            <a:srgbClr val="FFFFFF"/>
          </a:solidFill>
          <a:ln/>
        </p:spPr>
      </p:sp>
      <p:sp>
        <p:nvSpPr>
          <p:cNvPr id="12" name="Shape 10"/>
          <p:cNvSpPr/>
          <p:nvPr/>
        </p:nvSpPr>
        <p:spPr>
          <a:xfrm>
            <a:off x="1069848" y="3451860"/>
            <a:ext cx="118872" cy="118872"/>
          </a:xfrm>
          <a:prstGeom prst="ellipse">
            <a:avLst/>
          </a:prstGeom>
          <a:solidFill>
            <a:srgbClr val="9A7A25"/>
          </a:solidFill>
          <a:ln/>
        </p:spPr>
      </p:sp>
      <p:sp>
        <p:nvSpPr>
          <p:cNvPr id="13" name="Text 11"/>
          <p:cNvSpPr/>
          <p:nvPr/>
        </p:nvSpPr>
        <p:spPr>
          <a:xfrm>
            <a:off x="1399032" y="3255264"/>
            <a:ext cx="9722815" cy="512064"/>
          </a:xfrm>
          <a:prstGeom prst="rect">
            <a:avLst/>
          </a:prstGeom>
          <a:noFill/>
          <a:ln/>
        </p:spPr>
        <p:txBody>
          <a:bodyPr wrap="square" lIns="0" tIns="0" rIns="0" bIns="0" rtlCol="0" anchor="ctr"/>
          <a:lstStyle/>
          <a:p>
            <a:pPr indent="0" marL="0">
              <a:lnSpc>
                <a:spcPts val="1800"/>
              </a:lnSpc>
              <a:buNone/>
            </a:pPr>
            <a:r>
              <a:rPr lang="en-US" sz="1350" dirty="0">
                <a:solidFill>
                  <a:srgbClr val="555C64"/>
                </a:solidFill>
                <a:latin typeface="Calibri" pitchFamily="34" charset="0"/>
                <a:ea typeface="Calibri" pitchFamily="34" charset="-122"/>
                <a:cs typeface="Calibri" pitchFamily="34" charset="-120"/>
              </a:rPr>
              <a:t>First project review film and first comparison film published</a:t>
            </a:r>
            <a:endParaRPr lang="en-US" sz="1350" dirty="0"/>
          </a:p>
        </p:txBody>
      </p:sp>
      <p:sp>
        <p:nvSpPr>
          <p:cNvPr id="14" name="Shape 12"/>
          <p:cNvSpPr/>
          <p:nvPr/>
        </p:nvSpPr>
        <p:spPr>
          <a:xfrm>
            <a:off x="777240" y="3813048"/>
            <a:ext cx="10637215" cy="512064"/>
          </a:xfrm>
          <a:prstGeom prst="rect">
            <a:avLst/>
          </a:prstGeom>
          <a:solidFill>
            <a:srgbClr val="FFFFFF"/>
          </a:solidFill>
          <a:ln/>
        </p:spPr>
      </p:sp>
      <p:sp>
        <p:nvSpPr>
          <p:cNvPr id="15" name="Shape 13"/>
          <p:cNvSpPr/>
          <p:nvPr/>
        </p:nvSpPr>
        <p:spPr>
          <a:xfrm>
            <a:off x="1069848" y="4009644"/>
            <a:ext cx="118872" cy="118872"/>
          </a:xfrm>
          <a:prstGeom prst="ellipse">
            <a:avLst/>
          </a:prstGeom>
          <a:solidFill>
            <a:srgbClr val="9A7A25"/>
          </a:solidFill>
          <a:ln/>
        </p:spPr>
      </p:sp>
      <p:sp>
        <p:nvSpPr>
          <p:cNvPr id="16" name="Text 14"/>
          <p:cNvSpPr/>
          <p:nvPr/>
        </p:nvSpPr>
        <p:spPr>
          <a:xfrm>
            <a:off x="1399032" y="3813048"/>
            <a:ext cx="9722815" cy="512064"/>
          </a:xfrm>
          <a:prstGeom prst="rect">
            <a:avLst/>
          </a:prstGeom>
          <a:noFill/>
          <a:ln/>
        </p:spPr>
        <p:txBody>
          <a:bodyPr wrap="square" lIns="0" tIns="0" rIns="0" bIns="0" rtlCol="0" anchor="ctr"/>
          <a:lstStyle/>
          <a:p>
            <a:pPr indent="0" marL="0">
              <a:lnSpc>
                <a:spcPts val="1800"/>
              </a:lnSpc>
              <a:buNone/>
            </a:pPr>
            <a:r>
              <a:rPr lang="en-US" sz="1350" dirty="0">
                <a:solidFill>
                  <a:srgbClr val="555C64"/>
                </a:solidFill>
                <a:latin typeface="Calibri" pitchFamily="34" charset="0"/>
                <a:ea typeface="Calibri" pitchFamily="34" charset="-122"/>
                <a:cs typeface="Calibri" pitchFamily="34" charset="-120"/>
              </a:rPr>
              <a:t>Guides and locality pages start publishing weekly</a:t>
            </a:r>
            <a:endParaRPr lang="en-US" sz="1350" dirty="0"/>
          </a:p>
        </p:txBody>
      </p:sp>
      <p:sp>
        <p:nvSpPr>
          <p:cNvPr id="17" name="Shape 15"/>
          <p:cNvSpPr/>
          <p:nvPr/>
        </p:nvSpPr>
        <p:spPr>
          <a:xfrm>
            <a:off x="777240" y="4370832"/>
            <a:ext cx="10637215" cy="512064"/>
          </a:xfrm>
          <a:prstGeom prst="rect">
            <a:avLst/>
          </a:prstGeom>
          <a:solidFill>
            <a:srgbClr val="FFFFFF"/>
          </a:solidFill>
          <a:ln/>
        </p:spPr>
      </p:sp>
      <p:sp>
        <p:nvSpPr>
          <p:cNvPr id="18" name="Shape 16"/>
          <p:cNvSpPr/>
          <p:nvPr/>
        </p:nvSpPr>
        <p:spPr>
          <a:xfrm>
            <a:off x="1069848" y="4567428"/>
            <a:ext cx="118872" cy="118872"/>
          </a:xfrm>
          <a:prstGeom prst="ellipse">
            <a:avLst/>
          </a:prstGeom>
          <a:solidFill>
            <a:srgbClr val="9A7A25"/>
          </a:solidFill>
          <a:ln/>
        </p:spPr>
      </p:sp>
      <p:sp>
        <p:nvSpPr>
          <p:cNvPr id="19" name="Text 17"/>
          <p:cNvSpPr/>
          <p:nvPr/>
        </p:nvSpPr>
        <p:spPr>
          <a:xfrm>
            <a:off x="1399032" y="4370832"/>
            <a:ext cx="9722815" cy="512064"/>
          </a:xfrm>
          <a:prstGeom prst="rect">
            <a:avLst/>
          </a:prstGeom>
          <a:noFill/>
          <a:ln/>
        </p:spPr>
        <p:txBody>
          <a:bodyPr wrap="square" lIns="0" tIns="0" rIns="0" bIns="0" rtlCol="0" anchor="ctr"/>
          <a:lstStyle/>
          <a:p>
            <a:pPr indent="0" marL="0">
              <a:lnSpc>
                <a:spcPts val="1800"/>
              </a:lnSpc>
              <a:buNone/>
            </a:pPr>
            <a:r>
              <a:rPr lang="en-US" sz="1350" dirty="0">
                <a:solidFill>
                  <a:srgbClr val="555C64"/>
                </a:solidFill>
                <a:latin typeface="Calibri" pitchFamily="34" charset="0"/>
                <a:ea typeface="Calibri" pitchFamily="34" charset="-122"/>
                <a:cs typeface="Calibri" pitchFamily="34" charset="-120"/>
              </a:rPr>
              <a:t>Google Search on project terms; portal listings up</a:t>
            </a:r>
            <a:endParaRPr lang="en-US" sz="1350" dirty="0"/>
          </a:p>
        </p:txBody>
      </p:sp>
      <p:sp>
        <p:nvSpPr>
          <p:cNvPr id="20" name="Shape 18"/>
          <p:cNvSpPr/>
          <p:nvPr/>
        </p:nvSpPr>
        <p:spPr>
          <a:xfrm>
            <a:off x="777240" y="4928616"/>
            <a:ext cx="10637215" cy="512064"/>
          </a:xfrm>
          <a:prstGeom prst="rect">
            <a:avLst/>
          </a:prstGeom>
          <a:solidFill>
            <a:srgbClr val="FFFFFF"/>
          </a:solidFill>
          <a:ln/>
        </p:spPr>
      </p:sp>
      <p:sp>
        <p:nvSpPr>
          <p:cNvPr id="21" name="Shape 19"/>
          <p:cNvSpPr/>
          <p:nvPr/>
        </p:nvSpPr>
        <p:spPr>
          <a:xfrm>
            <a:off x="1069848" y="5125212"/>
            <a:ext cx="118872" cy="118872"/>
          </a:xfrm>
          <a:prstGeom prst="ellipse">
            <a:avLst/>
          </a:prstGeom>
          <a:solidFill>
            <a:srgbClr val="9A7A25"/>
          </a:solidFill>
          <a:ln/>
        </p:spPr>
      </p:sp>
      <p:sp>
        <p:nvSpPr>
          <p:cNvPr id="22" name="Text 20"/>
          <p:cNvSpPr/>
          <p:nvPr/>
        </p:nvSpPr>
        <p:spPr>
          <a:xfrm>
            <a:off x="1399032" y="4928616"/>
            <a:ext cx="9722815" cy="512064"/>
          </a:xfrm>
          <a:prstGeom prst="rect">
            <a:avLst/>
          </a:prstGeom>
          <a:noFill/>
          <a:ln/>
        </p:spPr>
        <p:txBody>
          <a:bodyPr wrap="square" lIns="0" tIns="0" rIns="0" bIns="0" rtlCol="0" anchor="ctr"/>
          <a:lstStyle/>
          <a:p>
            <a:pPr indent="0" marL="0">
              <a:lnSpc>
                <a:spcPts val="1800"/>
              </a:lnSpc>
              <a:buNone/>
            </a:pPr>
            <a:r>
              <a:rPr lang="en-US" sz="1350" dirty="0">
                <a:solidFill>
                  <a:srgbClr val="555C64"/>
                </a:solidFill>
                <a:latin typeface="Calibri" pitchFamily="34" charset="0"/>
                <a:ea typeface="Calibri" pitchFamily="34" charset="-122"/>
                <a:cs typeface="Calibri" pitchFamily="34" charset="-120"/>
              </a:rPr>
              <a:t>Site shoot — walkthrough, drone, progress, location drive</a:t>
            </a:r>
            <a:endParaRPr lang="en-US" sz="1350" dirty="0"/>
          </a:p>
        </p:txBody>
      </p:sp>
      <p:sp>
        <p:nvSpPr>
          <p:cNvPr id="23" name="Shape 21"/>
          <p:cNvSpPr/>
          <p:nvPr/>
        </p:nvSpPr>
        <p:spPr>
          <a:xfrm>
            <a:off x="777240" y="5577840"/>
            <a:ext cx="10637215" cy="658368"/>
          </a:xfrm>
          <a:prstGeom prst="rect">
            <a:avLst/>
          </a:prstGeom>
          <a:solidFill>
            <a:srgbClr val="14181D"/>
          </a:solidFill>
          <a:ln/>
        </p:spPr>
      </p:sp>
      <p:sp>
        <p:nvSpPr>
          <p:cNvPr id="24" name="Text 22"/>
          <p:cNvSpPr/>
          <p:nvPr/>
        </p:nvSpPr>
        <p:spPr>
          <a:xfrm>
            <a:off x="1069848" y="5577840"/>
            <a:ext cx="2194560" cy="658368"/>
          </a:xfrm>
          <a:prstGeom prst="rect">
            <a:avLst/>
          </a:prstGeom>
          <a:noFill/>
          <a:ln/>
        </p:spPr>
        <p:txBody>
          <a:bodyPr wrap="square" lIns="0" tIns="0" rIns="0" bIns="0" rtlCol="0" anchor="ctr"/>
          <a:lstStyle/>
          <a:p>
            <a:pPr indent="0" marL="0">
              <a:buNone/>
            </a:pPr>
            <a:r>
              <a:rPr lang="en-US" sz="900" b="1" spc="160" kern="0" dirty="0">
                <a:solidFill>
                  <a:srgbClr val="D9B061"/>
                </a:solidFill>
                <a:latin typeface="Calibri" pitchFamily="34" charset="0"/>
                <a:ea typeface="Calibri" pitchFamily="34" charset="-122"/>
                <a:cs typeface="Calibri" pitchFamily="34" charset="-120"/>
              </a:rPr>
              <a:t>END OF MONTH 2</a:t>
            </a:r>
            <a:endParaRPr lang="en-US" sz="900" dirty="0"/>
          </a:p>
        </p:txBody>
      </p:sp>
      <p:sp>
        <p:nvSpPr>
          <p:cNvPr id="25" name="Text 23"/>
          <p:cNvSpPr/>
          <p:nvPr/>
        </p:nvSpPr>
        <p:spPr>
          <a:xfrm>
            <a:off x="3520440" y="5577840"/>
            <a:ext cx="7619695" cy="65836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Platform live, first tracked enquiries, search indexing</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777240" y="530352"/>
            <a:ext cx="10637215" cy="219456"/>
          </a:xfrm>
          <a:prstGeom prst="rect">
            <a:avLst/>
          </a:prstGeom>
          <a:noFill/>
          <a:ln/>
        </p:spPr>
        <p:txBody>
          <a:bodyPr wrap="square" lIns="0" tIns="0" rIns="0" bIns="0" rtlCol="0" anchor="ctr"/>
          <a:lstStyle/>
          <a:p>
            <a:pPr indent="0" marL="0">
              <a:buNone/>
            </a:pPr>
            <a:r>
              <a:rPr lang="en-US" sz="1100" b="1" spc="260" kern="0" dirty="0">
                <a:solidFill>
                  <a:srgbClr val="9A7A25"/>
                </a:solidFill>
                <a:latin typeface="Calibri" pitchFamily="34" charset="0"/>
                <a:ea typeface="Calibri" pitchFamily="34" charset="-122"/>
                <a:cs typeface="Calibri" pitchFamily="34" charset="-120"/>
              </a:rPr>
              <a:t>13</a:t>
            </a:r>
            <a:endParaRPr lang="en-US" sz="1100" dirty="0"/>
          </a:p>
        </p:txBody>
      </p:sp>
      <p:sp>
        <p:nvSpPr>
          <p:cNvPr id="3" name="Text 1"/>
          <p:cNvSpPr/>
          <p:nvPr/>
        </p:nvSpPr>
        <p:spPr>
          <a:xfrm>
            <a:off x="777240" y="768096"/>
            <a:ext cx="10637215" cy="603504"/>
          </a:xfrm>
          <a:prstGeom prst="rect">
            <a:avLst/>
          </a:prstGeom>
          <a:noFill/>
          <a:ln/>
        </p:spPr>
        <p:txBody>
          <a:bodyPr wrap="square" lIns="0" tIns="0" rIns="0" bIns="0" rtlCol="0" anchor="ctr"/>
          <a:lstStyle/>
          <a:p>
            <a:pPr indent="0" marL="0">
              <a:buNone/>
            </a:pPr>
            <a:r>
              <a:rPr lang="en-US" sz="3800" b="1" spc="-60" kern="0" dirty="0">
                <a:solidFill>
                  <a:srgbClr val="14181D"/>
                </a:solidFill>
                <a:latin typeface="Cambria" pitchFamily="34" charset="0"/>
                <a:ea typeface="Cambria" pitchFamily="34" charset="-122"/>
                <a:cs typeface="Cambria" pitchFamily="34" charset="-120"/>
              </a:rPr>
              <a:t>Days 61–90  ·  Prove</a:t>
            </a:r>
            <a:endParaRPr lang="en-US" sz="3800" dirty="0"/>
          </a:p>
        </p:txBody>
      </p:sp>
      <p:sp>
        <p:nvSpPr>
          <p:cNvPr id="4" name="Text 2"/>
          <p:cNvSpPr/>
          <p:nvPr/>
        </p:nvSpPr>
        <p:spPr>
          <a:xfrm>
            <a:off x="777240" y="1536192"/>
            <a:ext cx="10637215" cy="438912"/>
          </a:xfrm>
          <a:prstGeom prst="rect">
            <a:avLst/>
          </a:prstGeom>
          <a:noFill/>
          <a:ln/>
        </p:spPr>
        <p:txBody>
          <a:bodyPr wrap="square" lIns="0" tIns="0" rIns="0" bIns="0" rtlCol="0" anchor="ctr"/>
          <a:lstStyle/>
          <a:p>
            <a:pPr indent="0" marL="0">
              <a:buNone/>
            </a:pPr>
            <a:r>
              <a:rPr lang="en-US" sz="2000" b="1" dirty="0">
                <a:solidFill>
                  <a:srgbClr val="9A7A25"/>
                </a:solidFill>
                <a:latin typeface="Cambria" pitchFamily="34" charset="0"/>
                <a:ea typeface="Cambria" pitchFamily="34" charset="-122"/>
                <a:cs typeface="Cambria" pitchFamily="34" charset="-120"/>
              </a:rPr>
              <a:t>Widen, measure, decide</a:t>
            </a:r>
            <a:endParaRPr lang="en-US" sz="2000" dirty="0"/>
          </a:p>
        </p:txBody>
      </p:sp>
      <p:sp>
        <p:nvSpPr>
          <p:cNvPr id="5" name="Shape 3"/>
          <p:cNvSpPr/>
          <p:nvPr/>
        </p:nvSpPr>
        <p:spPr>
          <a:xfrm>
            <a:off x="777240" y="2139696"/>
            <a:ext cx="10637215" cy="512064"/>
          </a:xfrm>
          <a:prstGeom prst="rect">
            <a:avLst/>
          </a:prstGeom>
          <a:solidFill>
            <a:srgbClr val="FFFFFF"/>
          </a:solidFill>
          <a:ln/>
        </p:spPr>
      </p:sp>
      <p:sp>
        <p:nvSpPr>
          <p:cNvPr id="6" name="Shape 4"/>
          <p:cNvSpPr/>
          <p:nvPr/>
        </p:nvSpPr>
        <p:spPr>
          <a:xfrm>
            <a:off x="1069848" y="2336292"/>
            <a:ext cx="118872" cy="118872"/>
          </a:xfrm>
          <a:prstGeom prst="ellipse">
            <a:avLst/>
          </a:prstGeom>
          <a:solidFill>
            <a:srgbClr val="9A7A25"/>
          </a:solidFill>
          <a:ln/>
        </p:spPr>
      </p:sp>
      <p:sp>
        <p:nvSpPr>
          <p:cNvPr id="7" name="Text 5"/>
          <p:cNvSpPr/>
          <p:nvPr/>
        </p:nvSpPr>
        <p:spPr>
          <a:xfrm>
            <a:off x="1399032" y="2139696"/>
            <a:ext cx="9722815" cy="512064"/>
          </a:xfrm>
          <a:prstGeom prst="rect">
            <a:avLst/>
          </a:prstGeom>
          <a:noFill/>
          <a:ln/>
        </p:spPr>
        <p:txBody>
          <a:bodyPr wrap="square" lIns="0" tIns="0" rIns="0" bIns="0" rtlCol="0" anchor="ctr"/>
          <a:lstStyle/>
          <a:p>
            <a:pPr indent="0" marL="0">
              <a:lnSpc>
                <a:spcPts val="1800"/>
              </a:lnSpc>
              <a:buNone/>
            </a:pPr>
            <a:r>
              <a:rPr lang="en-US" sz="1350" dirty="0">
                <a:solidFill>
                  <a:srgbClr val="555C64"/>
                </a:solidFill>
                <a:latin typeface="Calibri" pitchFamily="34" charset="0"/>
                <a:ea typeface="Calibri" pitchFamily="34" charset="-122"/>
                <a:cs typeface="Calibri" pitchFamily="34" charset="-120"/>
              </a:rPr>
              <a:t>Meta retargeting on, now there's an audience to retarget</a:t>
            </a:r>
            <a:endParaRPr lang="en-US" sz="1350" dirty="0"/>
          </a:p>
        </p:txBody>
      </p:sp>
      <p:sp>
        <p:nvSpPr>
          <p:cNvPr id="8" name="Shape 6"/>
          <p:cNvSpPr/>
          <p:nvPr/>
        </p:nvSpPr>
        <p:spPr>
          <a:xfrm>
            <a:off x="777240" y="2697480"/>
            <a:ext cx="10637215" cy="512064"/>
          </a:xfrm>
          <a:prstGeom prst="rect">
            <a:avLst/>
          </a:prstGeom>
          <a:solidFill>
            <a:srgbClr val="FFFFFF"/>
          </a:solidFill>
          <a:ln/>
        </p:spPr>
      </p:sp>
      <p:sp>
        <p:nvSpPr>
          <p:cNvPr id="9" name="Shape 7"/>
          <p:cNvSpPr/>
          <p:nvPr/>
        </p:nvSpPr>
        <p:spPr>
          <a:xfrm>
            <a:off x="1069848" y="2894076"/>
            <a:ext cx="118872" cy="118872"/>
          </a:xfrm>
          <a:prstGeom prst="ellipse">
            <a:avLst/>
          </a:prstGeom>
          <a:solidFill>
            <a:srgbClr val="9A7A25"/>
          </a:solidFill>
          <a:ln/>
        </p:spPr>
      </p:sp>
      <p:sp>
        <p:nvSpPr>
          <p:cNvPr id="10" name="Text 8"/>
          <p:cNvSpPr/>
          <p:nvPr/>
        </p:nvSpPr>
        <p:spPr>
          <a:xfrm>
            <a:off x="1399032" y="2697480"/>
            <a:ext cx="9722815" cy="512064"/>
          </a:xfrm>
          <a:prstGeom prst="rect">
            <a:avLst/>
          </a:prstGeom>
          <a:noFill/>
          <a:ln/>
        </p:spPr>
        <p:txBody>
          <a:bodyPr wrap="square" lIns="0" tIns="0" rIns="0" bIns="0" rtlCol="0" anchor="ctr"/>
          <a:lstStyle/>
          <a:p>
            <a:pPr indent="0" marL="0">
              <a:lnSpc>
                <a:spcPts val="1800"/>
              </a:lnSpc>
              <a:buNone/>
            </a:pPr>
            <a:r>
              <a:rPr lang="en-US" sz="1350" dirty="0">
                <a:solidFill>
                  <a:srgbClr val="555C64"/>
                </a:solidFill>
                <a:latin typeface="Calibri" pitchFamily="34" charset="0"/>
                <a:ea typeface="Calibri" pitchFamily="34" charset="-122"/>
                <a:cs typeface="Calibri" pitchFamily="34" charset="-120"/>
              </a:rPr>
              <a:t>Second and third project reviews — the library starts</a:t>
            </a:r>
            <a:endParaRPr lang="en-US" sz="1350" dirty="0"/>
          </a:p>
        </p:txBody>
      </p:sp>
      <p:sp>
        <p:nvSpPr>
          <p:cNvPr id="11" name="Shape 9"/>
          <p:cNvSpPr/>
          <p:nvPr/>
        </p:nvSpPr>
        <p:spPr>
          <a:xfrm>
            <a:off x="777240" y="3255264"/>
            <a:ext cx="10637215" cy="512064"/>
          </a:xfrm>
          <a:prstGeom prst="rect">
            <a:avLst/>
          </a:prstGeom>
          <a:solidFill>
            <a:srgbClr val="FFFFFF"/>
          </a:solidFill>
          <a:ln/>
        </p:spPr>
      </p:sp>
      <p:sp>
        <p:nvSpPr>
          <p:cNvPr id="12" name="Shape 10"/>
          <p:cNvSpPr/>
          <p:nvPr/>
        </p:nvSpPr>
        <p:spPr>
          <a:xfrm>
            <a:off x="1069848" y="3451860"/>
            <a:ext cx="118872" cy="118872"/>
          </a:xfrm>
          <a:prstGeom prst="ellipse">
            <a:avLst/>
          </a:prstGeom>
          <a:solidFill>
            <a:srgbClr val="9A7A25"/>
          </a:solidFill>
          <a:ln/>
        </p:spPr>
      </p:sp>
      <p:sp>
        <p:nvSpPr>
          <p:cNvPr id="13" name="Text 11"/>
          <p:cNvSpPr/>
          <p:nvPr/>
        </p:nvSpPr>
        <p:spPr>
          <a:xfrm>
            <a:off x="1399032" y="3255264"/>
            <a:ext cx="9722815" cy="512064"/>
          </a:xfrm>
          <a:prstGeom prst="rect">
            <a:avLst/>
          </a:prstGeom>
          <a:noFill/>
          <a:ln/>
        </p:spPr>
        <p:txBody>
          <a:bodyPr wrap="square" lIns="0" tIns="0" rIns="0" bIns="0" rtlCol="0" anchor="ctr"/>
          <a:lstStyle/>
          <a:p>
            <a:pPr indent="0" marL="0">
              <a:lnSpc>
                <a:spcPts val="1800"/>
              </a:lnSpc>
              <a:buNone/>
            </a:pPr>
            <a:r>
              <a:rPr lang="en-US" sz="1350" dirty="0">
                <a:solidFill>
                  <a:srgbClr val="555C64"/>
                </a:solidFill>
                <a:latin typeface="Calibri" pitchFamily="34" charset="0"/>
                <a:ea typeface="Calibri" pitchFamily="34" charset="-122"/>
                <a:cs typeface="Calibri" pitchFamily="34" charset="-120"/>
              </a:rPr>
              <a:t>First monthly market note published and pitched to press</a:t>
            </a:r>
            <a:endParaRPr lang="en-US" sz="1350" dirty="0"/>
          </a:p>
        </p:txBody>
      </p:sp>
      <p:sp>
        <p:nvSpPr>
          <p:cNvPr id="14" name="Shape 12"/>
          <p:cNvSpPr/>
          <p:nvPr/>
        </p:nvSpPr>
        <p:spPr>
          <a:xfrm>
            <a:off x="777240" y="3813048"/>
            <a:ext cx="10637215" cy="512064"/>
          </a:xfrm>
          <a:prstGeom prst="rect">
            <a:avLst/>
          </a:prstGeom>
          <a:solidFill>
            <a:srgbClr val="FFFFFF"/>
          </a:solidFill>
          <a:ln/>
        </p:spPr>
      </p:sp>
      <p:sp>
        <p:nvSpPr>
          <p:cNvPr id="15" name="Shape 13"/>
          <p:cNvSpPr/>
          <p:nvPr/>
        </p:nvSpPr>
        <p:spPr>
          <a:xfrm>
            <a:off x="1069848" y="4009644"/>
            <a:ext cx="118872" cy="118872"/>
          </a:xfrm>
          <a:prstGeom prst="ellipse">
            <a:avLst/>
          </a:prstGeom>
          <a:solidFill>
            <a:srgbClr val="9A7A25"/>
          </a:solidFill>
          <a:ln/>
        </p:spPr>
      </p:sp>
      <p:sp>
        <p:nvSpPr>
          <p:cNvPr id="16" name="Text 14"/>
          <p:cNvSpPr/>
          <p:nvPr/>
        </p:nvSpPr>
        <p:spPr>
          <a:xfrm>
            <a:off x="1399032" y="3813048"/>
            <a:ext cx="9722815" cy="512064"/>
          </a:xfrm>
          <a:prstGeom prst="rect">
            <a:avLst/>
          </a:prstGeom>
          <a:noFill/>
          <a:ln/>
        </p:spPr>
        <p:txBody>
          <a:bodyPr wrap="square" lIns="0" tIns="0" rIns="0" bIns="0" rtlCol="0" anchor="ctr"/>
          <a:lstStyle/>
          <a:p>
            <a:pPr indent="0" marL="0">
              <a:lnSpc>
                <a:spcPts val="1800"/>
              </a:lnSpc>
              <a:buNone/>
            </a:pPr>
            <a:r>
              <a:rPr lang="en-US" sz="1350" dirty="0">
                <a:solidFill>
                  <a:srgbClr val="555C64"/>
                </a:solidFill>
                <a:latin typeface="Calibri" pitchFamily="34" charset="0"/>
                <a:ea typeface="Calibri" pitchFamily="34" charset="-122"/>
                <a:cs typeface="Calibri" pitchFamily="34" charset="-120"/>
              </a:rPr>
              <a:t>Channel partner kit with per-partner tracking links</a:t>
            </a:r>
            <a:endParaRPr lang="en-US" sz="1350" dirty="0"/>
          </a:p>
        </p:txBody>
      </p:sp>
      <p:sp>
        <p:nvSpPr>
          <p:cNvPr id="17" name="Shape 15"/>
          <p:cNvSpPr/>
          <p:nvPr/>
        </p:nvSpPr>
        <p:spPr>
          <a:xfrm>
            <a:off x="777240" y="4370832"/>
            <a:ext cx="10637215" cy="512064"/>
          </a:xfrm>
          <a:prstGeom prst="rect">
            <a:avLst/>
          </a:prstGeom>
          <a:solidFill>
            <a:srgbClr val="FFFFFF"/>
          </a:solidFill>
          <a:ln/>
        </p:spPr>
      </p:sp>
      <p:sp>
        <p:nvSpPr>
          <p:cNvPr id="18" name="Shape 16"/>
          <p:cNvSpPr/>
          <p:nvPr/>
        </p:nvSpPr>
        <p:spPr>
          <a:xfrm>
            <a:off x="1069848" y="4567428"/>
            <a:ext cx="118872" cy="118872"/>
          </a:xfrm>
          <a:prstGeom prst="ellipse">
            <a:avLst/>
          </a:prstGeom>
          <a:solidFill>
            <a:srgbClr val="9A7A25"/>
          </a:solidFill>
          <a:ln/>
        </p:spPr>
      </p:sp>
      <p:sp>
        <p:nvSpPr>
          <p:cNvPr id="19" name="Text 17"/>
          <p:cNvSpPr/>
          <p:nvPr/>
        </p:nvSpPr>
        <p:spPr>
          <a:xfrm>
            <a:off x="1399032" y="4370832"/>
            <a:ext cx="9722815" cy="512064"/>
          </a:xfrm>
          <a:prstGeom prst="rect">
            <a:avLst/>
          </a:prstGeom>
          <a:noFill/>
          <a:ln/>
        </p:spPr>
        <p:txBody>
          <a:bodyPr wrap="square" lIns="0" tIns="0" rIns="0" bIns="0" rtlCol="0" anchor="ctr"/>
          <a:lstStyle/>
          <a:p>
            <a:pPr indent="0" marL="0">
              <a:lnSpc>
                <a:spcPts val="1800"/>
              </a:lnSpc>
              <a:buNone/>
            </a:pPr>
            <a:r>
              <a:rPr lang="en-US" sz="1350" dirty="0">
                <a:solidFill>
                  <a:srgbClr val="555C64"/>
                </a:solidFill>
                <a:latin typeface="Calibri" pitchFamily="34" charset="0"/>
                <a:ea typeface="Calibri" pitchFamily="34" charset="-122"/>
                <a:cs typeface="Calibri" pitchFamily="34" charset="-120"/>
              </a:rPr>
              <a:t>Full funnel report from real numbers — targets set here, not before</a:t>
            </a:r>
            <a:endParaRPr lang="en-US" sz="1350" dirty="0"/>
          </a:p>
        </p:txBody>
      </p:sp>
      <p:sp>
        <p:nvSpPr>
          <p:cNvPr id="20" name="Shape 18"/>
          <p:cNvSpPr/>
          <p:nvPr/>
        </p:nvSpPr>
        <p:spPr>
          <a:xfrm>
            <a:off x="777240" y="4928616"/>
            <a:ext cx="10637215" cy="512064"/>
          </a:xfrm>
          <a:prstGeom prst="rect">
            <a:avLst/>
          </a:prstGeom>
          <a:solidFill>
            <a:srgbClr val="FFFFFF"/>
          </a:solidFill>
          <a:ln/>
        </p:spPr>
      </p:sp>
      <p:sp>
        <p:nvSpPr>
          <p:cNvPr id="21" name="Shape 19"/>
          <p:cNvSpPr/>
          <p:nvPr/>
        </p:nvSpPr>
        <p:spPr>
          <a:xfrm>
            <a:off x="1069848" y="5125212"/>
            <a:ext cx="118872" cy="118872"/>
          </a:xfrm>
          <a:prstGeom prst="ellipse">
            <a:avLst/>
          </a:prstGeom>
          <a:solidFill>
            <a:srgbClr val="9A7A25"/>
          </a:solidFill>
          <a:ln/>
        </p:spPr>
      </p:sp>
      <p:sp>
        <p:nvSpPr>
          <p:cNvPr id="22" name="Text 20"/>
          <p:cNvSpPr/>
          <p:nvPr/>
        </p:nvSpPr>
        <p:spPr>
          <a:xfrm>
            <a:off x="1399032" y="4928616"/>
            <a:ext cx="9722815" cy="512064"/>
          </a:xfrm>
          <a:prstGeom prst="rect">
            <a:avLst/>
          </a:prstGeom>
          <a:noFill/>
          <a:ln/>
        </p:spPr>
        <p:txBody>
          <a:bodyPr wrap="square" lIns="0" tIns="0" rIns="0" bIns="0" rtlCol="0" anchor="ctr"/>
          <a:lstStyle/>
          <a:p>
            <a:pPr indent="0" marL="0">
              <a:lnSpc>
                <a:spcPts val="1800"/>
              </a:lnSpc>
              <a:buNone/>
            </a:pPr>
            <a:r>
              <a:rPr lang="en-US" sz="1350" dirty="0">
                <a:solidFill>
                  <a:srgbClr val="555C64"/>
                </a:solidFill>
                <a:latin typeface="Calibri" pitchFamily="34" charset="0"/>
                <a:ea typeface="Calibri" pitchFamily="34" charset="-122"/>
                <a:cs typeface="Calibri" pitchFamily="34" charset="-120"/>
              </a:rPr>
              <a:t>Documented playbook so project two starts at week six</a:t>
            </a:r>
            <a:endParaRPr lang="en-US" sz="1350" dirty="0"/>
          </a:p>
        </p:txBody>
      </p:sp>
      <p:sp>
        <p:nvSpPr>
          <p:cNvPr id="23" name="Shape 21"/>
          <p:cNvSpPr/>
          <p:nvPr/>
        </p:nvSpPr>
        <p:spPr>
          <a:xfrm>
            <a:off x="777240" y="5577840"/>
            <a:ext cx="10637215" cy="658368"/>
          </a:xfrm>
          <a:prstGeom prst="rect">
            <a:avLst/>
          </a:prstGeom>
          <a:solidFill>
            <a:srgbClr val="14181D"/>
          </a:solidFill>
          <a:ln/>
        </p:spPr>
      </p:sp>
      <p:sp>
        <p:nvSpPr>
          <p:cNvPr id="24" name="Text 22"/>
          <p:cNvSpPr/>
          <p:nvPr/>
        </p:nvSpPr>
        <p:spPr>
          <a:xfrm>
            <a:off x="1069848" y="5577840"/>
            <a:ext cx="2194560" cy="658368"/>
          </a:xfrm>
          <a:prstGeom prst="rect">
            <a:avLst/>
          </a:prstGeom>
          <a:noFill/>
          <a:ln/>
        </p:spPr>
        <p:txBody>
          <a:bodyPr wrap="square" lIns="0" tIns="0" rIns="0" bIns="0" rtlCol="0" anchor="ctr"/>
          <a:lstStyle/>
          <a:p>
            <a:pPr indent="0" marL="0">
              <a:buNone/>
            </a:pPr>
            <a:r>
              <a:rPr lang="en-US" sz="900" b="1" spc="160" kern="0" dirty="0">
                <a:solidFill>
                  <a:srgbClr val="D9B061"/>
                </a:solidFill>
                <a:latin typeface="Calibri" pitchFamily="34" charset="0"/>
                <a:ea typeface="Calibri" pitchFamily="34" charset="-122"/>
                <a:cs typeface="Calibri" pitchFamily="34" charset="-120"/>
              </a:rPr>
              <a:t>END OF MONTH 3</a:t>
            </a:r>
            <a:endParaRPr lang="en-US" sz="900" dirty="0"/>
          </a:p>
        </p:txBody>
      </p:sp>
      <p:sp>
        <p:nvSpPr>
          <p:cNvPr id="25" name="Text 23"/>
          <p:cNvSpPr/>
          <p:nvPr/>
        </p:nvSpPr>
        <p:spPr>
          <a:xfrm>
            <a:off x="3520440" y="5577840"/>
            <a:ext cx="7619695" cy="65836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Real cost per enquiry, agreed targets, a repeatable system</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777240" y="530352"/>
            <a:ext cx="10637215" cy="219456"/>
          </a:xfrm>
          <a:prstGeom prst="rect">
            <a:avLst/>
          </a:prstGeom>
          <a:noFill/>
          <a:ln/>
        </p:spPr>
        <p:txBody>
          <a:bodyPr wrap="square" lIns="0" tIns="0" rIns="0" bIns="0" rtlCol="0" anchor="ctr"/>
          <a:lstStyle/>
          <a:p>
            <a:pPr indent="0" marL="0">
              <a:buNone/>
            </a:pPr>
            <a:r>
              <a:rPr lang="en-US" sz="1100" b="1" spc="260" kern="0" dirty="0">
                <a:solidFill>
                  <a:srgbClr val="9A7A25"/>
                </a:solidFill>
                <a:latin typeface="Calibri" pitchFamily="34" charset="0"/>
                <a:ea typeface="Calibri" pitchFamily="34" charset="-122"/>
                <a:cs typeface="Calibri" pitchFamily="34" charset="-120"/>
              </a:rPr>
              <a:t>14</a:t>
            </a:r>
            <a:endParaRPr lang="en-US" sz="1100" dirty="0"/>
          </a:p>
        </p:txBody>
      </p:sp>
      <p:sp>
        <p:nvSpPr>
          <p:cNvPr id="3" name="Text 1"/>
          <p:cNvSpPr/>
          <p:nvPr/>
        </p:nvSpPr>
        <p:spPr>
          <a:xfrm>
            <a:off x="777240" y="768096"/>
            <a:ext cx="10637215" cy="603504"/>
          </a:xfrm>
          <a:prstGeom prst="rect">
            <a:avLst/>
          </a:prstGeom>
          <a:noFill/>
          <a:ln/>
        </p:spPr>
        <p:txBody>
          <a:bodyPr wrap="square" lIns="0" tIns="0" rIns="0" bIns="0" rtlCol="0" anchor="ctr"/>
          <a:lstStyle/>
          <a:p>
            <a:pPr indent="0" marL="0">
              <a:buNone/>
            </a:pPr>
            <a:r>
              <a:rPr lang="en-US" sz="3800" b="1" spc="-60" kern="0" dirty="0">
                <a:solidFill>
                  <a:srgbClr val="14181D"/>
                </a:solidFill>
                <a:latin typeface="Cambria" pitchFamily="34" charset="0"/>
                <a:ea typeface="Cambria" pitchFamily="34" charset="-122"/>
                <a:cs typeface="Cambria" pitchFamily="34" charset="-120"/>
              </a:rPr>
              <a:t>After the first 90 days</a:t>
            </a:r>
            <a:endParaRPr lang="en-US" sz="3800" dirty="0"/>
          </a:p>
        </p:txBody>
      </p:sp>
      <p:sp>
        <p:nvSpPr>
          <p:cNvPr id="4" name="Shape 2"/>
          <p:cNvSpPr/>
          <p:nvPr/>
        </p:nvSpPr>
        <p:spPr>
          <a:xfrm>
            <a:off x="777240" y="1591056"/>
            <a:ext cx="10637215" cy="1298448"/>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5" name="Text 3"/>
          <p:cNvSpPr/>
          <p:nvPr/>
        </p:nvSpPr>
        <p:spPr>
          <a:xfrm>
            <a:off x="1106424" y="1591056"/>
            <a:ext cx="1828800" cy="1298448"/>
          </a:xfrm>
          <a:prstGeom prst="rect">
            <a:avLst/>
          </a:prstGeom>
          <a:noFill/>
          <a:ln/>
        </p:spPr>
        <p:txBody>
          <a:bodyPr wrap="square" lIns="0" tIns="0" rIns="0" bIns="0" rtlCol="0" anchor="ctr"/>
          <a:lstStyle/>
          <a:p>
            <a:pPr indent="0" marL="0">
              <a:buNone/>
            </a:pPr>
            <a:r>
              <a:rPr lang="en-US" sz="1700" b="1" dirty="0">
                <a:solidFill>
                  <a:srgbClr val="9A7A25"/>
                </a:solidFill>
                <a:latin typeface="Cambria" pitchFamily="34" charset="0"/>
                <a:ea typeface="Cambria" pitchFamily="34" charset="-122"/>
                <a:cs typeface="Cambria" pitchFamily="34" charset="-120"/>
              </a:rPr>
              <a:t>Months 4–6</a:t>
            </a:r>
            <a:endParaRPr lang="en-US" sz="1700" dirty="0"/>
          </a:p>
        </p:txBody>
      </p:sp>
      <p:sp>
        <p:nvSpPr>
          <p:cNvPr id="6" name="Text 4"/>
          <p:cNvSpPr/>
          <p:nvPr/>
        </p:nvSpPr>
        <p:spPr>
          <a:xfrm>
            <a:off x="3154680" y="1591056"/>
            <a:ext cx="5394960" cy="1298448"/>
          </a:xfrm>
          <a:prstGeom prst="rect">
            <a:avLst/>
          </a:prstGeom>
          <a:noFill/>
          <a:ln/>
        </p:spPr>
        <p:txBody>
          <a:bodyPr wrap="square" lIns="0" tIns="0" rIns="0" bIns="0" rtlCol="0" anchor="ctr"/>
          <a:lstStyle/>
          <a:p>
            <a:pPr indent="0" marL="0">
              <a:lnSpc>
                <a:spcPts val="1800"/>
              </a:lnSpc>
              <a:buNone/>
            </a:pPr>
            <a:r>
              <a:rPr lang="en-US" sz="1250" dirty="0">
                <a:solidFill>
                  <a:srgbClr val="555C64"/>
                </a:solidFill>
                <a:latin typeface="Calibri" pitchFamily="34" charset="0"/>
                <a:ea typeface="Calibri" pitchFamily="34" charset="-122"/>
                <a:cs typeface="Calibri" pitchFamily="34" charset="-120"/>
              </a:rPr>
              <a:t>Review library grows to 10–12 Hyderabad projects. Resident reviews open. Search and AI start delivering enquiries at no media cost. Referral programme live.</a:t>
            </a:r>
            <a:endParaRPr lang="en-US" sz="1250" dirty="0"/>
          </a:p>
        </p:txBody>
      </p:sp>
      <p:sp>
        <p:nvSpPr>
          <p:cNvPr id="7" name="Text 5"/>
          <p:cNvSpPr/>
          <p:nvPr/>
        </p:nvSpPr>
        <p:spPr>
          <a:xfrm>
            <a:off x="8823960" y="1591056"/>
            <a:ext cx="2261311" cy="1298448"/>
          </a:xfrm>
          <a:prstGeom prst="rect">
            <a:avLst/>
          </a:prstGeom>
          <a:noFill/>
          <a:ln/>
        </p:spPr>
        <p:txBody>
          <a:bodyPr wrap="square" lIns="0" tIns="0" rIns="0" bIns="0" rtlCol="0" anchor="ctr"/>
          <a:lstStyle/>
          <a:p>
            <a:pPr indent="0" marL="0">
              <a:lnSpc>
                <a:spcPts val="1800"/>
              </a:lnSpc>
              <a:buNone/>
            </a:pPr>
            <a:r>
              <a:rPr lang="en-US" sz="1350" b="1" dirty="0">
                <a:solidFill>
                  <a:srgbClr val="14181D"/>
                </a:solidFill>
                <a:latin typeface="Cambria" pitchFamily="34" charset="0"/>
                <a:ea typeface="Cambria" pitchFamily="34" charset="-122"/>
                <a:cs typeface="Cambria" pitchFamily="34" charset="-120"/>
              </a:rPr>
              <a:t>First enquiries arriving free</a:t>
            </a:r>
            <a:endParaRPr lang="en-US" sz="1350" dirty="0"/>
          </a:p>
        </p:txBody>
      </p:sp>
      <p:sp>
        <p:nvSpPr>
          <p:cNvPr id="8" name="Shape 6"/>
          <p:cNvSpPr/>
          <p:nvPr/>
        </p:nvSpPr>
        <p:spPr>
          <a:xfrm>
            <a:off x="777240" y="2980944"/>
            <a:ext cx="10637215" cy="1298448"/>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9" name="Text 7"/>
          <p:cNvSpPr/>
          <p:nvPr/>
        </p:nvSpPr>
        <p:spPr>
          <a:xfrm>
            <a:off x="1106424" y="2980944"/>
            <a:ext cx="1828800" cy="1298448"/>
          </a:xfrm>
          <a:prstGeom prst="rect">
            <a:avLst/>
          </a:prstGeom>
          <a:noFill/>
          <a:ln/>
        </p:spPr>
        <p:txBody>
          <a:bodyPr wrap="square" lIns="0" tIns="0" rIns="0" bIns="0" rtlCol="0" anchor="ctr"/>
          <a:lstStyle/>
          <a:p>
            <a:pPr indent="0" marL="0">
              <a:buNone/>
            </a:pPr>
            <a:r>
              <a:rPr lang="en-US" sz="1700" b="1" dirty="0">
                <a:solidFill>
                  <a:srgbClr val="9A7A25"/>
                </a:solidFill>
                <a:latin typeface="Cambria" pitchFamily="34" charset="0"/>
                <a:ea typeface="Cambria" pitchFamily="34" charset="-122"/>
                <a:cs typeface="Cambria" pitchFamily="34" charset="-120"/>
              </a:rPr>
              <a:t>Months 7–9</a:t>
            </a:r>
            <a:endParaRPr lang="en-US" sz="1700" dirty="0"/>
          </a:p>
        </p:txBody>
      </p:sp>
      <p:sp>
        <p:nvSpPr>
          <p:cNvPr id="10" name="Text 8"/>
          <p:cNvSpPr/>
          <p:nvPr/>
        </p:nvSpPr>
        <p:spPr>
          <a:xfrm>
            <a:off x="3154680" y="2980944"/>
            <a:ext cx="5394960" cy="1298448"/>
          </a:xfrm>
          <a:prstGeom prst="rect">
            <a:avLst/>
          </a:prstGeom>
          <a:noFill/>
          <a:ln/>
        </p:spPr>
        <p:txBody>
          <a:bodyPr wrap="square" lIns="0" tIns="0" rIns="0" bIns="0" rtlCol="0" anchor="ctr"/>
          <a:lstStyle/>
          <a:p>
            <a:pPr indent="0" marL="0">
              <a:lnSpc>
                <a:spcPts val="1800"/>
              </a:lnSpc>
              <a:buNone/>
            </a:pPr>
            <a:r>
              <a:rPr lang="en-US" sz="1250" dirty="0">
                <a:solidFill>
                  <a:srgbClr val="555C64"/>
                </a:solidFill>
                <a:latin typeface="Calibri" pitchFamily="34" charset="0"/>
                <a:ea typeface="Calibri" pitchFamily="34" charset="-122"/>
                <a:cs typeface="Calibri" pitchFamily="34" charset="-120"/>
              </a:rPr>
              <a:t>Price estimates built from registration data. Second and third mandates onboarded using the Neopolis template. Paid media scales only if cost per booking justifies it.</a:t>
            </a:r>
            <a:endParaRPr lang="en-US" sz="1250" dirty="0"/>
          </a:p>
        </p:txBody>
      </p:sp>
      <p:sp>
        <p:nvSpPr>
          <p:cNvPr id="11" name="Text 9"/>
          <p:cNvSpPr/>
          <p:nvPr/>
        </p:nvSpPr>
        <p:spPr>
          <a:xfrm>
            <a:off x="8823960" y="2980944"/>
            <a:ext cx="2261311" cy="1298448"/>
          </a:xfrm>
          <a:prstGeom prst="rect">
            <a:avLst/>
          </a:prstGeom>
          <a:noFill/>
          <a:ln/>
        </p:spPr>
        <p:txBody>
          <a:bodyPr wrap="square" lIns="0" tIns="0" rIns="0" bIns="0" rtlCol="0" anchor="ctr"/>
          <a:lstStyle/>
          <a:p>
            <a:pPr indent="0" marL="0">
              <a:lnSpc>
                <a:spcPts val="1800"/>
              </a:lnSpc>
              <a:buNone/>
            </a:pPr>
            <a:r>
              <a:rPr lang="en-US" sz="1350" b="1" dirty="0">
                <a:solidFill>
                  <a:srgbClr val="14181D"/>
                </a:solidFill>
                <a:latin typeface="Cambria" pitchFamily="34" charset="0"/>
                <a:ea typeface="Cambria" pitchFamily="34" charset="-122"/>
                <a:cs typeface="Cambria" pitchFamily="34" charset="-120"/>
              </a:rPr>
              <a:t>Three projects on one system</a:t>
            </a:r>
            <a:endParaRPr lang="en-US" sz="1350" dirty="0"/>
          </a:p>
        </p:txBody>
      </p:sp>
      <p:sp>
        <p:nvSpPr>
          <p:cNvPr id="12" name="Shape 10"/>
          <p:cNvSpPr/>
          <p:nvPr/>
        </p:nvSpPr>
        <p:spPr>
          <a:xfrm>
            <a:off x="777240" y="4370832"/>
            <a:ext cx="10637215" cy="1298448"/>
          </a:xfrm>
          <a:prstGeom prst="rect">
            <a:avLst/>
          </a:prstGeom>
          <a:solidFill>
            <a:srgbClr val="FFFFFF"/>
          </a:solidFill>
          <a:ln/>
          <a:effectLst>
            <a:outerShdw sx="100000" sy="100000" kx="0" ky="0" algn="bl" rotWithShape="0" blurRad="177800" dist="38100" dir="5400000">
              <a:srgbClr val="14181D">
                <a:alpha val="7000"/>
              </a:srgbClr>
            </a:outerShdw>
          </a:effectLst>
        </p:spPr>
      </p:sp>
      <p:sp>
        <p:nvSpPr>
          <p:cNvPr id="13" name="Text 11"/>
          <p:cNvSpPr/>
          <p:nvPr/>
        </p:nvSpPr>
        <p:spPr>
          <a:xfrm>
            <a:off x="1106424" y="4370832"/>
            <a:ext cx="1828800" cy="1298448"/>
          </a:xfrm>
          <a:prstGeom prst="rect">
            <a:avLst/>
          </a:prstGeom>
          <a:noFill/>
          <a:ln/>
        </p:spPr>
        <p:txBody>
          <a:bodyPr wrap="square" lIns="0" tIns="0" rIns="0" bIns="0" rtlCol="0" anchor="ctr"/>
          <a:lstStyle/>
          <a:p>
            <a:pPr indent="0" marL="0">
              <a:buNone/>
            </a:pPr>
            <a:r>
              <a:rPr lang="en-US" sz="1700" b="1" dirty="0">
                <a:solidFill>
                  <a:srgbClr val="9A7A25"/>
                </a:solidFill>
                <a:latin typeface="Cambria" pitchFamily="34" charset="0"/>
                <a:ea typeface="Cambria" pitchFamily="34" charset="-122"/>
                <a:cs typeface="Cambria" pitchFamily="34" charset="-120"/>
              </a:rPr>
              <a:t>Months 10–12</a:t>
            </a:r>
            <a:endParaRPr lang="en-US" sz="1700" dirty="0"/>
          </a:p>
        </p:txBody>
      </p:sp>
      <p:sp>
        <p:nvSpPr>
          <p:cNvPr id="14" name="Text 12"/>
          <p:cNvSpPr/>
          <p:nvPr/>
        </p:nvSpPr>
        <p:spPr>
          <a:xfrm>
            <a:off x="3154680" y="4370832"/>
            <a:ext cx="5394960" cy="1298448"/>
          </a:xfrm>
          <a:prstGeom prst="rect">
            <a:avLst/>
          </a:prstGeom>
          <a:noFill/>
          <a:ln/>
        </p:spPr>
        <p:txBody>
          <a:bodyPr wrap="square" lIns="0" tIns="0" rIns="0" bIns="0" rtlCol="0" anchor="ctr"/>
          <a:lstStyle/>
          <a:p>
            <a:pPr indent="0" marL="0">
              <a:lnSpc>
                <a:spcPts val="1800"/>
              </a:lnSpc>
              <a:buNone/>
            </a:pPr>
            <a:r>
              <a:rPr lang="en-US" sz="1250" dirty="0">
                <a:solidFill>
                  <a:srgbClr val="555C64"/>
                </a:solidFill>
                <a:latin typeface="Calibri" pitchFamily="34" charset="0"/>
                <a:ea typeface="Calibri" pitchFamily="34" charset="-122"/>
                <a:cs typeface="Calibri" pitchFamily="34" charset="-120"/>
              </a:rPr>
              <a:t>Every meaningful Kokapet and west Hyderabad project covered. Market note quoted by press. Services layer begins — loan and legal partners.</a:t>
            </a:r>
            <a:endParaRPr lang="en-US" sz="1250" dirty="0"/>
          </a:p>
        </p:txBody>
      </p:sp>
      <p:sp>
        <p:nvSpPr>
          <p:cNvPr id="15" name="Text 13"/>
          <p:cNvSpPr/>
          <p:nvPr/>
        </p:nvSpPr>
        <p:spPr>
          <a:xfrm>
            <a:off x="8823960" y="4370832"/>
            <a:ext cx="2261311" cy="1298448"/>
          </a:xfrm>
          <a:prstGeom prst="rect">
            <a:avLst/>
          </a:prstGeom>
          <a:noFill/>
          <a:ln/>
        </p:spPr>
        <p:txBody>
          <a:bodyPr wrap="square" lIns="0" tIns="0" rIns="0" bIns="0" rtlCol="0" anchor="ctr"/>
          <a:lstStyle/>
          <a:p>
            <a:pPr indent="0" marL="0">
              <a:lnSpc>
                <a:spcPts val="1800"/>
              </a:lnSpc>
              <a:buNone/>
            </a:pPr>
            <a:r>
              <a:rPr lang="en-US" sz="1350" b="1" dirty="0">
                <a:solidFill>
                  <a:srgbClr val="14181D"/>
                </a:solidFill>
                <a:latin typeface="Cambria" pitchFamily="34" charset="0"/>
                <a:ea typeface="Cambria" pitchFamily="34" charset="-122"/>
                <a:cs typeface="Cambria" pitchFamily="34" charset="-120"/>
              </a:rPr>
              <a:t>Default place to check in west Hyderabad</a:t>
            </a:r>
            <a:endParaRPr lang="en-US" sz="13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777240" y="530352"/>
            <a:ext cx="10637215" cy="219456"/>
          </a:xfrm>
          <a:prstGeom prst="rect">
            <a:avLst/>
          </a:prstGeom>
          <a:noFill/>
          <a:ln/>
        </p:spPr>
        <p:txBody>
          <a:bodyPr wrap="square" lIns="0" tIns="0" rIns="0" bIns="0" rtlCol="0" anchor="ctr"/>
          <a:lstStyle/>
          <a:p>
            <a:pPr indent="0" marL="0">
              <a:buNone/>
            </a:pPr>
            <a:r>
              <a:rPr lang="en-US" sz="1100" b="1" spc="260" kern="0" dirty="0">
                <a:solidFill>
                  <a:srgbClr val="9A7A25"/>
                </a:solidFill>
                <a:latin typeface="Calibri" pitchFamily="34" charset="0"/>
                <a:ea typeface="Calibri" pitchFamily="34" charset="-122"/>
                <a:cs typeface="Calibri" pitchFamily="34" charset="-120"/>
              </a:rPr>
              <a:t>15</a:t>
            </a:r>
            <a:endParaRPr lang="en-US" sz="1100" dirty="0"/>
          </a:p>
        </p:txBody>
      </p:sp>
      <p:sp>
        <p:nvSpPr>
          <p:cNvPr id="3" name="Text 1"/>
          <p:cNvSpPr/>
          <p:nvPr/>
        </p:nvSpPr>
        <p:spPr>
          <a:xfrm>
            <a:off x="777240" y="768096"/>
            <a:ext cx="10637215" cy="603504"/>
          </a:xfrm>
          <a:prstGeom prst="rect">
            <a:avLst/>
          </a:prstGeom>
          <a:noFill/>
          <a:ln/>
        </p:spPr>
        <p:txBody>
          <a:bodyPr wrap="square" lIns="0" tIns="0" rIns="0" bIns="0" rtlCol="0" anchor="ctr"/>
          <a:lstStyle/>
          <a:p>
            <a:pPr indent="0" marL="0">
              <a:buNone/>
            </a:pPr>
            <a:r>
              <a:rPr lang="en-US" sz="3800" b="1" spc="-60" kern="0" dirty="0">
                <a:solidFill>
                  <a:srgbClr val="14181D"/>
                </a:solidFill>
                <a:latin typeface="Cambria" pitchFamily="34" charset="0"/>
                <a:ea typeface="Cambria" pitchFamily="34" charset="-122"/>
                <a:cs typeface="Cambria" pitchFamily="34" charset="-120"/>
              </a:rPr>
              <a:t>Where this goes</a:t>
            </a:r>
            <a:endParaRPr lang="en-US" sz="3800" dirty="0"/>
          </a:p>
        </p:txBody>
      </p:sp>
      <p:sp>
        <p:nvSpPr>
          <p:cNvPr id="4" name="Shape 2"/>
          <p:cNvSpPr/>
          <p:nvPr/>
        </p:nvSpPr>
        <p:spPr>
          <a:xfrm>
            <a:off x="777240" y="1591056"/>
            <a:ext cx="10637215" cy="859536"/>
          </a:xfrm>
          <a:prstGeom prst="rect">
            <a:avLst/>
          </a:prstGeom>
          <a:solidFill>
            <a:srgbClr val="FFFFFF"/>
          </a:solidFill>
          <a:ln/>
        </p:spPr>
      </p:sp>
      <p:sp>
        <p:nvSpPr>
          <p:cNvPr id="5" name="Text 3"/>
          <p:cNvSpPr/>
          <p:nvPr/>
        </p:nvSpPr>
        <p:spPr>
          <a:xfrm>
            <a:off x="1069848" y="1719072"/>
            <a:ext cx="1463040" cy="347472"/>
          </a:xfrm>
          <a:prstGeom prst="rect">
            <a:avLst/>
          </a:prstGeom>
          <a:noFill/>
          <a:ln/>
        </p:spPr>
        <p:txBody>
          <a:bodyPr wrap="square" lIns="0" tIns="0" rIns="0" bIns="0" rtlCol="0" anchor="ctr"/>
          <a:lstStyle/>
          <a:p>
            <a:pPr indent="0" marL="0">
              <a:buNone/>
            </a:pPr>
            <a:r>
              <a:rPr lang="en-US" sz="1600" b="1" dirty="0">
                <a:solidFill>
                  <a:srgbClr val="9A7A25"/>
                </a:solidFill>
                <a:latin typeface="Cambria" pitchFamily="34" charset="0"/>
                <a:ea typeface="Cambria" pitchFamily="34" charset="-122"/>
                <a:cs typeface="Cambria" pitchFamily="34" charset="-120"/>
              </a:rPr>
              <a:t>Year 1</a:t>
            </a:r>
            <a:endParaRPr lang="en-US" sz="1600" dirty="0"/>
          </a:p>
        </p:txBody>
      </p:sp>
      <p:sp>
        <p:nvSpPr>
          <p:cNvPr id="6" name="Text 4"/>
          <p:cNvSpPr/>
          <p:nvPr/>
        </p:nvSpPr>
        <p:spPr>
          <a:xfrm>
            <a:off x="1069848" y="2048256"/>
            <a:ext cx="1554480" cy="274320"/>
          </a:xfrm>
          <a:prstGeom prst="rect">
            <a:avLst/>
          </a:prstGeom>
          <a:noFill/>
          <a:ln/>
        </p:spPr>
        <p:txBody>
          <a:bodyPr wrap="square" lIns="0" tIns="0" rIns="0" bIns="0" rtlCol="0" anchor="ctr"/>
          <a:lstStyle/>
          <a:p>
            <a:pPr indent="0" marL="0">
              <a:buNone/>
            </a:pPr>
            <a:r>
              <a:rPr lang="en-US" sz="850" spc="110" kern="0" dirty="0">
                <a:solidFill>
                  <a:srgbClr val="8A9099"/>
                </a:solidFill>
                <a:latin typeface="Calibri" pitchFamily="34" charset="0"/>
                <a:ea typeface="Calibri" pitchFamily="34" charset="-122"/>
                <a:cs typeface="Calibri" pitchFamily="34" charset="-120"/>
              </a:rPr>
              <a:t>HYDERABAD WEST</a:t>
            </a:r>
            <a:endParaRPr lang="en-US" sz="850" dirty="0"/>
          </a:p>
        </p:txBody>
      </p:sp>
      <p:sp>
        <p:nvSpPr>
          <p:cNvPr id="7" name="Text 5"/>
          <p:cNvSpPr/>
          <p:nvPr/>
        </p:nvSpPr>
        <p:spPr>
          <a:xfrm>
            <a:off x="2788920" y="1591056"/>
            <a:ext cx="3200400" cy="859536"/>
          </a:xfrm>
          <a:prstGeom prst="rect">
            <a:avLst/>
          </a:prstGeom>
          <a:noFill/>
          <a:ln/>
        </p:spPr>
        <p:txBody>
          <a:bodyPr wrap="square" lIns="0" tIns="0" rIns="0" bIns="0" rtlCol="0" anchor="ctr"/>
          <a:lstStyle/>
          <a:p>
            <a:pPr indent="0" marL="0">
              <a:lnSpc>
                <a:spcPts val="1800"/>
              </a:lnSpc>
              <a:buNone/>
            </a:pPr>
            <a:r>
              <a:rPr lang="en-US" sz="1400" b="1" dirty="0">
                <a:solidFill>
                  <a:srgbClr val="14181D"/>
                </a:solidFill>
                <a:latin typeface="Cambria" pitchFamily="34" charset="0"/>
                <a:ea typeface="Cambria" pitchFamily="34" charset="-122"/>
                <a:cs typeface="Cambria" pitchFamily="34" charset="-120"/>
              </a:rPr>
              <a:t>Own one micro-market completely</a:t>
            </a:r>
            <a:endParaRPr lang="en-US" sz="1400" dirty="0"/>
          </a:p>
        </p:txBody>
      </p:sp>
      <p:sp>
        <p:nvSpPr>
          <p:cNvPr id="8" name="Text 6"/>
          <p:cNvSpPr/>
          <p:nvPr/>
        </p:nvSpPr>
        <p:spPr>
          <a:xfrm>
            <a:off x="6217920" y="1591056"/>
            <a:ext cx="4903927" cy="859536"/>
          </a:xfrm>
          <a:prstGeom prst="rect">
            <a:avLst/>
          </a:prstGeom>
          <a:noFill/>
          <a:ln/>
        </p:spPr>
        <p:txBody>
          <a:bodyPr wrap="square" lIns="0" tIns="0" rIns="0" bIns="0" rtlCol="0" anchor="ctr"/>
          <a:lstStyle/>
          <a:p>
            <a:pPr indent="0" marL="0">
              <a:lnSpc>
                <a:spcPts val="1600"/>
              </a:lnSpc>
              <a:buNone/>
            </a:pPr>
            <a:r>
              <a:rPr lang="en-US" sz="1150" dirty="0">
                <a:solidFill>
                  <a:srgbClr val="555C64"/>
                </a:solidFill>
                <a:latin typeface="Calibri" pitchFamily="34" charset="0"/>
                <a:ea typeface="Calibri" pitchFamily="34" charset="-122"/>
                <a:cs typeface="Calibri" pitchFamily="34" charset="-120"/>
              </a:rPr>
              <a:t>Kokapet, Financial District, Narsingi, Tellapur. Every project reviewed and honestly rated. The goal is not scale — it's proof the model converts better than portal leads.</a:t>
            </a:r>
            <a:endParaRPr lang="en-US" sz="1150" dirty="0"/>
          </a:p>
        </p:txBody>
      </p:sp>
      <p:sp>
        <p:nvSpPr>
          <p:cNvPr id="9" name="Shape 7"/>
          <p:cNvSpPr/>
          <p:nvPr/>
        </p:nvSpPr>
        <p:spPr>
          <a:xfrm>
            <a:off x="777240" y="2505456"/>
            <a:ext cx="10637215" cy="859536"/>
          </a:xfrm>
          <a:prstGeom prst="rect">
            <a:avLst/>
          </a:prstGeom>
          <a:solidFill>
            <a:srgbClr val="FFFFFF"/>
          </a:solidFill>
          <a:ln/>
        </p:spPr>
      </p:sp>
      <p:sp>
        <p:nvSpPr>
          <p:cNvPr id="10" name="Text 8"/>
          <p:cNvSpPr/>
          <p:nvPr/>
        </p:nvSpPr>
        <p:spPr>
          <a:xfrm>
            <a:off x="1069848" y="2633472"/>
            <a:ext cx="1463040" cy="347472"/>
          </a:xfrm>
          <a:prstGeom prst="rect">
            <a:avLst/>
          </a:prstGeom>
          <a:noFill/>
          <a:ln/>
        </p:spPr>
        <p:txBody>
          <a:bodyPr wrap="square" lIns="0" tIns="0" rIns="0" bIns="0" rtlCol="0" anchor="ctr"/>
          <a:lstStyle/>
          <a:p>
            <a:pPr indent="0" marL="0">
              <a:buNone/>
            </a:pPr>
            <a:r>
              <a:rPr lang="en-US" sz="1600" b="1" dirty="0">
                <a:solidFill>
                  <a:srgbClr val="9A7A25"/>
                </a:solidFill>
                <a:latin typeface="Cambria" pitchFamily="34" charset="0"/>
                <a:ea typeface="Cambria" pitchFamily="34" charset="-122"/>
                <a:cs typeface="Cambria" pitchFamily="34" charset="-120"/>
              </a:rPr>
              <a:t>Year 2</a:t>
            </a:r>
            <a:endParaRPr lang="en-US" sz="1600" dirty="0"/>
          </a:p>
        </p:txBody>
      </p:sp>
      <p:sp>
        <p:nvSpPr>
          <p:cNvPr id="11" name="Text 9"/>
          <p:cNvSpPr/>
          <p:nvPr/>
        </p:nvSpPr>
        <p:spPr>
          <a:xfrm>
            <a:off x="1069848" y="2962656"/>
            <a:ext cx="1554480" cy="274320"/>
          </a:xfrm>
          <a:prstGeom prst="rect">
            <a:avLst/>
          </a:prstGeom>
          <a:noFill/>
          <a:ln/>
        </p:spPr>
        <p:txBody>
          <a:bodyPr wrap="square" lIns="0" tIns="0" rIns="0" bIns="0" rtlCol="0" anchor="ctr"/>
          <a:lstStyle/>
          <a:p>
            <a:pPr indent="0" marL="0">
              <a:buNone/>
            </a:pPr>
            <a:r>
              <a:rPr lang="en-US" sz="850" spc="110" kern="0" dirty="0">
                <a:solidFill>
                  <a:srgbClr val="8A9099"/>
                </a:solidFill>
                <a:latin typeface="Calibri" pitchFamily="34" charset="0"/>
                <a:ea typeface="Calibri" pitchFamily="34" charset="-122"/>
                <a:cs typeface="Calibri" pitchFamily="34" charset="-120"/>
              </a:rPr>
              <a:t>HYDERABAD</a:t>
            </a:r>
            <a:endParaRPr lang="en-US" sz="850" dirty="0"/>
          </a:p>
        </p:txBody>
      </p:sp>
      <p:sp>
        <p:nvSpPr>
          <p:cNvPr id="12" name="Text 10"/>
          <p:cNvSpPr/>
          <p:nvPr/>
        </p:nvSpPr>
        <p:spPr>
          <a:xfrm>
            <a:off x="2788920" y="2505456"/>
            <a:ext cx="3200400" cy="859536"/>
          </a:xfrm>
          <a:prstGeom prst="rect">
            <a:avLst/>
          </a:prstGeom>
          <a:noFill/>
          <a:ln/>
        </p:spPr>
        <p:txBody>
          <a:bodyPr wrap="square" lIns="0" tIns="0" rIns="0" bIns="0" rtlCol="0" anchor="ctr"/>
          <a:lstStyle/>
          <a:p>
            <a:pPr indent="0" marL="0">
              <a:lnSpc>
                <a:spcPts val="1800"/>
              </a:lnSpc>
              <a:buNone/>
            </a:pPr>
            <a:r>
              <a:rPr lang="en-US" sz="1400" b="1" dirty="0">
                <a:solidFill>
                  <a:srgbClr val="14181D"/>
                </a:solidFill>
                <a:latin typeface="Cambria" pitchFamily="34" charset="0"/>
                <a:ea typeface="Cambria" pitchFamily="34" charset="-122"/>
                <a:cs typeface="Cambria" pitchFamily="34" charset="-120"/>
              </a:rPr>
              <a:t>The whole city, plus transactions</a:t>
            </a:r>
            <a:endParaRPr lang="en-US" sz="1400" dirty="0"/>
          </a:p>
        </p:txBody>
      </p:sp>
      <p:sp>
        <p:nvSpPr>
          <p:cNvPr id="13" name="Text 11"/>
          <p:cNvSpPr/>
          <p:nvPr/>
        </p:nvSpPr>
        <p:spPr>
          <a:xfrm>
            <a:off x="6217920" y="2505456"/>
            <a:ext cx="4903927" cy="859536"/>
          </a:xfrm>
          <a:prstGeom prst="rect">
            <a:avLst/>
          </a:prstGeom>
          <a:noFill/>
          <a:ln/>
        </p:spPr>
        <p:txBody>
          <a:bodyPr wrap="square" lIns="0" tIns="0" rIns="0" bIns="0" rtlCol="0" anchor="ctr"/>
          <a:lstStyle/>
          <a:p>
            <a:pPr indent="0" marL="0">
              <a:lnSpc>
                <a:spcPts val="1600"/>
              </a:lnSpc>
              <a:buNone/>
            </a:pPr>
            <a:r>
              <a:rPr lang="en-US" sz="1150" dirty="0">
                <a:solidFill>
                  <a:srgbClr val="555C64"/>
                </a:solidFill>
                <a:latin typeface="Calibri" pitchFamily="34" charset="0"/>
                <a:ea typeface="Calibri" pitchFamily="34" charset="-122"/>
                <a:cs typeface="Calibri" pitchFamily="34" charset="-120"/>
              </a:rPr>
              <a:t>Full city coverage. Exclusive mandates as the core revenue line. Services layer live. The name buyers check before visiting anything.</a:t>
            </a:r>
            <a:endParaRPr lang="en-US" sz="1150" dirty="0"/>
          </a:p>
        </p:txBody>
      </p:sp>
      <p:sp>
        <p:nvSpPr>
          <p:cNvPr id="14" name="Shape 12"/>
          <p:cNvSpPr/>
          <p:nvPr/>
        </p:nvSpPr>
        <p:spPr>
          <a:xfrm>
            <a:off x="777240" y="3419856"/>
            <a:ext cx="10637215" cy="859536"/>
          </a:xfrm>
          <a:prstGeom prst="rect">
            <a:avLst/>
          </a:prstGeom>
          <a:solidFill>
            <a:srgbClr val="FFFFFF"/>
          </a:solidFill>
          <a:ln/>
        </p:spPr>
      </p:sp>
      <p:sp>
        <p:nvSpPr>
          <p:cNvPr id="15" name="Text 13"/>
          <p:cNvSpPr/>
          <p:nvPr/>
        </p:nvSpPr>
        <p:spPr>
          <a:xfrm>
            <a:off x="1069848" y="3547872"/>
            <a:ext cx="1463040" cy="347472"/>
          </a:xfrm>
          <a:prstGeom prst="rect">
            <a:avLst/>
          </a:prstGeom>
          <a:noFill/>
          <a:ln/>
        </p:spPr>
        <p:txBody>
          <a:bodyPr wrap="square" lIns="0" tIns="0" rIns="0" bIns="0" rtlCol="0" anchor="ctr"/>
          <a:lstStyle/>
          <a:p>
            <a:pPr indent="0" marL="0">
              <a:buNone/>
            </a:pPr>
            <a:r>
              <a:rPr lang="en-US" sz="1600" b="1" dirty="0">
                <a:solidFill>
                  <a:srgbClr val="9A7A25"/>
                </a:solidFill>
                <a:latin typeface="Cambria" pitchFamily="34" charset="0"/>
                <a:ea typeface="Cambria" pitchFamily="34" charset="-122"/>
                <a:cs typeface="Cambria" pitchFamily="34" charset="-120"/>
              </a:rPr>
              <a:t>Years 3–4</a:t>
            </a:r>
            <a:endParaRPr lang="en-US" sz="1600" dirty="0"/>
          </a:p>
        </p:txBody>
      </p:sp>
      <p:sp>
        <p:nvSpPr>
          <p:cNvPr id="16" name="Text 14"/>
          <p:cNvSpPr/>
          <p:nvPr/>
        </p:nvSpPr>
        <p:spPr>
          <a:xfrm>
            <a:off x="1069848" y="3877056"/>
            <a:ext cx="1554480" cy="274320"/>
          </a:xfrm>
          <a:prstGeom prst="rect">
            <a:avLst/>
          </a:prstGeom>
          <a:noFill/>
          <a:ln/>
        </p:spPr>
        <p:txBody>
          <a:bodyPr wrap="square" lIns="0" tIns="0" rIns="0" bIns="0" rtlCol="0" anchor="ctr"/>
          <a:lstStyle/>
          <a:p>
            <a:pPr indent="0" marL="0">
              <a:buNone/>
            </a:pPr>
            <a:r>
              <a:rPr lang="en-US" sz="850" spc="110" kern="0" dirty="0">
                <a:solidFill>
                  <a:srgbClr val="8A9099"/>
                </a:solidFill>
                <a:latin typeface="Calibri" pitchFamily="34" charset="0"/>
                <a:ea typeface="Calibri" pitchFamily="34" charset="-122"/>
                <a:cs typeface="Calibri" pitchFamily="34" charset="-120"/>
              </a:rPr>
              <a:t>SOUTH INDIA</a:t>
            </a:r>
            <a:endParaRPr lang="en-US" sz="850" dirty="0"/>
          </a:p>
        </p:txBody>
      </p:sp>
      <p:sp>
        <p:nvSpPr>
          <p:cNvPr id="17" name="Text 15"/>
          <p:cNvSpPr/>
          <p:nvPr/>
        </p:nvSpPr>
        <p:spPr>
          <a:xfrm>
            <a:off x="2788920" y="3419856"/>
            <a:ext cx="3200400" cy="859536"/>
          </a:xfrm>
          <a:prstGeom prst="rect">
            <a:avLst/>
          </a:prstGeom>
          <a:noFill/>
          <a:ln/>
        </p:spPr>
        <p:txBody>
          <a:bodyPr wrap="square" lIns="0" tIns="0" rIns="0" bIns="0" rtlCol="0" anchor="ctr"/>
          <a:lstStyle/>
          <a:p>
            <a:pPr indent="0" marL="0">
              <a:lnSpc>
                <a:spcPts val="1800"/>
              </a:lnSpc>
              <a:buNone/>
            </a:pPr>
            <a:r>
              <a:rPr lang="en-US" sz="1400" b="1" dirty="0">
                <a:solidFill>
                  <a:srgbClr val="14181D"/>
                </a:solidFill>
                <a:latin typeface="Cambria" pitchFamily="34" charset="0"/>
                <a:ea typeface="Cambria" pitchFamily="34" charset="-122"/>
                <a:cs typeface="Cambria" pitchFamily="34" charset="-120"/>
              </a:rPr>
              <a:t>Bangalore, Chennai, Pune</a:t>
            </a:r>
            <a:endParaRPr lang="en-US" sz="1400" dirty="0"/>
          </a:p>
        </p:txBody>
      </p:sp>
      <p:sp>
        <p:nvSpPr>
          <p:cNvPr id="18" name="Text 16"/>
          <p:cNvSpPr/>
          <p:nvPr/>
        </p:nvSpPr>
        <p:spPr>
          <a:xfrm>
            <a:off x="6217920" y="3419856"/>
            <a:ext cx="4903927" cy="859536"/>
          </a:xfrm>
          <a:prstGeom prst="rect">
            <a:avLst/>
          </a:prstGeom>
          <a:noFill/>
          <a:ln/>
        </p:spPr>
        <p:txBody>
          <a:bodyPr wrap="square" lIns="0" tIns="0" rIns="0" bIns="0" rtlCol="0" anchor="ctr"/>
          <a:lstStyle/>
          <a:p>
            <a:pPr indent="0" marL="0">
              <a:lnSpc>
                <a:spcPts val="1600"/>
              </a:lnSpc>
              <a:buNone/>
            </a:pPr>
            <a:r>
              <a:rPr lang="en-US" sz="1150" dirty="0">
                <a:solidFill>
                  <a:srgbClr val="555C64"/>
                </a:solidFill>
                <a:latin typeface="Calibri" pitchFamily="34" charset="0"/>
                <a:ea typeface="Calibri" pitchFamily="34" charset="-122"/>
                <a:cs typeface="Calibri" pitchFamily="34" charset="-120"/>
              </a:rPr>
              <a:t>The content and review system is city-agnostic — only the data changes. Each city launches on the template Neopolis produced.</a:t>
            </a:r>
            <a:endParaRPr lang="en-US" sz="1150" dirty="0"/>
          </a:p>
        </p:txBody>
      </p:sp>
      <p:sp>
        <p:nvSpPr>
          <p:cNvPr id="19" name="Shape 17"/>
          <p:cNvSpPr/>
          <p:nvPr/>
        </p:nvSpPr>
        <p:spPr>
          <a:xfrm>
            <a:off x="777240" y="4334256"/>
            <a:ext cx="10637215" cy="859536"/>
          </a:xfrm>
          <a:prstGeom prst="rect">
            <a:avLst/>
          </a:prstGeom>
          <a:solidFill>
            <a:srgbClr val="FFFFFF"/>
          </a:solidFill>
          <a:ln/>
        </p:spPr>
      </p:sp>
      <p:sp>
        <p:nvSpPr>
          <p:cNvPr id="20" name="Text 18"/>
          <p:cNvSpPr/>
          <p:nvPr/>
        </p:nvSpPr>
        <p:spPr>
          <a:xfrm>
            <a:off x="1069848" y="4462272"/>
            <a:ext cx="1463040" cy="347472"/>
          </a:xfrm>
          <a:prstGeom prst="rect">
            <a:avLst/>
          </a:prstGeom>
          <a:noFill/>
          <a:ln/>
        </p:spPr>
        <p:txBody>
          <a:bodyPr wrap="square" lIns="0" tIns="0" rIns="0" bIns="0" rtlCol="0" anchor="ctr"/>
          <a:lstStyle/>
          <a:p>
            <a:pPr indent="0" marL="0">
              <a:buNone/>
            </a:pPr>
            <a:r>
              <a:rPr lang="en-US" sz="1600" b="1" dirty="0">
                <a:solidFill>
                  <a:srgbClr val="9A7A25"/>
                </a:solidFill>
                <a:latin typeface="Cambria" pitchFamily="34" charset="0"/>
                <a:ea typeface="Cambria" pitchFamily="34" charset="-122"/>
                <a:cs typeface="Cambria" pitchFamily="34" charset="-120"/>
              </a:rPr>
              <a:t>Years 5–7</a:t>
            </a:r>
            <a:endParaRPr lang="en-US" sz="1600" dirty="0"/>
          </a:p>
        </p:txBody>
      </p:sp>
      <p:sp>
        <p:nvSpPr>
          <p:cNvPr id="21" name="Text 19"/>
          <p:cNvSpPr/>
          <p:nvPr/>
        </p:nvSpPr>
        <p:spPr>
          <a:xfrm>
            <a:off x="1069848" y="4791456"/>
            <a:ext cx="1554480" cy="274320"/>
          </a:xfrm>
          <a:prstGeom prst="rect">
            <a:avLst/>
          </a:prstGeom>
          <a:noFill/>
          <a:ln/>
        </p:spPr>
        <p:txBody>
          <a:bodyPr wrap="square" lIns="0" tIns="0" rIns="0" bIns="0" rtlCol="0" anchor="ctr"/>
          <a:lstStyle/>
          <a:p>
            <a:pPr indent="0" marL="0">
              <a:buNone/>
            </a:pPr>
            <a:r>
              <a:rPr lang="en-US" sz="850" spc="110" kern="0" dirty="0">
                <a:solidFill>
                  <a:srgbClr val="8A9099"/>
                </a:solidFill>
                <a:latin typeface="Calibri" pitchFamily="34" charset="0"/>
                <a:ea typeface="Calibri" pitchFamily="34" charset="-122"/>
                <a:cs typeface="Calibri" pitchFamily="34" charset="-120"/>
              </a:rPr>
              <a:t>INDIA</a:t>
            </a:r>
            <a:endParaRPr lang="en-US" sz="850" dirty="0"/>
          </a:p>
        </p:txBody>
      </p:sp>
      <p:sp>
        <p:nvSpPr>
          <p:cNvPr id="22" name="Text 20"/>
          <p:cNvSpPr/>
          <p:nvPr/>
        </p:nvSpPr>
        <p:spPr>
          <a:xfrm>
            <a:off x="2788920" y="4334256"/>
            <a:ext cx="3200400" cy="859536"/>
          </a:xfrm>
          <a:prstGeom prst="rect">
            <a:avLst/>
          </a:prstGeom>
          <a:noFill/>
          <a:ln/>
        </p:spPr>
        <p:txBody>
          <a:bodyPr wrap="square" lIns="0" tIns="0" rIns="0" bIns="0" rtlCol="0" anchor="ctr"/>
          <a:lstStyle/>
          <a:p>
            <a:pPr indent="0" marL="0">
              <a:lnSpc>
                <a:spcPts val="1800"/>
              </a:lnSpc>
              <a:buNone/>
            </a:pPr>
            <a:r>
              <a:rPr lang="en-US" sz="1400" b="1" dirty="0">
                <a:solidFill>
                  <a:srgbClr val="14181D"/>
                </a:solidFill>
                <a:latin typeface="Cambria" pitchFamily="34" charset="0"/>
                <a:ea typeface="Cambria" pitchFamily="34" charset="-122"/>
                <a:cs typeface="Cambria" pitchFamily="34" charset="-120"/>
              </a:rPr>
              <a:t>National platform, data business</a:t>
            </a:r>
            <a:endParaRPr lang="en-US" sz="1400" dirty="0"/>
          </a:p>
        </p:txBody>
      </p:sp>
      <p:sp>
        <p:nvSpPr>
          <p:cNvPr id="23" name="Text 21"/>
          <p:cNvSpPr/>
          <p:nvPr/>
        </p:nvSpPr>
        <p:spPr>
          <a:xfrm>
            <a:off x="6217920" y="4334256"/>
            <a:ext cx="4903927" cy="859536"/>
          </a:xfrm>
          <a:prstGeom prst="rect">
            <a:avLst/>
          </a:prstGeom>
          <a:noFill/>
          <a:ln/>
        </p:spPr>
        <p:txBody>
          <a:bodyPr wrap="square" lIns="0" tIns="0" rIns="0" bIns="0" rtlCol="0" anchor="ctr"/>
          <a:lstStyle/>
          <a:p>
            <a:pPr indent="0" marL="0">
              <a:lnSpc>
                <a:spcPts val="1600"/>
              </a:lnSpc>
              <a:buNone/>
            </a:pPr>
            <a:r>
              <a:rPr lang="en-US" sz="1150" dirty="0">
                <a:solidFill>
                  <a:srgbClr val="555C64"/>
                </a:solidFill>
                <a:latin typeface="Calibri" pitchFamily="34" charset="0"/>
                <a:ea typeface="Calibri" pitchFamily="34" charset="-122"/>
                <a:cs typeface="Calibri" pitchFamily="34" charset="-120"/>
              </a:rPr>
              <a:t>Top ten cities. The high-margin line arrives — developers, banks and funds paying for OTHO's demand data.</a:t>
            </a:r>
            <a:endParaRPr lang="en-US" sz="1150" dirty="0"/>
          </a:p>
        </p:txBody>
      </p:sp>
      <p:sp>
        <p:nvSpPr>
          <p:cNvPr id="24" name="Shape 22"/>
          <p:cNvSpPr/>
          <p:nvPr/>
        </p:nvSpPr>
        <p:spPr>
          <a:xfrm>
            <a:off x="777240" y="5248656"/>
            <a:ext cx="10637215" cy="859536"/>
          </a:xfrm>
          <a:prstGeom prst="rect">
            <a:avLst/>
          </a:prstGeom>
          <a:solidFill>
            <a:srgbClr val="FFFFFF"/>
          </a:solidFill>
          <a:ln/>
        </p:spPr>
      </p:sp>
      <p:sp>
        <p:nvSpPr>
          <p:cNvPr id="25" name="Text 23"/>
          <p:cNvSpPr/>
          <p:nvPr/>
        </p:nvSpPr>
        <p:spPr>
          <a:xfrm>
            <a:off x="1069848" y="5376672"/>
            <a:ext cx="1463040" cy="347472"/>
          </a:xfrm>
          <a:prstGeom prst="rect">
            <a:avLst/>
          </a:prstGeom>
          <a:noFill/>
          <a:ln/>
        </p:spPr>
        <p:txBody>
          <a:bodyPr wrap="square" lIns="0" tIns="0" rIns="0" bIns="0" rtlCol="0" anchor="ctr"/>
          <a:lstStyle/>
          <a:p>
            <a:pPr indent="0" marL="0">
              <a:buNone/>
            </a:pPr>
            <a:r>
              <a:rPr lang="en-US" sz="1600" b="1" dirty="0">
                <a:solidFill>
                  <a:srgbClr val="9A7A25"/>
                </a:solidFill>
                <a:latin typeface="Cambria" pitchFamily="34" charset="0"/>
                <a:ea typeface="Cambria" pitchFamily="34" charset="-122"/>
                <a:cs typeface="Cambria" pitchFamily="34" charset="-120"/>
              </a:rPr>
              <a:t>Years 8–10</a:t>
            </a:r>
            <a:endParaRPr lang="en-US" sz="1600" dirty="0"/>
          </a:p>
        </p:txBody>
      </p:sp>
      <p:sp>
        <p:nvSpPr>
          <p:cNvPr id="26" name="Text 24"/>
          <p:cNvSpPr/>
          <p:nvPr/>
        </p:nvSpPr>
        <p:spPr>
          <a:xfrm>
            <a:off x="1069848" y="5705856"/>
            <a:ext cx="1554480" cy="274320"/>
          </a:xfrm>
          <a:prstGeom prst="rect">
            <a:avLst/>
          </a:prstGeom>
          <a:noFill/>
          <a:ln/>
        </p:spPr>
        <p:txBody>
          <a:bodyPr wrap="square" lIns="0" tIns="0" rIns="0" bIns="0" rtlCol="0" anchor="ctr"/>
          <a:lstStyle/>
          <a:p>
            <a:pPr indent="0" marL="0">
              <a:buNone/>
            </a:pPr>
            <a:r>
              <a:rPr lang="en-US" sz="850" spc="110" kern="0" dirty="0">
                <a:solidFill>
                  <a:srgbClr val="8A9099"/>
                </a:solidFill>
                <a:latin typeface="Calibri" pitchFamily="34" charset="0"/>
                <a:ea typeface="Calibri" pitchFamily="34" charset="-122"/>
                <a:cs typeface="Calibri" pitchFamily="34" charset="-120"/>
              </a:rPr>
              <a:t>GLOBAL</a:t>
            </a:r>
            <a:endParaRPr lang="en-US" sz="850" dirty="0"/>
          </a:p>
        </p:txBody>
      </p:sp>
      <p:sp>
        <p:nvSpPr>
          <p:cNvPr id="27" name="Text 25"/>
          <p:cNvSpPr/>
          <p:nvPr/>
        </p:nvSpPr>
        <p:spPr>
          <a:xfrm>
            <a:off x="2788920" y="5248656"/>
            <a:ext cx="3200400" cy="859536"/>
          </a:xfrm>
          <a:prstGeom prst="rect">
            <a:avLst/>
          </a:prstGeom>
          <a:noFill/>
          <a:ln/>
        </p:spPr>
        <p:txBody>
          <a:bodyPr wrap="square" lIns="0" tIns="0" rIns="0" bIns="0" rtlCol="0" anchor="ctr"/>
          <a:lstStyle/>
          <a:p>
            <a:pPr indent="0" marL="0">
              <a:lnSpc>
                <a:spcPts val="1800"/>
              </a:lnSpc>
              <a:buNone/>
            </a:pPr>
            <a:r>
              <a:rPr lang="en-US" sz="1400" b="1" dirty="0">
                <a:solidFill>
                  <a:srgbClr val="14181D"/>
                </a:solidFill>
                <a:latin typeface="Cambria" pitchFamily="34" charset="0"/>
                <a:ea typeface="Cambria" pitchFamily="34" charset="-122"/>
                <a:cs typeface="Cambria" pitchFamily="34" charset="-120"/>
              </a:rPr>
              <a:t>NRI corridors first</a:t>
            </a:r>
            <a:endParaRPr lang="en-US" sz="1400" dirty="0"/>
          </a:p>
        </p:txBody>
      </p:sp>
      <p:sp>
        <p:nvSpPr>
          <p:cNvPr id="28" name="Text 26"/>
          <p:cNvSpPr/>
          <p:nvPr/>
        </p:nvSpPr>
        <p:spPr>
          <a:xfrm>
            <a:off x="6217920" y="5248656"/>
            <a:ext cx="4903927" cy="859536"/>
          </a:xfrm>
          <a:prstGeom prst="rect">
            <a:avLst/>
          </a:prstGeom>
          <a:noFill/>
          <a:ln/>
        </p:spPr>
        <p:txBody>
          <a:bodyPr wrap="square" lIns="0" tIns="0" rIns="0" bIns="0" rtlCol="0" anchor="ctr"/>
          <a:lstStyle/>
          <a:p>
            <a:pPr indent="0" marL="0">
              <a:lnSpc>
                <a:spcPts val="1600"/>
              </a:lnSpc>
              <a:buNone/>
            </a:pPr>
            <a:r>
              <a:rPr lang="en-US" sz="1150" dirty="0">
                <a:solidFill>
                  <a:srgbClr val="555C64"/>
                </a:solidFill>
                <a:latin typeface="Calibri" pitchFamily="34" charset="0"/>
                <a:ea typeface="Calibri" pitchFamily="34" charset="-122"/>
                <a:cs typeface="Calibri" pitchFamily="34" charset="-120"/>
              </a:rPr>
              <a:t>The first step abroad isn't a new market — it's this market from the other side. Gulf, Singapore, US and UK buyers who need honest remote due diligence.</a:t>
            </a:r>
            <a:endParaRPr lang="en-US" sz="1150" dirty="0"/>
          </a:p>
        </p:txBody>
      </p:sp>
      <p:sp>
        <p:nvSpPr>
          <p:cNvPr id="29" name="Text 27"/>
          <p:cNvSpPr/>
          <p:nvPr/>
        </p:nvSpPr>
        <p:spPr>
          <a:xfrm>
            <a:off x="777240" y="6309360"/>
            <a:ext cx="10637215" cy="402336"/>
          </a:xfrm>
          <a:prstGeom prst="rect">
            <a:avLst/>
          </a:prstGeom>
          <a:noFill/>
          <a:ln/>
        </p:spPr>
        <p:txBody>
          <a:bodyPr wrap="square" lIns="0" tIns="0" rIns="0" bIns="0" rtlCol="0" anchor="ctr"/>
          <a:lstStyle/>
          <a:p>
            <a:pPr indent="0" marL="0">
              <a:buNone/>
            </a:pPr>
            <a:r>
              <a:rPr lang="en-US" sz="1700" b="1" i="1" dirty="0">
                <a:solidFill>
                  <a:srgbClr val="14181D"/>
                </a:solidFill>
                <a:latin typeface="Cambria" pitchFamily="34" charset="0"/>
                <a:ea typeface="Cambria" pitchFamily="34" charset="-122"/>
                <a:cs typeface="Cambria" pitchFamily="34" charset="-120"/>
              </a:rPr>
              <a:t>Ten years is four cities and one honest habit, repeated.</a:t>
            </a:r>
            <a:endParaRPr lang="en-US" sz="1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777240" y="530352"/>
            <a:ext cx="10637215" cy="219456"/>
          </a:xfrm>
          <a:prstGeom prst="rect">
            <a:avLst/>
          </a:prstGeom>
          <a:noFill/>
          <a:ln/>
        </p:spPr>
        <p:txBody>
          <a:bodyPr wrap="square" lIns="0" tIns="0" rIns="0" bIns="0" rtlCol="0" anchor="ctr"/>
          <a:lstStyle/>
          <a:p>
            <a:pPr indent="0" marL="0">
              <a:buNone/>
            </a:pPr>
            <a:r>
              <a:rPr lang="en-US" sz="1100" b="1" spc="260" kern="0" dirty="0">
                <a:solidFill>
                  <a:srgbClr val="9A7A25"/>
                </a:solidFill>
                <a:latin typeface="Calibri" pitchFamily="34" charset="0"/>
                <a:ea typeface="Calibri" pitchFamily="34" charset="-122"/>
                <a:cs typeface="Calibri" pitchFamily="34" charset="-120"/>
              </a:rPr>
              <a:t>16</a:t>
            </a:r>
            <a:endParaRPr lang="en-US" sz="1100" dirty="0"/>
          </a:p>
        </p:txBody>
      </p:sp>
      <p:sp>
        <p:nvSpPr>
          <p:cNvPr id="3" name="Text 1"/>
          <p:cNvSpPr/>
          <p:nvPr/>
        </p:nvSpPr>
        <p:spPr>
          <a:xfrm>
            <a:off x="777240" y="768096"/>
            <a:ext cx="10637215" cy="603504"/>
          </a:xfrm>
          <a:prstGeom prst="rect">
            <a:avLst/>
          </a:prstGeom>
          <a:noFill/>
          <a:ln/>
        </p:spPr>
        <p:txBody>
          <a:bodyPr wrap="square" lIns="0" tIns="0" rIns="0" bIns="0" rtlCol="0" anchor="ctr"/>
          <a:lstStyle/>
          <a:p>
            <a:pPr indent="0" marL="0">
              <a:buNone/>
            </a:pPr>
            <a:r>
              <a:rPr lang="en-US" sz="3800" b="1" spc="-60" kern="0" dirty="0">
                <a:solidFill>
                  <a:srgbClr val="14181D"/>
                </a:solidFill>
                <a:latin typeface="Cambria" pitchFamily="34" charset="0"/>
                <a:ea typeface="Cambria" pitchFamily="34" charset="-122"/>
                <a:cs typeface="Cambria" pitchFamily="34" charset="-120"/>
              </a:rPr>
              <a:t>What we need from you</a:t>
            </a:r>
            <a:endParaRPr lang="en-US" sz="3800" dirty="0"/>
          </a:p>
        </p:txBody>
      </p:sp>
      <p:sp>
        <p:nvSpPr>
          <p:cNvPr id="4" name="Shape 2"/>
          <p:cNvSpPr/>
          <p:nvPr/>
        </p:nvSpPr>
        <p:spPr>
          <a:xfrm>
            <a:off x="777240" y="1591056"/>
            <a:ext cx="10637215" cy="658368"/>
          </a:xfrm>
          <a:prstGeom prst="rect">
            <a:avLst/>
          </a:prstGeom>
          <a:solidFill>
            <a:srgbClr val="FFFFFF"/>
          </a:solidFill>
          <a:ln/>
        </p:spPr>
      </p:sp>
      <p:sp>
        <p:nvSpPr>
          <p:cNvPr id="5" name="Text 3"/>
          <p:cNvSpPr/>
          <p:nvPr/>
        </p:nvSpPr>
        <p:spPr>
          <a:xfrm>
            <a:off x="1069848" y="1591056"/>
            <a:ext cx="3383280" cy="658368"/>
          </a:xfrm>
          <a:prstGeom prst="rect">
            <a:avLst/>
          </a:prstGeom>
          <a:noFill/>
          <a:ln/>
        </p:spPr>
        <p:txBody>
          <a:bodyPr wrap="square" lIns="0" tIns="0" rIns="0" bIns="0" rtlCol="0" anchor="ctr"/>
          <a:lstStyle/>
          <a:p>
            <a:pPr indent="0" marL="0">
              <a:lnSpc>
                <a:spcPts val="1800"/>
              </a:lnSpc>
              <a:buNone/>
            </a:pPr>
            <a:r>
              <a:rPr lang="en-US" sz="1350" b="1" dirty="0">
                <a:solidFill>
                  <a:srgbClr val="14181D"/>
                </a:solidFill>
                <a:latin typeface="Cambria" pitchFamily="34" charset="0"/>
                <a:ea typeface="Cambria" pitchFamily="34" charset="-122"/>
                <a:cs typeface="Cambria" pitchFamily="34" charset="-120"/>
              </a:rPr>
              <a:t>One person who can approve</a:t>
            </a:r>
            <a:endParaRPr lang="en-US" sz="1350" dirty="0"/>
          </a:p>
        </p:txBody>
      </p:sp>
      <p:sp>
        <p:nvSpPr>
          <p:cNvPr id="6" name="Text 4"/>
          <p:cNvSpPr/>
          <p:nvPr/>
        </p:nvSpPr>
        <p:spPr>
          <a:xfrm>
            <a:off x="4617720" y="1591056"/>
            <a:ext cx="5242255" cy="658368"/>
          </a:xfrm>
          <a:prstGeom prst="rect">
            <a:avLst/>
          </a:prstGeom>
          <a:noFill/>
          <a:ln/>
        </p:spPr>
        <p:txBody>
          <a:bodyPr wrap="square" lIns="0" tIns="0" rIns="0" bIns="0" rtlCol="0" anchor="ctr"/>
          <a:lstStyle/>
          <a:p>
            <a:pPr indent="0" marL="0">
              <a:lnSpc>
                <a:spcPts val="1700"/>
              </a:lnSpc>
              <a:buNone/>
            </a:pPr>
            <a:r>
              <a:rPr lang="en-US" sz="1200" dirty="0">
                <a:solidFill>
                  <a:srgbClr val="555C64"/>
                </a:solidFill>
                <a:latin typeface="Calibri" pitchFamily="34" charset="0"/>
                <a:ea typeface="Calibri" pitchFamily="34" charset="-122"/>
                <a:cs typeface="Calibri" pitchFamily="34" charset="-120"/>
              </a:rPr>
              <a:t>Approval by committee misses launch windows.</a:t>
            </a:r>
            <a:endParaRPr lang="en-US" sz="1200" dirty="0"/>
          </a:p>
        </p:txBody>
      </p:sp>
      <p:sp>
        <p:nvSpPr>
          <p:cNvPr id="7" name="Text 5"/>
          <p:cNvSpPr/>
          <p:nvPr/>
        </p:nvSpPr>
        <p:spPr>
          <a:xfrm>
            <a:off x="9933127" y="1591056"/>
            <a:ext cx="1188720" cy="658368"/>
          </a:xfrm>
          <a:prstGeom prst="rect">
            <a:avLst/>
          </a:prstGeom>
          <a:noFill/>
          <a:ln/>
        </p:spPr>
        <p:txBody>
          <a:bodyPr wrap="square" lIns="0" tIns="0" rIns="0" bIns="0" rtlCol="0" anchor="ctr"/>
          <a:lstStyle/>
          <a:p>
            <a:pPr algn="r" indent="0" marL="0">
              <a:buNone/>
            </a:pPr>
            <a:r>
              <a:rPr lang="en-US" sz="1150" b="1" dirty="0">
                <a:solidFill>
                  <a:srgbClr val="9A7A25"/>
                </a:solidFill>
                <a:latin typeface="Calibri" pitchFamily="34" charset="0"/>
                <a:ea typeface="Calibri" pitchFamily="34" charset="-122"/>
                <a:cs typeface="Calibri" pitchFamily="34" charset="-120"/>
              </a:rPr>
              <a:t>Day 1</a:t>
            </a:r>
            <a:endParaRPr lang="en-US" sz="1150" dirty="0"/>
          </a:p>
        </p:txBody>
      </p:sp>
      <p:sp>
        <p:nvSpPr>
          <p:cNvPr id="8" name="Shape 6"/>
          <p:cNvSpPr/>
          <p:nvPr/>
        </p:nvSpPr>
        <p:spPr>
          <a:xfrm>
            <a:off x="777240" y="2304288"/>
            <a:ext cx="10637215" cy="658368"/>
          </a:xfrm>
          <a:prstGeom prst="rect">
            <a:avLst/>
          </a:prstGeom>
          <a:solidFill>
            <a:srgbClr val="FFFFFF"/>
          </a:solidFill>
          <a:ln/>
        </p:spPr>
      </p:sp>
      <p:sp>
        <p:nvSpPr>
          <p:cNvPr id="9" name="Text 7"/>
          <p:cNvSpPr/>
          <p:nvPr/>
        </p:nvSpPr>
        <p:spPr>
          <a:xfrm>
            <a:off x="1069848" y="2304288"/>
            <a:ext cx="3383280" cy="658368"/>
          </a:xfrm>
          <a:prstGeom prst="rect">
            <a:avLst/>
          </a:prstGeom>
          <a:noFill/>
          <a:ln/>
        </p:spPr>
        <p:txBody>
          <a:bodyPr wrap="square" lIns="0" tIns="0" rIns="0" bIns="0" rtlCol="0" anchor="ctr"/>
          <a:lstStyle/>
          <a:p>
            <a:pPr indent="0" marL="0">
              <a:lnSpc>
                <a:spcPts val="1800"/>
              </a:lnSpc>
              <a:buNone/>
            </a:pPr>
            <a:r>
              <a:rPr lang="en-US" sz="1350" b="1" dirty="0">
                <a:solidFill>
                  <a:srgbClr val="14181D"/>
                </a:solidFill>
                <a:latin typeface="Cambria" pitchFamily="34" charset="0"/>
                <a:ea typeface="Cambria" pitchFamily="34" charset="-122"/>
                <a:cs typeface="Cambria" pitchFamily="34" charset="-120"/>
              </a:rPr>
              <a:t>Founders on camera, twice a month</a:t>
            </a:r>
            <a:endParaRPr lang="en-US" sz="1350" dirty="0"/>
          </a:p>
        </p:txBody>
      </p:sp>
      <p:sp>
        <p:nvSpPr>
          <p:cNvPr id="10" name="Text 8"/>
          <p:cNvSpPr/>
          <p:nvPr/>
        </p:nvSpPr>
        <p:spPr>
          <a:xfrm>
            <a:off x="4617720" y="2304288"/>
            <a:ext cx="5242255" cy="658368"/>
          </a:xfrm>
          <a:prstGeom prst="rect">
            <a:avLst/>
          </a:prstGeom>
          <a:noFill/>
          <a:ln/>
        </p:spPr>
        <p:txBody>
          <a:bodyPr wrap="square" lIns="0" tIns="0" rIns="0" bIns="0" rtlCol="0" anchor="ctr"/>
          <a:lstStyle/>
          <a:p>
            <a:pPr indent="0" marL="0">
              <a:lnSpc>
                <a:spcPts val="1700"/>
              </a:lnSpc>
              <a:buNone/>
            </a:pPr>
            <a:r>
              <a:rPr lang="en-US" sz="1200" dirty="0">
                <a:solidFill>
                  <a:srgbClr val="555C64"/>
                </a:solidFill>
                <a:latin typeface="Calibri" pitchFamily="34" charset="0"/>
                <a:ea typeface="Calibri" pitchFamily="34" charset="-122"/>
                <a:cs typeface="Calibri" pitchFamily="34" charset="-120"/>
              </a:rPr>
              <a:t>Half a day. The reviews and podcast are the whole plan, and only you can front them.</a:t>
            </a:r>
            <a:endParaRPr lang="en-US" sz="1200" dirty="0"/>
          </a:p>
        </p:txBody>
      </p:sp>
      <p:sp>
        <p:nvSpPr>
          <p:cNvPr id="11" name="Text 9"/>
          <p:cNvSpPr/>
          <p:nvPr/>
        </p:nvSpPr>
        <p:spPr>
          <a:xfrm>
            <a:off x="9933127" y="2304288"/>
            <a:ext cx="1188720" cy="658368"/>
          </a:xfrm>
          <a:prstGeom prst="rect">
            <a:avLst/>
          </a:prstGeom>
          <a:noFill/>
          <a:ln/>
        </p:spPr>
        <p:txBody>
          <a:bodyPr wrap="square" lIns="0" tIns="0" rIns="0" bIns="0" rtlCol="0" anchor="ctr"/>
          <a:lstStyle/>
          <a:p>
            <a:pPr algn="r" indent="0" marL="0">
              <a:buNone/>
            </a:pPr>
            <a:r>
              <a:rPr lang="en-US" sz="1150" b="1" dirty="0">
                <a:solidFill>
                  <a:srgbClr val="9A7A25"/>
                </a:solidFill>
                <a:latin typeface="Calibri" pitchFamily="34" charset="0"/>
                <a:ea typeface="Calibri" pitchFamily="34" charset="-122"/>
                <a:cs typeface="Calibri" pitchFamily="34" charset="-120"/>
              </a:rPr>
              <a:t>From week 3</a:t>
            </a:r>
            <a:endParaRPr lang="en-US" sz="1150" dirty="0"/>
          </a:p>
        </p:txBody>
      </p:sp>
      <p:sp>
        <p:nvSpPr>
          <p:cNvPr id="12" name="Shape 10"/>
          <p:cNvSpPr/>
          <p:nvPr/>
        </p:nvSpPr>
        <p:spPr>
          <a:xfrm>
            <a:off x="777240" y="3017520"/>
            <a:ext cx="10637215" cy="658368"/>
          </a:xfrm>
          <a:prstGeom prst="rect">
            <a:avLst/>
          </a:prstGeom>
          <a:solidFill>
            <a:srgbClr val="FFFFFF"/>
          </a:solidFill>
          <a:ln/>
        </p:spPr>
      </p:sp>
      <p:sp>
        <p:nvSpPr>
          <p:cNvPr id="13" name="Text 11"/>
          <p:cNvSpPr/>
          <p:nvPr/>
        </p:nvSpPr>
        <p:spPr>
          <a:xfrm>
            <a:off x="1069848" y="3017520"/>
            <a:ext cx="3383280" cy="658368"/>
          </a:xfrm>
          <a:prstGeom prst="rect">
            <a:avLst/>
          </a:prstGeom>
          <a:noFill/>
          <a:ln/>
        </p:spPr>
        <p:txBody>
          <a:bodyPr wrap="square" lIns="0" tIns="0" rIns="0" bIns="0" rtlCol="0" anchor="ctr"/>
          <a:lstStyle/>
          <a:p>
            <a:pPr indent="0" marL="0">
              <a:lnSpc>
                <a:spcPts val="1800"/>
              </a:lnSpc>
              <a:buNone/>
            </a:pPr>
            <a:r>
              <a:rPr lang="en-US" sz="1350" b="1" dirty="0">
                <a:solidFill>
                  <a:srgbClr val="14181D"/>
                </a:solidFill>
                <a:latin typeface="Cambria" pitchFamily="34" charset="0"/>
                <a:ea typeface="Cambria" pitchFamily="34" charset="-122"/>
                <a:cs typeface="Cambria" pitchFamily="34" charset="-120"/>
              </a:rPr>
              <a:t>Two guest introductions a month</a:t>
            </a:r>
            <a:endParaRPr lang="en-US" sz="1350" dirty="0"/>
          </a:p>
        </p:txBody>
      </p:sp>
      <p:sp>
        <p:nvSpPr>
          <p:cNvPr id="14" name="Text 12"/>
          <p:cNvSpPr/>
          <p:nvPr/>
        </p:nvSpPr>
        <p:spPr>
          <a:xfrm>
            <a:off x="4617720" y="3017520"/>
            <a:ext cx="5242255" cy="658368"/>
          </a:xfrm>
          <a:prstGeom prst="rect">
            <a:avLst/>
          </a:prstGeom>
          <a:noFill/>
          <a:ln/>
        </p:spPr>
        <p:txBody>
          <a:bodyPr wrap="square" lIns="0" tIns="0" rIns="0" bIns="0" rtlCol="0" anchor="ctr"/>
          <a:lstStyle/>
          <a:p>
            <a:pPr indent="0" marL="0">
              <a:lnSpc>
                <a:spcPts val="1700"/>
              </a:lnSpc>
              <a:buNone/>
            </a:pPr>
            <a:r>
              <a:rPr lang="en-US" sz="1200" dirty="0">
                <a:solidFill>
                  <a:srgbClr val="555C64"/>
                </a:solidFill>
                <a:latin typeface="Calibri" pitchFamily="34" charset="0"/>
                <a:ea typeface="Calibri" pitchFamily="34" charset="-122"/>
                <a:cs typeface="Calibri" pitchFamily="34" charset="-120"/>
              </a:rPr>
              <a:t>Your relationships are what make the podcast unmatchable.</a:t>
            </a:r>
            <a:endParaRPr lang="en-US" sz="1200" dirty="0"/>
          </a:p>
        </p:txBody>
      </p:sp>
      <p:sp>
        <p:nvSpPr>
          <p:cNvPr id="15" name="Text 13"/>
          <p:cNvSpPr/>
          <p:nvPr/>
        </p:nvSpPr>
        <p:spPr>
          <a:xfrm>
            <a:off x="9933127" y="3017520"/>
            <a:ext cx="1188720" cy="658368"/>
          </a:xfrm>
          <a:prstGeom prst="rect">
            <a:avLst/>
          </a:prstGeom>
          <a:noFill/>
          <a:ln/>
        </p:spPr>
        <p:txBody>
          <a:bodyPr wrap="square" lIns="0" tIns="0" rIns="0" bIns="0" rtlCol="0" anchor="ctr"/>
          <a:lstStyle/>
          <a:p>
            <a:pPr algn="r" indent="0" marL="0">
              <a:buNone/>
            </a:pPr>
            <a:r>
              <a:rPr lang="en-US" sz="1150" b="1" dirty="0">
                <a:solidFill>
                  <a:srgbClr val="9A7A25"/>
                </a:solidFill>
                <a:latin typeface="Calibri" pitchFamily="34" charset="0"/>
                <a:ea typeface="Calibri" pitchFamily="34" charset="-122"/>
                <a:cs typeface="Calibri" pitchFamily="34" charset="-120"/>
              </a:rPr>
              <a:t>Ongoing</a:t>
            </a:r>
            <a:endParaRPr lang="en-US" sz="1150" dirty="0"/>
          </a:p>
        </p:txBody>
      </p:sp>
      <p:sp>
        <p:nvSpPr>
          <p:cNvPr id="16" name="Shape 14"/>
          <p:cNvSpPr/>
          <p:nvPr/>
        </p:nvSpPr>
        <p:spPr>
          <a:xfrm>
            <a:off x="777240" y="3730752"/>
            <a:ext cx="10637215" cy="658368"/>
          </a:xfrm>
          <a:prstGeom prst="rect">
            <a:avLst/>
          </a:prstGeom>
          <a:solidFill>
            <a:srgbClr val="FFFFFF"/>
          </a:solidFill>
          <a:ln/>
        </p:spPr>
      </p:sp>
      <p:sp>
        <p:nvSpPr>
          <p:cNvPr id="17" name="Text 15"/>
          <p:cNvSpPr/>
          <p:nvPr/>
        </p:nvSpPr>
        <p:spPr>
          <a:xfrm>
            <a:off x="1069848" y="3730752"/>
            <a:ext cx="3383280" cy="658368"/>
          </a:xfrm>
          <a:prstGeom prst="rect">
            <a:avLst/>
          </a:prstGeom>
          <a:noFill/>
          <a:ln/>
        </p:spPr>
        <p:txBody>
          <a:bodyPr wrap="square" lIns="0" tIns="0" rIns="0" bIns="0" rtlCol="0" anchor="ctr"/>
          <a:lstStyle/>
          <a:p>
            <a:pPr indent="0" marL="0">
              <a:lnSpc>
                <a:spcPts val="1800"/>
              </a:lnSpc>
              <a:buNone/>
            </a:pPr>
            <a:r>
              <a:rPr lang="en-US" sz="1350" b="1" dirty="0">
                <a:solidFill>
                  <a:srgbClr val="14181D"/>
                </a:solidFill>
                <a:latin typeface="Cambria" pitchFamily="34" charset="0"/>
                <a:ea typeface="Cambria" pitchFamily="34" charset="-122"/>
                <a:cs typeface="Cambria" pitchFamily="34" charset="-120"/>
              </a:rPr>
              <a:t>Willingness to publish negatives</a:t>
            </a:r>
            <a:endParaRPr lang="en-US" sz="1350" dirty="0"/>
          </a:p>
        </p:txBody>
      </p:sp>
      <p:sp>
        <p:nvSpPr>
          <p:cNvPr id="18" name="Text 16"/>
          <p:cNvSpPr/>
          <p:nvPr/>
        </p:nvSpPr>
        <p:spPr>
          <a:xfrm>
            <a:off x="4617720" y="3730752"/>
            <a:ext cx="5242255" cy="658368"/>
          </a:xfrm>
          <a:prstGeom prst="rect">
            <a:avLst/>
          </a:prstGeom>
          <a:noFill/>
          <a:ln/>
        </p:spPr>
        <p:txBody>
          <a:bodyPr wrap="square" lIns="0" tIns="0" rIns="0" bIns="0" rtlCol="0" anchor="ctr"/>
          <a:lstStyle/>
          <a:p>
            <a:pPr indent="0" marL="0">
              <a:lnSpc>
                <a:spcPts val="1700"/>
              </a:lnSpc>
              <a:buNone/>
            </a:pPr>
            <a:r>
              <a:rPr lang="en-US" sz="1200" dirty="0">
                <a:solidFill>
                  <a:srgbClr val="555C64"/>
                </a:solidFill>
                <a:latin typeface="Calibri" pitchFamily="34" charset="0"/>
                <a:ea typeface="Calibri" pitchFamily="34" charset="-122"/>
                <a:cs typeface="Calibri" pitchFamily="34" charset="-120"/>
              </a:rPr>
              <a:t>The honest reviews are the moat. Soften them to protect a relationship and the strategy collapses into another portal.</a:t>
            </a:r>
            <a:endParaRPr lang="en-US" sz="1200" dirty="0"/>
          </a:p>
        </p:txBody>
      </p:sp>
      <p:sp>
        <p:nvSpPr>
          <p:cNvPr id="19" name="Text 17"/>
          <p:cNvSpPr/>
          <p:nvPr/>
        </p:nvSpPr>
        <p:spPr>
          <a:xfrm>
            <a:off x="9933127" y="3730752"/>
            <a:ext cx="1188720" cy="658368"/>
          </a:xfrm>
          <a:prstGeom prst="rect">
            <a:avLst/>
          </a:prstGeom>
          <a:noFill/>
          <a:ln/>
        </p:spPr>
        <p:txBody>
          <a:bodyPr wrap="square" lIns="0" tIns="0" rIns="0" bIns="0" rtlCol="0" anchor="ctr"/>
          <a:lstStyle/>
          <a:p>
            <a:pPr algn="r" indent="0" marL="0">
              <a:buNone/>
            </a:pPr>
            <a:r>
              <a:rPr lang="en-US" sz="1150" b="1" dirty="0">
                <a:solidFill>
                  <a:srgbClr val="9A7A25"/>
                </a:solidFill>
                <a:latin typeface="Calibri" pitchFamily="34" charset="0"/>
                <a:ea typeface="Calibri" pitchFamily="34" charset="-122"/>
                <a:cs typeface="Calibri" pitchFamily="34" charset="-120"/>
              </a:rPr>
              <a:t>Agree now</a:t>
            </a:r>
            <a:endParaRPr lang="en-US" sz="1150" dirty="0"/>
          </a:p>
        </p:txBody>
      </p:sp>
      <p:sp>
        <p:nvSpPr>
          <p:cNvPr id="20" name="Shape 18"/>
          <p:cNvSpPr/>
          <p:nvPr/>
        </p:nvSpPr>
        <p:spPr>
          <a:xfrm>
            <a:off x="777240" y="4443984"/>
            <a:ext cx="10637215" cy="658368"/>
          </a:xfrm>
          <a:prstGeom prst="rect">
            <a:avLst/>
          </a:prstGeom>
          <a:solidFill>
            <a:srgbClr val="FFFFFF"/>
          </a:solidFill>
          <a:ln/>
        </p:spPr>
      </p:sp>
      <p:sp>
        <p:nvSpPr>
          <p:cNvPr id="21" name="Text 19"/>
          <p:cNvSpPr/>
          <p:nvPr/>
        </p:nvSpPr>
        <p:spPr>
          <a:xfrm>
            <a:off x="1069848" y="4443984"/>
            <a:ext cx="3383280" cy="658368"/>
          </a:xfrm>
          <a:prstGeom prst="rect">
            <a:avLst/>
          </a:prstGeom>
          <a:noFill/>
          <a:ln/>
        </p:spPr>
        <p:txBody>
          <a:bodyPr wrap="square" lIns="0" tIns="0" rIns="0" bIns="0" rtlCol="0" anchor="ctr"/>
          <a:lstStyle/>
          <a:p>
            <a:pPr indent="0" marL="0">
              <a:lnSpc>
                <a:spcPts val="1800"/>
              </a:lnSpc>
              <a:buNone/>
            </a:pPr>
            <a:r>
              <a:rPr lang="en-US" sz="1350" b="1" dirty="0">
                <a:solidFill>
                  <a:srgbClr val="14181D"/>
                </a:solidFill>
                <a:latin typeface="Cambria" pitchFamily="34" charset="0"/>
                <a:ea typeface="Cambria" pitchFamily="34" charset="-122"/>
                <a:cs typeface="Cambria" pitchFamily="34" charset="-120"/>
              </a:rPr>
              <a:t>Your real numbers</a:t>
            </a:r>
            <a:endParaRPr lang="en-US" sz="1350" dirty="0"/>
          </a:p>
        </p:txBody>
      </p:sp>
      <p:sp>
        <p:nvSpPr>
          <p:cNvPr id="22" name="Text 20"/>
          <p:cNvSpPr/>
          <p:nvPr/>
        </p:nvSpPr>
        <p:spPr>
          <a:xfrm>
            <a:off x="4617720" y="4443984"/>
            <a:ext cx="5242255" cy="658368"/>
          </a:xfrm>
          <a:prstGeom prst="rect">
            <a:avLst/>
          </a:prstGeom>
          <a:noFill/>
          <a:ln/>
        </p:spPr>
        <p:txBody>
          <a:bodyPr wrap="square" lIns="0" tIns="0" rIns="0" bIns="0" rtlCol="0" anchor="ctr"/>
          <a:lstStyle/>
          <a:p>
            <a:pPr indent="0" marL="0">
              <a:lnSpc>
                <a:spcPts val="1700"/>
              </a:lnSpc>
              <a:buNone/>
            </a:pPr>
            <a:r>
              <a:rPr lang="en-US" sz="1200" dirty="0">
                <a:solidFill>
                  <a:srgbClr val="555C64"/>
                </a:solidFill>
                <a:latin typeface="Calibri" pitchFamily="34" charset="0"/>
                <a:ea typeface="Calibri" pitchFamily="34" charset="-122"/>
                <a:cs typeface="Calibri" pitchFamily="34" charset="-120"/>
              </a:rPr>
              <a:t>Average unit value and commission, so the model stops being our guesswork.</a:t>
            </a:r>
            <a:endParaRPr lang="en-US" sz="1200" dirty="0"/>
          </a:p>
        </p:txBody>
      </p:sp>
      <p:sp>
        <p:nvSpPr>
          <p:cNvPr id="23" name="Text 21"/>
          <p:cNvSpPr/>
          <p:nvPr/>
        </p:nvSpPr>
        <p:spPr>
          <a:xfrm>
            <a:off x="9933127" y="4443984"/>
            <a:ext cx="1188720" cy="658368"/>
          </a:xfrm>
          <a:prstGeom prst="rect">
            <a:avLst/>
          </a:prstGeom>
          <a:noFill/>
          <a:ln/>
        </p:spPr>
        <p:txBody>
          <a:bodyPr wrap="square" lIns="0" tIns="0" rIns="0" bIns="0" rtlCol="0" anchor="ctr"/>
          <a:lstStyle/>
          <a:p>
            <a:pPr algn="r" indent="0" marL="0">
              <a:buNone/>
            </a:pPr>
            <a:r>
              <a:rPr lang="en-US" sz="1150" b="1" dirty="0">
                <a:solidFill>
                  <a:srgbClr val="9A7A25"/>
                </a:solidFill>
                <a:latin typeface="Calibri" pitchFamily="34" charset="0"/>
                <a:ea typeface="Calibri" pitchFamily="34" charset="-122"/>
                <a:cs typeface="Calibri" pitchFamily="34" charset="-120"/>
              </a:rPr>
              <a:t>Week 2</a:t>
            </a:r>
            <a:endParaRPr lang="en-US" sz="1150" dirty="0"/>
          </a:p>
        </p:txBody>
      </p:sp>
      <p:sp>
        <p:nvSpPr>
          <p:cNvPr id="24" name="Shape 22"/>
          <p:cNvSpPr/>
          <p:nvPr/>
        </p:nvSpPr>
        <p:spPr>
          <a:xfrm>
            <a:off x="777240" y="5157216"/>
            <a:ext cx="10637215" cy="658368"/>
          </a:xfrm>
          <a:prstGeom prst="rect">
            <a:avLst/>
          </a:prstGeom>
          <a:solidFill>
            <a:srgbClr val="FFFFFF"/>
          </a:solidFill>
          <a:ln/>
        </p:spPr>
      </p:sp>
      <p:sp>
        <p:nvSpPr>
          <p:cNvPr id="25" name="Text 23"/>
          <p:cNvSpPr/>
          <p:nvPr/>
        </p:nvSpPr>
        <p:spPr>
          <a:xfrm>
            <a:off x="1069848" y="5157216"/>
            <a:ext cx="3383280" cy="658368"/>
          </a:xfrm>
          <a:prstGeom prst="rect">
            <a:avLst/>
          </a:prstGeom>
          <a:noFill/>
          <a:ln/>
        </p:spPr>
        <p:txBody>
          <a:bodyPr wrap="square" lIns="0" tIns="0" rIns="0" bIns="0" rtlCol="0" anchor="ctr"/>
          <a:lstStyle/>
          <a:p>
            <a:pPr indent="0" marL="0">
              <a:lnSpc>
                <a:spcPts val="1800"/>
              </a:lnSpc>
              <a:buNone/>
            </a:pPr>
            <a:r>
              <a:rPr lang="en-US" sz="1350" b="1" dirty="0">
                <a:solidFill>
                  <a:srgbClr val="14181D"/>
                </a:solidFill>
                <a:latin typeface="Cambria" pitchFamily="34" charset="0"/>
                <a:ea typeface="Cambria" pitchFamily="34" charset="-122"/>
                <a:cs typeface="Cambria" pitchFamily="34" charset="-120"/>
              </a:rPr>
              <a:t>Weekly time with sales</a:t>
            </a:r>
            <a:endParaRPr lang="en-US" sz="1350" dirty="0"/>
          </a:p>
        </p:txBody>
      </p:sp>
      <p:sp>
        <p:nvSpPr>
          <p:cNvPr id="26" name="Text 24"/>
          <p:cNvSpPr/>
          <p:nvPr/>
        </p:nvSpPr>
        <p:spPr>
          <a:xfrm>
            <a:off x="4617720" y="5157216"/>
            <a:ext cx="5242255" cy="658368"/>
          </a:xfrm>
          <a:prstGeom prst="rect">
            <a:avLst/>
          </a:prstGeom>
          <a:noFill/>
          <a:ln/>
        </p:spPr>
        <p:txBody>
          <a:bodyPr wrap="square" lIns="0" tIns="0" rIns="0" bIns="0" rtlCol="0" anchor="ctr"/>
          <a:lstStyle/>
          <a:p>
            <a:pPr indent="0" marL="0">
              <a:lnSpc>
                <a:spcPts val="1700"/>
              </a:lnSpc>
              <a:buNone/>
            </a:pPr>
            <a:r>
              <a:rPr lang="en-US" sz="1200" dirty="0">
                <a:solidFill>
                  <a:srgbClr val="555C64"/>
                </a:solidFill>
                <a:latin typeface="Calibri" pitchFamily="34" charset="0"/>
                <a:ea typeface="Calibri" pitchFamily="34" charset="-122"/>
                <a:cs typeface="Calibri" pitchFamily="34" charset="-120"/>
              </a:rPr>
              <a:t>Marketing that doesn't hear objections keeps producing leads sales can't close.</a:t>
            </a:r>
            <a:endParaRPr lang="en-US" sz="1200" dirty="0"/>
          </a:p>
        </p:txBody>
      </p:sp>
      <p:sp>
        <p:nvSpPr>
          <p:cNvPr id="27" name="Text 25"/>
          <p:cNvSpPr/>
          <p:nvPr/>
        </p:nvSpPr>
        <p:spPr>
          <a:xfrm>
            <a:off x="9933127" y="5157216"/>
            <a:ext cx="1188720" cy="658368"/>
          </a:xfrm>
          <a:prstGeom prst="rect">
            <a:avLst/>
          </a:prstGeom>
          <a:noFill/>
          <a:ln/>
        </p:spPr>
        <p:txBody>
          <a:bodyPr wrap="square" lIns="0" tIns="0" rIns="0" bIns="0" rtlCol="0" anchor="ctr"/>
          <a:lstStyle/>
          <a:p>
            <a:pPr algn="r" indent="0" marL="0">
              <a:buNone/>
            </a:pPr>
            <a:r>
              <a:rPr lang="en-US" sz="1150" b="1" dirty="0">
                <a:solidFill>
                  <a:srgbClr val="9A7A25"/>
                </a:solidFill>
                <a:latin typeface="Calibri" pitchFamily="34" charset="0"/>
                <a:ea typeface="Calibri" pitchFamily="34" charset="-122"/>
                <a:cs typeface="Calibri" pitchFamily="34" charset="-120"/>
              </a:rPr>
              <a:t>Ongoing</a:t>
            </a:r>
            <a:endParaRPr lang="en-US" sz="1150" dirty="0"/>
          </a:p>
        </p:txBody>
      </p:sp>
      <p:sp>
        <p:nvSpPr>
          <p:cNvPr id="28" name="Text 26"/>
          <p:cNvSpPr/>
          <p:nvPr/>
        </p:nvSpPr>
        <p:spPr>
          <a:xfrm>
            <a:off x="777240" y="6016752"/>
            <a:ext cx="10637215" cy="640080"/>
          </a:xfrm>
          <a:prstGeom prst="rect">
            <a:avLst/>
          </a:prstGeom>
          <a:noFill/>
          <a:ln/>
        </p:spPr>
        <p:txBody>
          <a:bodyPr wrap="square" lIns="0" tIns="0" rIns="0" bIns="0" rtlCol="0" anchor="ctr"/>
          <a:lstStyle/>
          <a:p>
            <a:pPr indent="0" marL="0">
              <a:lnSpc>
                <a:spcPts val="2000"/>
              </a:lnSpc>
              <a:buNone/>
            </a:pPr>
            <a:r>
              <a:rPr lang="en-US" sz="1350" i="1" dirty="0">
                <a:solidFill>
                  <a:srgbClr val="14181D"/>
                </a:solidFill>
                <a:latin typeface="Calibri" pitchFamily="34" charset="0"/>
                <a:ea typeface="Calibri" pitchFamily="34" charset="-122"/>
                <a:cs typeface="Calibri" pitchFamily="34" charset="-120"/>
              </a:rPr>
              <a:t>The hardest one is publishing honest negatives on projects run by developers you've known twenty years. It's also the only reason a buyer would believe anything else on the platform.</a:t>
            </a:r>
            <a:endParaRPr lang="en-US" sz="13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4181D"/>
        </a:solidFill>
      </p:bgPr>
    </p:bg>
    <p:spTree>
      <p:nvGrpSpPr>
        <p:cNvPr id="1" name=""/>
        <p:cNvGrpSpPr/>
        <p:nvPr/>
      </p:nvGrpSpPr>
      <p:grpSpPr>
        <a:xfrm>
          <a:off x="0" y="0"/>
          <a:ext cx="0" cy="0"/>
          <a:chOff x="0" y="0"/>
          <a:chExt cx="0" cy="0"/>
        </a:xfrm>
      </p:grpSpPr>
      <p:sp>
        <p:nvSpPr>
          <p:cNvPr id="2" name="Text 0"/>
          <p:cNvSpPr/>
          <p:nvPr/>
        </p:nvSpPr>
        <p:spPr>
          <a:xfrm>
            <a:off x="777240" y="1783080"/>
            <a:ext cx="10058400" cy="2926080"/>
          </a:xfrm>
          <a:prstGeom prst="rect">
            <a:avLst/>
          </a:prstGeom>
          <a:noFill/>
          <a:ln/>
        </p:spPr>
        <p:txBody>
          <a:bodyPr wrap="square" lIns="0" tIns="0" rIns="0" bIns="0" rtlCol="0" anchor="ctr"/>
          <a:lstStyle/>
          <a:p>
            <a:pPr indent="0" marL="0">
              <a:lnSpc>
                <a:spcPts val="6600"/>
              </a:lnSpc>
              <a:buNone/>
            </a:pPr>
            <a:r>
              <a:rPr lang="en-US" sz="4800" b="1" spc="-110" kern="0" dirty="0">
                <a:solidFill>
                  <a:srgbClr val="FFFFFF"/>
                </a:solidFill>
                <a:latin typeface="Cambria" pitchFamily="34" charset="0"/>
                <a:ea typeface="Cambria" pitchFamily="34" charset="-122"/>
                <a:cs typeface="Cambria" pitchFamily="34" charset="-120"/>
              </a:rPr>
              <a:t>Ninety days to exist.</a:t>
            </a:r>
            <a:endParaRPr lang="en-US" sz="4800" dirty="0"/>
          </a:p>
          <a:p>
            <a:pPr indent="0" marL="0">
              <a:lnSpc>
                <a:spcPts val="6600"/>
              </a:lnSpc>
              <a:buNone/>
            </a:pPr>
            <a:r>
              <a:rPr lang="en-US" sz="4800" b="1" spc="-110" kern="0" dirty="0">
                <a:solidFill>
                  <a:srgbClr val="FFFFFF"/>
                </a:solidFill>
                <a:latin typeface="Cambria" pitchFamily="34" charset="0"/>
                <a:ea typeface="Cambria" pitchFamily="34" charset="-122"/>
                <a:cs typeface="Cambria" pitchFamily="34" charset="-120"/>
              </a:rPr>
              <a:t>A year to be trusted.</a:t>
            </a:r>
            <a:endParaRPr lang="en-US" sz="4800" dirty="0"/>
          </a:p>
          <a:p>
            <a:pPr indent="0" marL="0">
              <a:lnSpc>
                <a:spcPts val="6600"/>
              </a:lnSpc>
              <a:buNone/>
            </a:pPr>
            <a:r>
              <a:rPr lang="en-US" sz="4800" b="1" spc="-110" kern="0" dirty="0">
                <a:solidFill>
                  <a:srgbClr val="FFFFFF"/>
                </a:solidFill>
                <a:latin typeface="Cambria" pitchFamily="34" charset="0"/>
                <a:ea typeface="Cambria" pitchFamily="34" charset="-122"/>
                <a:cs typeface="Cambria" pitchFamily="34" charset="-120"/>
              </a:rPr>
              <a:t>Ten to be everywhere.</a:t>
            </a:r>
            <a:endParaRPr lang="en-US" sz="4800" dirty="0"/>
          </a:p>
        </p:txBody>
      </p:sp>
      <p:sp>
        <p:nvSpPr>
          <p:cNvPr id="3" name="Text 1"/>
          <p:cNvSpPr/>
          <p:nvPr/>
        </p:nvSpPr>
        <p:spPr>
          <a:xfrm>
            <a:off x="777240" y="5504688"/>
            <a:ext cx="4572000" cy="292608"/>
          </a:xfrm>
          <a:prstGeom prst="rect">
            <a:avLst/>
          </a:prstGeom>
          <a:noFill/>
          <a:ln/>
        </p:spPr>
        <p:txBody>
          <a:bodyPr wrap="square" lIns="0" tIns="0" rIns="0" bIns="0" rtlCol="0" anchor="ctr"/>
          <a:lstStyle/>
          <a:p>
            <a:pPr indent="0" marL="0">
              <a:buNone/>
            </a:pPr>
            <a:r>
              <a:rPr lang="en-US" sz="1150" b="1" spc="340" kern="0" dirty="0">
                <a:solidFill>
                  <a:srgbClr val="D9B061"/>
                </a:solidFill>
                <a:latin typeface="Calibri" pitchFamily="34" charset="0"/>
                <a:ea typeface="Calibri" pitchFamily="34" charset="-122"/>
                <a:cs typeface="Calibri" pitchFamily="34" charset="-120"/>
              </a:rPr>
              <a:t>PRODUCTION X</a:t>
            </a:r>
            <a:endParaRPr lang="en-US" sz="1150" dirty="0"/>
          </a:p>
        </p:txBody>
      </p:sp>
      <p:sp>
        <p:nvSpPr>
          <p:cNvPr id="4" name="Text 2"/>
          <p:cNvSpPr/>
          <p:nvPr/>
        </p:nvSpPr>
        <p:spPr>
          <a:xfrm>
            <a:off x="777240" y="5852160"/>
            <a:ext cx="10637215" cy="256032"/>
          </a:xfrm>
          <a:prstGeom prst="rect">
            <a:avLst/>
          </a:prstGeom>
          <a:noFill/>
          <a:ln/>
        </p:spPr>
        <p:txBody>
          <a:bodyPr wrap="square" lIns="0" tIns="0" rIns="0" bIns="0" rtlCol="0" anchor="ctr"/>
          <a:lstStyle/>
          <a:p>
            <a:pPr indent="0" marL="0">
              <a:buNone/>
            </a:pPr>
            <a:r>
              <a:rPr lang="en-US" sz="1050" dirty="0">
                <a:solidFill>
                  <a:srgbClr val="79818A"/>
                </a:solidFill>
                <a:latin typeface="Calibri" pitchFamily="34" charset="0"/>
                <a:ea typeface="Calibri" pitchFamily="34" charset="-122"/>
                <a:cs typeface="Calibri" pitchFamily="34" charset="-120"/>
              </a:rPr>
              <a:t>Strategy &amp; launch plan for OTHO Realty   ·   August 2026</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Production X</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OTHO</dc:title>
  <dc:subject>PptxGenJS Presentation</dc:subject>
  <dc:creator>Production X</dc:creator>
  <cp:lastModifiedBy>Production X</cp:lastModifiedBy>
  <cp:revision>1</cp:revision>
  <dcterms:created xsi:type="dcterms:W3CDTF">2026-08-17T11:55:52Z</dcterms:created>
  <dcterms:modified xsi:type="dcterms:W3CDTF">2026-08-17T11:55:52Z</dcterms:modified>
</cp:coreProperties>
</file>